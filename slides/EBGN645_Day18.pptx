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311" r:id="rId3"/>
    <p:sldId id="258" r:id="rId4"/>
    <p:sldId id="259" r:id="rId5"/>
    <p:sldId id="260" r:id="rId6"/>
    <p:sldId id="265" r:id="rId7"/>
    <p:sldId id="326" r:id="rId8"/>
    <p:sldId id="262" r:id="rId9"/>
    <p:sldId id="327" r:id="rId10"/>
    <p:sldId id="261" r:id="rId11"/>
    <p:sldId id="268" r:id="rId12"/>
    <p:sldId id="269" r:id="rId13"/>
    <p:sldId id="271" r:id="rId14"/>
    <p:sldId id="272" r:id="rId15"/>
    <p:sldId id="328" r:id="rId16"/>
    <p:sldId id="276" r:id="rId17"/>
    <p:sldId id="274" r:id="rId18"/>
    <p:sldId id="295" r:id="rId19"/>
    <p:sldId id="312" r:id="rId20"/>
    <p:sldId id="267" r:id="rId21"/>
    <p:sldId id="270" r:id="rId22"/>
    <p:sldId id="273" r:id="rId23"/>
    <p:sldId id="329" r:id="rId24"/>
    <p:sldId id="275" r:id="rId25"/>
    <p:sldId id="279" r:id="rId26"/>
    <p:sldId id="299" r:id="rId27"/>
    <p:sldId id="286" r:id="rId28"/>
    <p:sldId id="310" r:id="rId29"/>
    <p:sldId id="302" r:id="rId30"/>
    <p:sldId id="303" r:id="rId31"/>
    <p:sldId id="300" r:id="rId32"/>
    <p:sldId id="309" r:id="rId33"/>
    <p:sldId id="301" r:id="rId34"/>
    <p:sldId id="294" r:id="rId35"/>
    <p:sldId id="304" r:id="rId36"/>
    <p:sldId id="305" r:id="rId37"/>
    <p:sldId id="306" r:id="rId38"/>
    <p:sldId id="308" r:id="rId39"/>
    <p:sldId id="307" r:id="rId40"/>
    <p:sldId id="313" r:id="rId41"/>
    <p:sldId id="315" r:id="rId42"/>
    <p:sldId id="316" r:id="rId43"/>
    <p:sldId id="318" r:id="rId44"/>
    <p:sldId id="325" r:id="rId45"/>
    <p:sldId id="319" r:id="rId46"/>
    <p:sldId id="320" r:id="rId47"/>
    <p:sldId id="321" r:id="rId48"/>
    <p:sldId id="322" r:id="rId49"/>
    <p:sldId id="32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262"/>
    <p:restoredTop sz="97030"/>
  </p:normalViewPr>
  <p:slideViewPr>
    <p:cSldViewPr snapToGrid="0">
      <p:cViewPr>
        <p:scale>
          <a:sx n="130" d="100"/>
          <a:sy n="130" d="100"/>
        </p:scale>
        <p:origin x="4520" y="2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88CEC-4D82-3F47-91BB-0B78145C2C25}"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8A2AB-04B4-4044-BFE1-C42BA4766344}" type="slidenum">
              <a:rPr lang="en-US" smtClean="0"/>
              <a:t>‹#›</a:t>
            </a:fld>
            <a:endParaRPr lang="en-US"/>
          </a:p>
        </p:txBody>
      </p:sp>
    </p:spTree>
    <p:extLst>
      <p:ext uri="{BB962C8B-B14F-4D97-AF65-F5344CB8AC3E}">
        <p14:creationId xmlns:p14="http://schemas.microsoft.com/office/powerpoint/2010/main" val="2684543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D8A2AB-04B4-4044-BFE1-C42BA4766344}" type="slidenum">
              <a:rPr lang="en-US" smtClean="0"/>
              <a:t>21</a:t>
            </a:fld>
            <a:endParaRPr lang="en-US"/>
          </a:p>
        </p:txBody>
      </p:sp>
    </p:spTree>
    <p:extLst>
      <p:ext uri="{BB962C8B-B14F-4D97-AF65-F5344CB8AC3E}">
        <p14:creationId xmlns:p14="http://schemas.microsoft.com/office/powerpoint/2010/main" val="3050219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2003E-1B8F-76C4-687F-78567DDFB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09EC3-B5D5-8A41-8CD2-BC4B4FFC8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90EB7-C6E0-5EB6-962F-32BCA9C03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3C4B10-3874-29F9-287E-2F4D70514810}"/>
              </a:ext>
            </a:extLst>
          </p:cNvPr>
          <p:cNvSpPr>
            <a:spLocks noGrp="1"/>
          </p:cNvSpPr>
          <p:nvPr>
            <p:ph type="sldNum" sz="quarter" idx="5"/>
          </p:nvPr>
        </p:nvSpPr>
        <p:spPr/>
        <p:txBody>
          <a:bodyPr/>
          <a:lstStyle/>
          <a:p>
            <a:fld id="{9DD8A2AB-04B4-4044-BFE1-C42BA4766344}" type="slidenum">
              <a:rPr lang="en-US" smtClean="0"/>
              <a:t>22</a:t>
            </a:fld>
            <a:endParaRPr lang="en-US"/>
          </a:p>
        </p:txBody>
      </p:sp>
    </p:spTree>
    <p:extLst>
      <p:ext uri="{BB962C8B-B14F-4D97-AF65-F5344CB8AC3E}">
        <p14:creationId xmlns:p14="http://schemas.microsoft.com/office/powerpoint/2010/main" val="3966674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D8A2AB-04B4-4044-BFE1-C42BA4766344}" type="slidenum">
              <a:rPr lang="en-US" smtClean="0"/>
              <a:t>32</a:t>
            </a:fld>
            <a:endParaRPr lang="en-US"/>
          </a:p>
        </p:txBody>
      </p:sp>
    </p:spTree>
    <p:extLst>
      <p:ext uri="{BB962C8B-B14F-4D97-AF65-F5344CB8AC3E}">
        <p14:creationId xmlns:p14="http://schemas.microsoft.com/office/powerpoint/2010/main" val="2522532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C6080-D4E6-2421-2924-9BC3035393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031422-967D-BEFF-4074-B141F98CEC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3EE97E-6A45-DF66-B2D3-2999029134C9}"/>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5" name="Footer Placeholder 4">
            <a:extLst>
              <a:ext uri="{FF2B5EF4-FFF2-40B4-BE49-F238E27FC236}">
                <a16:creationId xmlns:a16="http://schemas.microsoft.com/office/drawing/2014/main" id="{E38CA56E-6A79-EBD2-2F2C-C59CFE6D9E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81D257-294B-48D4-3CC4-CF7C310B12EA}"/>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1380616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8CC1-CBD2-3E50-D711-1CA2945248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4DEEC4-89FA-30CC-FAFB-9CC8F54E5F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BBAB65-793F-93D6-8C83-61C13DBF2254}"/>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5" name="Footer Placeholder 4">
            <a:extLst>
              <a:ext uri="{FF2B5EF4-FFF2-40B4-BE49-F238E27FC236}">
                <a16:creationId xmlns:a16="http://schemas.microsoft.com/office/drawing/2014/main" id="{49BC6511-A5D4-14B0-9F96-75A04B4FD3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32CA79-B665-85ED-14BE-C667C8285CAF}"/>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3636750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09950-1848-4B41-A47F-C1F64E6D56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5D71F-2E15-3271-730A-AFA10688D0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1AC44A-B35D-FCB7-4D38-CCDA78EC2D96}"/>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5" name="Footer Placeholder 4">
            <a:extLst>
              <a:ext uri="{FF2B5EF4-FFF2-40B4-BE49-F238E27FC236}">
                <a16:creationId xmlns:a16="http://schemas.microsoft.com/office/drawing/2014/main" id="{AF9C93C7-B71A-30E8-9748-582CEBF3DF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1BA9D-EDAE-5223-314A-B1C3F869D7CD}"/>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24796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942B-7D08-E1FD-746F-86564A4884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3F5DB9-3756-B51A-12E4-4DF6AD74FF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088D52-F325-DBEE-E453-3C545F2ECD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C6F9E0-4115-818B-DC6C-76578683766A}"/>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6" name="Footer Placeholder 5">
            <a:extLst>
              <a:ext uri="{FF2B5EF4-FFF2-40B4-BE49-F238E27FC236}">
                <a16:creationId xmlns:a16="http://schemas.microsoft.com/office/drawing/2014/main" id="{D986E36C-37C0-BBBF-546C-1822BD265D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CCEC3B-E164-F2E8-CDE8-9ECD6443F275}"/>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1397807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7C310-05FB-4DA1-57DD-C0FA5AAA9C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80985B-8F2E-DB9B-825A-D4F7D89DE5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720F1C-8E05-925D-3114-38EE8D0D4B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9A0A5D-DCC4-A971-5A2E-1AF1C7F33A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B88A34-B167-B40E-3D85-53E399047F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0742EC-C717-69C6-2332-440B43FFCB82}"/>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8" name="Footer Placeholder 7">
            <a:extLst>
              <a:ext uri="{FF2B5EF4-FFF2-40B4-BE49-F238E27FC236}">
                <a16:creationId xmlns:a16="http://schemas.microsoft.com/office/drawing/2014/main" id="{ED82BD3F-9F3F-6B2C-49D6-0160167588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B82D59-12C3-B037-1FAB-51E32A290C55}"/>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1145725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67959-2C89-6DE3-D3C8-17F94CD8BF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69877C-EA22-F9CA-28CD-35C4A5507681}"/>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4" name="Footer Placeholder 3">
            <a:extLst>
              <a:ext uri="{FF2B5EF4-FFF2-40B4-BE49-F238E27FC236}">
                <a16:creationId xmlns:a16="http://schemas.microsoft.com/office/drawing/2014/main" id="{AC23983B-B795-F640-E9CB-9B430C35BF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1D6102-908F-EEF6-339F-8729A18946EA}"/>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4005435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3C183-F8E0-65DF-8004-A3A9931ACC06}"/>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3" name="Footer Placeholder 2">
            <a:extLst>
              <a:ext uri="{FF2B5EF4-FFF2-40B4-BE49-F238E27FC236}">
                <a16:creationId xmlns:a16="http://schemas.microsoft.com/office/drawing/2014/main" id="{BD5F51D6-3CA9-C701-0279-407EE68E30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0492A3-D5AC-7B47-D35C-8941066F96CB}"/>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3318293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9D0FC-7068-2062-E09C-D33CE755B4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8DF828-967E-242E-77A6-AFCDD1FEE5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09A395-E562-2CED-A91B-7E6E83EF7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B82BDF-E589-5259-D09D-7081FF668F5D}"/>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6" name="Footer Placeholder 5">
            <a:extLst>
              <a:ext uri="{FF2B5EF4-FFF2-40B4-BE49-F238E27FC236}">
                <a16:creationId xmlns:a16="http://schemas.microsoft.com/office/drawing/2014/main" id="{C5FBEF19-3B20-844A-1EE6-AD30664EB7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FEFC82-38F2-D916-0EF5-34F18E4B7776}"/>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2119783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AF987-0B17-4883-013C-F55974CBC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8A6304-3B49-1774-F83F-52FC76C792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06867A-87CD-16AB-8D1E-DB34F6C009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F94CE4-D63E-5CFC-DC94-69D91BF51C79}"/>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6" name="Footer Placeholder 5">
            <a:extLst>
              <a:ext uri="{FF2B5EF4-FFF2-40B4-BE49-F238E27FC236}">
                <a16:creationId xmlns:a16="http://schemas.microsoft.com/office/drawing/2014/main" id="{44F6DE9E-F169-4398-A753-9F29913B31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0F5A40-923E-FCB5-4636-FA1116FB1FFA}"/>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215634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5EBD9-0419-D704-05AB-9E2A8D4DF4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CDEBD1-5F56-A5E1-1A66-EA5E482181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E4D239-0068-7265-7B6D-5950EDEFB841}"/>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5" name="Footer Placeholder 4">
            <a:extLst>
              <a:ext uri="{FF2B5EF4-FFF2-40B4-BE49-F238E27FC236}">
                <a16:creationId xmlns:a16="http://schemas.microsoft.com/office/drawing/2014/main" id="{0A2D6B0F-EAAD-849F-4A2C-21DBF5E0C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7CF1E-9E46-C29D-DC42-6F790FD5A03B}"/>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3680349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EB743A-C128-578D-C355-79E0F3BBA4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B0DCBE-DDC4-D248-A2F6-FF937C15D0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A1A2FE-E769-C63C-F57D-0514D4F6DE5D}"/>
              </a:ext>
            </a:extLst>
          </p:cNvPr>
          <p:cNvSpPr>
            <a:spLocks noGrp="1"/>
          </p:cNvSpPr>
          <p:nvPr>
            <p:ph type="dt" sz="half" idx="10"/>
          </p:nvPr>
        </p:nvSpPr>
        <p:spPr/>
        <p:txBody>
          <a:bodyPr/>
          <a:lstStyle/>
          <a:p>
            <a:fld id="{6D1BDCCC-1CBB-FA4E-9CF2-2901E22410E7}" type="datetimeFigureOut">
              <a:rPr lang="en-US" smtClean="0"/>
              <a:t>11/17/25</a:t>
            </a:fld>
            <a:endParaRPr lang="en-US"/>
          </a:p>
        </p:txBody>
      </p:sp>
      <p:sp>
        <p:nvSpPr>
          <p:cNvPr id="5" name="Footer Placeholder 4">
            <a:extLst>
              <a:ext uri="{FF2B5EF4-FFF2-40B4-BE49-F238E27FC236}">
                <a16:creationId xmlns:a16="http://schemas.microsoft.com/office/drawing/2014/main" id="{1DDB819A-98E4-E2B6-F951-D25366DFB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619686-553D-C4C2-5524-1E0326C93850}"/>
              </a:ext>
            </a:extLst>
          </p:cNvPr>
          <p:cNvSpPr>
            <a:spLocks noGrp="1"/>
          </p:cNvSpPr>
          <p:nvPr>
            <p:ph type="sldNum" sz="quarter" idx="12"/>
          </p:nvPr>
        </p:nvSpPr>
        <p:spPr/>
        <p:txBody>
          <a:bodyPr/>
          <a:lstStyle/>
          <a:p>
            <a:fld id="{673B76E8-CD87-CC44-8F5E-7CFC2AA312A7}" type="slidenum">
              <a:rPr lang="en-US" smtClean="0"/>
              <a:t>‹#›</a:t>
            </a:fld>
            <a:endParaRPr lang="en-US"/>
          </a:p>
        </p:txBody>
      </p:sp>
    </p:spTree>
    <p:extLst>
      <p:ext uri="{BB962C8B-B14F-4D97-AF65-F5344CB8AC3E}">
        <p14:creationId xmlns:p14="http://schemas.microsoft.com/office/powerpoint/2010/main" val="2664783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201AFE-E49C-A952-307D-7CE0272034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53F4FF-E957-EEB1-A27F-E27AA10215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46618F-6B6F-F698-1026-3A2E35E56F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1BDCCC-1CBB-FA4E-9CF2-2901E22410E7}" type="datetimeFigureOut">
              <a:rPr lang="en-US" smtClean="0"/>
              <a:t>11/17/25</a:t>
            </a:fld>
            <a:endParaRPr lang="en-US"/>
          </a:p>
        </p:txBody>
      </p:sp>
      <p:sp>
        <p:nvSpPr>
          <p:cNvPr id="5" name="Footer Placeholder 4">
            <a:extLst>
              <a:ext uri="{FF2B5EF4-FFF2-40B4-BE49-F238E27FC236}">
                <a16:creationId xmlns:a16="http://schemas.microsoft.com/office/drawing/2014/main" id="{EF648B21-5674-95CB-AE9D-4E249E127E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34D03B-56B1-3246-FA08-F7935A3877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3B76E8-CD87-CC44-8F5E-7CFC2AA312A7}" type="slidenum">
              <a:rPr lang="en-US" smtClean="0"/>
              <a:t>‹#›</a:t>
            </a:fld>
            <a:endParaRPr lang="en-US"/>
          </a:p>
        </p:txBody>
      </p:sp>
    </p:spTree>
    <p:extLst>
      <p:ext uri="{BB962C8B-B14F-4D97-AF65-F5344CB8AC3E}">
        <p14:creationId xmlns:p14="http://schemas.microsoft.com/office/powerpoint/2010/main" val="739796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2F797-41A3-4290-4808-540E0ADA31CD}"/>
              </a:ext>
            </a:extLst>
          </p:cNvPr>
          <p:cNvSpPr>
            <a:spLocks noGrp="1"/>
          </p:cNvSpPr>
          <p:nvPr>
            <p:ph type="ctrTitle"/>
          </p:nvPr>
        </p:nvSpPr>
        <p:spPr/>
        <p:txBody>
          <a:bodyPr/>
          <a:lstStyle/>
          <a:p>
            <a:r>
              <a:rPr lang="en-US" dirty="0"/>
              <a:t>EBGN645</a:t>
            </a:r>
          </a:p>
        </p:txBody>
      </p:sp>
      <mc:AlternateContent xmlns:mc="http://schemas.openxmlformats.org/markup-compatibility/2006">
        <mc:Choice xmlns:a14="http://schemas.microsoft.com/office/drawing/2010/main" Requires="a14">
          <p:sp>
            <p:nvSpPr>
              <p:cNvPr id="3" name="Subtitle 2">
                <a:extLst>
                  <a:ext uri="{FF2B5EF4-FFF2-40B4-BE49-F238E27FC236}">
                    <a16:creationId xmlns:a16="http://schemas.microsoft.com/office/drawing/2014/main" id="{387AD1C3-35EE-F38D-4024-E6F66A06564D}"/>
                  </a:ext>
                </a:extLst>
              </p:cNvPr>
              <p:cNvSpPr>
                <a:spLocks noGrp="1"/>
              </p:cNvSpPr>
              <p:nvPr>
                <p:ph type="subTitle" idx="1"/>
              </p:nvPr>
            </p:nvSpPr>
            <p:spPr/>
            <p:txBody>
              <a:bodyPr/>
              <a:lstStyle/>
              <a:p>
                <a:r>
                  <a:rPr lang="en-US" dirty="0"/>
                  <a:t>Ramsey Model</a:t>
                </a:r>
              </a:p>
              <a:p>
                <a:r>
                  <a:rPr lang="en-US" dirty="0"/>
                  <a:t>Duality </a:t>
                </a:r>
                <a14:m>
                  <m:oMath xmlns:m="http://schemas.openxmlformats.org/officeDocument/2006/math">
                    <m:r>
                      <a:rPr lang="en-US" b="0" i="1" smtClean="0">
                        <a:latin typeface="Cambria Math" panose="02040503050406030204" pitchFamily="18" charset="0"/>
                      </a:rPr>
                      <m:t>→</m:t>
                    </m:r>
                  </m:oMath>
                </a14:m>
                <a:r>
                  <a:rPr lang="en-US" dirty="0"/>
                  <a:t> Complementarity problems</a:t>
                </a:r>
              </a:p>
            </p:txBody>
          </p:sp>
        </mc:Choice>
        <mc:Fallback>
          <p:sp>
            <p:nvSpPr>
              <p:cNvPr id="3" name="Subtitle 2">
                <a:extLst>
                  <a:ext uri="{FF2B5EF4-FFF2-40B4-BE49-F238E27FC236}">
                    <a16:creationId xmlns:a16="http://schemas.microsoft.com/office/drawing/2014/main" id="{387AD1C3-35EE-F38D-4024-E6F66A06564D}"/>
                  </a:ext>
                </a:extLst>
              </p:cNvPr>
              <p:cNvSpPr>
                <a:spLocks noGrp="1" noRot="1" noChangeAspect="1" noMove="1" noResize="1" noEditPoints="1" noAdjustHandles="1" noChangeArrowheads="1" noChangeShapeType="1" noTextEdit="1"/>
              </p:cNvSpPr>
              <p:nvPr>
                <p:ph type="subTitle" idx="1"/>
              </p:nvPr>
            </p:nvSpPr>
            <p:spPr>
              <a:blipFill>
                <a:blip r:embed="rId2"/>
                <a:stretch>
                  <a:fillRect t="-5303"/>
                </a:stretch>
              </a:blipFill>
            </p:spPr>
            <p:txBody>
              <a:bodyPr/>
              <a:lstStyle/>
              <a:p>
                <a:r>
                  <a:rPr lang="en-US">
                    <a:noFill/>
                  </a:rPr>
                  <a:t> </a:t>
                </a:r>
              </a:p>
            </p:txBody>
          </p:sp>
        </mc:Fallback>
      </mc:AlternateContent>
    </p:spTree>
    <p:extLst>
      <p:ext uri="{BB962C8B-B14F-4D97-AF65-F5344CB8AC3E}">
        <p14:creationId xmlns:p14="http://schemas.microsoft.com/office/powerpoint/2010/main" val="314238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51FAA-E01C-4214-46A1-AE611E65D1FA}"/>
              </a:ext>
            </a:extLst>
          </p:cNvPr>
          <p:cNvSpPr>
            <a:spLocks noGrp="1"/>
          </p:cNvSpPr>
          <p:nvPr>
            <p:ph type="title"/>
          </p:nvPr>
        </p:nvSpPr>
        <p:spPr/>
        <p:txBody>
          <a:bodyPr/>
          <a:lstStyle/>
          <a:p>
            <a:r>
              <a:rPr lang="en-US" dirty="0"/>
              <a:t>Note: Presentations</a:t>
            </a:r>
          </a:p>
        </p:txBody>
      </p:sp>
      <p:sp>
        <p:nvSpPr>
          <p:cNvPr id="3" name="Content Placeholder 2">
            <a:extLst>
              <a:ext uri="{FF2B5EF4-FFF2-40B4-BE49-F238E27FC236}">
                <a16:creationId xmlns:a16="http://schemas.microsoft.com/office/drawing/2014/main" id="{FA34275F-4AC9-75BE-C91C-C353D1F24B6E}"/>
              </a:ext>
            </a:extLst>
          </p:cNvPr>
          <p:cNvSpPr>
            <a:spLocks noGrp="1"/>
          </p:cNvSpPr>
          <p:nvPr>
            <p:ph idx="1"/>
          </p:nvPr>
        </p:nvSpPr>
        <p:spPr>
          <a:xfrm>
            <a:off x="838200" y="1825625"/>
            <a:ext cx="10515600" cy="4667250"/>
          </a:xfrm>
        </p:spPr>
        <p:txBody>
          <a:bodyPr>
            <a:normAutofit fontScale="92500" lnSpcReduction="10000"/>
          </a:bodyPr>
          <a:lstStyle/>
          <a:p>
            <a:pPr marL="0" marR="0" indent="0" algn="l">
              <a:buNone/>
            </a:pPr>
            <a:r>
              <a:rPr lang="en-US" b="0" i="0" u="none" strike="noStrike" dirty="0">
                <a:solidFill>
                  <a:srgbClr val="212121"/>
                </a:solidFill>
                <a:effectLst/>
                <a:latin typeface="Aptos" panose="020B0004020202020204" pitchFamily="34" charset="0"/>
              </a:rPr>
              <a:t>You do not need final results – you should plan to discuss:</a:t>
            </a:r>
          </a:p>
          <a:p>
            <a:pPr marL="457200" lvl="1">
              <a:buFont typeface="+mj-lt"/>
              <a:buAutoNum type="alphaLcPeriod"/>
            </a:pPr>
            <a:r>
              <a:rPr lang="en-US" sz="2800" b="1" i="1" u="none" strike="noStrike" dirty="0">
                <a:solidFill>
                  <a:srgbClr val="212121"/>
                </a:solidFill>
                <a:effectLst/>
                <a:latin typeface="Aptos" panose="020B0004020202020204" pitchFamily="34" charset="0"/>
              </a:rPr>
              <a:t> What is your research question?</a:t>
            </a:r>
          </a:p>
          <a:p>
            <a:pPr marL="457200" lvl="1">
              <a:buFont typeface="+mj-lt"/>
              <a:buAutoNum type="alphaLcPeriod"/>
            </a:pPr>
            <a:r>
              <a:rPr lang="en-US" sz="2800" b="1" i="1" u="none" strike="noStrike" dirty="0">
                <a:solidFill>
                  <a:srgbClr val="212121"/>
                </a:solidFill>
                <a:effectLst/>
                <a:latin typeface="Aptos" panose="020B0004020202020204" pitchFamily="34" charset="0"/>
              </a:rPr>
              <a:t> Why is this research important?</a:t>
            </a:r>
          </a:p>
          <a:p>
            <a:pPr marL="457200" lvl="1">
              <a:buFont typeface="+mj-lt"/>
              <a:buAutoNum type="alphaLcPeriod"/>
            </a:pPr>
            <a:r>
              <a:rPr lang="en-US" sz="2800" i="0" u="none" strike="noStrike" dirty="0">
                <a:solidFill>
                  <a:srgbClr val="212121"/>
                </a:solidFill>
                <a:effectLst/>
                <a:latin typeface="Aptos" panose="020B0004020202020204" pitchFamily="34" charset="0"/>
              </a:rPr>
              <a:t> </a:t>
            </a:r>
            <a:r>
              <a:rPr lang="en-US" sz="2800" b="0" i="0" u="none" strike="noStrike" dirty="0">
                <a:solidFill>
                  <a:srgbClr val="212121"/>
                </a:solidFill>
                <a:effectLst/>
                <a:latin typeface="Aptos" panose="020B0004020202020204" pitchFamily="34" charset="0"/>
              </a:rPr>
              <a:t>How did you formulate your model?</a:t>
            </a:r>
          </a:p>
          <a:p>
            <a:pPr marL="457200" lvl="1">
              <a:buFont typeface="+mj-lt"/>
              <a:buAutoNum type="alphaLcPeriod"/>
            </a:pPr>
            <a:r>
              <a:rPr lang="en-US" sz="2800" b="0" i="0" u="none" strike="noStrike" dirty="0">
                <a:solidFill>
                  <a:srgbClr val="212121"/>
                </a:solidFill>
                <a:effectLst/>
                <a:latin typeface="Aptos" panose="020B0004020202020204" pitchFamily="34" charset="0"/>
              </a:rPr>
              <a:t> What are the important assumptions/data?</a:t>
            </a:r>
          </a:p>
          <a:p>
            <a:pPr marL="457200" lvl="1">
              <a:buFont typeface="+mj-lt"/>
              <a:buAutoNum type="alphaLcPeriod"/>
            </a:pPr>
            <a:r>
              <a:rPr lang="en-US" sz="2800" b="0" i="0" u="none" strike="noStrike" dirty="0">
                <a:solidFill>
                  <a:srgbClr val="212121"/>
                </a:solidFill>
                <a:effectLst/>
                <a:latin typeface="Aptos" panose="020B0004020202020204" pitchFamily="34" charset="0"/>
              </a:rPr>
              <a:t> What are your (anticipated/final/working) results?</a:t>
            </a:r>
          </a:p>
          <a:p>
            <a:pPr marL="457200" lvl="1">
              <a:buFont typeface="+mj-lt"/>
              <a:buAutoNum type="alphaLcPeriod"/>
            </a:pPr>
            <a:r>
              <a:rPr lang="en-US" sz="2800" b="0" i="0" u="none" strike="noStrike" dirty="0">
                <a:solidFill>
                  <a:srgbClr val="212121"/>
                </a:solidFill>
                <a:effectLst/>
                <a:latin typeface="Aptos" panose="020B0004020202020204" pitchFamily="34" charset="0"/>
              </a:rPr>
              <a:t> What conclusions can you (hope to) draw from the work?</a:t>
            </a:r>
          </a:p>
          <a:p>
            <a:pPr marL="457200" lvl="1">
              <a:buFont typeface="+mj-lt"/>
              <a:buAutoNum type="alphaLcPeriod"/>
            </a:pPr>
            <a:r>
              <a:rPr lang="en-US" sz="2800" b="1" i="1" u="none" strike="noStrike" dirty="0">
                <a:solidFill>
                  <a:srgbClr val="212121"/>
                </a:solidFill>
                <a:effectLst/>
                <a:latin typeface="Aptos" panose="020B0004020202020204" pitchFamily="34" charset="0"/>
              </a:rPr>
              <a:t> If you had unlimited time/money/energy, what would this project look like?</a:t>
            </a:r>
          </a:p>
          <a:p>
            <a:pPr marL="0" indent="0">
              <a:buNone/>
            </a:pPr>
            <a:endParaRPr lang="en-US" dirty="0"/>
          </a:p>
          <a:p>
            <a:pPr marL="0" indent="0">
              <a:buNone/>
            </a:pPr>
            <a:r>
              <a:rPr lang="en-US" dirty="0"/>
              <a:t>Presentations should be ~10 minutes</a:t>
            </a:r>
          </a:p>
        </p:txBody>
      </p:sp>
    </p:spTree>
    <p:extLst>
      <p:ext uri="{BB962C8B-B14F-4D97-AF65-F5344CB8AC3E}">
        <p14:creationId xmlns:p14="http://schemas.microsoft.com/office/powerpoint/2010/main" val="419344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85F4F-7208-42B4-9B99-21FB432AEF53}"/>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60B76C7-9B77-A9A8-AF9C-4E29DAC09939}"/>
              </a:ext>
            </a:extLst>
          </p:cNvPr>
          <p:cNvSpPr>
            <a:spLocks noGrp="1"/>
          </p:cNvSpPr>
          <p:nvPr>
            <p:ph idx="1"/>
          </p:nvPr>
        </p:nvSpPr>
        <p:spPr/>
        <p:txBody>
          <a:bodyPr/>
          <a:lstStyle/>
          <a:p>
            <a:pPr marL="0" indent="0">
              <a:buNone/>
            </a:pPr>
            <a:endParaRPr lang="en-US" dirty="0"/>
          </a:p>
          <a:p>
            <a:r>
              <a:rPr lang="en-US" dirty="0"/>
              <a:t>Ramsey Model</a:t>
            </a:r>
          </a:p>
          <a:p>
            <a:endParaRPr lang="en-US" dirty="0"/>
          </a:p>
          <a:p>
            <a:r>
              <a:rPr lang="en-US" dirty="0"/>
              <a:t>Duality -&gt; MCP’s</a:t>
            </a:r>
          </a:p>
          <a:p>
            <a:endParaRPr lang="en-US" dirty="0"/>
          </a:p>
          <a:p>
            <a:r>
              <a:rPr lang="en-US" dirty="0"/>
              <a:t>Applications:</a:t>
            </a:r>
          </a:p>
          <a:p>
            <a:pPr lvl="1"/>
            <a:r>
              <a:rPr lang="en-US" dirty="0"/>
              <a:t>Simple example using Ripley’s restaurant</a:t>
            </a:r>
          </a:p>
          <a:p>
            <a:pPr lvl="1"/>
            <a:r>
              <a:rPr lang="en-US" dirty="0"/>
              <a:t>More complicated with electricity dispatch</a:t>
            </a:r>
          </a:p>
          <a:p>
            <a:pPr lvl="1"/>
            <a:r>
              <a:rPr lang="en-US" dirty="0"/>
              <a:t>Oligopolistic competition (Cournot games)</a:t>
            </a:r>
          </a:p>
        </p:txBody>
      </p:sp>
    </p:spTree>
    <p:extLst>
      <p:ext uri="{BB962C8B-B14F-4D97-AF65-F5344CB8AC3E}">
        <p14:creationId xmlns:p14="http://schemas.microsoft.com/office/powerpoint/2010/main" val="286108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7E2BC-6373-E2E3-2067-2FBA3C360A14}"/>
              </a:ext>
            </a:extLst>
          </p:cNvPr>
          <p:cNvSpPr>
            <a:spLocks noGrp="1"/>
          </p:cNvSpPr>
          <p:nvPr>
            <p:ph type="title"/>
          </p:nvPr>
        </p:nvSpPr>
        <p:spPr>
          <a:xfrm>
            <a:off x="645064" y="525982"/>
            <a:ext cx="4282983" cy="1200361"/>
          </a:xfrm>
        </p:spPr>
        <p:txBody>
          <a:bodyPr anchor="b">
            <a:normAutofit/>
          </a:bodyPr>
          <a:lstStyle/>
          <a:p>
            <a:r>
              <a:rPr lang="en-US" sz="3600"/>
              <a:t>Ramsey model – main points</a:t>
            </a:r>
          </a:p>
        </p:txBody>
      </p:sp>
      <p:sp>
        <p:nvSpPr>
          <p:cNvPr id="3" name="Content Placeholder 2">
            <a:extLst>
              <a:ext uri="{FF2B5EF4-FFF2-40B4-BE49-F238E27FC236}">
                <a16:creationId xmlns:a16="http://schemas.microsoft.com/office/drawing/2014/main" id="{3D0CBF7C-688F-D01D-A986-33AF86AB4992}"/>
              </a:ext>
            </a:extLst>
          </p:cNvPr>
          <p:cNvSpPr>
            <a:spLocks noGrp="1"/>
          </p:cNvSpPr>
          <p:nvPr>
            <p:ph idx="1"/>
          </p:nvPr>
        </p:nvSpPr>
        <p:spPr>
          <a:xfrm>
            <a:off x="221551" y="2031101"/>
            <a:ext cx="5495855" cy="3511943"/>
          </a:xfrm>
        </p:spPr>
        <p:txBody>
          <a:bodyPr anchor="ctr">
            <a:normAutofit/>
          </a:bodyPr>
          <a:lstStyle/>
          <a:p>
            <a:r>
              <a:rPr lang="en-US" sz="1800" dirty="0"/>
              <a:t>(simple) Economic growth model based on labor growth, capital accumulation, investment</a:t>
            </a:r>
          </a:p>
          <a:p>
            <a:r>
              <a:rPr lang="en-US" sz="1800" dirty="0"/>
              <a:t>Target of optimization is intertemporal utility</a:t>
            </a:r>
          </a:p>
          <a:p>
            <a:r>
              <a:rPr lang="en-US" sz="1800" dirty="0"/>
              <a:t>Two variables define/limit output: capital and labor</a:t>
            </a:r>
          </a:p>
          <a:p>
            <a:r>
              <a:rPr lang="en-US" sz="1800" dirty="0"/>
              <a:t>Terminal investment conditions</a:t>
            </a:r>
          </a:p>
        </p:txBody>
      </p:sp>
      <p:pic>
        <p:nvPicPr>
          <p:cNvPr id="4" name="Picture 3">
            <a:extLst>
              <a:ext uri="{FF2B5EF4-FFF2-40B4-BE49-F238E27FC236}">
                <a16:creationId xmlns:a16="http://schemas.microsoft.com/office/drawing/2014/main" id="{A60E6E1D-D982-1A69-4C20-B3C442BABB33}"/>
              </a:ext>
            </a:extLst>
          </p:cNvPr>
          <p:cNvPicPr>
            <a:picLocks noChangeAspect="1"/>
          </p:cNvPicPr>
          <p:nvPr/>
        </p:nvPicPr>
        <p:blipFill>
          <a:blip r:embed="rId2"/>
          <a:stretch>
            <a:fillRect/>
          </a:stretch>
        </p:blipFill>
        <p:spPr>
          <a:xfrm>
            <a:off x="5987738" y="709607"/>
            <a:ext cx="5628018" cy="5205916"/>
          </a:xfrm>
          <a:prstGeom prst="rect">
            <a:avLst/>
          </a:prstGeom>
        </p:spPr>
      </p:pic>
    </p:spTree>
    <p:extLst>
      <p:ext uri="{BB962C8B-B14F-4D97-AF65-F5344CB8AC3E}">
        <p14:creationId xmlns:p14="http://schemas.microsoft.com/office/powerpoint/2010/main" val="101120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E098-14E0-5DA5-F1DE-AC22D87636D1}"/>
              </a:ext>
            </a:extLst>
          </p:cNvPr>
          <p:cNvSpPr>
            <a:spLocks noGrp="1"/>
          </p:cNvSpPr>
          <p:nvPr>
            <p:ph type="title"/>
          </p:nvPr>
        </p:nvSpPr>
        <p:spPr/>
        <p:txBody>
          <a:bodyPr/>
          <a:lstStyle/>
          <a:p>
            <a:r>
              <a:rPr lang="en-US" dirty="0"/>
              <a:t>The Ramsey model – indices,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57024C-AC75-343E-4D26-B9FD26FD111C}"/>
                  </a:ext>
                </a:extLst>
              </p:cNvPr>
              <p:cNvSpPr>
                <a:spLocks noGrp="1"/>
              </p:cNvSpPr>
              <p:nvPr>
                <p:ph idx="1"/>
              </p:nvPr>
            </p:nvSpPr>
            <p:spPr/>
            <p:txBody>
              <a:bodyPr>
                <a:normAutofit fontScale="92500" lnSpcReduction="10000"/>
              </a:bodyPr>
              <a:lstStyle/>
              <a:p>
                <a:pPr marL="0" indent="0">
                  <a:buNone/>
                </a:pPr>
                <a:r>
                  <a:rPr lang="en-US" sz="1800" dirty="0"/>
                  <a:t>Indices</a:t>
                </a:r>
              </a:p>
              <a:p>
                <a:pPr marL="0" indent="0">
                  <a:buNone/>
                </a:pPr>
                <a14:m>
                  <m:oMath xmlns:m="http://schemas.openxmlformats.org/officeDocument/2006/math">
                    <m:r>
                      <a:rPr lang="en-US" sz="1800" b="0" i="1" smtClean="0">
                        <a:latin typeface="Cambria Math" panose="02040503050406030204" pitchFamily="18" charset="0"/>
                      </a:rPr>
                      <m:t>𝑡</m:t>
                    </m:r>
                  </m:oMath>
                </a14:m>
                <a:r>
                  <a:rPr lang="en-US" sz="1800" dirty="0"/>
                  <a:t>: time</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0</m:t>
                        </m:r>
                      </m:sub>
                    </m:sSub>
                  </m:oMath>
                </a14:m>
                <a:r>
                  <a:rPr lang="en-US" sz="1800" dirty="0"/>
                  <a:t>: initial period</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𝑇</m:t>
                        </m:r>
                      </m:sub>
                    </m:sSub>
                  </m:oMath>
                </a14:m>
                <a:r>
                  <a:rPr lang="en-US" sz="1800" dirty="0"/>
                  <a:t>: final period</a:t>
                </a:r>
              </a:p>
              <a:p>
                <a:pPr marL="0" indent="0">
                  <a:buNone/>
                </a:pPr>
                <a:endParaRPr lang="en-US" sz="1800" dirty="0"/>
              </a:p>
              <a:p>
                <a:pPr marL="0" indent="0">
                  <a:buNone/>
                </a:pPr>
                <a:r>
                  <a:rPr lang="en-US" sz="1800" dirty="0"/>
                  <a:t>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𝛽</m:t>
                        </m:r>
                      </m:e>
                      <m:sub>
                        <m:r>
                          <a:rPr lang="en-US" sz="1800" b="0" i="1" smtClean="0">
                            <a:effectLst/>
                            <a:latin typeface="Cambria Math" panose="02040503050406030204" pitchFamily="18" charset="0"/>
                          </a:rPr>
                          <m:t>𝑡</m:t>
                        </m:r>
                      </m:sub>
                    </m:sSub>
                  </m:oMath>
                </a14:m>
                <a:r>
                  <a:rPr lang="en-US" sz="1800" dirty="0">
                    <a:effectLst/>
                    <a:latin typeface="Cambria Math" panose="02040503050406030204" pitchFamily="18" charset="0"/>
                  </a:rPr>
                  <a:t>: utility discount parameter</a:t>
                </a:r>
              </a:p>
              <a:p>
                <a14:m>
                  <m:oMath xmlns:m="http://schemas.openxmlformats.org/officeDocument/2006/math">
                    <m:r>
                      <a:rPr lang="en-US" sz="1800" i="1" dirty="0" smtClean="0">
                        <a:effectLst/>
                        <a:latin typeface="Cambria Math" panose="02040503050406030204" pitchFamily="18" charset="0"/>
                      </a:rPr>
                      <m:t>𝑔</m:t>
                    </m:r>
                  </m:oMath>
                </a14:m>
                <a:r>
                  <a:rPr lang="en-US" sz="1800" dirty="0">
                    <a:effectLst/>
                  </a:rPr>
                  <a:t> Labor growth rate in efficiency units (% / </a:t>
                </a:r>
                <a:r>
                  <a:rPr lang="en-US" sz="1800" dirty="0" err="1">
                    <a:effectLst/>
                  </a:rPr>
                  <a:t>yr</a:t>
                </a:r>
                <a:r>
                  <a:rPr lang="en-US" sz="1800" dirty="0">
                    <a:effectLst/>
                  </a:rPr>
                  <a:t>) </a:t>
                </a:r>
                <a:endParaRPr lang="en-US" sz="1800" dirty="0"/>
              </a:p>
              <a:p>
                <a14:m>
                  <m:oMath xmlns:m="http://schemas.openxmlformats.org/officeDocument/2006/math">
                    <m:r>
                      <a:rPr lang="en-US" sz="1800" b="0" i="1" smtClean="0">
                        <a:effectLst/>
                        <a:latin typeface="Cambria Math" panose="02040503050406030204" pitchFamily="18" charset="0"/>
                      </a:rPr>
                      <m:t>𝛿</m:t>
                    </m:r>
                  </m:oMath>
                </a14:m>
                <a:r>
                  <a:rPr lang="en-US" sz="1800" dirty="0">
                    <a:effectLst/>
                  </a:rPr>
                  <a:t> Capital depreciation rate (% / </a:t>
                </a:r>
                <a:r>
                  <a:rPr lang="en-US" sz="1800" dirty="0" err="1">
                    <a:effectLst/>
                  </a:rPr>
                  <a:t>yr</a:t>
                </a:r>
                <a:r>
                  <a:rPr lang="en-US" sz="1800" dirty="0">
                    <a:effectLst/>
                  </a:rPr>
                  <a:t>)</a:t>
                </a:r>
              </a:p>
              <a:p>
                <a14:m>
                  <m:oMath xmlns:m="http://schemas.openxmlformats.org/officeDocument/2006/math">
                    <m:r>
                      <a:rPr lang="en-US" sz="1800" b="0" i="1" smtClean="0">
                        <a:effectLst/>
                        <a:latin typeface="Cambria Math" panose="02040503050406030204" pitchFamily="18" charset="0"/>
                      </a:rPr>
                      <m:t>𝛼</m:t>
                    </m:r>
                  </m:oMath>
                </a14:m>
                <a:r>
                  <a:rPr lang="en-US" sz="1800" dirty="0">
                    <a:effectLst/>
                  </a:rPr>
                  <a:t> Capital value share </a:t>
                </a:r>
              </a:p>
              <a:p>
                <a14:m>
                  <m:oMath xmlns:m="http://schemas.openxmlformats.org/officeDocument/2006/math">
                    <m:r>
                      <a:rPr lang="en-US" sz="1800" b="0" i="1" dirty="0" smtClean="0">
                        <a:effectLst/>
                        <a:latin typeface="Cambria Math" panose="02040503050406030204" pitchFamily="18" charset="0"/>
                      </a:rPr>
                      <m:t>𝜂</m:t>
                    </m:r>
                  </m:oMath>
                </a14:m>
                <a:r>
                  <a:rPr lang="en-US" sz="1800" dirty="0">
                    <a:effectLst/>
                  </a:rPr>
                  <a:t> Inverse intertemporal elasticity </a:t>
                </a:r>
              </a:p>
              <a:p>
                <a14:m>
                  <m:oMath xmlns:m="http://schemas.openxmlformats.org/officeDocument/2006/math">
                    <m:r>
                      <a:rPr lang="en-US" sz="1800" b="0" i="1" dirty="0" smtClean="0">
                        <a:effectLst/>
                        <a:latin typeface="Cambria Math" panose="02040503050406030204" pitchFamily="18" charset="0"/>
                      </a:rPr>
                      <m:t>𝜌</m:t>
                    </m:r>
                  </m:oMath>
                </a14:m>
                <a:r>
                  <a:rPr lang="en-US" sz="1800" dirty="0">
                    <a:effectLst/>
                  </a:rPr>
                  <a:t> Calibrated marginal product of capital </a:t>
                </a:r>
              </a:p>
              <a:p>
                <a14:m>
                  <m:oMath xmlns:m="http://schemas.openxmlformats.org/officeDocument/2006/math">
                    <m:r>
                      <a:rPr lang="en-US" sz="1800" b="0" i="1" smtClean="0">
                        <a:effectLst/>
                        <a:latin typeface="Cambria Math" panose="02040503050406030204" pitchFamily="18" charset="0"/>
                      </a:rPr>
                      <m:t>𝑎</m:t>
                    </m:r>
                  </m:oMath>
                </a14:m>
                <a:r>
                  <a:rPr lang="en-US" sz="1800" dirty="0">
                    <a:effectLst/>
                  </a:rPr>
                  <a:t> Cobb Douglas scale parameter; </a:t>
                </a:r>
                <a:endParaRPr lang="en-US" sz="1800" dirty="0"/>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EB57024C-AC75-343E-4D26-B9FD26FD111C}"/>
                  </a:ext>
                </a:extLst>
              </p:cNvPr>
              <p:cNvSpPr>
                <a:spLocks noGrp="1" noRot="1" noChangeAspect="1" noMove="1" noResize="1" noEditPoints="1" noAdjustHandles="1" noChangeArrowheads="1" noChangeShapeType="1" noTextEdit="1"/>
              </p:cNvSpPr>
              <p:nvPr>
                <p:ph idx="1"/>
              </p:nvPr>
            </p:nvSpPr>
            <p:spPr>
              <a:blipFill>
                <a:blip r:embed="rId2"/>
                <a:stretch>
                  <a:fillRect l="-483" t="-1453" b="-1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5D05AA4-18EF-B750-D998-BBD17FC09CFE}"/>
                  </a:ext>
                </a:extLst>
              </p:cNvPr>
              <p:cNvSpPr txBox="1"/>
              <p:nvPr/>
            </p:nvSpPr>
            <p:spPr>
              <a:xfrm>
                <a:off x="6344979" y="3514061"/>
                <a:ext cx="6097772" cy="1477328"/>
              </a:xfrm>
              <a:prstGeom prst="rect">
                <a:avLst/>
              </a:prstGeom>
              <a:noFill/>
            </p:spPr>
            <p:txBody>
              <a:bodyPr wrap="square">
                <a:spAutoFit/>
              </a:bodyPr>
              <a:lstStyle/>
              <a:p>
                <a:r>
                  <a:rPr lang="en-US" sz="1800" b="0" dirty="0">
                    <a:effectLst/>
                  </a:rPr>
                  <a:t>Initial setup 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𝑘</m:t>
                        </m:r>
                      </m:e>
                      <m:sub>
                        <m:r>
                          <a:rPr lang="en-US" sz="1800" b="0" i="1" smtClean="0">
                            <a:effectLst/>
                            <a:latin typeface="Cambria Math" panose="02040503050406030204" pitchFamily="18" charset="0"/>
                          </a:rPr>
                          <m:t>0</m:t>
                        </m:r>
                      </m:sub>
                    </m:sSub>
                  </m:oMath>
                </a14:m>
                <a:r>
                  <a:rPr lang="en-US" sz="1800" dirty="0">
                    <a:effectLst/>
                  </a:rPr>
                  <a:t> Initial capital </a:t>
                </a:r>
                <a:r>
                  <a:rPr lang="en-US" dirty="0"/>
                  <a:t>(units of capital)</a:t>
                </a:r>
                <a:endParaRPr lang="en-US" sz="1800" dirty="0">
                  <a:effectLst/>
                </a:endParaRP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𝑙</m:t>
                        </m:r>
                      </m:e>
                      <m:sub>
                        <m:r>
                          <a:rPr lang="en-US" sz="1800" b="0" i="1" smtClean="0">
                            <a:effectLst/>
                            <a:latin typeface="Cambria Math" panose="02040503050406030204" pitchFamily="18" charset="0"/>
                          </a:rPr>
                          <m:t>0</m:t>
                        </m:r>
                      </m:sub>
                    </m:sSub>
                  </m:oMath>
                </a14:m>
                <a:r>
                  <a:rPr lang="en-US" sz="1800" dirty="0">
                    <a:effectLst/>
                  </a:rPr>
                  <a:t> Initial labor (units of labor)</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𝑐</m:t>
                        </m:r>
                      </m:e>
                      <m:sub>
                        <m:r>
                          <a:rPr lang="en-US" sz="1800" b="0" i="1" dirty="0" smtClean="0">
                            <a:effectLst/>
                            <a:latin typeface="Cambria Math" panose="02040503050406030204" pitchFamily="18" charset="0"/>
                          </a:rPr>
                          <m:t>0</m:t>
                        </m:r>
                      </m:sub>
                    </m:sSub>
                  </m:oMath>
                </a14:m>
                <a:r>
                  <a:rPr lang="en-US" sz="1800" dirty="0">
                    <a:effectLst/>
                  </a:rPr>
                  <a:t> Base year consumption (units)</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b="0" i="1" dirty="0" smtClean="0">
                            <a:effectLst/>
                            <a:latin typeface="Cambria Math" panose="02040503050406030204" pitchFamily="18" charset="0"/>
                          </a:rPr>
                          <m:t>𝑖</m:t>
                        </m:r>
                      </m:e>
                      <m:sub>
                        <m:r>
                          <a:rPr lang="en-US" sz="1800" b="0" i="1" dirty="0" smtClean="0">
                            <a:effectLst/>
                            <a:latin typeface="Cambria Math" panose="02040503050406030204" pitchFamily="18" charset="0"/>
                          </a:rPr>
                          <m:t>0</m:t>
                        </m:r>
                      </m:sub>
                    </m:sSub>
                  </m:oMath>
                </a14:m>
                <a:r>
                  <a:rPr lang="en-US" sz="1800" dirty="0">
                    <a:effectLst/>
                  </a:rPr>
                  <a:t> Base year investment (units)</a:t>
                </a:r>
              </a:p>
            </p:txBody>
          </p:sp>
        </mc:Choice>
        <mc:Fallback xmlns="">
          <p:sp>
            <p:nvSpPr>
              <p:cNvPr id="5" name="TextBox 4">
                <a:extLst>
                  <a:ext uri="{FF2B5EF4-FFF2-40B4-BE49-F238E27FC236}">
                    <a16:creationId xmlns:a16="http://schemas.microsoft.com/office/drawing/2014/main" id="{D5D05AA4-18EF-B750-D998-BBD17FC09CFE}"/>
                  </a:ext>
                </a:extLst>
              </p:cNvPr>
              <p:cNvSpPr txBox="1">
                <a:spLocks noRot="1" noChangeAspect="1" noMove="1" noResize="1" noEditPoints="1" noAdjustHandles="1" noChangeArrowheads="1" noChangeShapeType="1" noTextEdit="1"/>
              </p:cNvSpPr>
              <p:nvPr/>
            </p:nvSpPr>
            <p:spPr>
              <a:xfrm>
                <a:off x="6344979" y="3514061"/>
                <a:ext cx="6097772" cy="1477328"/>
              </a:xfrm>
              <a:prstGeom prst="rect">
                <a:avLst/>
              </a:prstGeom>
              <a:blipFill>
                <a:blip r:embed="rId3"/>
                <a:stretch>
                  <a:fillRect l="-832" t="-1695" b="-5085"/>
                </a:stretch>
              </a:blipFill>
            </p:spPr>
            <p:txBody>
              <a:bodyPr/>
              <a:lstStyle/>
              <a:p>
                <a:r>
                  <a:rPr lang="en-US">
                    <a:noFill/>
                  </a:rPr>
                  <a:t> </a:t>
                </a:r>
              </a:p>
            </p:txBody>
          </p:sp>
        </mc:Fallback>
      </mc:AlternateContent>
    </p:spTree>
    <p:extLst>
      <p:ext uri="{BB962C8B-B14F-4D97-AF65-F5344CB8AC3E}">
        <p14:creationId xmlns:p14="http://schemas.microsoft.com/office/powerpoint/2010/main" val="1935447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97E8-9C9D-F484-4ECE-AB018A7AB81C}"/>
              </a:ext>
            </a:extLst>
          </p:cNvPr>
          <p:cNvSpPr>
            <a:spLocks noGrp="1"/>
          </p:cNvSpPr>
          <p:nvPr>
            <p:ph type="title"/>
          </p:nvPr>
        </p:nvSpPr>
        <p:spPr/>
        <p:txBody>
          <a:bodyPr>
            <a:normAutofit/>
          </a:bodyPr>
          <a:lstStyle/>
          <a:p>
            <a:r>
              <a:rPr lang="en-US" sz="4000" dirty="0"/>
              <a:t>The Ramsey Model – Variables, Objective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B1EAF28-9DA3-56BD-2A5A-ECF20749D3E0}"/>
                  </a:ext>
                </a:extLst>
              </p:cNvPr>
              <p:cNvSpPr>
                <a:spLocks noGrp="1"/>
              </p:cNvSpPr>
              <p:nvPr>
                <p:ph idx="1"/>
              </p:nvPr>
            </p:nvSpPr>
            <p:spPr/>
            <p:txBody>
              <a:bodyPr>
                <a:normAutofit fontScale="85000" lnSpcReduction="20000"/>
              </a:bodyPr>
              <a:lstStyle/>
              <a:p>
                <a:pPr marL="0" indent="0">
                  <a:buNone/>
                </a:pPr>
                <a:r>
                  <a:rPr lang="en-US" dirty="0"/>
                  <a:t>Variables:</a:t>
                </a:r>
              </a:p>
              <a:p>
                <a:pPr marL="0" indent="0">
                  <a:buNone/>
                </a:pPr>
                <a14:m>
                  <m:oMath xmlns:m="http://schemas.openxmlformats.org/officeDocument/2006/math">
                    <m:r>
                      <a:rPr lang="en-US" b="0" i="1" smtClean="0">
                        <a:latin typeface="Cambria Math" panose="02040503050406030204" pitchFamily="18" charset="0"/>
                      </a:rPr>
                      <m:t>𝑈</m:t>
                    </m:r>
                  </m:oMath>
                </a14:m>
                <a:r>
                  <a:rPr lang="en-US" b="0" dirty="0">
                    <a:latin typeface="Cambria Math" panose="02040503050406030204" pitchFamily="18" charset="0"/>
                  </a:rPr>
                  <a:t>:</a:t>
                </a:r>
                <a:r>
                  <a:rPr lang="en-US" b="0" i="1" dirty="0">
                    <a:latin typeface="Cambria Math" panose="02040503050406030204" pitchFamily="18" charset="0"/>
                  </a:rPr>
                  <a:t> </a:t>
                </a:r>
                <a:r>
                  <a:rPr lang="en-US" b="0" dirty="0">
                    <a:latin typeface="Cambria Math" panose="02040503050406030204" pitchFamily="18" charset="0"/>
                  </a:rPr>
                  <a:t>intertemporal utility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oMath>
                </a14:m>
                <a:r>
                  <a:rPr lang="en-US" dirty="0"/>
                  <a:t>: consumption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oMath>
                </a14:m>
                <a:r>
                  <a:rPr lang="en-US" dirty="0"/>
                  <a:t>: capital stock</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oMath>
                </a14:m>
                <a:r>
                  <a:rPr lang="en-US" dirty="0"/>
                  <a:t>: production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a14:m>
                <a:r>
                  <a:rPr lang="en-US" dirty="0"/>
                  <a:t>: investment</a:t>
                </a:r>
              </a:p>
              <a:p>
                <a:pPr marL="0" indent="0">
                  <a:buNone/>
                </a:pPr>
                <a:endParaRPr lang="en-US" dirty="0"/>
              </a:p>
              <a:p>
                <a:pPr marL="0" indent="0">
                  <a:buNone/>
                </a:pPr>
                <a:r>
                  <a:rPr lang="en-US" dirty="0"/>
                  <a:t>Objective is to maximize utility across an infinite time horizon: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r>
                              <a:rPr lang="en-US" b="0" i="1" smtClean="0">
                                <a:latin typeface="Cambria Math" panose="02040503050406030204" pitchFamily="18" charset="0"/>
                              </a:rPr>
                              <m:t>…</m:t>
                            </m:r>
                          </m:e>
                        </m:mr>
                      </m:m>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𝑡</m:t>
                              </m:r>
                            </m:sub>
                            <m:sup>
                              <m:r>
                                <a:rPr lang="en-US" b="0" i="1" smtClean="0">
                                  <a:latin typeface="Cambria Math" panose="02040503050406030204" pitchFamily="18" charset="0"/>
                                </a:rPr>
                                <m:t>1−</m:t>
                              </m:r>
                              <m:r>
                                <a:rPr lang="en-US" b="0" i="1" smtClean="0">
                                  <a:latin typeface="Cambria Math" panose="02040503050406030204" pitchFamily="18" charset="0"/>
                                </a:rPr>
                                <m:t>𝜂</m:t>
                              </m:r>
                            </m:sup>
                          </m:sSubSup>
                          <m:r>
                            <a:rPr lang="en-US" b="0" i="1" smtClean="0">
                              <a:latin typeface="Cambria Math" panose="02040503050406030204" pitchFamily="18" charset="0"/>
                            </a:rPr>
                            <m:t>/(1−</m:t>
                          </m:r>
                          <m:r>
                            <a:rPr lang="en-US" b="0" i="1" smtClean="0">
                              <a:latin typeface="Cambria Math" panose="02040503050406030204" pitchFamily="18" charset="0"/>
                            </a:rPr>
                            <m:t>𝜂</m:t>
                          </m:r>
                          <m:r>
                            <a:rPr lang="en-US" b="0" i="1" smtClean="0">
                              <a:latin typeface="Cambria Math" panose="02040503050406030204" pitchFamily="18" charset="0"/>
                            </a:rPr>
                            <m:t>)</m:t>
                          </m:r>
                        </m:e>
                      </m:nary>
                    </m:oMath>
                  </m:oMathPara>
                </a14:m>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4B1EAF28-9DA3-56BD-2A5A-ECF20749D3E0}"/>
                  </a:ext>
                </a:extLst>
              </p:cNvPr>
              <p:cNvSpPr>
                <a:spLocks noGrp="1" noRot="1" noChangeAspect="1" noMove="1" noResize="1" noEditPoints="1" noAdjustHandles="1" noChangeArrowheads="1" noChangeShapeType="1" noTextEdit="1"/>
              </p:cNvSpPr>
              <p:nvPr>
                <p:ph idx="1"/>
              </p:nvPr>
            </p:nvSpPr>
            <p:spPr>
              <a:blipFill>
                <a:blip r:embed="rId2"/>
                <a:stretch>
                  <a:fillRect l="-965" t="-3198" b="-412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222E85E-0979-FC37-D7A4-CAD5A75EAA57}"/>
                  </a:ext>
                </a:extLst>
              </p:cNvPr>
              <p:cNvSpPr txBox="1"/>
              <p:nvPr/>
            </p:nvSpPr>
            <p:spPr>
              <a:xfrm>
                <a:off x="7890310" y="2269231"/>
                <a:ext cx="6097604" cy="646331"/>
              </a:xfrm>
              <a:prstGeom prst="rect">
                <a:avLst/>
              </a:prstGeom>
              <a:noFill/>
            </p:spPr>
            <p:txBody>
              <a:bodyPr wrap="square">
                <a:spAutoFit/>
              </a:bodyPr>
              <a:lstStyle/>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𝛽</m:t>
                        </m:r>
                      </m:e>
                      <m:sub>
                        <m:r>
                          <a:rPr lang="en-US" sz="1800" b="0" i="1" smtClean="0">
                            <a:effectLst/>
                            <a:latin typeface="Cambria Math" panose="02040503050406030204" pitchFamily="18" charset="0"/>
                          </a:rPr>
                          <m:t>𝑡</m:t>
                        </m:r>
                      </m:sub>
                    </m:sSub>
                  </m:oMath>
                </a14:m>
                <a:r>
                  <a:rPr lang="en-US" sz="1800" dirty="0">
                    <a:effectLst/>
                    <a:latin typeface="Cambria Math" panose="02040503050406030204" pitchFamily="18" charset="0"/>
                  </a:rPr>
                  <a:t>: utility discount parameter</a:t>
                </a:r>
              </a:p>
              <a:p>
                <a14:m>
                  <m:oMath xmlns:m="http://schemas.openxmlformats.org/officeDocument/2006/math">
                    <m:r>
                      <a:rPr lang="en-US" sz="1800" b="0" i="1" dirty="0" smtClean="0">
                        <a:effectLst/>
                        <a:latin typeface="Cambria Math" panose="02040503050406030204" pitchFamily="18" charset="0"/>
                      </a:rPr>
                      <m:t>𝜂</m:t>
                    </m:r>
                  </m:oMath>
                </a14:m>
                <a:r>
                  <a:rPr lang="en-US" sz="1800" dirty="0">
                    <a:effectLst/>
                  </a:rPr>
                  <a:t> Inverse intertemporal elasticity </a:t>
                </a:r>
              </a:p>
            </p:txBody>
          </p:sp>
        </mc:Choice>
        <mc:Fallback>
          <p:sp>
            <p:nvSpPr>
              <p:cNvPr id="7" name="TextBox 6">
                <a:extLst>
                  <a:ext uri="{FF2B5EF4-FFF2-40B4-BE49-F238E27FC236}">
                    <a16:creationId xmlns:a16="http://schemas.microsoft.com/office/drawing/2014/main" id="{2222E85E-0979-FC37-D7A4-CAD5A75EAA57}"/>
                  </a:ext>
                </a:extLst>
              </p:cNvPr>
              <p:cNvSpPr txBox="1">
                <a:spLocks noRot="1" noChangeAspect="1" noMove="1" noResize="1" noEditPoints="1" noAdjustHandles="1" noChangeArrowheads="1" noChangeShapeType="1" noTextEdit="1"/>
              </p:cNvSpPr>
              <p:nvPr/>
            </p:nvSpPr>
            <p:spPr>
              <a:xfrm>
                <a:off x="7890310" y="2269231"/>
                <a:ext cx="6097604" cy="646331"/>
              </a:xfrm>
              <a:prstGeom prst="rect">
                <a:avLst/>
              </a:prstGeom>
              <a:blipFill>
                <a:blip r:embed="rId3"/>
                <a:stretch>
                  <a:fillRect l="-416" t="-3846" b="-13462"/>
                </a:stretch>
              </a:blipFill>
            </p:spPr>
            <p:txBody>
              <a:bodyPr/>
              <a:lstStyle/>
              <a:p>
                <a:r>
                  <a:rPr lang="en-US">
                    <a:noFill/>
                  </a:rPr>
                  <a:t> </a:t>
                </a:r>
              </a:p>
            </p:txBody>
          </p:sp>
        </mc:Fallback>
      </mc:AlternateContent>
    </p:spTree>
    <p:extLst>
      <p:ext uri="{BB962C8B-B14F-4D97-AF65-F5344CB8AC3E}">
        <p14:creationId xmlns:p14="http://schemas.microsoft.com/office/powerpoint/2010/main" val="76897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90510-D166-5FB8-00ED-4C857F9327E3}"/>
              </a:ext>
            </a:extLst>
          </p:cNvPr>
          <p:cNvSpPr>
            <a:spLocks noGrp="1"/>
          </p:cNvSpPr>
          <p:nvPr>
            <p:ph type="title"/>
          </p:nvPr>
        </p:nvSpPr>
        <p:spPr/>
        <p:txBody>
          <a:bodyPr/>
          <a:lstStyle/>
          <a:p>
            <a:r>
              <a:rPr lang="en-US" dirty="0"/>
              <a:t>Setting the utility discount factor…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78861E-3A1A-0F65-F94A-483FFA389332}"/>
                  </a:ext>
                </a:extLst>
              </p:cNvPr>
              <p:cNvSpPr>
                <a:spLocks noGrp="1"/>
              </p:cNvSpPr>
              <p:nvPr>
                <p:ph idx="1"/>
              </p:nvPr>
            </p:nvSpPr>
            <p:spPr/>
            <p:txBody>
              <a:bodyPr/>
              <a:lstStyle/>
              <a:p>
                <a:pPr marL="0" indent="0">
                  <a:buNone/>
                </a:pPr>
                <a:r>
                  <a:rPr lang="en-US" dirty="0"/>
                  <a:t>Need to weight utility to…</a:t>
                </a:r>
              </a:p>
              <a:p>
                <a:pPr marL="0" indent="0">
                  <a:buNone/>
                </a:pPr>
                <a:r>
                  <a:rPr lang="en-US" dirty="0"/>
                  <a:t>- Account for time preference</a:t>
                </a:r>
              </a:p>
              <a:p>
                <a:pPr marL="0" indent="0">
                  <a:buNone/>
                </a:pPr>
                <a:r>
                  <a:rPr lang="en-US" dirty="0"/>
                  <a:t>- Account for population growth</a:t>
                </a:r>
              </a:p>
              <a:p>
                <a:pPr>
                  <a:buFontTx/>
                  <a:buChar char="-"/>
                </a:pPr>
                <a:r>
                  <a:rPr lang="en-US" dirty="0"/>
                  <a:t>Account for productivity of capital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𝜂</m:t>
                                      </m:r>
                                    </m:sup>
                                  </m:sSup>
                                </m:num>
                                <m:den>
                                  <m:r>
                                    <a:rPr lang="en-US" b="0" i="1" smtClean="0">
                                      <a:latin typeface="Cambria Math" panose="02040503050406030204" pitchFamily="18" charset="0"/>
                                    </a:rPr>
                                    <m:t>1+</m:t>
                                  </m:r>
                                  <m:r>
                                    <a:rPr lang="en-US" b="0" i="1" smtClean="0">
                                      <a:latin typeface="Cambria Math" panose="02040503050406030204" pitchFamily="18" charset="0"/>
                                    </a:rPr>
                                    <m:t>𝜌</m:t>
                                  </m:r>
                                </m:den>
                              </m:f>
                            </m:e>
                          </m:d>
                        </m:e>
                        <m:sup>
                          <m:r>
                            <a:rPr lang="en-US" b="0" i="1" smtClean="0">
                              <a:latin typeface="Cambria Math" panose="02040503050406030204" pitchFamily="18" charset="0"/>
                            </a:rPr>
                            <m:t>𝑡</m:t>
                          </m:r>
                        </m:sup>
                      </m:sSup>
                    </m:oMath>
                  </m:oMathPara>
                </a14:m>
                <a:endParaRPr lang="en-US" dirty="0"/>
              </a:p>
            </p:txBody>
          </p:sp>
        </mc:Choice>
        <mc:Fallback xmlns="">
          <p:sp>
            <p:nvSpPr>
              <p:cNvPr id="3" name="Content Placeholder 2">
                <a:extLst>
                  <a:ext uri="{FF2B5EF4-FFF2-40B4-BE49-F238E27FC236}">
                    <a16:creationId xmlns:a16="http://schemas.microsoft.com/office/drawing/2014/main" id="{AD78861E-3A1A-0F65-F94A-483FFA38933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D6198BD-572F-FD79-B653-9DBAE2D18B58}"/>
              </a:ext>
            </a:extLst>
          </p:cNvPr>
          <p:cNvSpPr txBox="1"/>
          <p:nvPr/>
        </p:nvSpPr>
        <p:spPr>
          <a:xfrm>
            <a:off x="7361498" y="2850266"/>
            <a:ext cx="4662687" cy="646331"/>
          </a:xfrm>
          <a:prstGeom prst="rect">
            <a:avLst/>
          </a:prstGeom>
          <a:noFill/>
        </p:spPr>
        <p:txBody>
          <a:bodyPr wrap="none" rtlCol="0">
            <a:spAutoFit/>
          </a:bodyPr>
          <a:lstStyle/>
          <a:p>
            <a:r>
              <a:rPr lang="en-US" dirty="0"/>
              <a:t>Weighing future based on population growth, </a:t>
            </a:r>
          </a:p>
          <a:p>
            <a:r>
              <a:rPr lang="en-US" dirty="0"/>
              <a:t>future productivity of to capital</a:t>
            </a:r>
          </a:p>
        </p:txBody>
      </p:sp>
      <p:cxnSp>
        <p:nvCxnSpPr>
          <p:cNvPr id="6" name="Straight Arrow Connector 5">
            <a:extLst>
              <a:ext uri="{FF2B5EF4-FFF2-40B4-BE49-F238E27FC236}">
                <a16:creationId xmlns:a16="http://schemas.microsoft.com/office/drawing/2014/main" id="{AC66854E-6229-D956-23A6-DF77FFE1F31E}"/>
              </a:ext>
            </a:extLst>
          </p:cNvPr>
          <p:cNvCxnSpPr>
            <a:stCxn id="4" idx="2"/>
          </p:cNvCxnSpPr>
          <p:nvPr/>
        </p:nvCxnSpPr>
        <p:spPr>
          <a:xfrm flipH="1">
            <a:off x="6748041" y="3496597"/>
            <a:ext cx="2944801" cy="6587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A6E5699-2CB5-61EB-C37A-93D7CCC101FB}"/>
              </a:ext>
            </a:extLst>
          </p:cNvPr>
          <p:cNvSpPr txBox="1"/>
          <p:nvPr/>
        </p:nvSpPr>
        <p:spPr>
          <a:xfrm>
            <a:off x="4816229" y="6123543"/>
            <a:ext cx="4550476" cy="369332"/>
          </a:xfrm>
          <a:prstGeom prst="rect">
            <a:avLst/>
          </a:prstGeom>
          <a:noFill/>
        </p:spPr>
        <p:txBody>
          <a:bodyPr wrap="square" rtlCol="0">
            <a:spAutoFit/>
          </a:bodyPr>
          <a:lstStyle/>
          <a:p>
            <a:pPr algn="ctr"/>
            <a:r>
              <a:rPr lang="en-US" dirty="0"/>
              <a:t>Making JG Wentworth proud</a:t>
            </a:r>
          </a:p>
        </p:txBody>
      </p:sp>
      <p:cxnSp>
        <p:nvCxnSpPr>
          <p:cNvPr id="8" name="Straight Arrow Connector 7">
            <a:extLst>
              <a:ext uri="{FF2B5EF4-FFF2-40B4-BE49-F238E27FC236}">
                <a16:creationId xmlns:a16="http://schemas.microsoft.com/office/drawing/2014/main" id="{E8D1FAF4-3C04-DDCD-203E-D5691744354D}"/>
              </a:ext>
            </a:extLst>
          </p:cNvPr>
          <p:cNvCxnSpPr>
            <a:cxnSpLocks/>
            <a:stCxn id="7" idx="0"/>
          </p:cNvCxnSpPr>
          <p:nvPr/>
        </p:nvCxnSpPr>
        <p:spPr>
          <a:xfrm flipH="1" flipV="1">
            <a:off x="6748041" y="5341434"/>
            <a:ext cx="343426" cy="7821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2B56B06-7BAB-4191-2BAF-B05473AA0E42}"/>
                  </a:ext>
                </a:extLst>
              </p:cNvPr>
              <p:cNvSpPr txBox="1"/>
              <p:nvPr/>
            </p:nvSpPr>
            <p:spPr>
              <a:xfrm>
                <a:off x="76228" y="5526941"/>
                <a:ext cx="6097604" cy="923330"/>
              </a:xfrm>
              <a:prstGeom prst="rect">
                <a:avLst/>
              </a:prstGeom>
              <a:noFill/>
            </p:spPr>
            <p:txBody>
              <a:bodyPr wrap="square">
                <a:spAutoFit/>
              </a:bodyPr>
              <a:lstStyle/>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𝛽</m:t>
                        </m:r>
                      </m:e>
                      <m:sub>
                        <m:r>
                          <a:rPr lang="en-US" sz="1800" b="0" i="1" smtClean="0">
                            <a:effectLst/>
                            <a:latin typeface="Cambria Math" panose="02040503050406030204" pitchFamily="18" charset="0"/>
                          </a:rPr>
                          <m:t>𝑡</m:t>
                        </m:r>
                      </m:sub>
                    </m:sSub>
                  </m:oMath>
                </a14:m>
                <a:r>
                  <a:rPr lang="en-US" sz="1800" dirty="0">
                    <a:effectLst/>
                    <a:latin typeface="Cambria Math" panose="02040503050406030204" pitchFamily="18" charset="0"/>
                  </a:rPr>
                  <a:t>: utility discount parameter</a:t>
                </a:r>
              </a:p>
              <a:p>
                <a14:m>
                  <m:oMath xmlns:m="http://schemas.openxmlformats.org/officeDocument/2006/math">
                    <m:r>
                      <a:rPr lang="en-US" sz="1800" i="1" dirty="0" smtClean="0">
                        <a:effectLst/>
                        <a:latin typeface="Cambria Math" panose="02040503050406030204" pitchFamily="18" charset="0"/>
                      </a:rPr>
                      <m:t>𝑔</m:t>
                    </m:r>
                  </m:oMath>
                </a14:m>
                <a:r>
                  <a:rPr lang="en-US" sz="1800" dirty="0">
                    <a:effectLst/>
                  </a:rPr>
                  <a:t> Labor growth rate in efficiency units (% / </a:t>
                </a:r>
                <a:r>
                  <a:rPr lang="en-US" sz="1800" dirty="0" err="1">
                    <a:effectLst/>
                  </a:rPr>
                  <a:t>yr</a:t>
                </a:r>
                <a:r>
                  <a:rPr lang="en-US" sz="1800" dirty="0">
                    <a:effectLst/>
                  </a:rPr>
                  <a:t>) </a:t>
                </a:r>
                <a:endParaRPr lang="en-US" sz="1800" dirty="0"/>
              </a:p>
              <a:p>
                <a14:m>
                  <m:oMath xmlns:m="http://schemas.openxmlformats.org/officeDocument/2006/math">
                    <m:r>
                      <a:rPr lang="en-US" sz="1800" b="0" i="1" dirty="0" smtClean="0">
                        <a:effectLst/>
                        <a:latin typeface="Cambria Math" panose="02040503050406030204" pitchFamily="18" charset="0"/>
                      </a:rPr>
                      <m:t>𝜂</m:t>
                    </m:r>
                  </m:oMath>
                </a14:m>
                <a:r>
                  <a:rPr lang="en-US" sz="1800" dirty="0">
                    <a:effectLst/>
                  </a:rPr>
                  <a:t> Inverse intertemporal elasticity </a:t>
                </a:r>
              </a:p>
            </p:txBody>
          </p:sp>
        </mc:Choice>
        <mc:Fallback>
          <p:sp>
            <p:nvSpPr>
              <p:cNvPr id="10" name="TextBox 9">
                <a:extLst>
                  <a:ext uri="{FF2B5EF4-FFF2-40B4-BE49-F238E27FC236}">
                    <a16:creationId xmlns:a16="http://schemas.microsoft.com/office/drawing/2014/main" id="{A2B56B06-7BAB-4191-2BAF-B05473AA0E42}"/>
                  </a:ext>
                </a:extLst>
              </p:cNvPr>
              <p:cNvSpPr txBox="1">
                <a:spLocks noRot="1" noChangeAspect="1" noMove="1" noResize="1" noEditPoints="1" noAdjustHandles="1" noChangeArrowheads="1" noChangeShapeType="1" noTextEdit="1"/>
              </p:cNvSpPr>
              <p:nvPr/>
            </p:nvSpPr>
            <p:spPr>
              <a:xfrm>
                <a:off x="76228" y="5526941"/>
                <a:ext cx="6097604" cy="923330"/>
              </a:xfrm>
              <a:prstGeom prst="rect">
                <a:avLst/>
              </a:prstGeom>
              <a:blipFill>
                <a:blip r:embed="rId3"/>
                <a:stretch>
                  <a:fillRect l="-416" t="-4110" b="-10959"/>
                </a:stretch>
              </a:blipFill>
            </p:spPr>
            <p:txBody>
              <a:bodyPr/>
              <a:lstStyle/>
              <a:p>
                <a:r>
                  <a:rPr lang="en-US">
                    <a:noFill/>
                  </a:rPr>
                  <a:t> </a:t>
                </a:r>
              </a:p>
            </p:txBody>
          </p:sp>
        </mc:Fallback>
      </mc:AlternateContent>
    </p:spTree>
    <p:extLst>
      <p:ext uri="{BB962C8B-B14F-4D97-AF65-F5344CB8AC3E}">
        <p14:creationId xmlns:p14="http://schemas.microsoft.com/office/powerpoint/2010/main" val="583541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7A56-BA38-F11D-C16D-9AC1AA960F9A}"/>
              </a:ext>
            </a:extLst>
          </p:cNvPr>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9ABC0B-2389-28DE-9551-20AB08E217D2}"/>
                  </a:ext>
                </a:extLst>
              </p:cNvPr>
              <p:cNvSpPr>
                <a:spLocks noGrp="1"/>
              </p:cNvSpPr>
              <p:nvPr>
                <p:ph idx="1"/>
              </p:nvPr>
            </p:nvSpPr>
            <p:spPr/>
            <p:txBody>
              <a:bodyPr/>
              <a:lstStyle/>
              <a:p>
                <a:pPr marL="0" indent="0">
                  <a:buNone/>
                </a:pPr>
                <a:r>
                  <a:rPr lang="en-US" dirty="0"/>
                  <a:t>Cobb-Douglas production function:</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𝛼</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𝛼</m:t>
                          </m:r>
                        </m:sup>
                      </m:sSup>
                    </m:oMath>
                  </m:oMathPara>
                </a14:m>
                <a:endParaRPr lang="en-US" dirty="0"/>
              </a:p>
              <a:p>
                <a:pPr marL="0" indent="0">
                  <a:buNone/>
                </a:pPr>
                <a:endParaRPr lang="en-US" dirty="0"/>
              </a:p>
              <a:p>
                <a:pPr marL="0" indent="0">
                  <a:buNone/>
                </a:pPr>
                <a:r>
                  <a:rPr lang="en-US" dirty="0"/>
                  <a:t>Production is split between consumption and investment: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Tracking of capital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3C9ABC0B-2389-28DE-9551-20AB08E217D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954674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B2F1-1F97-F771-117D-D16955B24444}"/>
              </a:ext>
            </a:extLst>
          </p:cNvPr>
          <p:cNvSpPr>
            <a:spLocks noGrp="1"/>
          </p:cNvSpPr>
          <p:nvPr>
            <p:ph type="title"/>
          </p:nvPr>
        </p:nvSpPr>
        <p:spPr/>
        <p:txBody>
          <a:bodyPr/>
          <a:lstStyle/>
          <a:p>
            <a:r>
              <a:rPr lang="en-US" dirty="0"/>
              <a:t>Calibration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CF2FAA-010D-F01F-B09A-6E1304DF85C8}"/>
                  </a:ext>
                </a:extLst>
              </p:cNvPr>
              <p:cNvSpPr>
                <a:spLocks noGrp="1"/>
              </p:cNvSpPr>
              <p:nvPr>
                <p:ph idx="1"/>
              </p:nvPr>
            </p:nvSpPr>
            <p:spPr/>
            <p:txBody>
              <a:bodyPr>
                <a:normAutofit lnSpcReduction="10000"/>
              </a:bodyPr>
              <a:lstStyle/>
              <a:p>
                <a:r>
                  <a:rPr lang="en-US" dirty="0"/>
                  <a:t>Here, we’re going to make several assumptions…</a:t>
                </a:r>
              </a:p>
              <a:p>
                <a:pPr marL="0" indent="0">
                  <a:buNone/>
                </a:pPr>
                <a:r>
                  <a:rPr lang="en-US" dirty="0"/>
                  <a:t>g= 0.023</a:t>
                </a:r>
              </a:p>
              <a:p>
                <a:pPr marL="0" indent="0">
                  <a:buNone/>
                </a:pPr>
                <a14:m>
                  <m:oMath xmlns:m="http://schemas.openxmlformats.org/officeDocument/2006/math">
                    <m:r>
                      <a:rPr lang="en-US" b="0" i="1" smtClean="0">
                        <a:latin typeface="Cambria Math" panose="02040503050406030204" pitchFamily="18" charset="0"/>
                      </a:rPr>
                      <m:t>𝛿</m:t>
                    </m:r>
                  </m:oMath>
                </a14:m>
                <a:r>
                  <a:rPr lang="en-US" dirty="0"/>
                  <a:t>=0.04</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oMath>
                </a14:m>
                <a:r>
                  <a:rPr lang="en-US" dirty="0"/>
                  <a:t>=0.3</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oMath>
                </a14:m>
                <a:r>
                  <a:rPr lang="en-US" dirty="0"/>
                  <a:t>=0.27</a:t>
                </a:r>
              </a:p>
              <a:p>
                <a:pPr marL="0" indent="0">
                  <a:buNone/>
                </a:pPr>
                <a14:m>
                  <m:oMath xmlns:m="http://schemas.openxmlformats.org/officeDocument/2006/math">
                    <m:r>
                      <a:rPr lang="en-US" b="0" i="1" smtClean="0">
                        <a:latin typeface="Cambria Math" panose="02040503050406030204" pitchFamily="18" charset="0"/>
                      </a:rPr>
                      <m:t>𝛽</m:t>
                    </m:r>
                  </m:oMath>
                </a14:m>
                <a:r>
                  <a:rPr lang="en-US" dirty="0"/>
                  <a:t>=0.65</a:t>
                </a:r>
              </a:p>
              <a:p>
                <a:pPr marL="0" indent="0">
                  <a:buNone/>
                </a:pPr>
                <a14:m>
                  <m:oMath xmlns:m="http://schemas.openxmlformats.org/officeDocument/2006/math">
                    <m:r>
                      <a:rPr lang="en-US" b="0" i="1" smtClean="0">
                        <a:latin typeface="Cambria Math" panose="02040503050406030204" pitchFamily="18" charset="0"/>
                      </a:rPr>
                      <m:t>𝜂</m:t>
                    </m:r>
                  </m:oMath>
                </a14:m>
                <a:r>
                  <a:rPr lang="en-US" dirty="0"/>
                  <a:t>=2</a:t>
                </a:r>
              </a:p>
              <a:p>
                <a:pPr marL="0" indent="0">
                  <a:buNone/>
                </a:pPr>
                <a:endParaRPr lang="en-US" dirty="0"/>
              </a:p>
              <a:p>
                <a:pPr marL="0" indent="0">
                  <a:buNone/>
                </a:pPr>
                <a:r>
                  <a:rPr lang="en-US" dirty="0"/>
                  <a:t>… but need to make sure we’re in equilibrium in the first period..</a:t>
                </a:r>
              </a:p>
            </p:txBody>
          </p:sp>
        </mc:Choice>
        <mc:Fallback xmlns="">
          <p:sp>
            <p:nvSpPr>
              <p:cNvPr id="3" name="Content Placeholder 2">
                <a:extLst>
                  <a:ext uri="{FF2B5EF4-FFF2-40B4-BE49-F238E27FC236}">
                    <a16:creationId xmlns:a16="http://schemas.microsoft.com/office/drawing/2014/main" id="{1ACF2FAA-010D-F01F-B09A-6E1304DF85C8}"/>
                  </a:ext>
                </a:extLst>
              </p:cNvPr>
              <p:cNvSpPr>
                <a:spLocks noGrp="1" noRot="1" noChangeAspect="1" noMove="1" noResize="1" noEditPoints="1" noAdjustHandles="1" noChangeArrowheads="1" noChangeShapeType="1" noTextEdit="1"/>
              </p:cNvSpPr>
              <p:nvPr>
                <p:ph idx="1"/>
              </p:nvPr>
            </p:nvSpPr>
            <p:spPr>
              <a:blipFill>
                <a:blip r:embed="rId2"/>
                <a:stretch>
                  <a:fillRect l="-1206" t="-3198" b="-291"/>
                </a:stretch>
              </a:blipFill>
            </p:spPr>
            <p:txBody>
              <a:bodyPr/>
              <a:lstStyle/>
              <a:p>
                <a:r>
                  <a:rPr lang="en-US">
                    <a:noFill/>
                  </a:rPr>
                  <a:t> </a:t>
                </a:r>
              </a:p>
            </p:txBody>
          </p:sp>
        </mc:Fallback>
      </mc:AlternateContent>
    </p:spTree>
    <p:extLst>
      <p:ext uri="{BB962C8B-B14F-4D97-AF65-F5344CB8AC3E}">
        <p14:creationId xmlns:p14="http://schemas.microsoft.com/office/powerpoint/2010/main" val="3971157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BD80-3749-A6CB-7E32-9B22D4B1AA51}"/>
              </a:ext>
            </a:extLst>
          </p:cNvPr>
          <p:cNvSpPr>
            <a:spLocks noGrp="1"/>
          </p:cNvSpPr>
          <p:nvPr>
            <p:ph type="title"/>
          </p:nvPr>
        </p:nvSpPr>
        <p:spPr>
          <a:xfrm>
            <a:off x="838200" y="-41204"/>
            <a:ext cx="10515600" cy="1325563"/>
          </a:xfrm>
        </p:spPr>
        <p:txBody>
          <a:bodyPr/>
          <a:lstStyle/>
          <a:p>
            <a:r>
              <a:rPr lang="en-US" dirty="0"/>
              <a:t>Initial capital/labor calibration</a:t>
            </a:r>
          </a:p>
        </p:txBody>
      </p:sp>
      <p:sp>
        <p:nvSpPr>
          <p:cNvPr id="3" name="Content Placeholder 2">
            <a:extLst>
              <a:ext uri="{FF2B5EF4-FFF2-40B4-BE49-F238E27FC236}">
                <a16:creationId xmlns:a16="http://schemas.microsoft.com/office/drawing/2014/main" id="{0287F755-6E8F-F9DA-95AC-27D3559F9AA5}"/>
              </a:ext>
            </a:extLst>
          </p:cNvPr>
          <p:cNvSpPr>
            <a:spLocks noGrp="1"/>
          </p:cNvSpPr>
          <p:nvPr>
            <p:ph idx="1"/>
          </p:nvPr>
        </p:nvSpPr>
        <p:spPr/>
        <p:txBody>
          <a:bodyPr/>
          <a:lstStyle/>
          <a:p>
            <a:endParaRPr lang="en-US" sz="2800" dirty="0">
              <a:effectLst/>
            </a:endParaRPr>
          </a:p>
          <a:p>
            <a:endParaRPr lang="en-US" sz="2800" dirty="0">
              <a:effectLst/>
            </a:endParaRPr>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69A65B-97D3-2F65-5B77-8D26982BD698}"/>
                  </a:ext>
                </a:extLst>
              </p:cNvPr>
              <p:cNvSpPr txBox="1"/>
              <p:nvPr/>
            </p:nvSpPr>
            <p:spPr>
              <a:xfrm>
                <a:off x="754912" y="1121475"/>
                <a:ext cx="10598888" cy="6016647"/>
              </a:xfrm>
              <a:prstGeom prst="rect">
                <a:avLst/>
              </a:prstGeom>
              <a:noFill/>
            </p:spPr>
            <p:txBody>
              <a:bodyPr wrap="square" rtlCol="0">
                <a:spAutoFit/>
              </a:bodyPr>
              <a:lstStyle/>
              <a:p>
                <a:r>
                  <a:rPr lang="en-US" sz="2400" dirty="0">
                    <a:effectLst/>
                    <a:latin typeface="SFBMR10"/>
                  </a:rPr>
                  <a:t>Investment must cover depreciation plus population growth. Given the investment rate, we can back out the initial capital stock level. Knowing investment must cover initial capital stock’s expected growth rate and depreciation in the first period: </a:t>
                </a:r>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oMath>
                  </m:oMathPara>
                </a14:m>
                <a:endParaRPr lang="en-US" sz="2400" dirty="0"/>
              </a:p>
              <a:p>
                <a:endParaRPr lang="en-US" sz="2400" dirty="0"/>
              </a:p>
              <a:p>
                <a:r>
                  <a:rPr lang="en-US" sz="2400" dirty="0"/>
                  <a:t>Can thus back out calibrated initial capital level:</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den>
                      </m:f>
                    </m:oMath>
                  </m:oMathPara>
                </a14:m>
                <a:endParaRPr lang="en-US" sz="2400" dirty="0"/>
              </a:p>
              <a:p>
                <a:endParaRPr lang="en-US" sz="2400" dirty="0"/>
              </a:p>
              <a:p>
                <a:pPr marL="0" indent="0">
                  <a:buNone/>
                </a:pPr>
                <a:r>
                  <a:rPr lang="en-US" sz="2400" dirty="0"/>
                  <a:t>Labor supply is it’s share in production [times] initial production:</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oMath>
                  </m:oMathPara>
                </a14:m>
                <a:endParaRPr lang="en-US" sz="2400" dirty="0"/>
              </a:p>
              <a:p>
                <a:endParaRPr lang="en-US" sz="2400" dirty="0"/>
              </a:p>
              <a:p>
                <a:r>
                  <a:rPr lang="en-US" sz="2400" dirty="0"/>
                  <a:t>(exogenously-defined) labor grows at the labor growth rate:</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𝑔</m:t>
                              </m:r>
                            </m:e>
                          </m:d>
                        </m:e>
                        <m:sup>
                          <m:r>
                            <a:rPr lang="en-US" sz="2400" b="0" i="1" smtClean="0">
                              <a:latin typeface="Cambria Math" panose="02040503050406030204" pitchFamily="18" charset="0"/>
                            </a:rPr>
                            <m:t>𝑡</m:t>
                          </m:r>
                        </m:sup>
                      </m:sSup>
                    </m:oMath>
                  </m:oMathPara>
                </a14:m>
                <a:endParaRPr lang="en-US" sz="2400" dirty="0"/>
              </a:p>
              <a:p>
                <a:endParaRPr lang="en-US" sz="2400" dirty="0"/>
              </a:p>
            </p:txBody>
          </p:sp>
        </mc:Choice>
        <mc:Fallback xmlns="">
          <p:sp>
            <p:nvSpPr>
              <p:cNvPr id="4" name="TextBox 3">
                <a:extLst>
                  <a:ext uri="{FF2B5EF4-FFF2-40B4-BE49-F238E27FC236}">
                    <a16:creationId xmlns:a16="http://schemas.microsoft.com/office/drawing/2014/main" id="{C469A65B-97D3-2F65-5B77-8D26982BD698}"/>
                  </a:ext>
                </a:extLst>
              </p:cNvPr>
              <p:cNvSpPr txBox="1">
                <a:spLocks noRot="1" noChangeAspect="1" noMove="1" noResize="1" noEditPoints="1" noAdjustHandles="1" noChangeArrowheads="1" noChangeShapeType="1" noTextEdit="1"/>
              </p:cNvSpPr>
              <p:nvPr/>
            </p:nvSpPr>
            <p:spPr>
              <a:xfrm>
                <a:off x="754912" y="1121475"/>
                <a:ext cx="10598888" cy="6016647"/>
              </a:xfrm>
              <a:prstGeom prst="rect">
                <a:avLst/>
              </a:prstGeom>
              <a:blipFill>
                <a:blip r:embed="rId2"/>
                <a:stretch>
                  <a:fillRect l="-957" t="-842"/>
                </a:stretch>
              </a:blipFill>
            </p:spPr>
            <p:txBody>
              <a:bodyPr/>
              <a:lstStyle/>
              <a:p>
                <a:r>
                  <a:rPr lang="en-US">
                    <a:noFill/>
                  </a:rPr>
                  <a:t> </a:t>
                </a:r>
              </a:p>
            </p:txBody>
          </p:sp>
        </mc:Fallback>
      </mc:AlternateContent>
    </p:spTree>
    <p:extLst>
      <p:ext uri="{BB962C8B-B14F-4D97-AF65-F5344CB8AC3E}">
        <p14:creationId xmlns:p14="http://schemas.microsoft.com/office/powerpoint/2010/main" val="33993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C55B-D386-A9BB-9C31-940F07A31D80}"/>
              </a:ext>
            </a:extLst>
          </p:cNvPr>
          <p:cNvSpPr>
            <a:spLocks noGrp="1"/>
          </p:cNvSpPr>
          <p:nvPr>
            <p:ph type="title"/>
          </p:nvPr>
        </p:nvSpPr>
        <p:spPr/>
        <p:txBody>
          <a:bodyPr/>
          <a:lstStyle/>
          <a:p>
            <a:r>
              <a:rPr lang="en-US" dirty="0"/>
              <a:t>Calibrating the production scale parameter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8EF755-1236-E840-59E6-32A46E62A2E3}"/>
                  </a:ext>
                </a:extLst>
              </p:cNvPr>
              <p:cNvSpPr>
                <a:spLocks noGrp="1"/>
              </p:cNvSpPr>
              <p:nvPr>
                <p:ph idx="1"/>
              </p:nvPr>
            </p:nvSpPr>
            <p:spPr/>
            <p:txBody>
              <a:bodyPr>
                <a:normAutofit/>
              </a:bodyPr>
              <a:lstStyle/>
              <a:p>
                <a:r>
                  <a:rPr lang="en-US" dirty="0"/>
                  <a:t>In the initial period – production is scaled to the reference output given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0</m:t>
                        </m:r>
                      </m:sub>
                    </m:sSub>
                  </m:oMath>
                </a14:m>
                <a:r>
                  <a:rPr lang="en-US" dirty="0"/>
                  <a:t> (the last two we just calculated)</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0</m:t>
                              </m:r>
                            </m:sub>
                            <m:sup>
                              <m:r>
                                <a:rPr lang="en-US" b="0" i="1" smtClean="0">
                                  <a:latin typeface="Cambria Math" panose="02040503050406030204" pitchFamily="18" charset="0"/>
                                </a:rPr>
                                <m:t>𝛼</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𝑙</m:t>
                              </m:r>
                            </m:e>
                            <m:sub>
                              <m:r>
                                <a:rPr lang="en-US" b="0" i="1" smtClean="0">
                                  <a:latin typeface="Cambria Math" panose="02040503050406030204" pitchFamily="18" charset="0"/>
                                </a:rPr>
                                <m:t>0</m:t>
                              </m:r>
                            </m:sub>
                            <m:sup>
                              <m:r>
                                <a:rPr lang="en-US" b="0" i="1" smtClean="0">
                                  <a:latin typeface="Cambria Math" panose="02040503050406030204" pitchFamily="18" charset="0"/>
                                </a:rPr>
                                <m:t>1−</m:t>
                              </m:r>
                              <m:r>
                                <a:rPr lang="en-US" b="0" i="1" smtClean="0">
                                  <a:latin typeface="Cambria Math" panose="02040503050406030204" pitchFamily="18" charset="0"/>
                                </a:rPr>
                                <m:t>𝛼</m:t>
                              </m:r>
                            </m:sup>
                          </m:sSubSup>
                        </m:den>
                      </m:f>
                    </m:oMath>
                  </m:oMathPara>
                </a14:m>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28EF755-1236-E840-59E6-32A46E62A2E3}"/>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005973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59E1C-4416-D33A-48E6-612526D16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AED2-7D49-470B-D029-B5782127604C}"/>
              </a:ext>
            </a:extLst>
          </p:cNvPr>
          <p:cNvSpPr>
            <a:spLocks noGrp="1"/>
          </p:cNvSpPr>
          <p:nvPr>
            <p:ph type="title"/>
          </p:nvPr>
        </p:nvSpPr>
        <p:spPr/>
        <p:txBody>
          <a:bodyPr/>
          <a:lstStyle/>
          <a:p>
            <a:r>
              <a:rPr lang="en-US" dirty="0"/>
              <a:t>Calibrating the capital productivity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B8930C-C02D-3DA0-81BF-08BBC1140CE9}"/>
                  </a:ext>
                </a:extLst>
              </p:cNvPr>
              <p:cNvSpPr>
                <a:spLocks noGrp="1"/>
              </p:cNvSpPr>
              <p:nvPr>
                <p:ph idx="1"/>
              </p:nvPr>
            </p:nvSpPr>
            <p:spPr/>
            <p:txBody>
              <a:bodyPr>
                <a:normAutofit/>
              </a:bodyPr>
              <a:lstStyle/>
              <a:p>
                <a:r>
                  <a:rPr lang="en-US" dirty="0"/>
                  <a:t>Need to determine the reference marginal productivity of capital. </a:t>
                </a:r>
              </a:p>
              <a:p>
                <a:r>
                  <a:rPr lang="en-US" dirty="0"/>
                  <a:t>In equilibrium, the real interest rate is the marginal product of capital minus depreciation. </a:t>
                </a:r>
              </a:p>
              <a:p>
                <a:r>
                  <a:rPr lang="en-US" dirty="0"/>
                  <a:t>The interest rate must equal the pure rate of time preference, </a:t>
                </a:r>
                <a:r>
                  <a:rPr lang="el-GR" dirty="0"/>
                  <a:t>ρ. </a:t>
                </a:r>
                <a:endParaRPr lang="en-US" dirty="0"/>
              </a:p>
              <a:p>
                <a:r>
                  <a:rPr lang="en-US" dirty="0"/>
                  <a:t>Therefore, we can calibrate </a:t>
                </a:r>
                <a:r>
                  <a:rPr lang="el-GR" dirty="0"/>
                  <a:t>ρ </a:t>
                </a:r>
                <a:r>
                  <a:rPr lang="en-US" dirty="0"/>
                  <a:t>by taking the derivative of the production function with respect to k in the initial period and substituting in the expression for a: </a:t>
                </a:r>
              </a:p>
              <a:p>
                <a:endParaRPr lang="en-US" sz="11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𝛽</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r>
                        <a:rPr lang="en-US" b="0" i="1" smtClean="0">
                          <a:latin typeface="Cambria Math" panose="02040503050406030204" pitchFamily="18" charset="0"/>
                        </a:rPr>
                        <m:t>𝛿</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CB8930C-C02D-3DA0-81BF-08BBC1140CE9}"/>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764471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5A33-6DEF-2CA3-FE24-A5F0CE4219F1}"/>
              </a:ext>
            </a:extLst>
          </p:cNvPr>
          <p:cNvSpPr>
            <a:spLocks noGrp="1"/>
          </p:cNvSpPr>
          <p:nvPr>
            <p:ph type="title"/>
          </p:nvPr>
        </p:nvSpPr>
        <p:spPr/>
        <p:txBody>
          <a:bodyPr/>
          <a:lstStyle/>
          <a:p>
            <a:r>
              <a:rPr lang="en-US" dirty="0"/>
              <a:t>Some more notes…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D61365-948A-80BD-F742-FA8D1A8EFB02}"/>
                  </a:ext>
                </a:extLst>
              </p:cNvPr>
              <p:cNvSpPr>
                <a:spLocks noGrp="1"/>
              </p:cNvSpPr>
              <p:nvPr>
                <p:ph idx="1"/>
              </p:nvPr>
            </p:nvSpPr>
            <p:spPr/>
            <p:txBody>
              <a:bodyPr/>
              <a:lstStyle/>
              <a:p>
                <a:r>
                  <a:rPr lang="en-US" dirty="0"/>
                  <a:t>Starting values and variable bounds help </a:t>
                </a:r>
                <a:r>
                  <a:rPr lang="en-US" i="1" dirty="0"/>
                  <a:t>a lot</a:t>
                </a:r>
                <a:r>
                  <a:rPr lang="en-US" dirty="0"/>
                  <a:t> in NLPs</a:t>
                </a:r>
              </a:p>
              <a:p>
                <a:endParaRPr lang="en-US" dirty="0"/>
              </a:p>
              <a:p>
                <a:r>
                  <a:rPr lang="en-US" dirty="0"/>
                  <a:t>Can determine that consumption and capital will grow at the growth rate of the population:</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sup>
                      </m:sSup>
                    </m:oMath>
                  </m:oMathPara>
                </a14:m>
                <a:endParaRPr lang="en-US" b="0" dirty="0"/>
              </a:p>
              <a:p>
                <a:pPr marL="0" indent="0">
                  <a:buNone/>
                </a:pPr>
                <a:endParaRPr lang="en-US" dirty="0">
                  <a:effectLst/>
                  <a:latin typeface="SFBTL10"/>
                </a:endParaRPr>
              </a:p>
              <a:p>
                <a:pPr marL="0" indent="0">
                  <a:buNone/>
                </a:pPr>
                <a:r>
                  <a:rPr lang="en-US" dirty="0">
                    <a:effectLst/>
                    <a:latin typeface="SFBTL10"/>
                  </a:rPr>
                  <a:t>So we’ll set our starting values </a:t>
                </a:r>
                <a:r>
                  <a:rPr lang="en-US" dirty="0">
                    <a:latin typeface="SFBTL10"/>
                  </a:rPr>
                  <a:t>via</a:t>
                </a:r>
                <a:r>
                  <a:rPr lang="en-US" dirty="0">
                    <a:effectLst/>
                    <a:latin typeface="SFBTL10"/>
                  </a:rPr>
                  <a:t>:</a:t>
                </a:r>
              </a:p>
              <a:p>
                <a:pPr marL="0" indent="0">
                  <a:buNone/>
                </a:pPr>
                <a:r>
                  <a:rPr lang="en-US" dirty="0">
                    <a:effectLst/>
                    <a:latin typeface="SFBTL10"/>
                  </a:rPr>
                  <a:t>	</a:t>
                </a:r>
                <a:r>
                  <a:rPr lang="en-US" dirty="0" err="1">
                    <a:effectLst/>
                    <a:latin typeface="SFBTL10"/>
                  </a:rPr>
                  <a:t>C.l</a:t>
                </a:r>
                <a:r>
                  <a:rPr lang="en-US" dirty="0">
                    <a:effectLst/>
                    <a:latin typeface="SFBTL10"/>
                  </a:rPr>
                  <a:t>(t) = c0 * (1+g)**t ; </a:t>
                </a:r>
              </a:p>
              <a:p>
                <a:pPr marL="0" indent="0">
                  <a:buNone/>
                </a:pPr>
                <a:r>
                  <a:rPr lang="en-US" dirty="0">
                    <a:effectLst/>
                    <a:latin typeface="SFBTL10"/>
                  </a:rPr>
                  <a:t>	</a:t>
                </a:r>
                <a:r>
                  <a:rPr lang="en-US" dirty="0" err="1">
                    <a:effectLst/>
                    <a:latin typeface="SFBTL10"/>
                  </a:rPr>
                  <a:t>K.l</a:t>
                </a:r>
                <a:r>
                  <a:rPr lang="en-US" dirty="0">
                    <a:effectLst/>
                    <a:latin typeface="SFBTL10"/>
                  </a:rPr>
                  <a:t>(t) = k0 * (1+g)**t ; </a:t>
                </a:r>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56D61365-948A-80BD-F742-FA8D1A8EFB02}"/>
                  </a:ext>
                </a:extLst>
              </p:cNvPr>
              <p:cNvSpPr>
                <a:spLocks noGrp="1" noRot="1" noChangeAspect="1" noMove="1" noResize="1" noEditPoints="1" noAdjustHandles="1" noChangeArrowheads="1" noChangeShapeType="1" noTextEdit="1"/>
              </p:cNvSpPr>
              <p:nvPr>
                <p:ph idx="1"/>
              </p:nvPr>
            </p:nvSpPr>
            <p:spPr>
              <a:blipFill>
                <a:blip r:embed="rId2"/>
                <a:stretch>
                  <a:fillRect l="-1206" t="-2326" b="-2907"/>
                </a:stretch>
              </a:blipFill>
            </p:spPr>
            <p:txBody>
              <a:bodyPr/>
              <a:lstStyle/>
              <a:p>
                <a:r>
                  <a:rPr lang="en-US">
                    <a:noFill/>
                  </a:rPr>
                  <a:t> </a:t>
                </a:r>
              </a:p>
            </p:txBody>
          </p:sp>
        </mc:Fallback>
      </mc:AlternateContent>
    </p:spTree>
    <p:extLst>
      <p:ext uri="{BB962C8B-B14F-4D97-AF65-F5344CB8AC3E}">
        <p14:creationId xmlns:p14="http://schemas.microsoft.com/office/powerpoint/2010/main" val="2616751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1485-176A-4B05-270A-32EE2D0EBE88}"/>
              </a:ext>
            </a:extLst>
          </p:cNvPr>
          <p:cNvSpPr>
            <a:spLocks noGrp="1"/>
          </p:cNvSpPr>
          <p:nvPr>
            <p:ph type="title"/>
          </p:nvPr>
        </p:nvSpPr>
        <p:spPr/>
        <p:txBody>
          <a:bodyPr/>
          <a:lstStyle/>
          <a:p>
            <a:r>
              <a:rPr lang="en-US" dirty="0"/>
              <a:t>Some more notes..</a:t>
            </a:r>
          </a:p>
        </p:txBody>
      </p:sp>
      <p:sp>
        <p:nvSpPr>
          <p:cNvPr id="3" name="Content Placeholder 2">
            <a:extLst>
              <a:ext uri="{FF2B5EF4-FFF2-40B4-BE49-F238E27FC236}">
                <a16:creationId xmlns:a16="http://schemas.microsoft.com/office/drawing/2014/main" id="{4252A58F-9326-AB49-28BC-89FC66DAB968}"/>
              </a:ext>
            </a:extLst>
          </p:cNvPr>
          <p:cNvSpPr>
            <a:spLocks noGrp="1"/>
          </p:cNvSpPr>
          <p:nvPr>
            <p:ph idx="1"/>
          </p:nvPr>
        </p:nvSpPr>
        <p:spPr/>
        <p:txBody>
          <a:bodyPr/>
          <a:lstStyle/>
          <a:p>
            <a:r>
              <a:rPr lang="en-US" dirty="0"/>
              <a:t>Bounds on variables are needed to avoid mathematical problems</a:t>
            </a:r>
          </a:p>
          <a:p>
            <a:r>
              <a:rPr lang="en-US" dirty="0"/>
              <a:t>e.g. We don’t want consumption to be zero</a:t>
            </a:r>
          </a:p>
          <a:p>
            <a:endParaRPr lang="en-US" dirty="0"/>
          </a:p>
          <a:p>
            <a:pPr marL="0" indent="0">
              <a:buNone/>
            </a:pPr>
            <a:r>
              <a:rPr lang="en-US" dirty="0" err="1"/>
              <a:t>C.lo</a:t>
            </a:r>
            <a:r>
              <a:rPr lang="en-US" dirty="0"/>
              <a:t>(t) = 0.01 * </a:t>
            </a:r>
            <a:r>
              <a:rPr lang="en-US" dirty="0" err="1"/>
              <a:t>C.l</a:t>
            </a:r>
            <a:r>
              <a:rPr lang="en-US" dirty="0"/>
              <a:t>(t) ; </a:t>
            </a:r>
          </a:p>
          <a:p>
            <a:pPr marL="0" indent="0">
              <a:buNone/>
            </a:pPr>
            <a:r>
              <a:rPr lang="en-US" dirty="0" err="1"/>
              <a:t>K.lo</a:t>
            </a:r>
            <a:r>
              <a:rPr lang="en-US" dirty="0"/>
              <a:t>(t) = 0.01 * </a:t>
            </a:r>
            <a:r>
              <a:rPr lang="en-US" dirty="0" err="1"/>
              <a:t>K.l</a:t>
            </a:r>
            <a:r>
              <a:rPr lang="en-US" dirty="0"/>
              <a:t>(t) ; </a:t>
            </a:r>
          </a:p>
          <a:p>
            <a:pPr marL="0" indent="0">
              <a:buNone/>
            </a:pPr>
            <a:endParaRPr lang="en-US" dirty="0"/>
          </a:p>
          <a:p>
            <a:r>
              <a:rPr lang="en-US" dirty="0"/>
              <a:t>Fix first period capital</a:t>
            </a:r>
          </a:p>
          <a:p>
            <a:pPr marL="0" indent="0">
              <a:buNone/>
            </a:pPr>
            <a:r>
              <a:rPr lang="en-US" dirty="0" err="1"/>
              <a:t>K.fx</a:t>
            </a:r>
            <a:r>
              <a:rPr lang="en-US" dirty="0"/>
              <a:t>(t)$</a:t>
            </a:r>
            <a:r>
              <a:rPr lang="en-US" dirty="0" err="1"/>
              <a:t>tfirst</a:t>
            </a:r>
            <a:r>
              <a:rPr lang="en-US" dirty="0"/>
              <a:t>(t) = k0 ; </a:t>
            </a:r>
          </a:p>
        </p:txBody>
      </p:sp>
    </p:spTree>
    <p:extLst>
      <p:ext uri="{BB962C8B-B14F-4D97-AF65-F5344CB8AC3E}">
        <p14:creationId xmlns:p14="http://schemas.microsoft.com/office/powerpoint/2010/main" val="84980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9DD7-1641-6E4F-0933-F1D1B966312A}"/>
              </a:ext>
            </a:extLst>
          </p:cNvPr>
          <p:cNvSpPr>
            <a:spLocks noGrp="1"/>
          </p:cNvSpPr>
          <p:nvPr>
            <p:ph type="title"/>
          </p:nvPr>
        </p:nvSpPr>
        <p:spPr/>
        <p:txBody>
          <a:bodyPr/>
          <a:lstStyle/>
          <a:p>
            <a:r>
              <a:rPr lang="en-US" dirty="0"/>
              <a:t>Let’s build the base model…</a:t>
            </a:r>
          </a:p>
        </p:txBody>
      </p:sp>
      <p:sp>
        <p:nvSpPr>
          <p:cNvPr id="3" name="Content Placeholder 2">
            <a:extLst>
              <a:ext uri="{FF2B5EF4-FFF2-40B4-BE49-F238E27FC236}">
                <a16:creationId xmlns:a16="http://schemas.microsoft.com/office/drawing/2014/main" id="{8F44A47D-F2E3-86A9-8A18-14335BE7FB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49613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F6F3-3E1C-5579-DE5F-CFD98E0F0942}"/>
              </a:ext>
            </a:extLst>
          </p:cNvPr>
          <p:cNvSpPr>
            <a:spLocks noGrp="1"/>
          </p:cNvSpPr>
          <p:nvPr>
            <p:ph type="title"/>
          </p:nvPr>
        </p:nvSpPr>
        <p:spPr/>
        <p:txBody>
          <a:bodyPr/>
          <a:lstStyle/>
          <a:p>
            <a:r>
              <a:rPr lang="en-US" dirty="0"/>
              <a:t>That’s weird…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77A167-D5D7-0E90-6AFD-F3108A5856EB}"/>
                  </a:ext>
                </a:extLst>
              </p:cNvPr>
              <p:cNvSpPr>
                <a:spLocks noGrp="1"/>
              </p:cNvSpPr>
              <p:nvPr>
                <p:ph idx="1"/>
              </p:nvPr>
            </p:nvSpPr>
            <p:spPr/>
            <p:txBody>
              <a:bodyPr/>
              <a:lstStyle/>
              <a:p>
                <a:r>
                  <a:rPr lang="en-US" dirty="0"/>
                  <a:t>Demonstrates importance of terminal conditions</a:t>
                </a:r>
              </a:p>
              <a:p>
                <a:endParaRPr lang="en-US" dirty="0"/>
              </a:p>
              <a:p>
                <a:r>
                  <a:rPr lang="en-US" dirty="0"/>
                  <a:t>Here: need to make sure there is some value to consumption, investment, and remaining capital in the final period</a:t>
                </a:r>
              </a:p>
              <a:p>
                <a:endParaRPr lang="en-US" dirty="0"/>
              </a:p>
              <a:p>
                <a:pPr marL="0" indent="0">
                  <a:buNone/>
                </a:pPr>
                <a:r>
                  <a:rPr lang="en-US" dirty="0"/>
                  <a:t>What if we just did something naïve and say investment in the last period must equal the decay and growth of last-period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𝑇</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𝑇</m:t>
                          </m:r>
                        </m:sub>
                      </m:sSub>
                    </m:oMath>
                  </m:oMathPara>
                </a14:m>
                <a:endParaRPr lang="en-US" dirty="0"/>
              </a:p>
            </p:txBody>
          </p:sp>
        </mc:Choice>
        <mc:Fallback xmlns="">
          <p:sp>
            <p:nvSpPr>
              <p:cNvPr id="3" name="Content Placeholder 2">
                <a:extLst>
                  <a:ext uri="{FF2B5EF4-FFF2-40B4-BE49-F238E27FC236}">
                    <a16:creationId xmlns:a16="http://schemas.microsoft.com/office/drawing/2014/main" id="{1277A167-D5D7-0E90-6AFD-F3108A5856EB}"/>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670828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C67A69-D226-505D-61C3-AC89326E4BE6}"/>
              </a:ext>
            </a:extLst>
          </p:cNvPr>
          <p:cNvPicPr>
            <a:picLocks noChangeAspect="1"/>
          </p:cNvPicPr>
          <p:nvPr/>
        </p:nvPicPr>
        <p:blipFill>
          <a:blip r:embed="rId2"/>
          <a:stretch>
            <a:fillRect/>
          </a:stretch>
        </p:blipFill>
        <p:spPr>
          <a:xfrm>
            <a:off x="5259942" y="1690688"/>
            <a:ext cx="6712355" cy="4665538"/>
          </a:xfrm>
          <a:prstGeom prst="rect">
            <a:avLst/>
          </a:prstGeom>
        </p:spPr>
      </p:pic>
      <p:sp>
        <p:nvSpPr>
          <p:cNvPr id="2" name="Title 1">
            <a:extLst>
              <a:ext uri="{FF2B5EF4-FFF2-40B4-BE49-F238E27FC236}">
                <a16:creationId xmlns:a16="http://schemas.microsoft.com/office/drawing/2014/main" id="{CED2DC18-559D-1260-4CBE-90A2F6BEFA94}"/>
              </a:ext>
            </a:extLst>
          </p:cNvPr>
          <p:cNvSpPr>
            <a:spLocks noGrp="1"/>
          </p:cNvSpPr>
          <p:nvPr>
            <p:ph type="title"/>
          </p:nvPr>
        </p:nvSpPr>
        <p:spPr/>
        <p:txBody>
          <a:bodyPr/>
          <a:lstStyle/>
          <a:p>
            <a:r>
              <a:rPr lang="en-US" dirty="0"/>
              <a:t>Barro-Mankiw Terminal Investment Condition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2C17F6-8FD7-C700-37F3-2A6B4836441F}"/>
                  </a:ext>
                </a:extLst>
              </p:cNvPr>
              <p:cNvSpPr>
                <a:spLocks noGrp="1"/>
              </p:cNvSpPr>
              <p:nvPr>
                <p:ph idx="1"/>
              </p:nvPr>
            </p:nvSpPr>
            <p:spPr>
              <a:xfrm>
                <a:off x="0" y="2044825"/>
                <a:ext cx="5746282" cy="3562350"/>
              </a:xfrm>
            </p:spPr>
            <p:txBody>
              <a:bodyPr/>
              <a:lstStyle/>
              <a:p>
                <a:r>
                  <a:rPr lang="en-US" dirty="0"/>
                  <a:t>Demonstrates need for a terminal weighting</a:t>
                </a:r>
              </a:p>
              <a:p>
                <a:r>
                  <a:rPr lang="en-US" dirty="0"/>
                  <a:t>What about the consumption beyond period </a:t>
                </a:r>
                <a14:m>
                  <m:oMath xmlns:m="http://schemas.openxmlformats.org/officeDocument/2006/math">
                    <m:r>
                      <a:rPr lang="en-US" b="0" i="1" smtClean="0">
                        <a:latin typeface="Cambria Math" panose="02040503050406030204" pitchFamily="18" charset="0"/>
                      </a:rPr>
                      <m:t>𝑇</m:t>
                    </m:r>
                  </m:oMath>
                </a14:m>
                <a:r>
                  <a:rPr lang="en-US" dirty="0"/>
                  <a:t>? i.e.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sup>
                      </m:sSup>
                    </m:oMath>
                  </m:oMathPara>
                </a14:m>
                <a:endParaRPr lang="en-US" dirty="0"/>
              </a:p>
              <a:p>
                <a:r>
                  <a:rPr lang="en-US" dirty="0"/>
                  <a:t>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𝑇</m:t>
                        </m:r>
                      </m:sub>
                    </m:sSub>
                  </m:oMath>
                </a14:m>
                <a:r>
                  <a:rPr lang="en-US" dirty="0"/>
                  <a:t> weights the final period based on discounted future value of infinite horizon</a:t>
                </a:r>
              </a:p>
              <a:p>
                <a:pPr marL="0" indent="0">
                  <a:buNone/>
                </a:pPr>
                <a:endParaRPr lang="en-US" dirty="0"/>
              </a:p>
              <a:p>
                <a:pPr marL="0" indent="0">
                  <a:buNone/>
                </a:pPr>
                <a:endParaRPr lang="en-US" dirty="0"/>
              </a:p>
              <a:p>
                <a:endParaRPr lang="en-US" dirty="0"/>
              </a:p>
            </p:txBody>
          </p:sp>
        </mc:Choice>
        <mc:Fallback>
          <p:sp>
            <p:nvSpPr>
              <p:cNvPr id="3" name="Content Placeholder 2">
                <a:extLst>
                  <a:ext uri="{FF2B5EF4-FFF2-40B4-BE49-F238E27FC236}">
                    <a16:creationId xmlns:a16="http://schemas.microsoft.com/office/drawing/2014/main" id="{2A2C17F6-8FD7-C700-37F3-2A6B4836441F}"/>
                  </a:ext>
                </a:extLst>
              </p:cNvPr>
              <p:cNvSpPr>
                <a:spLocks noGrp="1" noRot="1" noChangeAspect="1" noMove="1" noResize="1" noEditPoints="1" noAdjustHandles="1" noChangeArrowheads="1" noChangeShapeType="1" noTextEdit="1"/>
              </p:cNvSpPr>
              <p:nvPr>
                <p:ph idx="1"/>
              </p:nvPr>
            </p:nvSpPr>
            <p:spPr>
              <a:xfrm>
                <a:off x="0" y="2044825"/>
                <a:ext cx="5746282" cy="3562350"/>
              </a:xfrm>
              <a:blipFill>
                <a:blip r:embed="rId3"/>
                <a:stretch>
                  <a:fillRect l="-1987" t="-2837" b="-1064"/>
                </a:stretch>
              </a:blipFill>
            </p:spPr>
            <p:txBody>
              <a:bodyPr/>
              <a:lstStyle/>
              <a:p>
                <a:r>
                  <a:rPr lang="en-US">
                    <a:noFill/>
                  </a:rPr>
                  <a:t> </a:t>
                </a:r>
              </a:p>
            </p:txBody>
          </p:sp>
        </mc:Fallback>
      </mc:AlternateContent>
    </p:spTree>
    <p:extLst>
      <p:ext uri="{BB962C8B-B14F-4D97-AF65-F5344CB8AC3E}">
        <p14:creationId xmlns:p14="http://schemas.microsoft.com/office/powerpoint/2010/main" val="2386849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8E8EE-181A-FCB6-7901-10B50ADBC6D5}"/>
              </a:ext>
            </a:extLst>
          </p:cNvPr>
          <p:cNvSpPr>
            <a:spLocks noGrp="1"/>
          </p:cNvSpPr>
          <p:nvPr>
            <p:ph type="title"/>
          </p:nvPr>
        </p:nvSpPr>
        <p:spPr/>
        <p:txBody>
          <a:bodyPr/>
          <a:lstStyle/>
          <a:p>
            <a:r>
              <a:rPr lang="en-US" dirty="0"/>
              <a:t>Complementarity Problems</a:t>
            </a:r>
          </a:p>
        </p:txBody>
      </p:sp>
      <p:sp>
        <p:nvSpPr>
          <p:cNvPr id="3" name="Content Placeholder 2">
            <a:extLst>
              <a:ext uri="{FF2B5EF4-FFF2-40B4-BE49-F238E27FC236}">
                <a16:creationId xmlns:a16="http://schemas.microsoft.com/office/drawing/2014/main" id="{E46A63E7-78D4-53DD-97AA-4A7441344AF6}"/>
              </a:ext>
            </a:extLst>
          </p:cNvPr>
          <p:cNvSpPr>
            <a:spLocks noGrp="1"/>
          </p:cNvSpPr>
          <p:nvPr>
            <p:ph idx="1"/>
          </p:nvPr>
        </p:nvSpPr>
        <p:spPr>
          <a:xfrm>
            <a:off x="838200" y="1478844"/>
            <a:ext cx="10515600" cy="4698119"/>
          </a:xfrm>
        </p:spPr>
        <p:txBody>
          <a:bodyPr>
            <a:normAutofit lnSpcReduction="10000"/>
          </a:bodyPr>
          <a:lstStyle/>
          <a:p>
            <a:r>
              <a:rPr lang="en-US" dirty="0"/>
              <a:t>Complementarity problems: start with the primal and dual </a:t>
            </a:r>
            <a:r>
              <a:rPr lang="en-US" i="1" dirty="0"/>
              <a:t>constraints</a:t>
            </a:r>
            <a:r>
              <a:rPr lang="en-US" dirty="0"/>
              <a:t> and remove the objective functions</a:t>
            </a:r>
          </a:p>
          <a:p>
            <a:endParaRPr lang="en-US" dirty="0"/>
          </a:p>
          <a:p>
            <a:r>
              <a:rPr lang="en-US" dirty="0"/>
              <a:t>More generally: equilibrium problems</a:t>
            </a:r>
          </a:p>
          <a:p>
            <a:endParaRPr lang="en-US" dirty="0"/>
          </a:p>
          <a:p>
            <a:r>
              <a:rPr lang="en-US" dirty="0"/>
              <a:t>Specific types but -almost- always referred to in practice as Mixed Complementarity Problems (MCPs).. All types:</a:t>
            </a:r>
          </a:p>
          <a:p>
            <a:pPr lvl="1"/>
            <a:r>
              <a:rPr lang="en-US" dirty="0"/>
              <a:t>Linear Complementarity Problems (LCPs)</a:t>
            </a:r>
          </a:p>
          <a:p>
            <a:pPr lvl="1"/>
            <a:r>
              <a:rPr lang="en-US" dirty="0"/>
              <a:t>Non-linear Complementarity Problems (NLCPs)</a:t>
            </a:r>
          </a:p>
          <a:p>
            <a:pPr lvl="1"/>
            <a:r>
              <a:rPr lang="en-US" dirty="0"/>
              <a:t>Both non-linear and linear complementarity problems are </a:t>
            </a:r>
            <a:r>
              <a:rPr lang="en-US" i="1" dirty="0"/>
              <a:t>mixed </a:t>
            </a:r>
            <a:r>
              <a:rPr lang="en-US" dirty="0"/>
              <a:t>(MCPs)</a:t>
            </a:r>
          </a:p>
          <a:p>
            <a:pPr lvl="1"/>
            <a:r>
              <a:rPr lang="en-US" dirty="0"/>
              <a:t>Also: integer, others..  </a:t>
            </a:r>
          </a:p>
          <a:p>
            <a:pPr lvl="1"/>
            <a:endParaRPr lang="en-US" dirty="0"/>
          </a:p>
        </p:txBody>
      </p:sp>
    </p:spTree>
    <p:extLst>
      <p:ext uri="{BB962C8B-B14F-4D97-AF65-F5344CB8AC3E}">
        <p14:creationId xmlns:p14="http://schemas.microsoft.com/office/powerpoint/2010/main" val="3451911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5116D-B749-8D30-8736-01F82D40E7DB}"/>
              </a:ext>
            </a:extLst>
          </p:cNvPr>
          <p:cNvSpPr>
            <a:spLocks noGrp="1"/>
          </p:cNvSpPr>
          <p:nvPr>
            <p:ph type="title"/>
          </p:nvPr>
        </p:nvSpPr>
        <p:spPr/>
        <p:txBody>
          <a:bodyPr/>
          <a:lstStyle/>
          <a:p>
            <a:r>
              <a:rPr lang="en-US" dirty="0"/>
              <a:t>When should we use MCPs?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319E08-BF74-52DE-1A27-0E3AC54D9617}"/>
                  </a:ext>
                </a:extLst>
              </p:cNvPr>
              <p:cNvSpPr>
                <a:spLocks noGrp="1"/>
              </p:cNvSpPr>
              <p:nvPr>
                <p:ph idx="1"/>
              </p:nvPr>
            </p:nvSpPr>
            <p:spPr>
              <a:xfrm>
                <a:off x="838200" y="1580444"/>
                <a:ext cx="11026422" cy="4596519"/>
              </a:xfrm>
            </p:spPr>
            <p:txBody>
              <a:bodyPr/>
              <a:lstStyle/>
              <a:p>
                <a:r>
                  <a:rPr lang="en-US" dirty="0"/>
                  <a:t>When price-based policies are of interest</a:t>
                </a:r>
              </a:p>
              <a:p>
                <a:pPr lvl="1"/>
                <a:r>
                  <a:rPr lang="en-US" dirty="0"/>
                  <a:t>Consumers face bundled prices</a:t>
                </a:r>
              </a:p>
              <a:p>
                <a:pPr lvl="1"/>
                <a:r>
                  <a:rPr lang="en-US" dirty="0"/>
                  <a:t>Price floors/ceilings</a:t>
                </a:r>
              </a:p>
              <a:p>
                <a:pPr lvl="1"/>
                <a:r>
                  <a:rPr lang="en-US" dirty="0"/>
                  <a:t>Price-based project costing – long-term contracts, pinning to price index</a:t>
                </a:r>
              </a:p>
              <a:p>
                <a:pPr lvl="1"/>
                <a:r>
                  <a:rPr lang="en-US" dirty="0"/>
                  <a:t>Price-based tax: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oMath>
                </a14:m>
                <a:r>
                  <a:rPr lang="en-US" dirty="0"/>
                  <a:t> </a:t>
                </a:r>
              </a:p>
              <a:p>
                <a:endParaRPr lang="en-US" dirty="0"/>
              </a:p>
              <a:p>
                <a:r>
                  <a:rPr lang="en-US" dirty="0"/>
                  <a:t>When individuals’/producers’ objective functions can’t be aggregated</a:t>
                </a:r>
              </a:p>
              <a:p>
                <a:pPr lvl="1"/>
                <a:r>
                  <a:rPr lang="en-US" dirty="0"/>
                  <a:t>Example in this module: Oligopolistic competition where firms set marginal revenue equal to marginal cost (Cournot model)</a:t>
                </a:r>
              </a:p>
              <a:p>
                <a:pPr lvl="1"/>
                <a:r>
                  <a:rPr lang="en-US" dirty="0"/>
                  <a:t>Other examples: Bertrand, Stackelberg games (MPECs)</a:t>
                </a:r>
              </a:p>
            </p:txBody>
          </p:sp>
        </mc:Choice>
        <mc:Fallback>
          <p:sp>
            <p:nvSpPr>
              <p:cNvPr id="3" name="Content Placeholder 2">
                <a:extLst>
                  <a:ext uri="{FF2B5EF4-FFF2-40B4-BE49-F238E27FC236}">
                    <a16:creationId xmlns:a16="http://schemas.microsoft.com/office/drawing/2014/main" id="{67319E08-BF74-52DE-1A27-0E3AC54D9617}"/>
                  </a:ext>
                </a:extLst>
              </p:cNvPr>
              <p:cNvSpPr>
                <a:spLocks noGrp="1" noRot="1" noChangeAspect="1" noMove="1" noResize="1" noEditPoints="1" noAdjustHandles="1" noChangeArrowheads="1" noChangeShapeType="1" noTextEdit="1"/>
              </p:cNvSpPr>
              <p:nvPr>
                <p:ph idx="1"/>
              </p:nvPr>
            </p:nvSpPr>
            <p:spPr>
              <a:xfrm>
                <a:off x="838200" y="1580444"/>
                <a:ext cx="11026422" cy="4596519"/>
              </a:xfrm>
              <a:blipFill>
                <a:blip r:embed="rId2"/>
                <a:stretch>
                  <a:fillRect l="-1036" t="-2204" r="-460"/>
                </a:stretch>
              </a:blipFill>
            </p:spPr>
            <p:txBody>
              <a:bodyPr/>
              <a:lstStyle/>
              <a:p>
                <a:r>
                  <a:rPr lang="en-US">
                    <a:noFill/>
                  </a:rPr>
                  <a:t> </a:t>
                </a:r>
              </a:p>
            </p:txBody>
          </p:sp>
        </mc:Fallback>
      </mc:AlternateContent>
    </p:spTree>
    <p:extLst>
      <p:ext uri="{BB962C8B-B14F-4D97-AF65-F5344CB8AC3E}">
        <p14:creationId xmlns:p14="http://schemas.microsoft.com/office/powerpoint/2010/main" val="3585479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AF0B-80F0-6CEF-F63C-57A13B3F1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3A74B-B9C8-B341-B0CF-E3D1DEFC01C7}"/>
              </a:ext>
            </a:extLst>
          </p:cNvPr>
          <p:cNvSpPr>
            <a:spLocks noGrp="1"/>
          </p:cNvSpPr>
          <p:nvPr>
            <p:ph type="title"/>
          </p:nvPr>
        </p:nvSpPr>
        <p:spPr/>
        <p:txBody>
          <a:bodyPr/>
          <a:lstStyle/>
          <a:p>
            <a:r>
              <a:rPr lang="en-US" dirty="0"/>
              <a:t>Formulating the dual..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716B7F-BEA5-2B3F-E9DB-BEE05D4A26F8}"/>
                  </a:ext>
                </a:extLst>
              </p:cNvPr>
              <p:cNvSpPr>
                <a:spLocks noGrp="1"/>
              </p:cNvSpPr>
              <p:nvPr>
                <p:ph idx="1"/>
              </p:nvPr>
            </p:nvSpPr>
            <p:spPr>
              <a:xfrm>
                <a:off x="838200" y="2282825"/>
                <a:ext cx="4796481" cy="4351338"/>
              </a:xfrm>
            </p:spPr>
            <p:txBody>
              <a:bodyPr>
                <a:normAutofit/>
              </a:bodyPr>
              <a:lstStyle/>
              <a:p>
                <a:pPr marL="0" indent="0">
                  <a:buNone/>
                </a:pPr>
                <a:r>
                  <a:rPr lang="en-US" dirty="0"/>
                  <a:t>Primal:</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m:oMathPara>
                </a14:m>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A0716B7F-BEA5-2B3F-E9DB-BEE05D4A26F8}"/>
                  </a:ext>
                </a:extLst>
              </p:cNvPr>
              <p:cNvSpPr>
                <a:spLocks noGrp="1" noRot="1" noChangeAspect="1" noMove="1" noResize="1" noEditPoints="1" noAdjustHandles="1" noChangeArrowheads="1" noChangeShapeType="1" noTextEdit="1"/>
              </p:cNvSpPr>
              <p:nvPr>
                <p:ph idx="1"/>
              </p:nvPr>
            </p:nvSpPr>
            <p:spPr>
              <a:xfrm>
                <a:off x="838200" y="2282825"/>
                <a:ext cx="4796481" cy="4351338"/>
              </a:xfrm>
              <a:blipFill>
                <a:blip r:embed="rId2"/>
                <a:stretch>
                  <a:fillRect l="-2646" t="-27326" b="-1511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8987B73-1916-053C-DBE1-9ABD50BFFE45}"/>
                  </a:ext>
                </a:extLst>
              </p:cNvPr>
              <p:cNvSpPr txBox="1"/>
              <p:nvPr/>
            </p:nvSpPr>
            <p:spPr>
              <a:xfrm>
                <a:off x="6756057" y="553884"/>
                <a:ext cx="6098058" cy="646331"/>
              </a:xfrm>
              <a:prstGeom prst="rect">
                <a:avLst/>
              </a:prstGeom>
              <a:noFill/>
            </p:spPr>
            <p:txBody>
              <a:bodyPr wrap="square">
                <a:spAutoFit/>
              </a:bodyPr>
              <a:lstStyle/>
              <a:p>
                <a:pPr marL="0" indent="0">
                  <a:buNone/>
                </a:pPr>
                <a14:m>
                  <m:oMath xmlns:m="http://schemas.openxmlformats.org/officeDocument/2006/math">
                    <m:r>
                      <a:rPr lang="en-US" b="0" i="1" smtClean="0">
                        <a:latin typeface="Cambria Math" panose="02040503050406030204" pitchFamily="18" charset="0"/>
                      </a:rPr>
                      <m:t>𝑖</m:t>
                    </m:r>
                  </m:oMath>
                </a14:m>
                <a:r>
                  <a:rPr lang="en-US" dirty="0"/>
                  <a:t>: # constraints (primal), # variables (dual)</a:t>
                </a:r>
              </a:p>
              <a:p>
                <a:pPr marL="0" indent="0">
                  <a:buNone/>
                </a:pPr>
                <a14:m>
                  <m:oMath xmlns:m="http://schemas.openxmlformats.org/officeDocument/2006/math">
                    <m:r>
                      <a:rPr lang="en-US" b="0" i="1" smtClean="0">
                        <a:latin typeface="Cambria Math" panose="02040503050406030204" pitchFamily="18" charset="0"/>
                      </a:rPr>
                      <m:t>𝑗</m:t>
                    </m:r>
                  </m:oMath>
                </a14:m>
                <a:r>
                  <a:rPr lang="en-US" dirty="0"/>
                  <a:t>: # variables (primal), # constraints (dual)</a:t>
                </a:r>
              </a:p>
            </p:txBody>
          </p:sp>
        </mc:Choice>
        <mc:Fallback>
          <p:sp>
            <p:nvSpPr>
              <p:cNvPr id="5" name="TextBox 4">
                <a:extLst>
                  <a:ext uri="{FF2B5EF4-FFF2-40B4-BE49-F238E27FC236}">
                    <a16:creationId xmlns:a16="http://schemas.microsoft.com/office/drawing/2014/main" id="{C8987B73-1916-053C-DBE1-9ABD50BFFE45}"/>
                  </a:ext>
                </a:extLst>
              </p:cNvPr>
              <p:cNvSpPr txBox="1">
                <a:spLocks noRot="1" noChangeAspect="1" noMove="1" noResize="1" noEditPoints="1" noAdjustHandles="1" noChangeArrowheads="1" noChangeShapeType="1" noTextEdit="1"/>
              </p:cNvSpPr>
              <p:nvPr/>
            </p:nvSpPr>
            <p:spPr>
              <a:xfrm>
                <a:off x="6756057" y="553884"/>
                <a:ext cx="6098058" cy="646331"/>
              </a:xfrm>
              <a:prstGeom prst="rect">
                <a:avLst/>
              </a:prstGeom>
              <a:blipFill>
                <a:blip r:embed="rId3"/>
                <a:stretch>
                  <a:fillRect l="-207"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1AEBF7D1-8BDD-4A2D-88DF-0128C9BD9236}"/>
                  </a:ext>
                </a:extLst>
              </p:cNvPr>
              <p:cNvSpPr txBox="1">
                <a:spLocks/>
              </p:cNvSpPr>
              <p:nvPr/>
            </p:nvSpPr>
            <p:spPr>
              <a:xfrm>
                <a:off x="6093940" y="2282825"/>
                <a:ext cx="60980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Dual:</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mr>
                      </m:m>
                      <m:r>
                        <a:rPr lang="en-US" i="1" smtClean="0">
                          <a:latin typeface="Cambria Math" panose="02040503050406030204" pitchFamily="18" charset="0"/>
                        </a:rPr>
                        <m:t> </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nary>
                    </m:oMath>
                  </m:oMathPara>
                </a14:m>
                <a:endParaRPr lang="en-US" dirty="0"/>
              </a:p>
              <a:p>
                <a:pPr marL="0" indent="0">
                  <a:buFont typeface="Arial" panose="020B0604020202020204" pitchFamily="34" charset="0"/>
                  <a:buNone/>
                </a:pPr>
                <a:r>
                  <a:rPr lang="en-US" dirty="0" err="1"/>
                  <a:t>s.t.</a:t>
                </a:r>
                <a:r>
                  <a:rPr lang="en-US" dirty="0"/>
                  <a:t>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  ∀ </m:t>
                      </m:r>
                      <m:r>
                        <a:rPr lang="en-US" b="0" i="1" smtClean="0">
                          <a:latin typeface="Cambria Math" panose="02040503050406030204" pitchFamily="18" charset="0"/>
                        </a:rPr>
                        <m:t>𝑗</m:t>
                      </m:r>
                    </m:oMath>
                  </m:oMathPara>
                </a14:m>
                <a:endParaRPr lang="en-US" dirty="0"/>
              </a:p>
            </p:txBody>
          </p:sp>
        </mc:Choice>
        <mc:Fallback xmlns="">
          <p:sp>
            <p:nvSpPr>
              <p:cNvPr id="6" name="Content Placeholder 2">
                <a:extLst>
                  <a:ext uri="{FF2B5EF4-FFF2-40B4-BE49-F238E27FC236}">
                    <a16:creationId xmlns:a16="http://schemas.microsoft.com/office/drawing/2014/main" id="{1AEBF7D1-8BDD-4A2D-88DF-0128C9BD9236}"/>
                  </a:ext>
                </a:extLst>
              </p:cNvPr>
              <p:cNvSpPr txBox="1">
                <a:spLocks noRot="1" noChangeAspect="1" noMove="1" noResize="1" noEditPoints="1" noAdjustHandles="1" noChangeArrowheads="1" noChangeShapeType="1" noTextEdit="1"/>
              </p:cNvSpPr>
              <p:nvPr/>
            </p:nvSpPr>
            <p:spPr>
              <a:xfrm>
                <a:off x="6093940" y="2282825"/>
                <a:ext cx="6098059" cy="4351338"/>
              </a:xfrm>
              <a:prstGeom prst="rect">
                <a:avLst/>
              </a:prstGeom>
              <a:blipFill>
                <a:blip r:embed="rId4"/>
                <a:stretch>
                  <a:fillRect l="-2287" t="-27326" b="-13953"/>
                </a:stretch>
              </a:blipFill>
            </p:spPr>
            <p:txBody>
              <a:bodyPr/>
              <a:lstStyle/>
              <a:p>
                <a:r>
                  <a:rPr lang="en-US">
                    <a:noFill/>
                  </a:rPr>
                  <a:t> </a:t>
                </a:r>
              </a:p>
            </p:txBody>
          </p:sp>
        </mc:Fallback>
      </mc:AlternateContent>
    </p:spTree>
    <p:extLst>
      <p:ext uri="{BB962C8B-B14F-4D97-AF65-F5344CB8AC3E}">
        <p14:creationId xmlns:p14="http://schemas.microsoft.com/office/powerpoint/2010/main" val="162152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3258-53EF-7415-C23E-B633CC3F9526}"/>
              </a:ext>
            </a:extLst>
          </p:cNvPr>
          <p:cNvSpPr>
            <a:spLocks noGrp="1"/>
          </p:cNvSpPr>
          <p:nvPr>
            <p:ph type="title"/>
          </p:nvPr>
        </p:nvSpPr>
        <p:spPr/>
        <p:txBody>
          <a:bodyPr/>
          <a:lstStyle/>
          <a:p>
            <a:r>
              <a:rPr lang="en-US" dirty="0"/>
              <a:t>A very simple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1C3B09-5204-F4B4-99A0-D0CD970C137F}"/>
                  </a:ext>
                </a:extLst>
              </p:cNvPr>
              <p:cNvSpPr>
                <a:spLocks noGrp="1"/>
              </p:cNvSpPr>
              <p:nvPr>
                <p:ph idx="1"/>
              </p:nvPr>
            </p:nvSpPr>
            <p:spPr>
              <a:xfrm>
                <a:off x="838200" y="1542415"/>
                <a:ext cx="3758514" cy="4351338"/>
              </a:xfrm>
            </p:spPr>
            <p:txBody>
              <a:bodyPr/>
              <a:lstStyle/>
              <a:p>
                <a:pPr marL="0" indent="0">
                  <a:buNone/>
                </a:pPr>
                <a:r>
                  <a:rPr lang="en-US" b="0" dirty="0">
                    <a:latin typeface="Cambria Math" panose="02040503050406030204" pitchFamily="18" charset="0"/>
                  </a:rPr>
                  <a:t>P</a:t>
                </a:r>
                <a:r>
                  <a:rPr lang="en-US" dirty="0">
                    <a:latin typeface="Cambria Math" panose="02040503050406030204" pitchFamily="18" charset="0"/>
                  </a:rPr>
                  <a:t>rimal</a:t>
                </a:r>
              </a:p>
              <a:p>
                <a:pPr marL="0" indent="0">
                  <a:buNone/>
                </a:pP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mr>
                      </m:m>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a:p>
                <a:pPr marL="0" indent="0">
                  <a:buNone/>
                </a:pPr>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oMath>
                  </m:oMathPara>
                </a14:m>
                <a:endParaRPr lang="en-US" dirty="0"/>
              </a:p>
            </p:txBody>
          </p:sp>
        </mc:Choice>
        <mc:Fallback xmlns="">
          <p:sp>
            <p:nvSpPr>
              <p:cNvPr id="3" name="Content Placeholder 2">
                <a:extLst>
                  <a:ext uri="{FF2B5EF4-FFF2-40B4-BE49-F238E27FC236}">
                    <a16:creationId xmlns:a16="http://schemas.microsoft.com/office/drawing/2014/main" id="{CB1C3B09-5204-F4B4-99A0-D0CD970C137F}"/>
                  </a:ext>
                </a:extLst>
              </p:cNvPr>
              <p:cNvSpPr>
                <a:spLocks noGrp="1" noRot="1" noChangeAspect="1" noMove="1" noResize="1" noEditPoints="1" noAdjustHandles="1" noChangeArrowheads="1" noChangeShapeType="1" noTextEdit="1"/>
              </p:cNvSpPr>
              <p:nvPr>
                <p:ph idx="1"/>
              </p:nvPr>
            </p:nvSpPr>
            <p:spPr>
              <a:xfrm>
                <a:off x="838200" y="1542415"/>
                <a:ext cx="3758514" cy="4351338"/>
              </a:xfrm>
              <a:blipFill>
                <a:blip r:embed="rId3"/>
                <a:stretch>
                  <a:fillRect l="-3378"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93B8B46-0974-7968-6AE7-3D5B96077253}"/>
                  </a:ext>
                </a:extLst>
              </p:cNvPr>
              <p:cNvSpPr txBox="1">
                <a:spLocks/>
              </p:cNvSpPr>
              <p:nvPr/>
            </p:nvSpPr>
            <p:spPr>
              <a:xfrm>
                <a:off x="6096000" y="1542415"/>
                <a:ext cx="491593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Cambria Math" panose="02040503050406030204" pitchFamily="18" charset="0"/>
                  </a:rPr>
                  <a:t>Dual</a:t>
                </a:r>
              </a:p>
              <a:p>
                <a:pPr marL="0" indent="0">
                  <a:buFont typeface="Arial" panose="020B0604020202020204" pitchFamily="34" charset="0"/>
                  <a:buNone/>
                </a:pPr>
                <a:endParaRPr lang="en-US"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r>
                              <a:rPr lang="en-US" i="1" smtClean="0">
                                <a:latin typeface="Cambria Math" panose="02040503050406030204" pitchFamily="18" charset="0"/>
                              </a:rPr>
                              <m:t> </m:t>
                            </m:r>
                          </m:e>
                        </m:mr>
                      </m:m>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oMath>
                  </m:oMathPara>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i="1" smtClean="0">
                              <a:latin typeface="Cambria Math" panose="02040503050406030204" pitchFamily="18" charset="0"/>
                            </a:rPr>
                            <m:t>2</m:t>
                          </m:r>
                        </m:sub>
                      </m:sSub>
                    </m:oMath>
                  </m:oMathPara>
                </a14:m>
                <a:endParaRPr lang="en-US" dirty="0"/>
              </a:p>
            </p:txBody>
          </p:sp>
        </mc:Choice>
        <mc:Fallback xmlns="">
          <p:sp>
            <p:nvSpPr>
              <p:cNvPr id="4" name="Content Placeholder 2">
                <a:extLst>
                  <a:ext uri="{FF2B5EF4-FFF2-40B4-BE49-F238E27FC236}">
                    <a16:creationId xmlns:a16="http://schemas.microsoft.com/office/drawing/2014/main" id="{093B8B46-0974-7968-6AE7-3D5B96077253}"/>
                  </a:ext>
                </a:extLst>
              </p:cNvPr>
              <p:cNvSpPr txBox="1">
                <a:spLocks noRot="1" noChangeAspect="1" noMove="1" noResize="1" noEditPoints="1" noAdjustHandles="1" noChangeArrowheads="1" noChangeShapeType="1" noTextEdit="1"/>
              </p:cNvSpPr>
              <p:nvPr/>
            </p:nvSpPr>
            <p:spPr>
              <a:xfrm>
                <a:off x="6096000" y="1542415"/>
                <a:ext cx="4915930" cy="4351338"/>
              </a:xfrm>
              <a:prstGeom prst="rect">
                <a:avLst/>
              </a:prstGeom>
              <a:blipFill>
                <a:blip r:embed="rId4"/>
                <a:stretch>
                  <a:fillRect l="-2842" t="-2326"/>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5411DC6E-5F56-21B9-0A08-FB64E1FBD676}"/>
              </a:ext>
            </a:extLst>
          </p:cNvPr>
          <p:cNvGraphicFramePr>
            <a:graphicFrameLocks noGrp="1"/>
          </p:cNvGraphicFramePr>
          <p:nvPr>
            <p:extLst>
              <p:ext uri="{D42A27DB-BD31-4B8C-83A1-F6EECF244321}">
                <p14:modId xmlns:p14="http://schemas.microsoft.com/office/powerpoint/2010/main" val="689909629"/>
              </p:ext>
            </p:extLst>
          </p:nvPr>
        </p:nvGraphicFramePr>
        <p:xfrm>
          <a:off x="2183371" y="5745480"/>
          <a:ext cx="1474230" cy="1112520"/>
        </p:xfrm>
        <a:graphic>
          <a:graphicData uri="http://schemas.openxmlformats.org/drawingml/2006/table">
            <a:tbl>
              <a:tblPr firstRow="1" bandRow="1">
                <a:tableStyleId>{5C22544A-7EE6-4342-B048-85BDC9FD1C3A}</a:tableStyleId>
              </a:tblPr>
              <a:tblGrid>
                <a:gridCol w="737115">
                  <a:extLst>
                    <a:ext uri="{9D8B030D-6E8A-4147-A177-3AD203B41FA5}">
                      <a16:colId xmlns:a16="http://schemas.microsoft.com/office/drawing/2014/main" val="729311464"/>
                    </a:ext>
                  </a:extLst>
                </a:gridCol>
                <a:gridCol w="737115">
                  <a:extLst>
                    <a:ext uri="{9D8B030D-6E8A-4147-A177-3AD203B41FA5}">
                      <a16:colId xmlns:a16="http://schemas.microsoft.com/office/drawing/2014/main" val="3589189236"/>
                    </a:ext>
                  </a:extLst>
                </a:gridCol>
              </a:tblGrid>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0</a:t>
                      </a:r>
                    </a:p>
                  </a:txBody>
                  <a:tcPr>
                    <a:noFill/>
                  </a:tcPr>
                </a:tc>
                <a:extLst>
                  <a:ext uri="{0D108BD9-81ED-4DB2-BD59-A6C34878D82A}">
                    <a16:rowId xmlns:a16="http://schemas.microsoft.com/office/drawing/2014/main" val="2921569770"/>
                  </a:ext>
                </a:extLst>
              </a:tr>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1</a:t>
                      </a:r>
                    </a:p>
                  </a:txBody>
                  <a:tcPr>
                    <a:noFill/>
                  </a:tcPr>
                </a:tc>
                <a:extLst>
                  <a:ext uri="{0D108BD9-81ED-4DB2-BD59-A6C34878D82A}">
                    <a16:rowId xmlns:a16="http://schemas.microsoft.com/office/drawing/2014/main" val="41949357"/>
                  </a:ext>
                </a:extLst>
              </a:tr>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-1</a:t>
                      </a:r>
                    </a:p>
                  </a:txBody>
                  <a:tcPr>
                    <a:noFill/>
                  </a:tcPr>
                </a:tc>
                <a:extLst>
                  <a:ext uri="{0D108BD9-81ED-4DB2-BD59-A6C34878D82A}">
                    <a16:rowId xmlns:a16="http://schemas.microsoft.com/office/drawing/2014/main" val="3141798752"/>
                  </a:ext>
                </a:extLst>
              </a:tr>
            </a:tbl>
          </a:graphicData>
        </a:graphic>
      </p:graphicFrame>
      <p:graphicFrame>
        <p:nvGraphicFramePr>
          <p:cNvPr id="6" name="Table 5">
            <a:extLst>
              <a:ext uri="{FF2B5EF4-FFF2-40B4-BE49-F238E27FC236}">
                <a16:creationId xmlns:a16="http://schemas.microsoft.com/office/drawing/2014/main" id="{652FE2B2-9905-640E-BA50-D76A70D475A3}"/>
              </a:ext>
            </a:extLst>
          </p:cNvPr>
          <p:cNvGraphicFramePr>
            <a:graphicFrameLocks noGrp="1"/>
          </p:cNvGraphicFramePr>
          <p:nvPr>
            <p:extLst>
              <p:ext uri="{D42A27DB-BD31-4B8C-83A1-F6EECF244321}">
                <p14:modId xmlns:p14="http://schemas.microsoft.com/office/powerpoint/2010/main" val="2948535772"/>
              </p:ext>
            </p:extLst>
          </p:nvPr>
        </p:nvGraphicFramePr>
        <p:xfrm>
          <a:off x="6096000" y="5522913"/>
          <a:ext cx="3073401" cy="741680"/>
        </p:xfrm>
        <a:graphic>
          <a:graphicData uri="http://schemas.openxmlformats.org/drawingml/2006/table">
            <a:tbl>
              <a:tblPr firstRow="1" bandRow="1">
                <a:tableStyleId>{5C22544A-7EE6-4342-B048-85BDC9FD1C3A}</a:tableStyleId>
              </a:tblPr>
              <a:tblGrid>
                <a:gridCol w="1024467">
                  <a:extLst>
                    <a:ext uri="{9D8B030D-6E8A-4147-A177-3AD203B41FA5}">
                      <a16:colId xmlns:a16="http://schemas.microsoft.com/office/drawing/2014/main" val="964455172"/>
                    </a:ext>
                  </a:extLst>
                </a:gridCol>
                <a:gridCol w="1024467">
                  <a:extLst>
                    <a:ext uri="{9D8B030D-6E8A-4147-A177-3AD203B41FA5}">
                      <a16:colId xmlns:a16="http://schemas.microsoft.com/office/drawing/2014/main" val="3740743041"/>
                    </a:ext>
                  </a:extLst>
                </a:gridCol>
                <a:gridCol w="1024467">
                  <a:extLst>
                    <a:ext uri="{9D8B030D-6E8A-4147-A177-3AD203B41FA5}">
                      <a16:colId xmlns:a16="http://schemas.microsoft.com/office/drawing/2014/main" val="1197566502"/>
                    </a:ext>
                  </a:extLst>
                </a:gridCol>
              </a:tblGrid>
              <a:tr h="370840">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extLst>
                  <a:ext uri="{0D108BD9-81ED-4DB2-BD59-A6C34878D82A}">
                    <a16:rowId xmlns:a16="http://schemas.microsoft.com/office/drawing/2014/main" val="2674873236"/>
                  </a:ext>
                </a:extLst>
              </a:tr>
              <a:tr h="370840">
                <a:tc>
                  <a:txBody>
                    <a:bodyPr/>
                    <a:lstStyle/>
                    <a:p>
                      <a:pPr algn="ctr"/>
                      <a:r>
                        <a:rPr lang="en-US" b="1" dirty="0">
                          <a:solidFill>
                            <a:schemeClr val="tx1"/>
                          </a:solidFill>
                        </a:rPr>
                        <a:t>0</a:t>
                      </a:r>
                    </a:p>
                  </a:txBody>
                  <a:tcPr>
                    <a:solidFill>
                      <a:schemeClr val="bg1"/>
                    </a:solidFill>
                  </a:tcPr>
                </a:tc>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extLst>
                  <a:ext uri="{0D108BD9-81ED-4DB2-BD59-A6C34878D82A}">
                    <a16:rowId xmlns:a16="http://schemas.microsoft.com/office/drawing/2014/main" val="1707377509"/>
                  </a:ext>
                </a:extLst>
              </a:tr>
            </a:tbl>
          </a:graphicData>
        </a:graphic>
      </p:graphicFrame>
    </p:spTree>
    <p:extLst>
      <p:ext uri="{BB962C8B-B14F-4D97-AF65-F5344CB8AC3E}">
        <p14:creationId xmlns:p14="http://schemas.microsoft.com/office/powerpoint/2010/main" val="175533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78F6B-DA11-BA71-5669-F808A7683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0A126-09BE-2528-74D7-F1EDB71B1F2A}"/>
              </a:ext>
            </a:extLst>
          </p:cNvPr>
          <p:cNvSpPr>
            <a:spLocks noGrp="1"/>
          </p:cNvSpPr>
          <p:nvPr>
            <p:ph type="title"/>
          </p:nvPr>
        </p:nvSpPr>
        <p:spPr/>
        <p:txBody>
          <a:bodyPr/>
          <a:lstStyle/>
          <a:p>
            <a:r>
              <a:rPr lang="en-US" dirty="0"/>
              <a:t>Complementarity conditions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82C96-4192-FF3C-2418-50792B7C9E35}"/>
                  </a:ext>
                </a:extLst>
              </p:cNvPr>
              <p:cNvSpPr>
                <a:spLocks noGrp="1"/>
              </p:cNvSpPr>
              <p:nvPr>
                <p:ph idx="1"/>
              </p:nvPr>
            </p:nvSpPr>
            <p:spPr>
              <a:xfrm>
                <a:off x="838200" y="1825625"/>
                <a:ext cx="3758514" cy="4351338"/>
              </a:xfrm>
            </p:spPr>
            <p:txBody>
              <a:bodyPr/>
              <a:lstStyle/>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≥0</m:t>
                      </m:r>
                    </m:oMath>
                  </m:oMathPara>
                </a14:m>
                <a:endParaRPr lang="en-US" dirty="0"/>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r>
                        <a:rPr lang="en-US" b="0" i="1" smtClean="0">
                          <a:latin typeface="Cambria Math" panose="02040503050406030204" pitchFamily="18" charset="0"/>
                        </a:rPr>
                        <m:t>=0</m:t>
                      </m:r>
                    </m:oMath>
                  </m:oMathPara>
                </a14:m>
                <a:endParaRPr lang="en-US" dirty="0"/>
              </a:p>
            </p:txBody>
          </p:sp>
        </mc:Choice>
        <mc:Fallback xmlns="">
          <p:sp>
            <p:nvSpPr>
              <p:cNvPr id="3" name="Content Placeholder 2">
                <a:extLst>
                  <a:ext uri="{FF2B5EF4-FFF2-40B4-BE49-F238E27FC236}">
                    <a16:creationId xmlns:a16="http://schemas.microsoft.com/office/drawing/2014/main" id="{01F82C96-4192-FF3C-2418-50792B7C9E35}"/>
                  </a:ext>
                </a:extLst>
              </p:cNvPr>
              <p:cNvSpPr>
                <a:spLocks noGrp="1" noRot="1" noChangeAspect="1" noMove="1" noResize="1" noEditPoints="1" noAdjustHandles="1" noChangeArrowheads="1" noChangeShapeType="1" noTextEdit="1"/>
              </p:cNvSpPr>
              <p:nvPr>
                <p:ph idx="1"/>
              </p:nvPr>
            </p:nvSpPr>
            <p:spPr>
              <a:xfrm>
                <a:off x="838200" y="1825625"/>
                <a:ext cx="3758514" cy="4351338"/>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770BB29-0230-98A1-7ADF-EA203546612C}"/>
                  </a:ext>
                </a:extLst>
              </p:cNvPr>
              <p:cNvSpPr txBox="1">
                <a:spLocks/>
              </p:cNvSpPr>
              <p:nvPr/>
            </p:nvSpPr>
            <p:spPr>
              <a:xfrm>
                <a:off x="6096000" y="1825625"/>
                <a:ext cx="491593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e>
                      </m:d>
                      <m:r>
                        <a:rPr lang="en-US" b="0" i="1" smtClean="0">
                          <a:latin typeface="Cambria Math" panose="02040503050406030204" pitchFamily="18" charset="0"/>
                        </a:rPr>
                        <m:t>≥</m:t>
                      </m:r>
                      <m:r>
                        <a:rPr lang="en-US" i="1">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e>
                      </m:d>
                      <m:r>
                        <a:rPr lang="en-US" b="0" i="1" smtClean="0">
                          <a:latin typeface="Cambria Math" panose="02040503050406030204" pitchFamily="18" charset="0"/>
                        </a:rPr>
                        <m:t>≥</m:t>
                      </m:r>
                      <m:r>
                        <a:rPr lang="en-US" i="1">
                          <a:latin typeface="Cambria Math" panose="02040503050406030204" pitchFamily="18" charset="0"/>
                        </a:rPr>
                        <m:t>0</m:t>
                      </m:r>
                    </m:oMath>
                  </m:oMathPara>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m:oMathPara>
                </a14:m>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e>
                      </m:d>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i="1" smtClean="0">
                              <a:latin typeface="Cambria Math" panose="02040503050406030204" pitchFamily="18" charset="0"/>
                            </a:rPr>
                            <m:t>2</m:t>
                          </m:r>
                        </m:sub>
                      </m:sSub>
                      <m:r>
                        <a:rPr lang="en-US" b="0" i="1" smtClean="0">
                          <a:latin typeface="Cambria Math" panose="02040503050406030204" pitchFamily="18" charset="0"/>
                        </a:rPr>
                        <m:t>=0</m:t>
                      </m:r>
                    </m:oMath>
                  </m:oMathPara>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mc:Choice>
        <mc:Fallback xmlns="">
          <p:sp>
            <p:nvSpPr>
              <p:cNvPr id="4" name="Content Placeholder 2">
                <a:extLst>
                  <a:ext uri="{FF2B5EF4-FFF2-40B4-BE49-F238E27FC236}">
                    <a16:creationId xmlns:a16="http://schemas.microsoft.com/office/drawing/2014/main" id="{1770BB29-0230-98A1-7ADF-EA203546612C}"/>
                  </a:ext>
                </a:extLst>
              </p:cNvPr>
              <p:cNvSpPr txBox="1">
                <a:spLocks noRot="1" noChangeAspect="1" noMove="1" noResize="1" noEditPoints="1" noAdjustHandles="1" noChangeArrowheads="1" noChangeShapeType="1" noTextEdit="1"/>
              </p:cNvSpPr>
              <p:nvPr/>
            </p:nvSpPr>
            <p:spPr>
              <a:xfrm>
                <a:off x="6096000" y="1825625"/>
                <a:ext cx="4915930" cy="435133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6B5E178-65A3-3DF5-2805-22D215DE4C98}"/>
                  </a:ext>
                </a:extLst>
              </p:cNvPr>
              <p:cNvSpPr txBox="1"/>
              <p:nvPr/>
            </p:nvSpPr>
            <p:spPr>
              <a:xfrm>
                <a:off x="3048000" y="5357793"/>
                <a:ext cx="6096000" cy="95410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≥0</m:t>
                      </m:r>
                    </m:oMath>
                  </m:oMathPara>
                </a14:m>
                <a:endParaRPr lang="en-US" sz="2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𝜆</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𝜆</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𝜆</m:t>
                          </m:r>
                        </m:e>
                        <m:sub>
                          <m:r>
                            <a:rPr lang="en-US" sz="2800" b="0" i="1" smtClean="0">
                              <a:latin typeface="Cambria Math" panose="02040503050406030204" pitchFamily="18" charset="0"/>
                            </a:rPr>
                            <m:t>3</m:t>
                          </m:r>
                        </m:sub>
                      </m:sSub>
                      <m:r>
                        <a:rPr lang="en-US" sz="2800" b="0" i="1" smtClean="0">
                          <a:latin typeface="Cambria Math" panose="02040503050406030204" pitchFamily="18" charset="0"/>
                        </a:rPr>
                        <m:t>≥0</m:t>
                      </m:r>
                    </m:oMath>
                  </m:oMathPara>
                </a14:m>
                <a:endParaRPr lang="en-US" sz="2800" i="1" dirty="0">
                  <a:latin typeface="Cambria Math" panose="02040503050406030204" pitchFamily="18" charset="0"/>
                </a:endParaRPr>
              </a:p>
            </p:txBody>
          </p:sp>
        </mc:Choice>
        <mc:Fallback xmlns="">
          <p:sp>
            <p:nvSpPr>
              <p:cNvPr id="6" name="TextBox 5">
                <a:extLst>
                  <a:ext uri="{FF2B5EF4-FFF2-40B4-BE49-F238E27FC236}">
                    <a16:creationId xmlns:a16="http://schemas.microsoft.com/office/drawing/2014/main" id="{E6B5E178-65A3-3DF5-2805-22D215DE4C98}"/>
                  </a:ext>
                </a:extLst>
              </p:cNvPr>
              <p:cNvSpPr txBox="1">
                <a:spLocks noRot="1" noChangeAspect="1" noMove="1" noResize="1" noEditPoints="1" noAdjustHandles="1" noChangeArrowheads="1" noChangeShapeType="1" noTextEdit="1"/>
              </p:cNvSpPr>
              <p:nvPr/>
            </p:nvSpPr>
            <p:spPr>
              <a:xfrm>
                <a:off x="3048000" y="5357793"/>
                <a:ext cx="6096000" cy="954107"/>
              </a:xfrm>
              <a:prstGeom prst="rect">
                <a:avLst/>
              </a:prstGeom>
              <a:blipFill>
                <a:blip r:embed="rId5"/>
                <a:stretch>
                  <a:fillRect b="-1316"/>
                </a:stretch>
              </a:blipFill>
            </p:spPr>
            <p:txBody>
              <a:bodyPr/>
              <a:lstStyle/>
              <a:p>
                <a:r>
                  <a:rPr lang="en-US">
                    <a:noFill/>
                  </a:rPr>
                  <a:t> </a:t>
                </a:r>
              </a:p>
            </p:txBody>
          </p:sp>
        </mc:Fallback>
      </mc:AlternateContent>
    </p:spTree>
    <p:extLst>
      <p:ext uri="{BB962C8B-B14F-4D97-AF65-F5344CB8AC3E}">
        <p14:creationId xmlns:p14="http://schemas.microsoft.com/office/powerpoint/2010/main" val="2102032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CE0BF-A593-D9E3-3F1F-EC964E8FE54A}"/>
              </a:ext>
            </a:extLst>
          </p:cNvPr>
          <p:cNvSpPr>
            <a:spLocks noGrp="1"/>
          </p:cNvSpPr>
          <p:nvPr>
            <p:ph type="title"/>
          </p:nvPr>
        </p:nvSpPr>
        <p:spPr/>
        <p:txBody>
          <a:bodyPr/>
          <a:lstStyle/>
          <a:p>
            <a:r>
              <a:rPr lang="en-US" dirty="0"/>
              <a:t>Ripley’s restaurant – now with the Dual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0755F0-8F5C-9D11-7EBF-F35137DBE84B}"/>
                  </a:ext>
                </a:extLst>
              </p:cNvPr>
              <p:cNvSpPr>
                <a:spLocks noGrp="1"/>
              </p:cNvSpPr>
              <p:nvPr>
                <p:ph idx="1"/>
              </p:nvPr>
            </p:nvSpPr>
            <p:spPr>
              <a:xfrm>
                <a:off x="838200" y="1457136"/>
                <a:ext cx="10515600" cy="4351338"/>
              </a:xfrm>
            </p:spPr>
            <p:txBody>
              <a:bodyPr/>
              <a:lstStyle/>
              <a:p>
                <a:r>
                  <a:rPr lang="en-US" dirty="0"/>
                  <a:t>Indices:</a:t>
                </a:r>
              </a:p>
              <a:p>
                <a:pPr lvl="1"/>
                <a14:m>
                  <m:oMath xmlns:m="http://schemas.openxmlformats.org/officeDocument/2006/math">
                    <m:r>
                      <a:rPr lang="en-US" b="0" i="1" smtClean="0">
                        <a:latin typeface="Cambria Math" panose="02040503050406030204" pitchFamily="18" charset="0"/>
                      </a:rPr>
                      <m:t>𝑖</m:t>
                    </m:r>
                  </m:oMath>
                </a14:m>
                <a:r>
                  <a:rPr lang="en-US" dirty="0"/>
                  <a:t>: items produced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h𝑎𝑚𝑏𝑢𝑟𝑔𝑒𝑟𝑠</m:t>
                    </m:r>
                    <m:r>
                      <a:rPr lang="en-US" b="0" i="1" smtClean="0">
                        <a:latin typeface="Cambria Math" panose="02040503050406030204" pitchFamily="18" charset="0"/>
                      </a:rPr>
                      <m:t>, </m:t>
                    </m:r>
                    <m:r>
                      <a:rPr lang="en-US" b="0" i="1" smtClean="0">
                        <a:latin typeface="Cambria Math" panose="02040503050406030204" pitchFamily="18" charset="0"/>
                      </a:rPr>
                      <m:t>h𝑜𝑡</m:t>
                    </m:r>
                    <m:r>
                      <a:rPr lang="en-US" b="0" i="1" smtClean="0">
                        <a:latin typeface="Cambria Math" panose="02040503050406030204" pitchFamily="18" charset="0"/>
                      </a:rPr>
                      <m:t> </m:t>
                    </m:r>
                    <m:r>
                      <a:rPr lang="en-US" b="0" i="1" smtClean="0">
                        <a:latin typeface="Cambria Math" panose="02040503050406030204" pitchFamily="18" charset="0"/>
                      </a:rPr>
                      <m:t>𝑑𝑜𝑔𝑠</m:t>
                    </m:r>
                    <m:r>
                      <a:rPr lang="en-US" b="0" i="1" smtClean="0">
                        <a:latin typeface="Cambria Math" panose="02040503050406030204" pitchFamily="18" charset="0"/>
                      </a:rPr>
                      <m:t>, </m:t>
                    </m:r>
                    <m:r>
                      <a:rPr lang="en-US" b="0" i="1" smtClean="0">
                        <a:latin typeface="Cambria Math" panose="02040503050406030204" pitchFamily="18" charset="0"/>
                      </a:rPr>
                      <m:t>𝑓𝑟𝑒𝑛𝑐h</m:t>
                    </m:r>
                    <m:r>
                      <a:rPr lang="en-US" b="0" i="1" smtClean="0">
                        <a:latin typeface="Cambria Math" panose="02040503050406030204" pitchFamily="18" charset="0"/>
                      </a:rPr>
                      <m:t> </m:t>
                    </m:r>
                    <m:r>
                      <a:rPr lang="en-US" b="0" i="1" smtClean="0">
                        <a:latin typeface="Cambria Math" panose="02040503050406030204" pitchFamily="18" charset="0"/>
                      </a:rPr>
                      <m:t>𝑓𝑟𝑖𝑒𝑠</m:t>
                    </m:r>
                    <m:r>
                      <a:rPr lang="en-US" b="0" i="1" smtClean="0">
                        <a:latin typeface="Cambria Math" panose="02040503050406030204" pitchFamily="18" charset="0"/>
                      </a:rPr>
                      <m:t>}</m:t>
                    </m:r>
                  </m:oMath>
                </a14:m>
                <a:endParaRPr lang="en-US" dirty="0"/>
              </a:p>
              <a:p>
                <a:pPr lvl="1"/>
                <a:endParaRPr lang="en-US" dirty="0"/>
              </a:p>
              <a:p>
                <a:r>
                  <a:rPr lang="en-US" dirty="0"/>
                  <a:t>Parameters: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oMath>
                </a14:m>
                <a:r>
                  <a:rPr lang="en-US" dirty="0"/>
                  <a:t>: revenue ($’s / item)</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oMath>
                </a14:m>
                <a:r>
                  <a:rPr lang="en-US" dirty="0"/>
                  <a:t>: cost ($’s / item)</a:t>
                </a:r>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𝑖</m:t>
                        </m:r>
                      </m:sub>
                    </m:sSub>
                  </m:oMath>
                </a14:m>
                <a:r>
                  <a:rPr lang="en-US" dirty="0"/>
                  <a:t>: time required to produce an item (hours / item)</a:t>
                </a:r>
              </a:p>
              <a:p>
                <a:pPr lvl="1"/>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oMath>
                </a14:m>
                <a:r>
                  <a:rPr lang="en-US" dirty="0"/>
                  <a:t>: maximum time worked per week (hours)</a:t>
                </a:r>
              </a:p>
            </p:txBody>
          </p:sp>
        </mc:Choice>
        <mc:Fallback xmlns="">
          <p:sp>
            <p:nvSpPr>
              <p:cNvPr id="3" name="Content Placeholder 2">
                <a:extLst>
                  <a:ext uri="{FF2B5EF4-FFF2-40B4-BE49-F238E27FC236}">
                    <a16:creationId xmlns:a16="http://schemas.microsoft.com/office/drawing/2014/main" id="{7E0755F0-8F5C-9D11-7EBF-F35137DBE84B}"/>
                  </a:ext>
                </a:extLst>
              </p:cNvPr>
              <p:cNvSpPr>
                <a:spLocks noGrp="1" noRot="1" noChangeAspect="1" noMove="1" noResize="1" noEditPoints="1" noAdjustHandles="1" noChangeArrowheads="1" noChangeShapeType="1" noTextEdit="1"/>
              </p:cNvSpPr>
              <p:nvPr>
                <p:ph idx="1"/>
              </p:nvPr>
            </p:nvSpPr>
            <p:spPr>
              <a:xfrm>
                <a:off x="838200" y="1457136"/>
                <a:ext cx="10515600" cy="4351338"/>
              </a:xfrm>
              <a:blipFill>
                <a:blip r:embed="rId2"/>
                <a:stretch>
                  <a:fillRect l="-1086" t="-2326"/>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82A30940-F8C5-893B-8D16-30097E62731A}"/>
              </a:ext>
            </a:extLst>
          </p:cNvPr>
          <p:cNvGraphicFramePr>
            <a:graphicFrameLocks noGrp="1"/>
          </p:cNvGraphicFramePr>
          <p:nvPr/>
        </p:nvGraphicFramePr>
        <p:xfrm>
          <a:off x="3306431" y="5054600"/>
          <a:ext cx="5579137" cy="1257300"/>
        </p:xfrm>
        <a:graphic>
          <a:graphicData uri="http://schemas.openxmlformats.org/drawingml/2006/table">
            <a:tbl>
              <a:tblPr>
                <a:tableStyleId>{5C22544A-7EE6-4342-B048-85BDC9FD1C3A}</a:tableStyleId>
              </a:tblPr>
              <a:tblGrid>
                <a:gridCol w="1375028">
                  <a:extLst>
                    <a:ext uri="{9D8B030D-6E8A-4147-A177-3AD203B41FA5}">
                      <a16:colId xmlns:a16="http://schemas.microsoft.com/office/drawing/2014/main" val="2806072947"/>
                    </a:ext>
                  </a:extLst>
                </a:gridCol>
                <a:gridCol w="1454053">
                  <a:extLst>
                    <a:ext uri="{9D8B030D-6E8A-4147-A177-3AD203B41FA5}">
                      <a16:colId xmlns:a16="http://schemas.microsoft.com/office/drawing/2014/main" val="1412884838"/>
                    </a:ext>
                  </a:extLst>
                </a:gridCol>
                <a:gridCol w="1375028">
                  <a:extLst>
                    <a:ext uri="{9D8B030D-6E8A-4147-A177-3AD203B41FA5}">
                      <a16:colId xmlns:a16="http://schemas.microsoft.com/office/drawing/2014/main" val="1409108284"/>
                    </a:ext>
                  </a:extLst>
                </a:gridCol>
                <a:gridCol w="1375028">
                  <a:extLst>
                    <a:ext uri="{9D8B030D-6E8A-4147-A177-3AD203B41FA5}">
                      <a16:colId xmlns:a16="http://schemas.microsoft.com/office/drawing/2014/main" val="1879932289"/>
                    </a:ext>
                  </a:extLst>
                </a:gridCol>
              </a:tblGrid>
              <a:tr h="203200">
                <a:tc>
                  <a:txBody>
                    <a:bodyPr/>
                    <a:lstStyle/>
                    <a:p>
                      <a:pPr algn="l" fontAlgn="b"/>
                      <a:r>
                        <a:rPr lang="en-US" sz="2000" u="none" strike="noStrike" dirty="0">
                          <a:effectLst/>
                        </a:rPr>
                        <a:t>Item</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u="none" strike="noStrike" dirty="0">
                          <a:effectLst/>
                        </a:rPr>
                        <a:t>Revenue</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b="0" i="0" u="none" strike="noStrike" dirty="0">
                          <a:solidFill>
                            <a:srgbClr val="000000"/>
                          </a:solidFill>
                          <a:effectLst/>
                          <a:latin typeface="Aptos Narrow" panose="020B0004020202020204" pitchFamily="34" charset="0"/>
                        </a:rPr>
                        <a:t>Cost</a:t>
                      </a:r>
                    </a:p>
                  </a:txBody>
                  <a:tcPr marL="9525" marR="9525" marT="9525" marB="0" anchor="b"/>
                </a:tc>
                <a:tc>
                  <a:txBody>
                    <a:bodyPr/>
                    <a:lstStyle/>
                    <a:p>
                      <a:pPr algn="ctr" fontAlgn="b"/>
                      <a:r>
                        <a:rPr lang="en-US" sz="2000" u="none" strike="noStrike" dirty="0">
                          <a:effectLst/>
                        </a:rPr>
                        <a:t>Hours</a:t>
                      </a: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9235941"/>
                  </a:ext>
                </a:extLst>
              </a:tr>
              <a:tr h="203200">
                <a:tc>
                  <a:txBody>
                    <a:bodyPr/>
                    <a:lstStyle/>
                    <a:p>
                      <a:pPr algn="l" fontAlgn="b"/>
                      <a:r>
                        <a:rPr lang="en-US" sz="2000" u="none" strike="noStrike" dirty="0">
                          <a:effectLst/>
                        </a:rPr>
                        <a:t>Hamburger</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u="none" strike="noStrike" dirty="0">
                          <a:effectLst/>
                        </a:rPr>
                        <a:t>1.5</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b="0" i="0" u="none" strike="noStrike" dirty="0">
                          <a:solidFill>
                            <a:srgbClr val="000000"/>
                          </a:solidFill>
                          <a:effectLst/>
                          <a:latin typeface="Aptos Narrow" panose="020B0004020202020204" pitchFamily="34" charset="0"/>
                        </a:rPr>
                        <a:t>0.75</a:t>
                      </a:r>
                    </a:p>
                  </a:txBody>
                  <a:tcPr marL="9525" marR="9525" marT="9525" marB="0" anchor="b"/>
                </a:tc>
                <a:tc>
                  <a:txBody>
                    <a:bodyPr/>
                    <a:lstStyle/>
                    <a:p>
                      <a:pPr algn="ctr" fontAlgn="b"/>
                      <a:r>
                        <a:rPr lang="en-US" sz="2000" u="none" strike="noStrike">
                          <a:effectLst/>
                        </a:rPr>
                        <a:t>0.5</a:t>
                      </a:r>
                      <a:endParaRPr lang="en-US" sz="20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05112809"/>
                  </a:ext>
                </a:extLst>
              </a:tr>
              <a:tr h="203200">
                <a:tc>
                  <a:txBody>
                    <a:bodyPr/>
                    <a:lstStyle/>
                    <a:p>
                      <a:pPr algn="l" fontAlgn="b"/>
                      <a:r>
                        <a:rPr lang="en-US" sz="2000" u="none" strike="noStrike" dirty="0">
                          <a:effectLst/>
                        </a:rPr>
                        <a:t>Hot dog</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u="none" strike="noStrike" dirty="0">
                          <a:effectLst/>
                        </a:rPr>
                        <a:t>0.75</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b="0" i="0" u="none" strike="noStrike" dirty="0">
                          <a:solidFill>
                            <a:srgbClr val="000000"/>
                          </a:solidFill>
                          <a:effectLst/>
                          <a:latin typeface="Aptos Narrow" panose="020B0004020202020204" pitchFamily="34" charset="0"/>
                        </a:rPr>
                        <a:t>0.1</a:t>
                      </a:r>
                    </a:p>
                  </a:txBody>
                  <a:tcPr marL="9525" marR="9525" marT="9525" marB="0" anchor="b"/>
                </a:tc>
                <a:tc>
                  <a:txBody>
                    <a:bodyPr/>
                    <a:lstStyle/>
                    <a:p>
                      <a:pPr algn="ctr" fontAlgn="b"/>
                      <a:r>
                        <a:rPr lang="en-US" sz="2000" u="none" strike="noStrike">
                          <a:effectLst/>
                        </a:rPr>
                        <a:t>0.2</a:t>
                      </a:r>
                      <a:endParaRPr lang="en-US" sz="20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11815184"/>
                  </a:ext>
                </a:extLst>
              </a:tr>
              <a:tr h="203200">
                <a:tc>
                  <a:txBody>
                    <a:bodyPr/>
                    <a:lstStyle/>
                    <a:p>
                      <a:pPr algn="l" fontAlgn="b"/>
                      <a:r>
                        <a:rPr lang="en-US" sz="2000" u="none" strike="noStrike" dirty="0">
                          <a:effectLst/>
                        </a:rPr>
                        <a:t>French fries</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u="none" strike="noStrike" dirty="0">
                          <a:effectLst/>
                        </a:rPr>
                        <a:t>0.25</a:t>
                      </a:r>
                      <a:endParaRPr lang="en-US" sz="20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2000" b="0" i="0" u="none" strike="noStrike" dirty="0">
                          <a:solidFill>
                            <a:srgbClr val="000000"/>
                          </a:solidFill>
                          <a:effectLst/>
                          <a:latin typeface="Aptos Narrow" panose="020B0004020202020204" pitchFamily="34" charset="0"/>
                        </a:rPr>
                        <a:t>0.05</a:t>
                      </a:r>
                    </a:p>
                  </a:txBody>
                  <a:tcPr marL="9525" marR="9525" marT="9525" marB="0" anchor="b"/>
                </a:tc>
                <a:tc>
                  <a:txBody>
                    <a:bodyPr/>
                    <a:lstStyle/>
                    <a:p>
                      <a:pPr algn="ctr" fontAlgn="b"/>
                      <a:r>
                        <a:rPr lang="en-US" sz="2000" u="none" strike="noStrike" dirty="0">
                          <a:effectLst/>
                        </a:rPr>
                        <a:t>0.1</a:t>
                      </a: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63403061"/>
                  </a:ext>
                </a:extLst>
              </a:tr>
            </a:tbl>
          </a:graphicData>
        </a:graphic>
      </p:graphicFrame>
    </p:spTree>
    <p:extLst>
      <p:ext uri="{BB962C8B-B14F-4D97-AF65-F5344CB8AC3E}">
        <p14:creationId xmlns:p14="http://schemas.microsoft.com/office/powerpoint/2010/main" val="2935031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CE0BF-A593-D9E3-3F1F-EC964E8FE54A}"/>
              </a:ext>
            </a:extLst>
          </p:cNvPr>
          <p:cNvSpPr>
            <a:spLocks noGrp="1"/>
          </p:cNvSpPr>
          <p:nvPr>
            <p:ph type="title"/>
          </p:nvPr>
        </p:nvSpPr>
        <p:spPr/>
        <p:txBody>
          <a:bodyPr/>
          <a:lstStyle/>
          <a:p>
            <a:r>
              <a:rPr lang="en-US" dirty="0"/>
              <a:t>Ripley’s restaurant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0755F0-8F5C-9D11-7EBF-F35137DBE84B}"/>
                  </a:ext>
                </a:extLst>
              </p:cNvPr>
              <p:cNvSpPr>
                <a:spLocks noGrp="1"/>
              </p:cNvSpPr>
              <p:nvPr>
                <p:ph idx="1"/>
              </p:nvPr>
            </p:nvSpPr>
            <p:spPr>
              <a:xfrm>
                <a:off x="838200" y="1310185"/>
                <a:ext cx="10515600" cy="4866778"/>
              </a:xfrm>
            </p:spPr>
            <p:txBody>
              <a:bodyPr>
                <a:normAutofit fontScale="85000" lnSpcReduction="20000"/>
              </a:bodyPr>
              <a:lstStyle/>
              <a:p>
                <a:r>
                  <a:rPr lang="en-US" dirty="0"/>
                  <a:t>Variables: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r>
                  <a:rPr lang="en-US" dirty="0"/>
                  <a:t>: production of goods (items) – </a:t>
                </a:r>
                <a:r>
                  <a:rPr lang="en-US" b="1" i="1" dirty="0"/>
                  <a:t>non-negative</a:t>
                </a:r>
              </a:p>
              <a:p>
                <a:pPr lvl="1"/>
                <a14:m>
                  <m:oMath xmlns:m="http://schemas.openxmlformats.org/officeDocument/2006/math">
                    <m:r>
                      <a:rPr lang="en-US" b="0" i="1" smtClean="0">
                        <a:latin typeface="Cambria Math" panose="02040503050406030204" pitchFamily="18" charset="0"/>
                      </a:rPr>
                      <m:t>𝜋</m:t>
                    </m:r>
                  </m:oMath>
                </a14:m>
                <a:r>
                  <a:rPr lang="en-US" dirty="0"/>
                  <a:t>: profit ($s)</a:t>
                </a:r>
              </a:p>
              <a:p>
                <a:pPr lvl="1"/>
                <a14:m>
                  <m:oMath xmlns:m="http://schemas.openxmlformats.org/officeDocument/2006/math">
                    <m:r>
                      <a:rPr lang="en-US" b="0" i="1" smtClean="0">
                        <a:latin typeface="Cambria Math" panose="02040503050406030204" pitchFamily="18" charset="0"/>
                      </a:rPr>
                      <m:t>𝜆</m:t>
                    </m:r>
                  </m:oMath>
                </a14:m>
                <a:r>
                  <a:rPr lang="en-US" dirty="0"/>
                  <a:t>: shadow value of an additional hour</a:t>
                </a:r>
              </a:p>
              <a:p>
                <a:endParaRPr lang="en-US" dirty="0"/>
              </a:p>
              <a:p>
                <a:r>
                  <a:rPr lang="en-US" dirty="0"/>
                  <a:t>Objective function is to maximize profit:</a:t>
                </a:r>
              </a:p>
              <a:p>
                <a:endParaRPr lang="en-US" sz="1100"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mr>
                      </m:m>
                      <m:r>
                        <a:rPr lang="en-US" b="0" i="1" smtClean="0">
                          <a:latin typeface="Cambria Math" panose="02040503050406030204" pitchFamily="18" charset="0"/>
                        </a:rPr>
                        <m:t>  </m:t>
                      </m:r>
                      <m:r>
                        <a:rPr lang="en-US" b="0" i="1" smtClean="0">
                          <a:latin typeface="Cambria Math" panose="02040503050406030204" pitchFamily="18" charset="0"/>
                        </a:rPr>
                        <m:t>𝜋</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 </m:t>
                      </m:r>
                    </m:oMath>
                  </m:oMathPara>
                </a14:m>
                <a:endParaRPr lang="en-US" dirty="0"/>
              </a:p>
              <a:p>
                <a:r>
                  <a:rPr lang="en-US" dirty="0"/>
                  <a:t>Subject to (constrained by) the weekly hourly limit,</a:t>
                </a:r>
                <a:r>
                  <a:rPr lang="en-US" b="1" dirty="0"/>
                  <a:t> </a:t>
                </a:r>
              </a:p>
              <a:p>
                <a:pPr marL="0" indent="0">
                  <a:buNone/>
                </a:pPr>
                <a:r>
                  <a:rPr lang="en-US" b="1" dirty="0"/>
                  <a:t>    now with complementary variable </a:t>
                </a:r>
                <a14:m>
                  <m:oMath xmlns:m="http://schemas.openxmlformats.org/officeDocument/2006/math">
                    <m:r>
                      <a:rPr lang="en-US" b="1" i="1" smtClean="0">
                        <a:latin typeface="Cambria Math" panose="02040503050406030204" pitchFamily="18" charset="0"/>
                      </a:rPr>
                      <m:t>𝝀</m:t>
                    </m:r>
                  </m:oMath>
                </a14:m>
                <a:r>
                  <a:rPr lang="en-US" dirty="0"/>
                  <a:t>:</a:t>
                </a:r>
              </a:p>
              <a:p>
                <a:endParaRPr lang="en-US" sz="800" dirty="0"/>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h</m:t>
                              </m:r>
                            </m:e>
                            <m:sub>
                              <m:r>
                                <a:rPr lang="en-US" b="0" i="1" dirty="0" smtClean="0">
                                  <a:latin typeface="Cambria Math" panose="02040503050406030204" pitchFamily="18" charset="0"/>
                                </a:rPr>
                                <m:t>𝑖</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e>
                      </m:nary>
                      <m:r>
                        <a:rPr lang="en-US" b="1" i="1" dirty="0" smtClean="0">
                          <a:latin typeface="Cambria Math" panose="02040503050406030204" pitchFamily="18" charset="0"/>
                        </a:rPr>
                        <m:t>⊥</m:t>
                      </m:r>
                      <m:r>
                        <a:rPr lang="en-US" b="1" i="1" dirty="0" smtClean="0">
                          <a:latin typeface="Cambria Math" panose="02040503050406030204" pitchFamily="18" charset="0"/>
                        </a:rPr>
                        <m:t>𝝀</m:t>
                      </m:r>
                    </m:oMath>
                  </m:oMathPara>
                </a14:m>
                <a:endParaRPr lang="en-US" b="1" dirty="0"/>
              </a:p>
            </p:txBody>
          </p:sp>
        </mc:Choice>
        <mc:Fallback xmlns="">
          <p:sp>
            <p:nvSpPr>
              <p:cNvPr id="3" name="Content Placeholder 2">
                <a:extLst>
                  <a:ext uri="{FF2B5EF4-FFF2-40B4-BE49-F238E27FC236}">
                    <a16:creationId xmlns:a16="http://schemas.microsoft.com/office/drawing/2014/main" id="{7E0755F0-8F5C-9D11-7EBF-F35137DBE84B}"/>
                  </a:ext>
                </a:extLst>
              </p:cNvPr>
              <p:cNvSpPr>
                <a:spLocks noGrp="1" noRot="1" noChangeAspect="1" noMove="1" noResize="1" noEditPoints="1" noAdjustHandles="1" noChangeArrowheads="1" noChangeShapeType="1" noTextEdit="1"/>
              </p:cNvSpPr>
              <p:nvPr>
                <p:ph idx="1"/>
              </p:nvPr>
            </p:nvSpPr>
            <p:spPr>
              <a:xfrm>
                <a:off x="838200" y="1310185"/>
                <a:ext cx="10515600" cy="4866778"/>
              </a:xfrm>
              <a:blipFill>
                <a:blip r:embed="rId2"/>
                <a:stretch>
                  <a:fillRect l="-844" t="-2865" b="-34896"/>
                </a:stretch>
              </a:blipFill>
            </p:spPr>
            <p:txBody>
              <a:bodyPr/>
              <a:lstStyle/>
              <a:p>
                <a:r>
                  <a:rPr lang="en-US">
                    <a:noFill/>
                  </a:rPr>
                  <a:t> </a:t>
                </a:r>
              </a:p>
            </p:txBody>
          </p:sp>
        </mc:Fallback>
      </mc:AlternateContent>
    </p:spTree>
    <p:extLst>
      <p:ext uri="{BB962C8B-B14F-4D97-AF65-F5344CB8AC3E}">
        <p14:creationId xmlns:p14="http://schemas.microsoft.com/office/powerpoint/2010/main" val="1942633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B20D7-BCC8-11C0-3DFB-DA64CA1E7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5F885-7D8B-CEC1-4595-5383ABBF56F2}"/>
              </a:ext>
            </a:extLst>
          </p:cNvPr>
          <p:cNvSpPr>
            <a:spLocks noGrp="1"/>
          </p:cNvSpPr>
          <p:nvPr>
            <p:ph type="title"/>
          </p:nvPr>
        </p:nvSpPr>
        <p:spPr/>
        <p:txBody>
          <a:bodyPr/>
          <a:lstStyle/>
          <a:p>
            <a:r>
              <a:rPr lang="en-US" dirty="0"/>
              <a:t>Ripley’s restaurant – the dual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8A3EB3-2A4D-C422-EF89-1AED424A5451}"/>
                  </a:ext>
                </a:extLst>
              </p:cNvPr>
              <p:cNvSpPr>
                <a:spLocks noGrp="1"/>
              </p:cNvSpPr>
              <p:nvPr>
                <p:ph idx="1"/>
              </p:nvPr>
            </p:nvSpPr>
            <p:spPr>
              <a:xfrm>
                <a:off x="838200" y="1310185"/>
                <a:ext cx="10515600" cy="4866778"/>
              </a:xfrm>
            </p:spPr>
            <p:txBody>
              <a:bodyPr>
                <a:normAutofit/>
              </a:bodyPr>
              <a:lstStyle/>
              <a:p>
                <a:r>
                  <a:rPr lang="en-US" dirty="0"/>
                  <a:t>Variables: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r>
                  <a:rPr lang="en-US" dirty="0"/>
                  <a:t>: production of goods (items) – </a:t>
                </a:r>
                <a:r>
                  <a:rPr lang="en-US" b="1" i="1" dirty="0"/>
                  <a:t>non-negative</a:t>
                </a:r>
              </a:p>
              <a:p>
                <a:pPr lvl="1"/>
                <a14:m>
                  <m:oMath xmlns:m="http://schemas.openxmlformats.org/officeDocument/2006/math">
                    <m:r>
                      <a:rPr lang="en-US" b="0" i="1" smtClean="0">
                        <a:latin typeface="Cambria Math" panose="02040503050406030204" pitchFamily="18" charset="0"/>
                      </a:rPr>
                      <m:t>𝜋</m:t>
                    </m:r>
                  </m:oMath>
                </a14:m>
                <a:r>
                  <a:rPr lang="en-US" dirty="0"/>
                  <a:t>: profit ($s)</a:t>
                </a:r>
              </a:p>
              <a:p>
                <a:pPr lvl="1"/>
                <a14:m>
                  <m:oMath xmlns:m="http://schemas.openxmlformats.org/officeDocument/2006/math">
                    <m:r>
                      <a:rPr lang="en-US" b="0" i="1" smtClean="0">
                        <a:latin typeface="Cambria Math" panose="02040503050406030204" pitchFamily="18" charset="0"/>
                      </a:rPr>
                      <m:t>𝜆</m:t>
                    </m:r>
                  </m:oMath>
                </a14:m>
                <a:r>
                  <a:rPr lang="en-US" dirty="0"/>
                  <a:t>: shadow value of an additional hour</a:t>
                </a:r>
              </a:p>
              <a:p>
                <a:endParaRPr lang="en-US" dirty="0"/>
              </a:p>
              <a:p>
                <a:r>
                  <a:rPr lang="en-US" dirty="0"/>
                  <a:t>Objective function is to minimize costs: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𝑖𝑛</m:t>
                            </m:r>
                          </m:e>
                        </m:mr>
                        <m:mr>
                          <m:e>
                            <m:r>
                              <a:rPr lang="en-US" b="0" i="1" smtClean="0">
                                <a:latin typeface="Cambria Math" panose="02040503050406030204" pitchFamily="18" charset="0"/>
                              </a:rPr>
                              <m:t>𝜆</m:t>
                            </m:r>
                          </m:e>
                        </m:mr>
                      </m:m>
                      <m:r>
                        <a:rPr lang="en-US" b="0" i="1" smtClean="0">
                          <a:latin typeface="Cambria Math" panose="02040503050406030204" pitchFamily="18" charset="0"/>
                        </a:rPr>
                        <m:t>  </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oMath>
                  </m:oMathPara>
                </a14:m>
                <a:endParaRPr lang="en-US" dirty="0"/>
              </a:p>
              <a:p>
                <a:endParaRPr lang="en-US" dirty="0"/>
              </a:p>
              <a:p>
                <a:r>
                  <a:rPr lang="en-US" dirty="0"/>
                  <a:t>Subject to the zero profit condition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𝜆</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a:p>
                <a:endParaRPr lang="en-US" sz="800" dirty="0"/>
              </a:p>
              <a:p>
                <a:pPr marL="0" indent="0">
                  <a:buNone/>
                </a:pPr>
                <a:endParaRPr lang="en-US" b="1" dirty="0"/>
              </a:p>
            </p:txBody>
          </p:sp>
        </mc:Choice>
        <mc:Fallback xmlns="">
          <p:sp>
            <p:nvSpPr>
              <p:cNvPr id="3" name="Content Placeholder 2">
                <a:extLst>
                  <a:ext uri="{FF2B5EF4-FFF2-40B4-BE49-F238E27FC236}">
                    <a16:creationId xmlns:a16="http://schemas.microsoft.com/office/drawing/2014/main" id="{148A3EB3-2A4D-C422-EF89-1AED424A5451}"/>
                  </a:ext>
                </a:extLst>
              </p:cNvPr>
              <p:cNvSpPr>
                <a:spLocks noGrp="1" noRot="1" noChangeAspect="1" noMove="1" noResize="1" noEditPoints="1" noAdjustHandles="1" noChangeArrowheads="1" noChangeShapeType="1" noTextEdit="1"/>
              </p:cNvSpPr>
              <p:nvPr>
                <p:ph idx="1"/>
              </p:nvPr>
            </p:nvSpPr>
            <p:spPr>
              <a:xfrm>
                <a:off x="838200" y="1310185"/>
                <a:ext cx="10515600" cy="4866778"/>
              </a:xfrm>
              <a:blipFill>
                <a:blip r:embed="rId2"/>
                <a:stretch>
                  <a:fillRect l="-1086" t="-2083"/>
                </a:stretch>
              </a:blipFill>
            </p:spPr>
            <p:txBody>
              <a:bodyPr/>
              <a:lstStyle/>
              <a:p>
                <a:r>
                  <a:rPr lang="en-US">
                    <a:noFill/>
                  </a:rPr>
                  <a:t> </a:t>
                </a:r>
              </a:p>
            </p:txBody>
          </p:sp>
        </mc:Fallback>
      </mc:AlternateContent>
    </p:spTree>
    <p:extLst>
      <p:ext uri="{BB962C8B-B14F-4D97-AF65-F5344CB8AC3E}">
        <p14:creationId xmlns:p14="http://schemas.microsoft.com/office/powerpoint/2010/main" val="3064522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B949-C6CE-7CE6-9FA4-F5BCEFC16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4182A-D087-1899-C7D6-73BC60B7425E}"/>
              </a:ext>
            </a:extLst>
          </p:cNvPr>
          <p:cNvSpPr>
            <a:spLocks noGrp="1"/>
          </p:cNvSpPr>
          <p:nvPr>
            <p:ph type="title"/>
          </p:nvPr>
        </p:nvSpPr>
        <p:spPr>
          <a:xfrm>
            <a:off x="0" y="-190500"/>
            <a:ext cx="10515600" cy="1325563"/>
          </a:xfrm>
        </p:spPr>
        <p:txBody>
          <a:bodyPr/>
          <a:lstStyle/>
          <a:p>
            <a:r>
              <a:rPr lang="en-US" dirty="0"/>
              <a:t>What about our simple electricity model?</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AC43ACE-7E89-7617-DB74-5F15D4FE5577}"/>
                  </a:ext>
                </a:extLst>
              </p:cNvPr>
              <p:cNvSpPr>
                <a:spLocks noGrp="1"/>
              </p:cNvSpPr>
              <p:nvPr>
                <p:ph idx="1"/>
              </p:nvPr>
            </p:nvSpPr>
            <p:spPr>
              <a:xfrm>
                <a:off x="838200" y="482600"/>
                <a:ext cx="10515600" cy="6375400"/>
              </a:xfrm>
            </p:spPr>
            <p:txBody>
              <a:bodyPr>
                <a:normAutofit fontScale="62500" lnSpcReduction="20000"/>
              </a:bodyPr>
              <a:lstStyle/>
              <a:p>
                <a:pPr marL="0" indent="0">
                  <a:lnSpc>
                    <a:spcPct val="170000"/>
                  </a:lnSpc>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mr>
                      </m:m>
                      <m:r>
                        <a:rPr lang="en-US" b="0" i="1" smtClean="0">
                          <a:latin typeface="Cambria Math" panose="02040503050406030204" pitchFamily="18" charset="0"/>
                        </a:rPr>
                        <m:t>    </m:t>
                      </m:r>
                      <m:r>
                        <a:rPr lang="en-US" b="0" i="1" smtClean="0">
                          <a:latin typeface="Cambria Math" panose="02040503050406030204" pitchFamily="18" charset="0"/>
                        </a:rPr>
                        <m:t>𝑍</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r>
                            <a:rPr lang="en-US" b="0" i="1" smtClean="0">
                              <a:latin typeface="Cambria Math" panose="02040503050406030204" pitchFamily="18" charset="0"/>
                            </a:rPr>
                            <m:t>h</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d>
                    </m:oMath>
                  </m:oMathPara>
                </a14:m>
                <a:endParaRPr lang="en-US" dirty="0"/>
              </a:p>
              <a:p>
                <a:pPr marL="0" indent="0">
                  <a:lnSpc>
                    <a:spcPct val="170000"/>
                  </a:lnSpc>
                  <a:buNone/>
                </a:pPr>
                <a:r>
                  <a:rPr lang="en-US" dirty="0"/>
                  <a:t>s.t. </a:t>
                </a:r>
              </a:p>
              <a:p>
                <a:pPr marL="0" indent="0">
                  <a:lnSpc>
                    <a:spcPct val="17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h</m:t>
                          </m:r>
                        </m:sub>
                      </m:sSub>
                      <m:r>
                        <a:rPr lang="en-US" b="0" i="1" smtClean="0">
                          <a:latin typeface="Cambria Math" panose="02040503050406030204" pitchFamily="18" charset="0"/>
                        </a:rPr>
                        <m:t>   ∀</m:t>
                      </m:r>
                      <m:r>
                        <a:rPr lang="en-US" b="0" i="1" smtClean="0">
                          <a:latin typeface="Cambria Math" panose="02040503050406030204" pitchFamily="18" charset="0"/>
                        </a:rPr>
                        <m:t>h</m:t>
                      </m:r>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Ψ</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r>
                        <m:rPr>
                          <m:sty m:val="p"/>
                        </m:rPr>
                        <a:rPr lang="en-US" i="0" smtClean="0">
                          <a:latin typeface="Cambria Math" panose="02040503050406030204" pitchFamily="18" charset="0"/>
                        </a:rPr>
                        <m:t>Φ</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𝑣</m:t>
                              </m:r>
                            </m:sub>
                            <m:sup/>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sub>
                              </m:sSub>
                            </m:e>
                          </m:nary>
                        </m:den>
                      </m:f>
                    </m:oMath>
                  </m:oMathPara>
                </a14:m>
                <a:endParaRPr lang="en-US" dirty="0"/>
              </a:p>
              <a:p>
                <a:pPr marL="0" indent="0">
                  <a:buNone/>
                </a:pPr>
                <a:endParaRPr lang="en-US" dirty="0"/>
              </a:p>
            </p:txBody>
          </p:sp>
        </mc:Choice>
        <mc:Fallback xmlns="">
          <p:sp>
            <p:nvSpPr>
              <p:cNvPr id="5" name="Content Placeholder 4">
                <a:extLst>
                  <a:ext uri="{FF2B5EF4-FFF2-40B4-BE49-F238E27FC236}">
                    <a16:creationId xmlns:a16="http://schemas.microsoft.com/office/drawing/2014/main" id="{AAC43ACE-7E89-7617-DB74-5F15D4FE5577}"/>
                  </a:ext>
                </a:extLst>
              </p:cNvPr>
              <p:cNvSpPr>
                <a:spLocks noGrp="1" noRot="1" noChangeAspect="1" noMove="1" noResize="1" noEditPoints="1" noAdjustHandles="1" noChangeArrowheads="1" noChangeShapeType="1" noTextEdit="1"/>
              </p:cNvSpPr>
              <p:nvPr>
                <p:ph idx="1"/>
              </p:nvPr>
            </p:nvSpPr>
            <p:spPr>
              <a:xfrm>
                <a:off x="838200" y="482600"/>
                <a:ext cx="10515600" cy="6375400"/>
              </a:xfrm>
              <a:blipFill>
                <a:blip r:embed="rId2"/>
                <a:stretch>
                  <a:fillRect l="-603" t="-6958"/>
                </a:stretch>
              </a:blipFill>
            </p:spPr>
            <p:txBody>
              <a:bodyPr/>
              <a:lstStyle/>
              <a:p>
                <a:r>
                  <a:rPr lang="en-US">
                    <a:noFill/>
                  </a:rPr>
                  <a:t> </a:t>
                </a:r>
              </a:p>
            </p:txBody>
          </p:sp>
        </mc:Fallback>
      </mc:AlternateContent>
    </p:spTree>
    <p:extLst>
      <p:ext uri="{BB962C8B-B14F-4D97-AF65-F5344CB8AC3E}">
        <p14:creationId xmlns:p14="http://schemas.microsoft.com/office/powerpoint/2010/main" val="3257172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941D3F-E657-8BE5-E267-BF89B92051D7}"/>
                  </a:ext>
                </a:extLst>
              </p:cNvPr>
              <p:cNvSpPr>
                <a:spLocks noGrp="1"/>
              </p:cNvSpPr>
              <p:nvPr>
                <p:ph idx="1"/>
              </p:nvPr>
            </p:nvSpPr>
            <p:spPr>
              <a:xfrm>
                <a:off x="88900" y="277812"/>
                <a:ext cx="5765800" cy="6302375"/>
              </a:xfrm>
            </p:spPr>
            <p:txBody>
              <a:bodyPr>
                <a:normAutofit fontScale="62500" lnSpcReduction="20000"/>
              </a:bodyPr>
              <a:lstStyle/>
              <a:p>
                <a:pPr marL="0" indent="0">
                  <a:lnSpc>
                    <a:spcPct val="170000"/>
                  </a:lnSpc>
                  <a:buNone/>
                </a:pPr>
                <a:r>
                  <a:rPr lang="en-US" dirty="0"/>
                  <a:t>Primal:</a:t>
                </a:r>
              </a:p>
              <a:p>
                <a:pPr marL="0" indent="0">
                  <a:lnSpc>
                    <a:spcPct val="170000"/>
                  </a:lnSpc>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mr>
                      </m:m>
                      <m:r>
                        <a:rPr lang="en-US" b="0" i="1" smtClean="0">
                          <a:latin typeface="Cambria Math" panose="02040503050406030204" pitchFamily="18" charset="0"/>
                        </a:rPr>
                        <m:t>    </m:t>
                      </m:r>
                      <m:r>
                        <a:rPr lang="en-US" b="0" i="1" smtClean="0">
                          <a:latin typeface="Cambria Math" panose="02040503050406030204" pitchFamily="18" charset="0"/>
                        </a:rPr>
                        <m:t>𝑍</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r>
                            <a:rPr lang="en-US" b="0" i="1" smtClean="0">
                              <a:latin typeface="Cambria Math" panose="02040503050406030204" pitchFamily="18" charset="0"/>
                            </a:rPr>
                            <m:t>h</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d>
                    </m:oMath>
                  </m:oMathPara>
                </a14:m>
                <a:endParaRPr lang="en-US" dirty="0"/>
              </a:p>
              <a:p>
                <a:pPr marL="0" indent="0">
                  <a:lnSpc>
                    <a:spcPct val="170000"/>
                  </a:lnSpc>
                  <a:buNone/>
                </a:pPr>
                <a:r>
                  <a:rPr lang="en-US" dirty="0"/>
                  <a:t>s.t. </a:t>
                </a:r>
              </a:p>
              <a:p>
                <a:pPr marL="0" indent="0">
                  <a:lnSpc>
                    <a:spcPct val="17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up>
                          <m:r>
                            <a:rPr lang="en-US" b="0" i="1" smtClean="0">
                              <a:latin typeface="Cambria Math" panose="02040503050406030204" pitchFamily="18" charset="0"/>
                            </a:rPr>
                            <m:t>𝑘</m:t>
                          </m:r>
                        </m:sup>
                      </m:sSubSup>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h</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h</m:t>
                          </m:r>
                        </m:sub>
                        <m:sup>
                          <m:r>
                            <a:rPr lang="en-US" b="0" i="1" smtClean="0">
                              <a:latin typeface="Cambria Math" panose="02040503050406030204" pitchFamily="18" charset="0"/>
                            </a:rPr>
                            <m:t>𝑑</m:t>
                          </m:r>
                        </m:sup>
                      </m:sSubSup>
                      <m:r>
                        <a:rPr lang="en-US" b="0" i="1" smtClean="0">
                          <a:latin typeface="Cambria Math" panose="02040503050406030204" pitchFamily="18" charset="0"/>
                        </a:rPr>
                        <m:t>   ∀</m:t>
                      </m:r>
                      <m:r>
                        <a:rPr lang="en-US" b="0" i="1" smtClean="0">
                          <a:latin typeface="Cambria Math" panose="02040503050406030204" pitchFamily="18" charset="0"/>
                        </a:rPr>
                        <m:t>h</m:t>
                      </m:r>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Ψ</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m:rPr>
                              <m:sty m:val="p"/>
                            </m:rPr>
                            <a:rPr lang="en-US" b="0" i="0" smtClean="0">
                              <a:latin typeface="Cambria Math" panose="02040503050406030204" pitchFamily="18" charset="0"/>
                            </a:rPr>
                            <m:t>Ψ</m:t>
                          </m:r>
                        </m:sup>
                      </m:sSup>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r>
                        <m:rPr>
                          <m:sty m:val="p"/>
                        </m:rPr>
                        <a:rPr lang="en-US" i="0" smtClean="0">
                          <a:latin typeface="Cambria Math" panose="02040503050406030204" pitchFamily="18" charset="0"/>
                        </a:rPr>
                        <m:t>Φ</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𝑣</m:t>
                              </m:r>
                            </m:sub>
                            <m:sup/>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sub>
                              </m:sSub>
                            </m:e>
                          </m:nary>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m:rPr>
                              <m:sty m:val="p"/>
                            </m:rPr>
                            <a:rPr lang="en-US" b="0" i="0" smtClean="0">
                              <a:latin typeface="Cambria Math" panose="02040503050406030204" pitchFamily="18" charset="0"/>
                            </a:rPr>
                            <m:t>Φ</m:t>
                          </m:r>
                        </m:sup>
                      </m:sSup>
                    </m:oMath>
                  </m:oMathPara>
                </a14:m>
                <a:endParaRPr lang="en-US" dirty="0"/>
              </a:p>
              <a:p>
                <a:pPr marL="0" indent="0">
                  <a:lnSpc>
                    <a:spcPct val="170000"/>
                  </a:lnSpc>
                  <a:buNone/>
                </a:pPr>
                <a:endParaRPr lang="en-US" dirty="0"/>
              </a:p>
              <a:p>
                <a:pPr marL="0" indent="0">
                  <a:lnSpc>
                    <a:spcPct val="170000"/>
                  </a:lnSpc>
                  <a:buNone/>
                </a:pPr>
                <a:endParaRPr lang="en-US" dirty="0"/>
              </a:p>
            </p:txBody>
          </p:sp>
        </mc:Choice>
        <mc:Fallback xmlns="">
          <p:sp>
            <p:nvSpPr>
              <p:cNvPr id="3" name="Content Placeholder 2">
                <a:extLst>
                  <a:ext uri="{FF2B5EF4-FFF2-40B4-BE49-F238E27FC236}">
                    <a16:creationId xmlns:a16="http://schemas.microsoft.com/office/drawing/2014/main" id="{7A941D3F-E657-8BE5-E267-BF89B92051D7}"/>
                  </a:ext>
                </a:extLst>
              </p:cNvPr>
              <p:cNvSpPr>
                <a:spLocks noGrp="1" noRot="1" noChangeAspect="1" noMove="1" noResize="1" noEditPoints="1" noAdjustHandles="1" noChangeArrowheads="1" noChangeShapeType="1" noTextEdit="1"/>
              </p:cNvSpPr>
              <p:nvPr>
                <p:ph idx="1"/>
              </p:nvPr>
            </p:nvSpPr>
            <p:spPr>
              <a:xfrm>
                <a:off x="88900" y="277812"/>
                <a:ext cx="5765800" cy="6302375"/>
              </a:xfrm>
              <a:blipFill>
                <a:blip r:embed="rId2"/>
                <a:stretch>
                  <a:fillRect l="-1101" t="-806" b="-68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178CE8C-DC89-AF2F-F633-04170A8F096C}"/>
                  </a:ext>
                </a:extLst>
              </p:cNvPr>
              <p:cNvSpPr txBox="1">
                <a:spLocks/>
              </p:cNvSpPr>
              <p:nvPr/>
            </p:nvSpPr>
            <p:spPr>
              <a:xfrm>
                <a:off x="6096000" y="277811"/>
                <a:ext cx="6096000" cy="630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Font typeface="Arial" panose="020B0604020202020204" pitchFamily="34" charset="0"/>
                  <a:buNone/>
                </a:pPr>
                <a:r>
                  <a:rPr lang="en-US" sz="1800" dirty="0"/>
                  <a:t>Dual:</a:t>
                </a:r>
              </a:p>
              <a:p>
                <a:pPr marL="0" indent="0">
                  <a:lnSpc>
                    <a:spcPct val="120000"/>
                  </a:lnSpc>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800" i="1" smtClean="0">
                              <a:latin typeface="Cambria Math" panose="02040503050406030204" pitchFamily="18" charset="0"/>
                            </a:rPr>
                          </m:ctrlPr>
                        </m:mPr>
                        <m:mr>
                          <m:e>
                            <m:r>
                              <m:rPr>
                                <m:brk m:alnAt="7"/>
                              </m:rPr>
                              <a:rPr lang="en-US" sz="1800" i="1" smtClean="0">
                                <a:latin typeface="Cambria Math" panose="02040503050406030204" pitchFamily="18" charset="0"/>
                              </a:rPr>
                              <m:t>𝑀</m:t>
                            </m:r>
                            <m:r>
                              <a:rPr lang="en-US" sz="1800" b="0" i="1" smtClean="0">
                                <a:latin typeface="Cambria Math" panose="02040503050406030204" pitchFamily="18" charset="0"/>
                              </a:rPr>
                              <m:t>𝑎𝑥</m:t>
                            </m:r>
                          </m:e>
                        </m:mr>
                        <m:mr>
                          <m:e>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𝜆</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up>
                                <m:r>
                                  <a:rPr lang="en-US" sz="1800" b="0" i="1" smtClean="0">
                                    <a:latin typeface="Cambria Math" panose="02040503050406030204" pitchFamily="18" charset="0"/>
                                  </a:rPr>
                                  <m:t>𝑘</m:t>
                                </m:r>
                              </m:sup>
                            </m:sSubSup>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𝜆</m:t>
                                </m:r>
                              </m:e>
                              <m:sub>
                                <m:r>
                                  <a:rPr lang="en-US" sz="1800" b="0" i="1" smtClean="0">
                                    <a:latin typeface="Cambria Math" panose="02040503050406030204" pitchFamily="18" charset="0"/>
                                  </a:rPr>
                                  <m:t>h</m:t>
                                </m:r>
                              </m:sub>
                              <m:sup>
                                <m:r>
                                  <a:rPr lang="en-US" sz="1800" b="0" i="1" smtClean="0">
                                    <a:latin typeface="Cambria Math" panose="02040503050406030204" pitchFamily="18" charset="0"/>
                                  </a:rPr>
                                  <m:t>𝑑</m:t>
                                </m:r>
                              </m:sup>
                            </m:sSub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Ψ</m:t>
                                </m:r>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Φ</m:t>
                                </m:r>
                              </m:sup>
                            </m:sSup>
                          </m:e>
                        </m:mr>
                      </m:m>
                      <m:r>
                        <a:rPr lang="en-US" sz="1800" i="1" smtClean="0">
                          <a:latin typeface="Cambria Math" panose="02040503050406030204" pitchFamily="18" charset="0"/>
                        </a:rPr>
                        <m:t>    </m:t>
                      </m:r>
                      <m:r>
                        <a:rPr lang="en-US" sz="1800" b="0" i="1" smtClean="0">
                          <a:latin typeface="Cambria Math" panose="02040503050406030204" pitchFamily="18" charset="0"/>
                        </a:rPr>
                        <m:t>𝜂</m:t>
                      </m:r>
                      <m:r>
                        <a:rPr lang="en-US" sz="1800" i="1" smtClean="0">
                          <a:latin typeface="Cambria Math" panose="02040503050406030204" pitchFamily="18" charset="0"/>
                        </a:rPr>
                        <m:t>=</m:t>
                      </m:r>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h</m:t>
                          </m:r>
                        </m:sub>
                        <m:sup/>
                        <m:e>
                          <m:sSubSup>
                            <m:sSubSupPr>
                              <m:ctrlPr>
                                <a:rPr lang="en-US" sz="1800" i="1">
                                  <a:latin typeface="Cambria Math" panose="02040503050406030204" pitchFamily="18" charset="0"/>
                                </a:rPr>
                              </m:ctrlPr>
                            </m:sSubSupPr>
                            <m:e>
                              <m:r>
                                <a:rPr lang="en-US" sz="1800" i="1">
                                  <a:latin typeface="Cambria Math" panose="02040503050406030204" pitchFamily="18" charset="0"/>
                                </a:rPr>
                                <m:t>𝜆</m:t>
                              </m:r>
                            </m:e>
                            <m:sub>
                              <m:r>
                                <a:rPr lang="en-US" sz="1800" i="1">
                                  <a:latin typeface="Cambria Math" panose="02040503050406030204" pitchFamily="18" charset="0"/>
                                </a:rPr>
                                <m:t>h</m:t>
                              </m:r>
                            </m:sub>
                            <m:sup>
                              <m:r>
                                <a:rPr lang="en-US" sz="1800" i="1">
                                  <a:latin typeface="Cambria Math" panose="02040503050406030204" pitchFamily="18" charset="0"/>
                                </a:rPr>
                                <m:t>𝑑</m:t>
                              </m:r>
                            </m:sup>
                          </m:sSubSup>
                          <m:sSub>
                            <m:sSubPr>
                              <m:ctrlPr>
                                <a:rPr lang="en-US" sz="1800" i="1">
                                  <a:latin typeface="Cambria Math" panose="02040503050406030204" pitchFamily="18" charset="0"/>
                                </a:rPr>
                              </m:ctrlPr>
                            </m:sSubPr>
                            <m:e>
                              <m:r>
                                <a:rPr lang="en-US" sz="1800" i="1">
                                  <a:latin typeface="Cambria Math" panose="02040503050406030204" pitchFamily="18" charset="0"/>
                                </a:rPr>
                                <m:t>𝑑</m:t>
                              </m:r>
                            </m:e>
                            <m:sub>
                              <m:r>
                                <a:rPr lang="en-US" sz="1800" i="1">
                                  <a:latin typeface="Cambria Math" panose="02040503050406030204" pitchFamily="18" charset="0"/>
                                </a:rPr>
                                <m:t>h</m:t>
                              </m:r>
                            </m:sub>
                          </m:sSub>
                        </m:e>
                      </m:nary>
                      <m:r>
                        <a:rPr lang="en-US" sz="1800" b="0" i="1" smtClean="0">
                          <a:latin typeface="Cambria Math" panose="02040503050406030204" pitchFamily="18" charset="0"/>
                        </a:rPr>
                        <m:t>                </m:t>
                      </m:r>
                    </m:oMath>
                  </m:oMathPara>
                </a14:m>
                <a:endParaRPr lang="en-US" sz="1800" b="0" i="1" dirty="0">
                  <a:latin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                                                         −</m:t>
                      </m:r>
                      <m:nary>
                        <m:naryPr>
                          <m:chr m:val="∑"/>
                          <m:supHide m:val="on"/>
                          <m:ctrlPr>
                            <a:rPr lang="en-US" sz="1800" b="0" i="1" smtClean="0">
                              <a:latin typeface="Cambria Math" panose="02040503050406030204" pitchFamily="18" charset="0"/>
                            </a:rPr>
                          </m:ctrlPr>
                        </m:naryPr>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r>
                            <a:rPr lang="en-US" sz="1800" b="0" i="1" smtClean="0">
                              <a:latin typeface="Cambria Math" panose="02040503050406030204" pitchFamily="18" charset="0"/>
                            </a:rPr>
                            <m:t>∈</m:t>
                          </m:r>
                          <m:r>
                            <a:rPr lang="en-US" sz="1800" b="0" i="1" smtClean="0">
                              <a:latin typeface="Cambria Math" panose="02040503050406030204" pitchFamily="18" charset="0"/>
                            </a:rPr>
                            <m:t>𝑣</m:t>
                          </m:r>
                        </m:sub>
                        <m:sup/>
                        <m:e>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𝜆</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up>
                              <m:r>
                                <a:rPr lang="en-US" sz="1800" b="0" i="1" smtClean="0">
                                  <a:latin typeface="Cambria Math" panose="02040503050406030204" pitchFamily="18" charset="0"/>
                                </a:rPr>
                                <m:t>𝑘</m:t>
                              </m:r>
                            </m:sup>
                          </m:sSubSup>
                          <m:sSub>
                            <m:sSubPr>
                              <m:ctrlPr>
                                <a:rPr lang="en-US" sz="1800" i="1">
                                  <a:latin typeface="Cambria Math" panose="02040503050406030204" pitchFamily="18" charset="0"/>
                                </a:rPr>
                              </m:ctrlPr>
                            </m:sSubPr>
                            <m:e>
                              <m:r>
                                <a:rPr lang="en-US" sz="1800" i="1">
                                  <a:latin typeface="Cambria Math" panose="02040503050406030204" pitchFamily="18" charset="0"/>
                                </a:rPr>
                                <m:t>𝛼</m:t>
                              </m:r>
                            </m:e>
                            <m:sub>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𝑝</m:t>
                              </m:r>
                              <m:r>
                                <a:rPr lang="en-US" sz="1800" i="1">
                                  <a:latin typeface="Cambria Math" panose="02040503050406030204" pitchFamily="18" charset="0"/>
                                </a:rPr>
                                <m:t>,</m:t>
                              </m:r>
                              <m:r>
                                <a:rPr lang="en-US" sz="1800" i="1">
                                  <a:latin typeface="Cambria Math" panose="02040503050406030204" pitchFamily="18" charset="0"/>
                                </a:rPr>
                                <m:t>h</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𝑝</m:t>
                              </m:r>
                              <m:r>
                                <a:rPr lang="en-US" sz="1800" i="1">
                                  <a:latin typeface="Cambria Math" panose="02040503050406030204" pitchFamily="18" charset="0"/>
                                </a:rPr>
                                <m:t>,</m:t>
                              </m:r>
                              <m:r>
                                <a:rPr lang="en-US" sz="1800" i="1">
                                  <a:latin typeface="Cambria Math" panose="02040503050406030204" pitchFamily="18" charset="0"/>
                                </a:rPr>
                                <m:t>h</m:t>
                              </m:r>
                            </m:sub>
                          </m:sSub>
                        </m:e>
                      </m:nary>
                    </m:oMath>
                  </m:oMathPara>
                </a14:m>
                <a:endParaRPr lang="en-US" sz="1800" b="0" dirty="0"/>
              </a:p>
              <a:p>
                <a:pPr marL="0" indent="0">
                  <a:lnSpc>
                    <a:spcPct val="12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                              −</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Ψ</m:t>
                          </m:r>
                        </m:sup>
                      </m:sSup>
                      <m:r>
                        <m:rPr>
                          <m:sty m:val="p"/>
                        </m:rPr>
                        <a:rPr lang="en-US" sz="1800" b="0" i="0" smtClean="0">
                          <a:latin typeface="Cambria Math" panose="02040503050406030204" pitchFamily="18" charset="0"/>
                        </a:rPr>
                        <m:t>Ψ</m:t>
                      </m:r>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Φ</m:t>
                          </m:r>
                        </m:sup>
                      </m:sSup>
                      <m:r>
                        <m:rPr>
                          <m:sty m:val="p"/>
                        </m:rPr>
                        <a:rPr lang="en-US" sz="1800" b="0" i="0" smtClean="0">
                          <a:latin typeface="Cambria Math" panose="02040503050406030204" pitchFamily="18" charset="0"/>
                        </a:rPr>
                        <m:t>Φ</m:t>
                      </m:r>
                    </m:oMath>
                  </m:oMathPara>
                </a14:m>
                <a:endParaRPr lang="en-US" sz="1800" dirty="0"/>
              </a:p>
              <a:p>
                <a:pPr marL="0" indent="0">
                  <a:lnSpc>
                    <a:spcPct val="170000"/>
                  </a:lnSpc>
                  <a:buNone/>
                </a:pPr>
                <a:r>
                  <a:rPr lang="en-US" sz="1800" dirty="0">
                    <a:latin typeface="Cambria Math" panose="02040503050406030204" pitchFamily="18" charset="0"/>
                  </a:rPr>
                  <a:t>s.t.</a:t>
                </a:r>
              </a:p>
              <a:p>
                <a:pPr marL="0" indent="0">
                  <a:lnSpc>
                    <a:spcPct val="170000"/>
                  </a:lnSpc>
                  <a:buNone/>
                </a:pPr>
                <a14:m>
                  <m:oMathPara xmlns:m="http://schemas.openxmlformats.org/officeDocument/2006/math">
                    <m:oMathParaPr>
                      <m:jc m:val="centerGroup"/>
                    </m:oMathParaPr>
                    <m:oMath xmlns:m="http://schemas.openxmlformats.org/officeDocument/2006/math">
                      <m:sSubSup>
                        <m:sSubSupPr>
                          <m:ctrlPr>
                            <a:rPr lang="en-US" sz="1800" i="1">
                              <a:latin typeface="Cambria Math" panose="02040503050406030204" pitchFamily="18" charset="0"/>
                            </a:rPr>
                          </m:ctrlPr>
                        </m:sSubSupPr>
                        <m:e>
                          <m:r>
                            <a:rPr lang="en-US" sz="1800" b="0" i="1" smtClean="0">
                              <a:latin typeface="Cambria Math" panose="02040503050406030204" pitchFamily="18" charset="0"/>
                            </a:rPr>
                            <m:t>      </m:t>
                          </m:r>
                          <m:r>
                            <a:rPr lang="en-US" sz="1800" i="1">
                              <a:latin typeface="Cambria Math" panose="02040503050406030204" pitchFamily="18" charset="0"/>
                            </a:rPr>
                            <m:t>𝑐</m:t>
                          </m:r>
                        </m:e>
                        <m:sub>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𝑝</m:t>
                          </m:r>
                          <m:r>
                            <a:rPr lang="en-US" sz="1800" i="1">
                              <a:latin typeface="Cambria Math" panose="02040503050406030204" pitchFamily="18" charset="0"/>
                            </a:rPr>
                            <m:t>,</m:t>
                          </m:r>
                          <m:r>
                            <a:rPr lang="en-US" sz="1800" i="1">
                              <a:latin typeface="Cambria Math" panose="02040503050406030204" pitchFamily="18" charset="0"/>
                            </a:rPr>
                            <m:t>h</m:t>
                          </m:r>
                        </m:sub>
                        <m:sup>
                          <m:r>
                            <a:rPr lang="en-US" sz="1800" i="1">
                              <a:latin typeface="Cambria Math" panose="02040503050406030204" pitchFamily="18" charset="0"/>
                            </a:rPr>
                            <m:t>𝑣</m:t>
                          </m:r>
                        </m:sup>
                      </m:sSubSup>
                      <m:r>
                        <a:rPr lang="en-US" sz="1800" i="1">
                          <a:latin typeface="Cambria Math" panose="02040503050406030204" pitchFamily="18" charset="0"/>
                        </a:rPr>
                        <m:t>+</m:t>
                      </m:r>
                      <m:sSubSup>
                        <m:sSubSupPr>
                          <m:ctrlPr>
                            <a:rPr lang="en-US" sz="1800" i="1">
                              <a:latin typeface="Cambria Math" panose="02040503050406030204" pitchFamily="18" charset="0"/>
                            </a:rPr>
                          </m:ctrlPr>
                        </m:sSubSupPr>
                        <m:e>
                          <m:r>
                            <a:rPr lang="en-US" sz="1800" i="1">
                              <a:latin typeface="Cambria Math" panose="02040503050406030204" pitchFamily="18" charset="0"/>
                            </a:rPr>
                            <m:t>𝑐</m:t>
                          </m:r>
                        </m:e>
                        <m:sub>
                          <m:r>
                            <a:rPr lang="en-US" sz="1800" i="1">
                              <a:latin typeface="Cambria Math" panose="02040503050406030204" pitchFamily="18" charset="0"/>
                            </a:rPr>
                            <m:t>𝑖</m:t>
                          </m:r>
                        </m:sub>
                        <m:sup>
                          <m:r>
                            <a:rPr lang="en-US" sz="1800" i="1">
                              <a:latin typeface="Cambria Math" panose="02040503050406030204" pitchFamily="18" charset="0"/>
                            </a:rPr>
                            <m:t>𝑓</m:t>
                          </m:r>
                        </m:sup>
                      </m:sSubSup>
                      <m:r>
                        <a:rPr lang="en-US" sz="1800" i="1">
                          <a:latin typeface="Cambria Math" panose="02040503050406030204" pitchFamily="18" charset="0"/>
                        </a:rPr>
                        <m:t>h</m:t>
                      </m:r>
                      <m:sSub>
                        <m:sSubPr>
                          <m:ctrlPr>
                            <a:rPr lang="en-US" sz="1800" i="1">
                              <a:latin typeface="Cambria Math" panose="02040503050406030204" pitchFamily="18" charset="0"/>
                            </a:rPr>
                          </m:ctrlPr>
                        </m:sSubPr>
                        <m:e>
                          <m:r>
                            <a:rPr lang="en-US" sz="1800" i="1">
                              <a:latin typeface="Cambria Math" panose="02040503050406030204" pitchFamily="18" charset="0"/>
                            </a:rPr>
                            <m:t>𝑟</m:t>
                          </m:r>
                        </m:e>
                        <m:sub>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𝑝</m:t>
                          </m:r>
                          <m:r>
                            <a:rPr lang="en-US" sz="1800" i="1">
                              <a:latin typeface="Cambria Math" panose="02040503050406030204" pitchFamily="18" charset="0"/>
                            </a:rPr>
                            <m:t>,</m:t>
                          </m:r>
                          <m:r>
                            <a:rPr lang="en-US" sz="1800" i="1">
                              <a:latin typeface="Cambria Math" panose="02040503050406030204" pitchFamily="18" charset="0"/>
                            </a:rPr>
                            <m:t>h</m:t>
                          </m:r>
                        </m:sub>
                      </m:sSub>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𝜆</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up>
                          <m:r>
                            <a:rPr lang="en-US" sz="1800" b="0" i="1" smtClean="0">
                              <a:latin typeface="Cambria Math" panose="02040503050406030204" pitchFamily="18" charset="0"/>
                            </a:rPr>
                            <m:t>𝑘</m:t>
                          </m:r>
                        </m:sup>
                      </m:sSubSup>
                    </m:oMath>
                  </m:oMathPara>
                </a14:m>
                <a:endParaRPr lang="en-US" sz="1800" b="0" i="1" dirty="0">
                  <a:latin typeface="Cambria Math" panose="02040503050406030204" pitchFamily="18" charset="0"/>
                </a:endParaRPr>
              </a:p>
              <a:p>
                <a:pPr marL="0" indent="0">
                  <a:lnSpc>
                    <a:spcPct val="17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   +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𝑒</m:t>
                          </m:r>
                        </m:e>
                        <m:sub>
                          <m:r>
                            <a:rPr lang="en-US" sz="1800" b="0" i="1" smtClean="0">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Sub>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Ψ</m:t>
                          </m:r>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Φ</m:t>
                          </m:r>
                        </m:sup>
                      </m:sSup>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𝑒</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Sub>
                          <m:r>
                            <a:rPr lang="en-US" sz="1800" b="0" i="1" smtClean="0">
                              <a:latin typeface="Cambria Math" panose="02040503050406030204" pitchFamily="18" charset="0"/>
                            </a:rPr>
                            <m:t>−</m:t>
                          </m:r>
                          <m:r>
                            <m:rPr>
                              <m:sty m:val="p"/>
                            </m:rPr>
                            <a:rPr lang="en-US" sz="1800" b="0" i="0" smtClean="0">
                              <a:latin typeface="Cambria Math" panose="02040503050406030204" pitchFamily="18" charset="0"/>
                            </a:rPr>
                            <m:t>Ψ</m:t>
                          </m:r>
                        </m:e>
                      </m:d>
                    </m:oMath>
                  </m:oMathPara>
                </a14:m>
                <a:endParaRPr lang="en-US" sz="1800" b="0" i="1" dirty="0">
                  <a:latin typeface="Cambria Math" panose="02040503050406030204" pitchFamily="18" charset="0"/>
                </a:endParaRPr>
              </a:p>
              <a:p>
                <a:pPr marL="0" indent="0">
                  <a:lnSpc>
                    <a:spcPct val="17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𝜆</m:t>
                          </m:r>
                        </m:e>
                        <m:sub>
                          <m:r>
                            <a:rPr lang="en-US" sz="1800" b="0" i="1" smtClean="0">
                              <a:latin typeface="Cambria Math" panose="02040503050406030204" pitchFamily="18" charset="0"/>
                            </a:rPr>
                            <m:t>h</m:t>
                          </m:r>
                        </m:sub>
                        <m:sup>
                          <m:r>
                            <a:rPr lang="en-US" sz="1800" b="0" i="1" smtClean="0">
                              <a:latin typeface="Cambria Math" panose="02040503050406030204" pitchFamily="18" charset="0"/>
                            </a:rPr>
                            <m:t>𝑑</m:t>
                          </m:r>
                        </m:sup>
                      </m:sSubSup>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Sub>
                      <m:r>
                        <a:rPr lang="en-US" sz="1800" i="1" smtClean="0">
                          <a:latin typeface="Cambria Math" panose="02040503050406030204" pitchFamily="18" charset="0"/>
                        </a:rPr>
                        <m:t> </m:t>
                      </m:r>
                      <m:r>
                        <a:rPr lang="en-US" sz="1800" b="0" i="1" smtClean="0">
                          <a:latin typeface="Cambria Math" panose="02040503050406030204" pitchFamily="18" charset="0"/>
                        </a:rPr>
                        <m:t>   </m:t>
                      </m:r>
                      <m:r>
                        <a:rPr lang="en-US" sz="1800" i="1" smtClean="0">
                          <a:latin typeface="Cambria Math" panose="02040503050406030204" pitchFamily="18" charset="0"/>
                        </a:rPr>
                        <m:t>∀ </m:t>
                      </m:r>
                      <m:r>
                        <a:rPr lang="en-US" sz="1800" i="1" smtClean="0">
                          <a:latin typeface="Cambria Math" panose="02040503050406030204" pitchFamily="18" charset="0"/>
                        </a:rPr>
                        <m:t>𝑠</m:t>
                      </m:r>
                      <m:r>
                        <a:rPr lang="en-US" sz="1800" i="1" smtClean="0">
                          <a:latin typeface="Cambria Math" panose="02040503050406030204" pitchFamily="18" charset="0"/>
                        </a:rPr>
                        <m:t>,</m:t>
                      </m:r>
                      <m:r>
                        <a:rPr lang="en-US" sz="1800" i="1" smtClean="0">
                          <a:latin typeface="Cambria Math" panose="02040503050406030204" pitchFamily="18" charset="0"/>
                        </a:rPr>
                        <m:t>𝑖</m:t>
                      </m:r>
                      <m:r>
                        <a:rPr lang="en-US" sz="1800" i="1" smtClean="0">
                          <a:latin typeface="Cambria Math" panose="02040503050406030204" pitchFamily="18" charset="0"/>
                        </a:rPr>
                        <m:t>,</m:t>
                      </m:r>
                      <m:r>
                        <a:rPr lang="en-US" sz="1800" i="1" smtClean="0">
                          <a:latin typeface="Cambria Math" panose="02040503050406030204" pitchFamily="18" charset="0"/>
                        </a:rPr>
                        <m:t>𝑝</m:t>
                      </m:r>
                      <m:r>
                        <a:rPr lang="en-US" sz="1800" i="1" smtClean="0">
                          <a:latin typeface="Cambria Math" panose="02040503050406030204" pitchFamily="18" charset="0"/>
                        </a:rPr>
                        <m:t>,</m:t>
                      </m:r>
                      <m:r>
                        <a:rPr lang="en-US" sz="1800" i="1" smtClean="0">
                          <a:latin typeface="Cambria Math" panose="02040503050406030204" pitchFamily="18" charset="0"/>
                        </a:rPr>
                        <m:t>h</m:t>
                      </m:r>
                      <m:r>
                        <a:rPr lang="en-US" sz="1800" i="1" smtClean="0">
                          <a:latin typeface="Cambria Math" panose="02040503050406030204" pitchFamily="18" charset="0"/>
                        </a:rPr>
                        <m:t>∈</m:t>
                      </m:r>
                      <m:r>
                        <a:rPr lang="en-US" sz="1800" i="1" smtClean="0">
                          <a:latin typeface="Cambria Math" panose="02040503050406030204" pitchFamily="18" charset="0"/>
                        </a:rPr>
                        <m:t>𝑣</m:t>
                      </m:r>
                    </m:oMath>
                  </m:oMathPara>
                </a14:m>
                <a:endParaRPr lang="en-US" sz="1800" dirty="0"/>
              </a:p>
              <a:p>
                <a:pPr marL="0" indent="0">
                  <a:lnSpc>
                    <a:spcPct val="170000"/>
                  </a:lnSpc>
                  <a:buFont typeface="Arial" panose="020B0604020202020204" pitchFamily="34" charset="0"/>
                  <a:buNone/>
                </a:pPr>
                <a:endParaRPr lang="en-US" sz="1800" dirty="0"/>
              </a:p>
              <a:p>
                <a:pPr marL="0" indent="0">
                  <a:lnSpc>
                    <a:spcPct val="170000"/>
                  </a:lnSpc>
                  <a:buFont typeface="Arial" panose="020B0604020202020204" pitchFamily="34" charset="0"/>
                  <a:buNone/>
                </a:pPr>
                <a:endParaRPr lang="en-US" sz="1800" dirty="0"/>
              </a:p>
              <a:p>
                <a:pPr marL="0" indent="0">
                  <a:lnSpc>
                    <a:spcPct val="170000"/>
                  </a:lnSpc>
                  <a:buFont typeface="Arial" panose="020B0604020202020204" pitchFamily="34" charset="0"/>
                  <a:buNone/>
                </a:pPr>
                <a:endParaRPr lang="en-US" sz="1800" dirty="0"/>
              </a:p>
            </p:txBody>
          </p:sp>
        </mc:Choice>
        <mc:Fallback xmlns="">
          <p:sp>
            <p:nvSpPr>
              <p:cNvPr id="6" name="Content Placeholder 2">
                <a:extLst>
                  <a:ext uri="{FF2B5EF4-FFF2-40B4-BE49-F238E27FC236}">
                    <a16:creationId xmlns:a16="http://schemas.microsoft.com/office/drawing/2014/main" id="{B178CE8C-DC89-AF2F-F633-04170A8F096C}"/>
                  </a:ext>
                </a:extLst>
              </p:cNvPr>
              <p:cNvSpPr txBox="1">
                <a:spLocks noRot="1" noChangeAspect="1" noMove="1" noResize="1" noEditPoints="1" noAdjustHandles="1" noChangeArrowheads="1" noChangeShapeType="1" noTextEdit="1"/>
              </p:cNvSpPr>
              <p:nvPr/>
            </p:nvSpPr>
            <p:spPr>
              <a:xfrm>
                <a:off x="6096000" y="277811"/>
                <a:ext cx="6096000" cy="6302375"/>
              </a:xfrm>
              <a:prstGeom prst="rect">
                <a:avLst/>
              </a:prstGeom>
              <a:blipFill>
                <a:blip r:embed="rId3"/>
                <a:stretch>
                  <a:fillRect l="-832" t="-5444"/>
                </a:stretch>
              </a:blipFill>
            </p:spPr>
            <p:txBody>
              <a:bodyPr/>
              <a:lstStyle/>
              <a:p>
                <a:r>
                  <a:rPr lang="en-US">
                    <a:noFill/>
                  </a:rPr>
                  <a:t> </a:t>
                </a:r>
              </a:p>
            </p:txBody>
          </p:sp>
        </mc:Fallback>
      </mc:AlternateContent>
    </p:spTree>
    <p:extLst>
      <p:ext uri="{BB962C8B-B14F-4D97-AF65-F5344CB8AC3E}">
        <p14:creationId xmlns:p14="http://schemas.microsoft.com/office/powerpoint/2010/main" val="457059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F85-09D1-A64F-955B-333794933ECE}"/>
              </a:ext>
            </a:extLst>
          </p:cNvPr>
          <p:cNvSpPr>
            <a:spLocks noGrp="1"/>
          </p:cNvSpPr>
          <p:nvPr>
            <p:ph type="title"/>
          </p:nvPr>
        </p:nvSpPr>
        <p:spPr>
          <a:xfrm>
            <a:off x="838200" y="0"/>
            <a:ext cx="10515600" cy="1325563"/>
          </a:xfrm>
        </p:spPr>
        <p:txBody>
          <a:bodyPr/>
          <a:lstStyle/>
          <a:p>
            <a:r>
              <a:rPr lang="en-US" dirty="0"/>
              <a:t>Caveat: Dual signs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00C8CC-F9AA-3EF8-6DE9-72E8285F8D6E}"/>
                  </a:ext>
                </a:extLst>
              </p:cNvPr>
              <p:cNvSpPr>
                <a:spLocks noGrp="1"/>
              </p:cNvSpPr>
              <p:nvPr>
                <p:ph idx="1"/>
              </p:nvPr>
            </p:nvSpPr>
            <p:spPr>
              <a:xfrm>
                <a:off x="838200" y="1560154"/>
                <a:ext cx="11034252" cy="4781652"/>
              </a:xfrm>
            </p:spPr>
            <p:txBody>
              <a:bodyPr>
                <a:normAutofit lnSpcReduction="10000"/>
              </a:bodyPr>
              <a:lstStyle/>
              <a:p>
                <a:r>
                  <a:rPr lang="en-US" dirty="0"/>
                  <a:t>In the primal, the marginal values used to populate duals can be negative depending on how the constraints are established</a:t>
                </a:r>
              </a:p>
              <a:p>
                <a:r>
                  <a:rPr lang="en-US" dirty="0"/>
                  <a:t>This is especially true with </a:t>
                </a:r>
              </a:p>
              <a:p>
                <a:pPr lvl="1"/>
                <a14:m>
                  <m:oMath xmlns:m="http://schemas.openxmlformats.org/officeDocument/2006/math">
                    <m:r>
                      <a:rPr lang="en-US" b="0" i="1" smtClean="0">
                        <a:latin typeface="Cambria Math" panose="02040503050406030204" pitchFamily="18" charset="0"/>
                      </a:rPr>
                      <m:t>≥</m:t>
                    </m:r>
                  </m:oMath>
                </a14:m>
                <a:r>
                  <a:rPr lang="en-US" dirty="0"/>
                  <a:t> constraints in maximization problems and </a:t>
                </a:r>
              </a:p>
              <a:p>
                <a:pPr lvl="1"/>
                <a14:m>
                  <m:oMath xmlns:m="http://schemas.openxmlformats.org/officeDocument/2006/math">
                    <m:r>
                      <a:rPr lang="en-US" b="0" i="1" smtClean="0">
                        <a:latin typeface="Cambria Math" panose="02040503050406030204" pitchFamily="18" charset="0"/>
                      </a:rPr>
                      <m:t>≤</m:t>
                    </m:r>
                  </m:oMath>
                </a14:m>
                <a:r>
                  <a:rPr lang="en-US" dirty="0"/>
                  <a:t> constraints in minimization problems</a:t>
                </a:r>
              </a:p>
              <a:p>
                <a:pPr lvl="1"/>
                <a:endParaRPr lang="en-US" dirty="0"/>
              </a:p>
              <a:p>
                <a:r>
                  <a:rPr lang="en-US" dirty="0"/>
                  <a:t>Advice: if your residual isn’t zero, check to make sure the dual variable values you’re specifying aren’t negative</a:t>
                </a:r>
              </a:p>
              <a:p>
                <a:endParaRPr lang="en-US" dirty="0"/>
              </a:p>
              <a:p>
                <a:r>
                  <a:rPr lang="en-US" dirty="0"/>
                  <a:t>Generally – Easiest in GAMS for constraints to be written with =g=</a:t>
                </a:r>
              </a:p>
              <a:p>
                <a:pPr lvl="1"/>
                <a:r>
                  <a:rPr lang="en-US" dirty="0"/>
                  <a:t>Equality constraints (=e=) require free complementarity variables (!)</a:t>
                </a:r>
              </a:p>
            </p:txBody>
          </p:sp>
        </mc:Choice>
        <mc:Fallback>
          <p:sp>
            <p:nvSpPr>
              <p:cNvPr id="3" name="Content Placeholder 2">
                <a:extLst>
                  <a:ext uri="{FF2B5EF4-FFF2-40B4-BE49-F238E27FC236}">
                    <a16:creationId xmlns:a16="http://schemas.microsoft.com/office/drawing/2014/main" id="{E900C8CC-F9AA-3EF8-6DE9-72E8285F8D6E}"/>
                  </a:ext>
                </a:extLst>
              </p:cNvPr>
              <p:cNvSpPr>
                <a:spLocks noGrp="1" noRot="1" noChangeAspect="1" noMove="1" noResize="1" noEditPoints="1" noAdjustHandles="1" noChangeArrowheads="1" noChangeShapeType="1" noTextEdit="1"/>
              </p:cNvSpPr>
              <p:nvPr>
                <p:ph idx="1"/>
              </p:nvPr>
            </p:nvSpPr>
            <p:spPr>
              <a:xfrm>
                <a:off x="838200" y="1560154"/>
                <a:ext cx="11034252" cy="4781652"/>
              </a:xfrm>
              <a:blipFill>
                <a:blip r:embed="rId2"/>
                <a:stretch>
                  <a:fillRect l="-1034" t="-2910"/>
                </a:stretch>
              </a:blipFill>
            </p:spPr>
            <p:txBody>
              <a:bodyPr/>
              <a:lstStyle/>
              <a:p>
                <a:r>
                  <a:rPr lang="en-US">
                    <a:noFill/>
                  </a:rPr>
                  <a:t> </a:t>
                </a:r>
              </a:p>
            </p:txBody>
          </p:sp>
        </mc:Fallback>
      </mc:AlternateContent>
    </p:spTree>
    <p:extLst>
      <p:ext uri="{BB962C8B-B14F-4D97-AF65-F5344CB8AC3E}">
        <p14:creationId xmlns:p14="http://schemas.microsoft.com/office/powerpoint/2010/main" val="3666094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7AB79-0268-04D2-D1B2-DD7E01513AE1}"/>
              </a:ext>
            </a:extLst>
          </p:cNvPr>
          <p:cNvSpPr>
            <a:spLocks noGrp="1"/>
          </p:cNvSpPr>
          <p:nvPr>
            <p:ph type="title"/>
          </p:nvPr>
        </p:nvSpPr>
        <p:spPr/>
        <p:txBody>
          <a:bodyPr>
            <a:normAutofit/>
          </a:bodyPr>
          <a:lstStyle/>
          <a:p>
            <a:r>
              <a:rPr lang="en-US" sz="4000" dirty="0"/>
              <a:t>Steps to creating an MCP from an existing LP/NLP</a:t>
            </a:r>
          </a:p>
        </p:txBody>
      </p:sp>
      <p:sp>
        <p:nvSpPr>
          <p:cNvPr id="3" name="Content Placeholder 2">
            <a:extLst>
              <a:ext uri="{FF2B5EF4-FFF2-40B4-BE49-F238E27FC236}">
                <a16:creationId xmlns:a16="http://schemas.microsoft.com/office/drawing/2014/main" id="{F87E3041-F43E-860C-3816-4DF9476B3401}"/>
              </a:ext>
            </a:extLst>
          </p:cNvPr>
          <p:cNvSpPr>
            <a:spLocks noGrp="1"/>
          </p:cNvSpPr>
          <p:nvPr>
            <p:ph idx="1"/>
          </p:nvPr>
        </p:nvSpPr>
        <p:spPr/>
        <p:txBody>
          <a:bodyPr/>
          <a:lstStyle/>
          <a:p>
            <a:r>
              <a:rPr lang="en-US" dirty="0"/>
              <a:t>Write out initial problem</a:t>
            </a:r>
          </a:p>
          <a:p>
            <a:r>
              <a:rPr lang="en-US" dirty="0"/>
              <a:t>Derive complementarity conditions (dual w/o objective)</a:t>
            </a:r>
          </a:p>
          <a:p>
            <a:r>
              <a:rPr lang="en-US" dirty="0"/>
              <a:t>Set up problem as: [primal constraints] &amp; [dual constraints]</a:t>
            </a:r>
          </a:p>
          <a:p>
            <a:r>
              <a:rPr lang="en-US" dirty="0"/>
              <a:t>Solve your initial problem</a:t>
            </a:r>
          </a:p>
          <a:p>
            <a:r>
              <a:rPr lang="en-US" dirty="0"/>
              <a:t>Assign level values to both primal variables and dual variables</a:t>
            </a:r>
          </a:p>
          <a:p>
            <a:pPr lvl="1"/>
            <a:r>
              <a:rPr lang="en-US" dirty="0"/>
              <a:t>Dual variable values set as marginal off the respective constraints</a:t>
            </a:r>
          </a:p>
          <a:p>
            <a:pPr lvl="1"/>
            <a:r>
              <a:rPr lang="en-US" dirty="0"/>
              <a:t>Alternatively, could solve both the primal and dual problem </a:t>
            </a:r>
          </a:p>
          <a:p>
            <a:r>
              <a:rPr lang="en-US" dirty="0"/>
              <a:t>Set iteration limit for MCP problem to zero</a:t>
            </a:r>
          </a:p>
          <a:p>
            <a:r>
              <a:rPr lang="en-US" dirty="0"/>
              <a:t>Make sure we have a zero residual</a:t>
            </a:r>
          </a:p>
          <a:p>
            <a:endParaRPr lang="en-US" dirty="0"/>
          </a:p>
        </p:txBody>
      </p:sp>
    </p:spTree>
    <p:extLst>
      <p:ext uri="{BB962C8B-B14F-4D97-AF65-F5344CB8AC3E}">
        <p14:creationId xmlns:p14="http://schemas.microsoft.com/office/powerpoint/2010/main" val="3625499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CC7EB-50E2-4590-1B53-3666B890EF92}"/>
              </a:ext>
            </a:extLst>
          </p:cNvPr>
          <p:cNvSpPr>
            <a:spLocks noGrp="1"/>
          </p:cNvSpPr>
          <p:nvPr>
            <p:ph type="title"/>
          </p:nvPr>
        </p:nvSpPr>
        <p:spPr/>
        <p:txBody>
          <a:bodyPr/>
          <a:lstStyle/>
          <a:p>
            <a:r>
              <a:rPr lang="en-US" dirty="0"/>
              <a:t>Write out initial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EA56F8-0333-A5B2-2A0A-99F656B45417}"/>
                  </a:ext>
                </a:extLst>
              </p:cNvPr>
              <p:cNvSpPr>
                <a:spLocks noGrp="1"/>
              </p:cNvSpPr>
              <p:nvPr>
                <p:ph idx="1"/>
              </p:nvPr>
            </p:nvSpPr>
            <p:spPr/>
            <p:txBody>
              <a:bodyPr/>
              <a:lstStyle/>
              <a:p>
                <a:r>
                  <a:rPr lang="en-US" dirty="0"/>
                  <a:t>Objective function is to maximize profit:</a:t>
                </a:r>
              </a:p>
              <a:p>
                <a:endParaRPr lang="en-US" sz="1100"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mr>
                      </m:m>
                      <m:r>
                        <a:rPr lang="en-US" b="0" i="1" smtClean="0">
                          <a:latin typeface="Cambria Math" panose="02040503050406030204" pitchFamily="18" charset="0"/>
                        </a:rPr>
                        <m:t>  </m:t>
                      </m:r>
                      <m:r>
                        <a:rPr lang="en-US" b="0" i="1" smtClean="0">
                          <a:latin typeface="Cambria Math" panose="02040503050406030204" pitchFamily="18" charset="0"/>
                        </a:rPr>
                        <m:t>𝜋</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 </m:t>
                      </m:r>
                    </m:oMath>
                  </m:oMathPara>
                </a14:m>
                <a:endParaRPr lang="en-US" dirty="0"/>
              </a:p>
              <a:p>
                <a:r>
                  <a:rPr lang="en-US" dirty="0"/>
                  <a:t>Subject to the weekly hourly limit,</a:t>
                </a:r>
                <a:r>
                  <a:rPr lang="en-US" b="1" dirty="0"/>
                  <a:t> </a:t>
                </a:r>
              </a:p>
              <a:p>
                <a:pPr marL="0" indent="0">
                  <a:buNone/>
                </a:pPr>
                <a:r>
                  <a:rPr lang="en-US" b="1" dirty="0"/>
                  <a:t>    now with complementary variable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𝝀</m:t>
                        </m:r>
                      </m:e>
                      <m:sup>
                        <m:r>
                          <a:rPr lang="en-US" b="1" i="1" smtClean="0">
                            <a:latin typeface="Cambria Math" panose="02040503050406030204" pitchFamily="18" charset="0"/>
                          </a:rPr>
                          <m:t>𝒉</m:t>
                        </m:r>
                      </m:sup>
                    </m:sSup>
                  </m:oMath>
                </a14:m>
                <a:r>
                  <a:rPr lang="en-US" dirty="0"/>
                  <a:t>:</a:t>
                </a:r>
              </a:p>
              <a:p>
                <a:endParaRPr lang="en-US" sz="800" dirty="0"/>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h</m:t>
                              </m:r>
                            </m:e>
                            <m:sub>
                              <m:r>
                                <a:rPr lang="en-US" b="0" i="1" dirty="0" smtClean="0">
                                  <a:latin typeface="Cambria Math" panose="02040503050406030204" pitchFamily="18" charset="0"/>
                                </a:rPr>
                                <m:t>𝑖</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e>
                      </m:nary>
                      <m:r>
                        <a:rPr lang="en-US" b="1" i="1" dirty="0" smtClean="0">
                          <a:latin typeface="Cambria Math" panose="02040503050406030204" pitchFamily="18" charset="0"/>
                        </a:rPr>
                        <m:t>⊥</m:t>
                      </m:r>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𝝀</m:t>
                          </m:r>
                        </m:e>
                        <m:sup>
                          <m:r>
                            <a:rPr lang="en-US" b="1" i="1" dirty="0" smtClean="0">
                              <a:latin typeface="Cambria Math" panose="02040503050406030204" pitchFamily="18" charset="0"/>
                            </a:rPr>
                            <m:t>𝒉</m:t>
                          </m:r>
                        </m:sup>
                      </m:sSup>
                    </m:oMath>
                  </m:oMathPara>
                </a14:m>
                <a:endParaRPr lang="en-US" b="1" dirty="0"/>
              </a:p>
              <a:p>
                <a:endParaRPr lang="en-US" dirty="0"/>
              </a:p>
            </p:txBody>
          </p:sp>
        </mc:Choice>
        <mc:Fallback xmlns="">
          <p:sp>
            <p:nvSpPr>
              <p:cNvPr id="3" name="Content Placeholder 2">
                <a:extLst>
                  <a:ext uri="{FF2B5EF4-FFF2-40B4-BE49-F238E27FC236}">
                    <a16:creationId xmlns:a16="http://schemas.microsoft.com/office/drawing/2014/main" id="{F9EA56F8-0333-A5B2-2A0A-99F656B45417}"/>
                  </a:ext>
                </a:extLst>
              </p:cNvPr>
              <p:cNvSpPr>
                <a:spLocks noGrp="1" noRot="1" noChangeAspect="1" noMove="1" noResize="1" noEditPoints="1" noAdjustHandles="1" noChangeArrowheads="1" noChangeShapeType="1" noTextEdit="1"/>
              </p:cNvSpPr>
              <p:nvPr>
                <p:ph idx="1"/>
              </p:nvPr>
            </p:nvSpPr>
            <p:spPr>
              <a:blipFill>
                <a:blip r:embed="rId2"/>
                <a:stretch>
                  <a:fillRect l="-1086" t="-20640" b="-37791"/>
                </a:stretch>
              </a:blipFill>
            </p:spPr>
            <p:txBody>
              <a:bodyPr/>
              <a:lstStyle/>
              <a:p>
                <a:r>
                  <a:rPr lang="en-US">
                    <a:noFill/>
                  </a:rPr>
                  <a:t> </a:t>
                </a:r>
              </a:p>
            </p:txBody>
          </p:sp>
        </mc:Fallback>
      </mc:AlternateContent>
    </p:spTree>
    <p:extLst>
      <p:ext uri="{BB962C8B-B14F-4D97-AF65-F5344CB8AC3E}">
        <p14:creationId xmlns:p14="http://schemas.microsoft.com/office/powerpoint/2010/main" val="1962082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68AB-54A2-217E-9EE4-DDA6B25FD5C5}"/>
              </a:ext>
            </a:extLst>
          </p:cNvPr>
          <p:cNvSpPr>
            <a:spLocks noGrp="1"/>
          </p:cNvSpPr>
          <p:nvPr>
            <p:ph type="title"/>
          </p:nvPr>
        </p:nvSpPr>
        <p:spPr/>
        <p:txBody>
          <a:bodyPr/>
          <a:lstStyle/>
          <a:p>
            <a:r>
              <a:rPr lang="en-US" dirty="0"/>
              <a:t>Derive complementarity conditions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DFC39E-865A-37A9-DC37-85080B176E21}"/>
                  </a:ext>
                </a:extLst>
              </p:cNvPr>
              <p:cNvSpPr>
                <a:spLocks noGrp="1"/>
              </p:cNvSpPr>
              <p:nvPr>
                <p:ph idx="1"/>
              </p:nvPr>
            </p:nvSpPr>
            <p:spPr>
              <a:xfrm>
                <a:off x="838200" y="1690688"/>
                <a:ext cx="10515600" cy="4486275"/>
              </a:xfrm>
            </p:spPr>
            <p:txBody>
              <a:bodyPr/>
              <a:lstStyle/>
              <a:p>
                <a:pPr marL="0" indent="0">
                  <a:buNone/>
                </a:pPr>
                <a:r>
                  <a:rPr lang="en-US" b="0" dirty="0">
                    <a:latin typeface="Cambria Math" panose="02040503050406030204" pitchFamily="18" charset="0"/>
                  </a:rPr>
                  <a:t>Recall the primal and dual constraints from Ripley’s Restaurant:</a:t>
                </a:r>
              </a:p>
              <a:p>
                <a:pPr marL="0" indent="0">
                  <a:buNone/>
                </a:pP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h</m:t>
                              </m:r>
                            </m:e>
                            <m:sub>
                              <m:r>
                                <a:rPr lang="en-US" b="0" i="1" dirty="0" smtClean="0">
                                  <a:latin typeface="Cambria Math" panose="02040503050406030204" pitchFamily="18" charset="0"/>
                                </a:rPr>
                                <m:t>𝑖</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e>
                      </m:nary>
                      <m:r>
                        <a:rPr lang="en-US" b="1" i="1" dirty="0" smtClean="0">
                          <a:latin typeface="Cambria Math" panose="02040503050406030204" pitchFamily="18" charset="0"/>
                        </a:rPr>
                        <m:t>⊥</m:t>
                      </m:r>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𝝀</m:t>
                          </m:r>
                        </m:e>
                        <m:sup>
                          <m:r>
                            <a:rPr lang="en-US" b="1" i="1" dirty="0" smtClean="0">
                              <a:latin typeface="Cambria Math" panose="02040503050406030204" pitchFamily="18" charset="0"/>
                            </a:rPr>
                            <m:t>𝒉𝒐𝒖𝒓</m:t>
                          </m:r>
                        </m:sup>
                      </m:sSup>
                    </m:oMath>
                  </m:oMathPara>
                </a14:m>
                <a:endParaRPr lang="en-US" b="1" dirty="0"/>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𝜆</m:t>
                          </m:r>
                        </m:e>
                        <m:sup>
                          <m:r>
                            <a:rPr lang="en-US" b="0" i="1" smtClean="0">
                              <a:latin typeface="Cambria Math" panose="02040503050406030204" pitchFamily="18" charset="0"/>
                            </a:rPr>
                            <m:t>h𝑜𝑢𝑟</m:t>
                          </m:r>
                        </m:sup>
                      </m:sSup>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a:p>
                <a:pPr marL="0" indent="0">
                  <a:buNone/>
                </a:pPr>
                <a:endParaRPr lang="en-US" b="1" dirty="0"/>
              </a:p>
              <a:p>
                <a:pPr marL="0" indent="0">
                  <a:buNone/>
                </a:pPr>
                <a:r>
                  <a:rPr lang="en-US" dirty="0"/>
                  <a:t>.. These form an MCP model..</a:t>
                </a:r>
              </a:p>
            </p:txBody>
          </p:sp>
        </mc:Choice>
        <mc:Fallback xmlns="">
          <p:sp>
            <p:nvSpPr>
              <p:cNvPr id="3" name="Content Placeholder 2">
                <a:extLst>
                  <a:ext uri="{FF2B5EF4-FFF2-40B4-BE49-F238E27FC236}">
                    <a16:creationId xmlns:a16="http://schemas.microsoft.com/office/drawing/2014/main" id="{DDDFC39E-865A-37A9-DC37-85080B176E21}"/>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2"/>
                <a:stretch>
                  <a:fillRect l="-1206" t="-14930"/>
                </a:stretch>
              </a:blipFill>
            </p:spPr>
            <p:txBody>
              <a:bodyPr/>
              <a:lstStyle/>
              <a:p>
                <a:r>
                  <a:rPr lang="en-US">
                    <a:noFill/>
                  </a:rPr>
                  <a:t> </a:t>
                </a:r>
              </a:p>
            </p:txBody>
          </p:sp>
        </mc:Fallback>
      </mc:AlternateContent>
    </p:spTree>
    <p:extLst>
      <p:ext uri="{BB962C8B-B14F-4D97-AF65-F5344CB8AC3E}">
        <p14:creationId xmlns:p14="http://schemas.microsoft.com/office/powerpoint/2010/main" val="2651484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94E0-3FE9-BC6E-64E1-40920B18A50B}"/>
              </a:ext>
            </a:extLst>
          </p:cNvPr>
          <p:cNvSpPr>
            <a:spLocks noGrp="1"/>
          </p:cNvSpPr>
          <p:nvPr>
            <p:ph type="title"/>
          </p:nvPr>
        </p:nvSpPr>
        <p:spPr>
          <a:xfrm>
            <a:off x="575188" y="193521"/>
            <a:ext cx="10515600" cy="1325563"/>
          </a:xfrm>
        </p:spPr>
        <p:txBody>
          <a:bodyPr/>
          <a:lstStyle/>
          <a:p>
            <a:r>
              <a:rPr lang="en-US" dirty="0"/>
              <a:t>(Full) Complementarity Conditions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D58E71-EE99-B9C5-04C5-09B763D50C51}"/>
                  </a:ext>
                </a:extLst>
              </p:cNvPr>
              <p:cNvSpPr>
                <a:spLocks noGrp="1"/>
              </p:cNvSpPr>
              <p:nvPr>
                <p:ph idx="1"/>
              </p:nvPr>
            </p:nvSpPr>
            <p:spPr>
              <a:xfrm>
                <a:off x="838200" y="1445342"/>
                <a:ext cx="10515600" cy="516193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h</m:t>
                              </m:r>
                            </m:e>
                            <m:sub>
                              <m:r>
                                <a:rPr lang="en-US" b="0" i="1" dirty="0" smtClean="0">
                                  <a:latin typeface="Cambria Math" panose="02040503050406030204" pitchFamily="18" charset="0"/>
                                </a:rPr>
                                <m:t>𝑖</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e>
                      </m:nary>
                      <m:r>
                        <a:rPr lang="en-US" b="1" i="1" dirty="0" smtClean="0">
                          <a:latin typeface="Cambria Math" panose="02040503050406030204" pitchFamily="18" charset="0"/>
                        </a:rPr>
                        <m:t>⊥</m:t>
                      </m:r>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𝝀</m:t>
                          </m:r>
                        </m:e>
                        <m:sup>
                          <m:r>
                            <a:rPr lang="en-US" b="1" i="1" dirty="0" smtClean="0">
                              <a:latin typeface="Cambria Math" panose="02040503050406030204" pitchFamily="18" charset="0"/>
                            </a:rPr>
                            <m:t>𝒉𝒐𝒖𝒓</m:t>
                          </m:r>
                        </m:sup>
                      </m:sSup>
                    </m:oMath>
                  </m:oMathPara>
                </a14:m>
                <a:endParaRPr lang="en-US" b="1" dirty="0"/>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d>
                        <m:dPr>
                          <m:ctrlPr>
                            <a:rPr lang="en-US" b="1" i="1" smtClean="0">
                              <a:latin typeface="Cambria Math" panose="02040503050406030204" pitchFamily="18" charset="0"/>
                            </a:rPr>
                          </m:ctrlPr>
                        </m:d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𝒉</m:t>
                              </m:r>
                            </m:e>
                          </m:acc>
                          <m:r>
                            <a:rPr lang="en-US" b="1" i="1" smtClean="0">
                              <a:latin typeface="Cambria Math" panose="02040503050406030204" pitchFamily="18" charset="0"/>
                            </a:rPr>
                            <m:t>−</m:t>
                          </m:r>
                          <m:nary>
                            <m:naryPr>
                              <m:chr m:val="∑"/>
                              <m:supHide m:val="on"/>
                              <m:ctrlPr>
                                <a:rPr lang="en-US" b="1" i="1" dirty="0" smtClean="0">
                                  <a:latin typeface="Cambria Math" panose="02040503050406030204" pitchFamily="18" charset="0"/>
                                </a:rPr>
                              </m:ctrlPr>
                            </m:naryPr>
                            <m:sub>
                              <m:r>
                                <a:rPr lang="en-US" b="1" i="1" dirty="0" smtClean="0">
                                  <a:latin typeface="Cambria Math" panose="02040503050406030204" pitchFamily="18" charset="0"/>
                                </a:rPr>
                                <m:t>𝒊</m:t>
                              </m:r>
                            </m:sub>
                            <m:sup/>
                            <m:e>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𝒉</m:t>
                                  </m:r>
                                </m:e>
                                <m:sub>
                                  <m:r>
                                    <a:rPr lang="en-US" b="1" i="1" dirty="0" smtClean="0">
                                      <a:latin typeface="Cambria Math" panose="02040503050406030204" pitchFamily="18" charset="0"/>
                                    </a:rPr>
                                    <m:t>𝒊</m:t>
                                  </m:r>
                                </m:sub>
                              </m:sSub>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𝑿</m:t>
                                  </m:r>
                                </m:e>
                                <m:sub>
                                  <m:r>
                                    <a:rPr lang="en-US" b="1" i="1" dirty="0" smtClean="0">
                                      <a:latin typeface="Cambria Math" panose="02040503050406030204" pitchFamily="18" charset="0"/>
                                    </a:rPr>
                                    <m:t>𝒊</m:t>
                                  </m:r>
                                </m:sub>
                              </m:sSub>
                            </m:e>
                          </m:nary>
                        </m:e>
                      </m:d>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𝝀</m:t>
                          </m:r>
                        </m:e>
                        <m:sup>
                          <m:r>
                            <a:rPr lang="en-US" b="1" i="1" dirty="0" smtClean="0">
                              <a:latin typeface="Cambria Math" panose="02040503050406030204" pitchFamily="18" charset="0"/>
                            </a:rPr>
                            <m:t>𝒉𝒐𝒖𝒓</m:t>
                          </m:r>
                        </m:sup>
                      </m:sSup>
                      <m:r>
                        <a:rPr lang="en-US" b="1" i="1" dirty="0" smtClean="0">
                          <a:latin typeface="Cambria Math" panose="02040503050406030204" pitchFamily="18" charset="0"/>
                        </a:rPr>
                        <m:t>=</m:t>
                      </m:r>
                      <m:r>
                        <a:rPr lang="en-US" b="1" i="1" dirty="0" smtClean="0">
                          <a:latin typeface="Cambria Math" panose="02040503050406030204" pitchFamily="18" charset="0"/>
                        </a:rPr>
                        <m:t>𝟎</m:t>
                      </m:r>
                    </m:oMath>
                  </m:oMathPara>
                </a14:m>
                <a:endParaRPr lang="en-US" b="1" dirty="0"/>
              </a:p>
              <a:p>
                <a:pPr marL="0" indent="0">
                  <a:buNone/>
                </a:pPr>
                <a:endParaRPr lang="en-US" b="1" dirty="0"/>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𝜆</m:t>
                          </m:r>
                        </m:e>
                        <m:sup>
                          <m:r>
                            <a:rPr lang="en-US" b="0" i="1" smtClean="0">
                              <a:latin typeface="Cambria Math" panose="02040503050406030204" pitchFamily="18" charset="0"/>
                            </a:rPr>
                            <m:t>h𝑜𝑢𝑟</m:t>
                          </m:r>
                        </m:sup>
                      </m:sSup>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𝝀</m:t>
                              </m:r>
                            </m:e>
                            <m:sup>
                              <m:r>
                                <a:rPr lang="en-US" b="1" i="1" smtClean="0">
                                  <a:latin typeface="Cambria Math" panose="02040503050406030204" pitchFamily="18" charset="0"/>
                                </a:rPr>
                                <m:t>𝒉𝒐𝒖𝒓</m:t>
                              </m:r>
                            </m:sup>
                          </m:sSup>
                          <m:sSub>
                            <m:sSubPr>
                              <m:ctrlPr>
                                <a:rPr lang="en-US" b="1" i="1">
                                  <a:latin typeface="Cambria Math" panose="02040503050406030204" pitchFamily="18" charset="0"/>
                                </a:rPr>
                              </m:ctrlPr>
                            </m:sSubPr>
                            <m:e>
                              <m:r>
                                <a:rPr lang="en-US" b="1" i="1">
                                  <a:latin typeface="Cambria Math" panose="02040503050406030204" pitchFamily="18" charset="0"/>
                                </a:rPr>
                                <m:t>𝒉</m:t>
                              </m:r>
                            </m:e>
                            <m:sub>
                              <m:r>
                                <a:rPr lang="en-US" b="1" i="1">
                                  <a:latin typeface="Cambria Math" panose="02040503050406030204" pitchFamily="18" charset="0"/>
                                </a:rPr>
                                <m:t>𝒊</m:t>
                              </m:r>
                            </m:sub>
                          </m:sSub>
                          <m:r>
                            <a:rPr lang="en-US" b="1" i="1" smtClean="0">
                              <a:latin typeface="Cambria Math" panose="02040503050406030204" pitchFamily="18" charset="0"/>
                            </a:rPr>
                            <m:t>−</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𝒓</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𝒄</m:t>
                                  </m:r>
                                </m:e>
                                <m:sub>
                                  <m:r>
                                    <a:rPr lang="en-US" b="1" i="1" smtClean="0">
                                      <a:latin typeface="Cambria Math" panose="02040503050406030204" pitchFamily="18" charset="0"/>
                                    </a:rPr>
                                    <m:t>𝒊</m:t>
                                  </m:r>
                                </m:sub>
                              </m:sSub>
                            </m:e>
                          </m:d>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  ∀  </m:t>
                      </m:r>
                      <m:r>
                        <a:rPr lang="en-US" b="1" i="1" smtClean="0">
                          <a:latin typeface="Cambria Math" panose="02040503050406030204" pitchFamily="18" charset="0"/>
                        </a:rPr>
                        <m:t>𝒊</m:t>
                      </m:r>
                    </m:oMath>
                  </m:oMathPara>
                </a14:m>
                <a:endParaRPr lang="en-US" b="1"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5D58E71-EE99-B9C5-04C5-09B763D50C51}"/>
                  </a:ext>
                </a:extLst>
              </p:cNvPr>
              <p:cNvSpPr>
                <a:spLocks noGrp="1" noRot="1" noChangeAspect="1" noMove="1" noResize="1" noEditPoints="1" noAdjustHandles="1" noChangeArrowheads="1" noChangeShapeType="1" noTextEdit="1"/>
              </p:cNvSpPr>
              <p:nvPr>
                <p:ph idx="1"/>
              </p:nvPr>
            </p:nvSpPr>
            <p:spPr>
              <a:xfrm>
                <a:off x="838200" y="1445342"/>
                <a:ext cx="10515600" cy="5161935"/>
              </a:xfrm>
              <a:blipFill>
                <a:blip r:embed="rId3"/>
                <a:stretch>
                  <a:fillRect t="-3014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F35311B-40AF-07EA-1A86-F1787CBAB479}"/>
              </a:ext>
            </a:extLst>
          </p:cNvPr>
          <p:cNvSpPr txBox="1"/>
          <p:nvPr/>
        </p:nvSpPr>
        <p:spPr>
          <a:xfrm>
            <a:off x="9953932" y="3850627"/>
            <a:ext cx="1399868" cy="923330"/>
          </a:xfrm>
          <a:prstGeom prst="rect">
            <a:avLst/>
          </a:prstGeom>
          <a:noFill/>
        </p:spPr>
        <p:txBody>
          <a:bodyPr wrap="square" rtlCol="0">
            <a:spAutoFit/>
          </a:bodyPr>
          <a:lstStyle/>
          <a:p>
            <a:r>
              <a:rPr lang="en-US" dirty="0"/>
              <a:t>These are generated by GAMS!</a:t>
            </a:r>
          </a:p>
        </p:txBody>
      </p:sp>
      <p:cxnSp>
        <p:nvCxnSpPr>
          <p:cNvPr id="6" name="Straight Arrow Connector 5">
            <a:extLst>
              <a:ext uri="{FF2B5EF4-FFF2-40B4-BE49-F238E27FC236}">
                <a16:creationId xmlns:a16="http://schemas.microsoft.com/office/drawing/2014/main" id="{742DBFBC-E0BE-9BA4-FA9F-42AB5991AE48}"/>
              </a:ext>
            </a:extLst>
          </p:cNvPr>
          <p:cNvCxnSpPr>
            <a:stCxn id="4" idx="1"/>
          </p:cNvCxnSpPr>
          <p:nvPr/>
        </p:nvCxnSpPr>
        <p:spPr>
          <a:xfrm flipH="1" flipV="1">
            <a:off x="8200103" y="3429000"/>
            <a:ext cx="1753829" cy="8832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E1185A9-B6F3-5B3E-1DE6-8528E727DC6B}"/>
              </a:ext>
            </a:extLst>
          </p:cNvPr>
          <p:cNvCxnSpPr>
            <a:cxnSpLocks/>
            <a:stCxn id="4" idx="1"/>
          </p:cNvCxnSpPr>
          <p:nvPr/>
        </p:nvCxnSpPr>
        <p:spPr>
          <a:xfrm flipH="1">
            <a:off x="8731045" y="4312292"/>
            <a:ext cx="1222887" cy="1616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5028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D849E-55CB-3A5C-A104-9550CBA5695C}"/>
              </a:ext>
            </a:extLst>
          </p:cNvPr>
          <p:cNvSpPr>
            <a:spLocks noGrp="1"/>
          </p:cNvSpPr>
          <p:nvPr>
            <p:ph type="title"/>
          </p:nvPr>
        </p:nvSpPr>
        <p:spPr/>
        <p:txBody>
          <a:bodyPr/>
          <a:lstStyle/>
          <a:p>
            <a:r>
              <a:rPr lang="en-US" dirty="0"/>
              <a:t>Let’s add the combo constraint…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432EC8-50D7-1E15-BDB0-9C612A2B9DED}"/>
                  </a:ext>
                </a:extLst>
              </p:cNvPr>
              <p:cNvSpPr>
                <a:spLocks noGrp="1"/>
              </p:cNvSpPr>
              <p:nvPr>
                <p:ph idx="1"/>
              </p:nvPr>
            </p:nvSpPr>
            <p:spPr/>
            <p:txBody>
              <a:bodyPr>
                <a:normAutofit lnSpcReduction="10000"/>
              </a:bodyPr>
              <a:lstStyle/>
              <a:p>
                <a:pPr marL="0" indent="0">
                  <a:buNone/>
                </a:pPr>
                <a:r>
                  <a:rPr lang="en-US" dirty="0"/>
                  <a:t>Recall, we added a constraint that said: “for every hot dog that Ripley cooks, he also has to cook at least one French fry”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𝑓𝑟𝑒𝑛𝑐h</m:t>
                          </m:r>
                          <m:r>
                            <a:rPr lang="en-US" b="0" i="1" smtClean="0">
                              <a:latin typeface="Cambria Math" panose="02040503050406030204" pitchFamily="18" charset="0"/>
                            </a:rPr>
                            <m:t> </m:t>
                          </m:r>
                          <m:r>
                            <a:rPr lang="en-US" b="0" i="1" smtClean="0">
                              <a:latin typeface="Cambria Math" panose="02040503050406030204" pitchFamily="18" charset="0"/>
                            </a:rPr>
                            <m:t>𝑓𝑟𝑦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h𝑜𝑡</m:t>
                          </m:r>
                          <m:r>
                            <a:rPr lang="en-US" b="0" i="1" smtClean="0">
                              <a:latin typeface="Cambria Math" panose="02040503050406030204" pitchFamily="18" charset="0"/>
                            </a:rPr>
                            <m:t> </m:t>
                          </m:r>
                          <m:r>
                            <a:rPr lang="en-US" b="0" i="1" smtClean="0">
                              <a:latin typeface="Cambria Math" panose="02040503050406030204" pitchFamily="18" charset="0"/>
                            </a:rPr>
                            <m:t>𝑑𝑜𝑔</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𝑐𝑜𝑚𝑏𝑜</m:t>
                          </m:r>
                        </m:sup>
                      </m:sSup>
                    </m:oMath>
                  </m:oMathPara>
                </a14:m>
                <a:endParaRPr lang="en-US" dirty="0"/>
              </a:p>
              <a:p>
                <a:pPr marL="0" indent="0">
                  <a:buNone/>
                </a:pPr>
                <a:endParaRPr lang="en-US" dirty="0"/>
              </a:p>
              <a:p>
                <a:pPr marL="0" indent="0">
                  <a:buNone/>
                </a:pPr>
                <a:r>
                  <a:rPr lang="en-US" dirty="0"/>
                  <a:t>Zero profit condition becomes…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𝜆</m:t>
                          </m:r>
                        </m:e>
                        <m:sup>
                          <m:r>
                            <a:rPr lang="en-US" b="0" i="1" smtClean="0">
                              <a:latin typeface="Cambria Math" panose="02040503050406030204" pitchFamily="18" charset="0"/>
                            </a:rPr>
                            <m:t>h𝑜𝑢𝑟</m:t>
                          </m:r>
                        </m:sup>
                      </m:sSup>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𝑐𝑜𝑚𝑏𝑜</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h𝑜𝑡</m:t>
                          </m:r>
                          <m:r>
                            <a:rPr lang="en-US" b="0" i="1" smtClean="0">
                              <a:latin typeface="Cambria Math" panose="02040503050406030204" pitchFamily="18" charset="0"/>
                            </a:rPr>
                            <m:t> </m:t>
                          </m:r>
                          <m:r>
                            <a:rPr lang="en-US" b="0" i="1" smtClean="0">
                              <a:latin typeface="Cambria Math" panose="02040503050406030204" pitchFamily="18" charset="0"/>
                            </a:rPr>
                            <m:t>𝑑𝑜𝑔</m:t>
                          </m:r>
                        </m:e>
                      </m:d>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𝜆</m:t>
                          </m:r>
                        </m:e>
                        <m:sup>
                          <m:r>
                            <a:rPr lang="en-US" b="0" i="1" smtClean="0">
                              <a:latin typeface="Cambria Math" panose="02040503050406030204" pitchFamily="18" charset="0"/>
                            </a:rPr>
                            <m:t>h𝑜𝑢𝑟</m:t>
                          </m:r>
                        </m:sup>
                      </m:sSup>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𝑐𝑜𝑚𝑏𝑜</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𝑓𝑟𝑒𝑛𝑐h</m:t>
                          </m:r>
                          <m:r>
                            <a:rPr lang="en-US" b="0" i="1" smtClean="0">
                              <a:latin typeface="Cambria Math" panose="02040503050406030204" pitchFamily="18" charset="0"/>
                            </a:rPr>
                            <m:t> </m:t>
                          </m:r>
                          <m:r>
                            <a:rPr lang="en-US" b="0" i="1" smtClean="0">
                              <a:latin typeface="Cambria Math" panose="02040503050406030204" pitchFamily="18" charset="0"/>
                            </a:rPr>
                            <m:t>𝑓𝑟𝑦</m:t>
                          </m:r>
                        </m:e>
                      </m:d>
                    </m:oMath>
                  </m:oMathPara>
                </a14:m>
                <a:endParaRPr lang="en-US" b="0"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D432EC8-50D7-1E15-BDB0-9C612A2B9DED}"/>
                  </a:ext>
                </a:extLst>
              </p:cNvPr>
              <p:cNvSpPr>
                <a:spLocks noGrp="1" noRot="1" noChangeAspect="1" noMove="1" noResize="1" noEditPoints="1" noAdjustHandles="1" noChangeArrowheads="1" noChangeShapeType="1" noTextEdit="1"/>
              </p:cNvSpPr>
              <p:nvPr>
                <p:ph idx="1"/>
              </p:nvPr>
            </p:nvSpPr>
            <p:spPr>
              <a:blipFill>
                <a:blip r:embed="rId2"/>
                <a:stretch>
                  <a:fillRect l="-1206" t="-3198" b="-2035"/>
                </a:stretch>
              </a:blipFill>
            </p:spPr>
            <p:txBody>
              <a:bodyPr/>
              <a:lstStyle/>
              <a:p>
                <a:r>
                  <a:rPr lang="en-US">
                    <a:noFill/>
                  </a:rPr>
                  <a:t> </a:t>
                </a:r>
              </a:p>
            </p:txBody>
          </p:sp>
        </mc:Fallback>
      </mc:AlternateContent>
    </p:spTree>
    <p:extLst>
      <p:ext uri="{BB962C8B-B14F-4D97-AF65-F5344CB8AC3E}">
        <p14:creationId xmlns:p14="http://schemas.microsoft.com/office/powerpoint/2010/main" val="3087388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E1453-ED0C-CDBA-4FE7-E6E33B312EAD}"/>
              </a:ext>
            </a:extLst>
          </p:cNvPr>
          <p:cNvSpPr>
            <a:spLocks noGrp="1"/>
          </p:cNvSpPr>
          <p:nvPr>
            <p:ph type="title"/>
          </p:nvPr>
        </p:nvSpPr>
        <p:spPr>
          <a:xfrm>
            <a:off x="838200" y="2766218"/>
            <a:ext cx="10515600" cy="1325563"/>
          </a:xfrm>
        </p:spPr>
        <p:txBody>
          <a:bodyPr>
            <a:noAutofit/>
          </a:bodyPr>
          <a:lstStyle/>
          <a:p>
            <a:pPr algn="ctr"/>
            <a:r>
              <a:rPr lang="en-US" sz="4800" dirty="0"/>
              <a:t>Indices of the shadow value variable will always match the dimensions of its primal constraint – this also implies conditionals on the primal constraint indices need to be applied to the dual variable</a:t>
            </a:r>
          </a:p>
        </p:txBody>
      </p:sp>
    </p:spTree>
    <p:extLst>
      <p:ext uri="{BB962C8B-B14F-4D97-AF65-F5344CB8AC3E}">
        <p14:creationId xmlns:p14="http://schemas.microsoft.com/office/powerpoint/2010/main" val="434927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4420-B642-6481-C5B2-CC33EF33528B}"/>
              </a:ext>
            </a:extLst>
          </p:cNvPr>
          <p:cNvSpPr>
            <a:spLocks noGrp="1"/>
          </p:cNvSpPr>
          <p:nvPr>
            <p:ph type="title"/>
          </p:nvPr>
        </p:nvSpPr>
        <p:spPr>
          <a:xfrm>
            <a:off x="0" y="18255"/>
            <a:ext cx="12192000" cy="1325563"/>
          </a:xfrm>
        </p:spPr>
        <p:txBody>
          <a:bodyPr>
            <a:noAutofit/>
          </a:bodyPr>
          <a:lstStyle/>
          <a:p>
            <a:r>
              <a:rPr lang="en-US" sz="3600" dirty="0"/>
              <a:t>Set up problem as: [primal constraints] &amp; [dual constraints]</a:t>
            </a:r>
            <a:br>
              <a:rPr lang="en-US" sz="3600" dirty="0"/>
            </a:br>
            <a:endParaRPr lang="en-US"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057320-DA69-AE24-F189-AE0E52822AA9}"/>
                  </a:ext>
                </a:extLst>
              </p:cNvPr>
              <p:cNvSpPr>
                <a:spLocks noGrp="1"/>
              </p:cNvSpPr>
              <p:nvPr>
                <p:ph idx="1"/>
              </p:nvPr>
            </p:nvSpPr>
            <p:spPr>
              <a:xfrm>
                <a:off x="838200" y="1061883"/>
                <a:ext cx="10515600" cy="5483789"/>
              </a:xfrm>
            </p:spPr>
            <p:txBody>
              <a:bodyPr>
                <a:normAutofit lnSpcReduction="10000"/>
              </a:bodyPr>
              <a:lstStyle/>
              <a:p>
                <a:pPr marL="0" indent="0">
                  <a:buNone/>
                </a:pPr>
                <a:r>
                  <a:rPr lang="en-US" dirty="0"/>
                  <a:t>Primal constraints:</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h</m:t>
                              </m:r>
                            </m:e>
                            <m:sub>
                              <m:r>
                                <a:rPr lang="en-US" b="0" i="1" dirty="0" smtClean="0">
                                  <a:latin typeface="Cambria Math" panose="02040503050406030204" pitchFamily="18" charset="0"/>
                                </a:rPr>
                                <m:t>𝑖</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e>
                      </m:nary>
                      <m:r>
                        <a:rPr lang="en-US" b="1" i="1" dirty="0" smtClean="0">
                          <a:latin typeface="Cambria Math" panose="02040503050406030204" pitchFamily="18" charset="0"/>
                        </a:rPr>
                        <m:t>⊥</m:t>
                      </m:r>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𝝀</m:t>
                          </m:r>
                        </m:e>
                        <m:sup>
                          <m:r>
                            <a:rPr lang="en-US" b="1" i="1" dirty="0" smtClean="0">
                              <a:latin typeface="Cambria Math" panose="02040503050406030204" pitchFamily="18" charset="0"/>
                            </a:rPr>
                            <m:t>𝒉𝒐𝒖𝒓</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𝑓𝑟𝑒𝑛𝑐h</m:t>
                          </m:r>
                          <m:r>
                            <a:rPr lang="en-US" b="0" i="1" smtClean="0">
                              <a:latin typeface="Cambria Math" panose="02040503050406030204" pitchFamily="18" charset="0"/>
                            </a:rPr>
                            <m:t> </m:t>
                          </m:r>
                          <m:r>
                            <a:rPr lang="en-US" b="0" i="1" smtClean="0">
                              <a:latin typeface="Cambria Math" panose="02040503050406030204" pitchFamily="18" charset="0"/>
                            </a:rPr>
                            <m:t>𝑓𝑟𝑦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h𝑜𝑡</m:t>
                          </m:r>
                          <m:r>
                            <a:rPr lang="en-US" b="0" i="1" smtClean="0">
                              <a:latin typeface="Cambria Math" panose="02040503050406030204" pitchFamily="18" charset="0"/>
                            </a:rPr>
                            <m:t> </m:t>
                          </m:r>
                          <m:r>
                            <a:rPr lang="en-US" b="0" i="1" smtClean="0">
                              <a:latin typeface="Cambria Math" panose="02040503050406030204" pitchFamily="18" charset="0"/>
                            </a:rPr>
                            <m:t>𝑑𝑜𝑔</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𝑐𝑜𝑚𝑏𝑜</m:t>
                          </m:r>
                        </m:sup>
                      </m:sSup>
                    </m:oMath>
                  </m:oMathPara>
                </a14:m>
                <a:endParaRPr lang="en-US" dirty="0"/>
              </a:p>
              <a:p>
                <a:pPr marL="0" indent="0">
                  <a:buNone/>
                </a:pPr>
                <a:endParaRPr lang="en-US" dirty="0"/>
              </a:p>
              <a:p>
                <a:pPr marL="0" indent="0">
                  <a:buNone/>
                </a:pPr>
                <a:r>
                  <a:rPr lang="en-US" dirty="0"/>
                  <a:t>Dual Constraints (can write as one in GAMS):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𝜆</m:t>
                          </m:r>
                        </m:e>
                        <m:sup>
                          <m:r>
                            <a:rPr lang="en-US" b="0" i="1" smtClean="0">
                              <a:latin typeface="Cambria Math" panose="02040503050406030204" pitchFamily="18" charset="0"/>
                            </a:rPr>
                            <m:t>h𝑜𝑢𝑟</m:t>
                          </m:r>
                        </m:sup>
                      </m:sSup>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𝑐𝑜𝑚𝑏𝑜</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h𝑜𝑡</m:t>
                          </m:r>
                          <m:r>
                            <a:rPr lang="en-US" b="0" i="1" smtClean="0">
                              <a:latin typeface="Cambria Math" panose="02040503050406030204" pitchFamily="18" charset="0"/>
                            </a:rPr>
                            <m:t> </m:t>
                          </m:r>
                          <m:r>
                            <a:rPr lang="en-US" b="0" i="1" smtClean="0">
                              <a:latin typeface="Cambria Math" panose="02040503050406030204" pitchFamily="18" charset="0"/>
                            </a:rPr>
                            <m:t>𝑑𝑜𝑔</m:t>
                          </m:r>
                        </m:e>
                      </m:d>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𝜆</m:t>
                          </m:r>
                        </m:e>
                        <m:sup>
                          <m:r>
                            <a:rPr lang="en-US" b="0" i="1" smtClean="0">
                              <a:latin typeface="Cambria Math" panose="02040503050406030204" pitchFamily="18" charset="0"/>
                            </a:rPr>
                            <m:t>h𝑜𝑢𝑟</m:t>
                          </m:r>
                        </m:sup>
                      </m:sSup>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𝑐𝑜𝑚𝑏𝑜</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𝑓𝑟𝑒𝑛𝑐h</m:t>
                          </m:r>
                          <m:r>
                            <a:rPr lang="en-US" b="0" i="1" smtClean="0">
                              <a:latin typeface="Cambria Math" panose="02040503050406030204" pitchFamily="18" charset="0"/>
                            </a:rPr>
                            <m:t> </m:t>
                          </m:r>
                          <m:r>
                            <a:rPr lang="en-US" b="0" i="1" smtClean="0">
                              <a:latin typeface="Cambria Math" panose="02040503050406030204" pitchFamily="18" charset="0"/>
                            </a:rPr>
                            <m:t>𝑓𝑟𝑦</m:t>
                          </m:r>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𝜆</m:t>
                          </m:r>
                        </m:e>
                        <m:sup>
                          <m:r>
                            <a:rPr lang="en-US" b="0" i="1" smtClean="0">
                              <a:latin typeface="Cambria Math" panose="02040503050406030204" pitchFamily="18" charset="0"/>
                            </a:rPr>
                            <m:t>h𝑜𝑢𝑟</m:t>
                          </m:r>
                        </m:sup>
                      </m:sSup>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h𝑎𝑚𝑏𝑢𝑟𝑔𝑒𝑟</m:t>
                          </m:r>
                        </m:e>
                      </m:d>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A057320-DA69-AE24-F189-AE0E52822AA9}"/>
                  </a:ext>
                </a:extLst>
              </p:cNvPr>
              <p:cNvSpPr>
                <a:spLocks noGrp="1" noRot="1" noChangeAspect="1" noMove="1" noResize="1" noEditPoints="1" noAdjustHandles="1" noChangeArrowheads="1" noChangeShapeType="1" noTextEdit="1"/>
              </p:cNvSpPr>
              <p:nvPr>
                <p:ph idx="1"/>
              </p:nvPr>
            </p:nvSpPr>
            <p:spPr>
              <a:xfrm>
                <a:off x="838200" y="1061883"/>
                <a:ext cx="10515600" cy="5483789"/>
              </a:xfrm>
              <a:blipFill>
                <a:blip r:embed="rId2"/>
                <a:stretch>
                  <a:fillRect l="-1206" t="-22402"/>
                </a:stretch>
              </a:blipFill>
            </p:spPr>
            <p:txBody>
              <a:bodyPr/>
              <a:lstStyle/>
              <a:p>
                <a:r>
                  <a:rPr lang="en-US">
                    <a:noFill/>
                  </a:rPr>
                  <a:t> </a:t>
                </a:r>
              </a:p>
            </p:txBody>
          </p:sp>
        </mc:Fallback>
      </mc:AlternateContent>
    </p:spTree>
    <p:extLst>
      <p:ext uri="{BB962C8B-B14F-4D97-AF65-F5344CB8AC3E}">
        <p14:creationId xmlns:p14="http://schemas.microsoft.com/office/powerpoint/2010/main" val="12881827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6C40E-248E-A20D-EE79-55F2500920CD}"/>
              </a:ext>
            </a:extLst>
          </p:cNvPr>
          <p:cNvSpPr>
            <a:spLocks noGrp="1"/>
          </p:cNvSpPr>
          <p:nvPr>
            <p:ph type="title"/>
          </p:nvPr>
        </p:nvSpPr>
        <p:spPr/>
        <p:txBody>
          <a:bodyPr/>
          <a:lstStyle/>
          <a:p>
            <a:r>
              <a:rPr lang="en-US" dirty="0"/>
              <a:t>Now in GAMS, need to:</a:t>
            </a:r>
          </a:p>
        </p:txBody>
      </p:sp>
      <p:sp>
        <p:nvSpPr>
          <p:cNvPr id="3" name="Content Placeholder 2">
            <a:extLst>
              <a:ext uri="{FF2B5EF4-FFF2-40B4-BE49-F238E27FC236}">
                <a16:creationId xmlns:a16="http://schemas.microsoft.com/office/drawing/2014/main" id="{9E527BF8-F3BE-3849-756A-16F05112D5FF}"/>
              </a:ext>
            </a:extLst>
          </p:cNvPr>
          <p:cNvSpPr>
            <a:spLocks noGrp="1"/>
          </p:cNvSpPr>
          <p:nvPr>
            <p:ph idx="1"/>
          </p:nvPr>
        </p:nvSpPr>
        <p:spPr/>
        <p:txBody>
          <a:bodyPr/>
          <a:lstStyle/>
          <a:p>
            <a:r>
              <a:rPr lang="en-US" dirty="0"/>
              <a:t>Solve your initial problem</a:t>
            </a:r>
          </a:p>
          <a:p>
            <a:r>
              <a:rPr lang="en-US" dirty="0"/>
              <a:t>Assign level values to both primal variables and dual variables</a:t>
            </a:r>
          </a:p>
          <a:p>
            <a:pPr lvl="1"/>
            <a:r>
              <a:rPr lang="en-US" dirty="0"/>
              <a:t>Dual variable values set as marginal off the respective constraints</a:t>
            </a:r>
          </a:p>
          <a:p>
            <a:pPr lvl="1"/>
            <a:r>
              <a:rPr lang="en-US" dirty="0"/>
              <a:t>Alternatively, could solve both the primal and dual problem </a:t>
            </a:r>
          </a:p>
          <a:p>
            <a:r>
              <a:rPr lang="en-US" dirty="0"/>
              <a:t>Set iteration limit for MCP problem to zero</a:t>
            </a:r>
          </a:p>
          <a:p>
            <a:r>
              <a:rPr lang="en-US" dirty="0"/>
              <a:t>Make sure we have a zero residual</a:t>
            </a:r>
          </a:p>
          <a:p>
            <a:pPr marL="0" indent="0">
              <a:buNone/>
            </a:pPr>
            <a:endParaRPr lang="en-US" dirty="0"/>
          </a:p>
        </p:txBody>
      </p:sp>
    </p:spTree>
    <p:extLst>
      <p:ext uri="{BB962C8B-B14F-4D97-AF65-F5344CB8AC3E}">
        <p14:creationId xmlns:p14="http://schemas.microsoft.com/office/powerpoint/2010/main" val="4048912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4585B-1AEB-AC42-3813-084A056C063F}"/>
              </a:ext>
            </a:extLst>
          </p:cNvPr>
          <p:cNvSpPr>
            <a:spLocks noGrp="1"/>
          </p:cNvSpPr>
          <p:nvPr>
            <p:ph type="title"/>
          </p:nvPr>
        </p:nvSpPr>
        <p:spPr/>
        <p:txBody>
          <a:bodyPr/>
          <a:lstStyle/>
          <a:p>
            <a:r>
              <a:rPr lang="en-US" dirty="0"/>
              <a:t>Now let’s do the electricity example</a:t>
            </a:r>
          </a:p>
        </p:txBody>
      </p:sp>
      <p:sp>
        <p:nvSpPr>
          <p:cNvPr id="3" name="Content Placeholder 2">
            <a:extLst>
              <a:ext uri="{FF2B5EF4-FFF2-40B4-BE49-F238E27FC236}">
                <a16:creationId xmlns:a16="http://schemas.microsoft.com/office/drawing/2014/main" id="{5DF35E12-49DC-8ED8-2E2F-53A31135E5BB}"/>
              </a:ext>
            </a:extLst>
          </p:cNvPr>
          <p:cNvSpPr>
            <a:spLocks noGrp="1"/>
          </p:cNvSpPr>
          <p:nvPr>
            <p:ph idx="1"/>
          </p:nvPr>
        </p:nvSpPr>
        <p:spPr/>
        <p:txBody>
          <a:bodyPr/>
          <a:lstStyle/>
          <a:p>
            <a:r>
              <a:rPr lang="en-US" dirty="0"/>
              <a:t>Write out initial problem</a:t>
            </a:r>
          </a:p>
          <a:p>
            <a:r>
              <a:rPr lang="en-US" dirty="0"/>
              <a:t>Derive complementarity conditions (dual w/o objective)</a:t>
            </a:r>
          </a:p>
          <a:p>
            <a:r>
              <a:rPr lang="en-US" dirty="0"/>
              <a:t>Set up problem as: [primal constraints] &amp; [dual constraints]</a:t>
            </a:r>
          </a:p>
          <a:p>
            <a:r>
              <a:rPr lang="en-US" dirty="0"/>
              <a:t>Solve your initial problem</a:t>
            </a:r>
          </a:p>
          <a:p>
            <a:r>
              <a:rPr lang="en-US" dirty="0"/>
              <a:t>Assign level values to both primal variables and dual variables</a:t>
            </a:r>
          </a:p>
          <a:p>
            <a:pPr lvl="1"/>
            <a:r>
              <a:rPr lang="en-US" dirty="0"/>
              <a:t>Dual variable values set as marginal off the respective constraints</a:t>
            </a:r>
          </a:p>
          <a:p>
            <a:pPr lvl="1"/>
            <a:r>
              <a:rPr lang="en-US" dirty="0"/>
              <a:t>Alternatively, could solve both the primal and dual problem </a:t>
            </a:r>
          </a:p>
          <a:p>
            <a:r>
              <a:rPr lang="en-US" dirty="0"/>
              <a:t>Set iteration limit for MCP problem to zero</a:t>
            </a:r>
          </a:p>
          <a:p>
            <a:r>
              <a:rPr lang="en-US" dirty="0"/>
              <a:t>Make sure we have a zero residual</a:t>
            </a:r>
          </a:p>
          <a:p>
            <a:endParaRPr lang="en-US" dirty="0"/>
          </a:p>
          <a:p>
            <a:endParaRPr lang="en-US" dirty="0"/>
          </a:p>
        </p:txBody>
      </p:sp>
    </p:spTree>
    <p:extLst>
      <p:ext uri="{BB962C8B-B14F-4D97-AF65-F5344CB8AC3E}">
        <p14:creationId xmlns:p14="http://schemas.microsoft.com/office/powerpoint/2010/main" val="713795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A20A-7939-2032-B525-8FE49E2E2C6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F37782-AC91-0FA0-1422-D7A74442B3E8}"/>
                  </a:ext>
                </a:extLst>
              </p:cNvPr>
              <p:cNvSpPr>
                <a:spLocks noGrp="1"/>
              </p:cNvSpPr>
              <p:nvPr>
                <p:ph idx="1"/>
              </p:nvPr>
            </p:nvSpPr>
            <p:spPr>
              <a:xfrm>
                <a:off x="88900" y="277812"/>
                <a:ext cx="5765800" cy="6302375"/>
              </a:xfrm>
            </p:spPr>
            <p:txBody>
              <a:bodyPr>
                <a:normAutofit fontScale="77500" lnSpcReduction="20000"/>
              </a:bodyPr>
              <a:lstStyle/>
              <a:p>
                <a:pPr marL="0" indent="0">
                  <a:lnSpc>
                    <a:spcPct val="170000"/>
                  </a:lnSpc>
                  <a:buNone/>
                </a:pPr>
                <a:r>
                  <a:rPr lang="en-US" dirty="0"/>
                  <a:t>Primal:</a:t>
                </a:r>
              </a:p>
              <a:p>
                <a:pPr marL="0" indent="0">
                  <a:lnSpc>
                    <a:spcPct val="17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up>
                          <m:r>
                            <a:rPr lang="en-US" b="0" i="1" smtClean="0">
                              <a:latin typeface="Cambria Math" panose="02040503050406030204" pitchFamily="18" charset="0"/>
                            </a:rPr>
                            <m:t>𝑘</m:t>
                          </m:r>
                        </m:sup>
                      </m:sSubSup>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h</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h</m:t>
                          </m:r>
                        </m:sub>
                        <m:sup>
                          <m:r>
                            <a:rPr lang="en-US" b="0" i="1" smtClean="0">
                              <a:latin typeface="Cambria Math" panose="02040503050406030204" pitchFamily="18" charset="0"/>
                            </a:rPr>
                            <m:t>𝑑</m:t>
                          </m:r>
                        </m:sup>
                      </m:sSubSup>
                      <m:r>
                        <a:rPr lang="en-US" b="0" i="1" smtClean="0">
                          <a:latin typeface="Cambria Math" panose="02040503050406030204" pitchFamily="18" charset="0"/>
                        </a:rPr>
                        <m:t>   ∀</m:t>
                      </m:r>
                      <m:r>
                        <a:rPr lang="en-US" b="0" i="1" smtClean="0">
                          <a:latin typeface="Cambria Math" panose="02040503050406030204" pitchFamily="18" charset="0"/>
                        </a:rPr>
                        <m:t>h</m:t>
                      </m:r>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Ψ</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m:rPr>
                              <m:sty m:val="p"/>
                            </m:rPr>
                            <a:rPr lang="en-US" b="0" i="0" smtClean="0">
                              <a:latin typeface="Cambria Math" panose="02040503050406030204" pitchFamily="18" charset="0"/>
                            </a:rPr>
                            <m:t>Ψ</m:t>
                          </m:r>
                        </m:sup>
                      </m:sSup>
                    </m:oMath>
                  </m:oMathPara>
                </a14:m>
                <a:endParaRPr lang="en-US" dirty="0"/>
              </a:p>
              <a:p>
                <a:pPr marL="0" indent="0">
                  <a:lnSpc>
                    <a:spcPct val="170000"/>
                  </a:lnSpc>
                  <a:buNone/>
                </a:pPr>
                <a14:m>
                  <m:oMathPara xmlns:m="http://schemas.openxmlformats.org/officeDocument/2006/math">
                    <m:oMathParaPr>
                      <m:jc m:val="centerGroup"/>
                    </m:oMathParaPr>
                    <m:oMath xmlns:m="http://schemas.openxmlformats.org/officeDocument/2006/math">
                      <m:r>
                        <m:rPr>
                          <m:sty m:val="p"/>
                        </m:rPr>
                        <a:rPr lang="en-US" i="0" smtClean="0">
                          <a:latin typeface="Cambria Math" panose="02040503050406030204" pitchFamily="18" charset="0"/>
                        </a:rPr>
                        <m:t>Φ</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𝑣</m:t>
                              </m:r>
                            </m:sub>
                            <m:sup/>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sub>
                              </m:sSub>
                            </m:e>
                          </m:nary>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m:rPr>
                              <m:sty m:val="p"/>
                            </m:rPr>
                            <a:rPr lang="en-US" b="0" i="0" smtClean="0">
                              <a:latin typeface="Cambria Math" panose="02040503050406030204" pitchFamily="18" charset="0"/>
                            </a:rPr>
                            <m:t>Φ</m:t>
                          </m:r>
                        </m:sup>
                      </m:sSup>
                    </m:oMath>
                  </m:oMathPara>
                </a14:m>
                <a:endParaRPr lang="en-US" dirty="0"/>
              </a:p>
              <a:p>
                <a:pPr marL="0" indent="0">
                  <a:lnSpc>
                    <a:spcPct val="170000"/>
                  </a:lnSpc>
                  <a:buNone/>
                </a:pPr>
                <a:endParaRPr lang="en-US" dirty="0"/>
              </a:p>
              <a:p>
                <a:pPr marL="0" indent="0">
                  <a:lnSpc>
                    <a:spcPct val="170000"/>
                  </a:lnSpc>
                  <a:buNone/>
                </a:pPr>
                <a:endParaRPr lang="en-US" dirty="0"/>
              </a:p>
            </p:txBody>
          </p:sp>
        </mc:Choice>
        <mc:Fallback xmlns="">
          <p:sp>
            <p:nvSpPr>
              <p:cNvPr id="3" name="Content Placeholder 2">
                <a:extLst>
                  <a:ext uri="{FF2B5EF4-FFF2-40B4-BE49-F238E27FC236}">
                    <a16:creationId xmlns:a16="http://schemas.microsoft.com/office/drawing/2014/main" id="{CFF37782-AC91-0FA0-1422-D7A74442B3E8}"/>
                  </a:ext>
                </a:extLst>
              </p:cNvPr>
              <p:cNvSpPr>
                <a:spLocks noGrp="1" noRot="1" noChangeAspect="1" noMove="1" noResize="1" noEditPoints="1" noAdjustHandles="1" noChangeArrowheads="1" noChangeShapeType="1" noTextEdit="1"/>
              </p:cNvSpPr>
              <p:nvPr>
                <p:ph idx="1"/>
              </p:nvPr>
            </p:nvSpPr>
            <p:spPr>
              <a:xfrm>
                <a:off x="88900" y="277812"/>
                <a:ext cx="5765800" cy="6302375"/>
              </a:xfrm>
              <a:blipFill>
                <a:blip r:embed="rId2"/>
                <a:stretch>
                  <a:fillRect l="-1542" b="-6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57ED15FD-FA30-44E8-3B8F-3942854AF37E}"/>
                  </a:ext>
                </a:extLst>
              </p:cNvPr>
              <p:cNvSpPr txBox="1">
                <a:spLocks/>
              </p:cNvSpPr>
              <p:nvPr/>
            </p:nvSpPr>
            <p:spPr>
              <a:xfrm>
                <a:off x="6096000" y="277811"/>
                <a:ext cx="6096000" cy="630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Font typeface="Arial" panose="020B0604020202020204" pitchFamily="34" charset="0"/>
                  <a:buNone/>
                </a:pPr>
                <a:r>
                  <a:rPr lang="en-US" sz="1800" dirty="0"/>
                  <a:t>Dual:</a:t>
                </a:r>
              </a:p>
              <a:p>
                <a:pPr marL="0" indent="0">
                  <a:lnSpc>
                    <a:spcPct val="170000"/>
                  </a:lnSpc>
                  <a:buNone/>
                </a:pPr>
                <a14:m>
                  <m:oMathPara xmlns:m="http://schemas.openxmlformats.org/officeDocument/2006/math">
                    <m:oMathParaPr>
                      <m:jc m:val="centerGroup"/>
                    </m:oMathParaPr>
                    <m:oMath xmlns:m="http://schemas.openxmlformats.org/officeDocument/2006/math">
                      <m:sSubSup>
                        <m:sSubSupPr>
                          <m:ctrlPr>
                            <a:rPr lang="en-US" sz="1800" i="1">
                              <a:latin typeface="Cambria Math" panose="02040503050406030204" pitchFamily="18" charset="0"/>
                            </a:rPr>
                          </m:ctrlPr>
                        </m:sSubSupPr>
                        <m:e>
                          <m:r>
                            <a:rPr lang="en-US" sz="1800" b="0" i="1" smtClean="0">
                              <a:latin typeface="Cambria Math" panose="02040503050406030204" pitchFamily="18" charset="0"/>
                            </a:rPr>
                            <m:t>      </m:t>
                          </m:r>
                          <m:r>
                            <a:rPr lang="en-US" sz="1800" i="1">
                              <a:latin typeface="Cambria Math" panose="02040503050406030204" pitchFamily="18" charset="0"/>
                            </a:rPr>
                            <m:t>𝑐</m:t>
                          </m:r>
                        </m:e>
                        <m:sub>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𝑝</m:t>
                          </m:r>
                          <m:r>
                            <a:rPr lang="en-US" sz="1800" i="1">
                              <a:latin typeface="Cambria Math" panose="02040503050406030204" pitchFamily="18" charset="0"/>
                            </a:rPr>
                            <m:t>,</m:t>
                          </m:r>
                          <m:r>
                            <a:rPr lang="en-US" sz="1800" i="1">
                              <a:latin typeface="Cambria Math" panose="02040503050406030204" pitchFamily="18" charset="0"/>
                            </a:rPr>
                            <m:t>h</m:t>
                          </m:r>
                        </m:sub>
                        <m:sup>
                          <m:r>
                            <a:rPr lang="en-US" sz="1800" i="1">
                              <a:latin typeface="Cambria Math" panose="02040503050406030204" pitchFamily="18" charset="0"/>
                            </a:rPr>
                            <m:t>𝑣</m:t>
                          </m:r>
                        </m:sup>
                      </m:sSubSup>
                      <m:r>
                        <a:rPr lang="en-US" sz="1800" i="1">
                          <a:latin typeface="Cambria Math" panose="02040503050406030204" pitchFamily="18" charset="0"/>
                        </a:rPr>
                        <m:t>+</m:t>
                      </m:r>
                      <m:sSubSup>
                        <m:sSubSupPr>
                          <m:ctrlPr>
                            <a:rPr lang="en-US" sz="1800" i="1">
                              <a:latin typeface="Cambria Math" panose="02040503050406030204" pitchFamily="18" charset="0"/>
                            </a:rPr>
                          </m:ctrlPr>
                        </m:sSubSupPr>
                        <m:e>
                          <m:r>
                            <a:rPr lang="en-US" sz="1800" i="1">
                              <a:latin typeface="Cambria Math" panose="02040503050406030204" pitchFamily="18" charset="0"/>
                            </a:rPr>
                            <m:t>𝑐</m:t>
                          </m:r>
                        </m:e>
                        <m:sub>
                          <m:r>
                            <a:rPr lang="en-US" sz="1800" i="1">
                              <a:latin typeface="Cambria Math" panose="02040503050406030204" pitchFamily="18" charset="0"/>
                            </a:rPr>
                            <m:t>𝑖</m:t>
                          </m:r>
                        </m:sub>
                        <m:sup>
                          <m:r>
                            <a:rPr lang="en-US" sz="1800" i="1">
                              <a:latin typeface="Cambria Math" panose="02040503050406030204" pitchFamily="18" charset="0"/>
                            </a:rPr>
                            <m:t>𝑓</m:t>
                          </m:r>
                        </m:sup>
                      </m:sSubSup>
                      <m:r>
                        <a:rPr lang="en-US" sz="1800" i="1">
                          <a:latin typeface="Cambria Math" panose="02040503050406030204" pitchFamily="18" charset="0"/>
                        </a:rPr>
                        <m:t>h</m:t>
                      </m:r>
                      <m:sSub>
                        <m:sSubPr>
                          <m:ctrlPr>
                            <a:rPr lang="en-US" sz="1800" i="1">
                              <a:latin typeface="Cambria Math" panose="02040503050406030204" pitchFamily="18" charset="0"/>
                            </a:rPr>
                          </m:ctrlPr>
                        </m:sSubPr>
                        <m:e>
                          <m:r>
                            <a:rPr lang="en-US" sz="1800" i="1">
                              <a:latin typeface="Cambria Math" panose="02040503050406030204" pitchFamily="18" charset="0"/>
                            </a:rPr>
                            <m:t>𝑟</m:t>
                          </m:r>
                        </m:e>
                        <m:sub>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𝑝</m:t>
                          </m:r>
                          <m:r>
                            <a:rPr lang="en-US" sz="1800" i="1">
                              <a:latin typeface="Cambria Math" panose="02040503050406030204" pitchFamily="18" charset="0"/>
                            </a:rPr>
                            <m:t>,</m:t>
                          </m:r>
                          <m:r>
                            <a:rPr lang="en-US" sz="1800" i="1">
                              <a:latin typeface="Cambria Math" panose="02040503050406030204" pitchFamily="18" charset="0"/>
                            </a:rPr>
                            <m:t>h</m:t>
                          </m:r>
                        </m:sub>
                      </m:sSub>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𝜆</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up>
                          <m:r>
                            <a:rPr lang="en-US" sz="1800" b="0" i="1" smtClean="0">
                              <a:latin typeface="Cambria Math" panose="02040503050406030204" pitchFamily="18" charset="0"/>
                            </a:rPr>
                            <m:t>𝑘</m:t>
                          </m:r>
                        </m:sup>
                      </m:sSubSup>
                    </m:oMath>
                  </m:oMathPara>
                </a14:m>
                <a:endParaRPr lang="en-US" sz="1800" b="0" i="1" dirty="0">
                  <a:latin typeface="Cambria Math" panose="02040503050406030204" pitchFamily="18" charset="0"/>
                </a:endParaRPr>
              </a:p>
              <a:p>
                <a:pPr marL="0" indent="0">
                  <a:lnSpc>
                    <a:spcPct val="17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   +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𝑒</m:t>
                          </m:r>
                        </m:e>
                        <m:sub>
                          <m:r>
                            <a:rPr lang="en-US" sz="1800" b="0" i="1" smtClean="0">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Sub>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Ψ</m:t>
                          </m:r>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m:rPr>
                              <m:sty m:val="p"/>
                            </m:rPr>
                            <a:rPr lang="en-US" sz="1800" b="0" i="0" smtClean="0">
                              <a:latin typeface="Cambria Math" panose="02040503050406030204" pitchFamily="18" charset="0"/>
                            </a:rPr>
                            <m:t>Φ</m:t>
                          </m:r>
                        </m:sup>
                      </m:sSup>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𝑒</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Sub>
                          <m:r>
                            <a:rPr lang="en-US" sz="1800" b="0" i="1" smtClean="0">
                              <a:latin typeface="Cambria Math" panose="02040503050406030204" pitchFamily="18" charset="0"/>
                            </a:rPr>
                            <m:t>−</m:t>
                          </m:r>
                          <m:r>
                            <m:rPr>
                              <m:sty m:val="p"/>
                            </m:rPr>
                            <a:rPr lang="en-US" sz="1800" b="0" i="0" smtClean="0">
                              <a:latin typeface="Cambria Math" panose="02040503050406030204" pitchFamily="18" charset="0"/>
                            </a:rPr>
                            <m:t>Ψ</m:t>
                          </m:r>
                        </m:e>
                      </m:d>
                    </m:oMath>
                  </m:oMathPara>
                </a14:m>
                <a:endParaRPr lang="en-US" sz="1800" b="0" i="1" dirty="0">
                  <a:latin typeface="Cambria Math" panose="02040503050406030204" pitchFamily="18" charset="0"/>
                </a:endParaRPr>
              </a:p>
              <a:p>
                <a:pPr marL="0" indent="0">
                  <a:lnSpc>
                    <a:spcPct val="17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𝜆</m:t>
                          </m:r>
                        </m:e>
                        <m:sub>
                          <m:r>
                            <a:rPr lang="en-US" sz="1800" b="0" i="1" smtClean="0">
                              <a:latin typeface="Cambria Math" panose="02040503050406030204" pitchFamily="18" charset="0"/>
                            </a:rPr>
                            <m:t>h</m:t>
                          </m:r>
                        </m:sub>
                        <m:sup>
                          <m:r>
                            <a:rPr lang="en-US" sz="1800" b="0" i="1" smtClean="0">
                              <a:latin typeface="Cambria Math" panose="02040503050406030204" pitchFamily="18" charset="0"/>
                            </a:rPr>
                            <m:t>𝑑</m:t>
                          </m:r>
                        </m:sup>
                      </m:sSubSup>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𝑝</m:t>
                          </m:r>
                          <m:r>
                            <a:rPr lang="en-US" sz="1800" b="0" i="1" smtClean="0">
                              <a:latin typeface="Cambria Math" panose="02040503050406030204" pitchFamily="18" charset="0"/>
                            </a:rPr>
                            <m:t>,</m:t>
                          </m:r>
                          <m:r>
                            <a:rPr lang="en-US" sz="1800" b="0" i="1" smtClean="0">
                              <a:latin typeface="Cambria Math" panose="02040503050406030204" pitchFamily="18" charset="0"/>
                            </a:rPr>
                            <m:t>h</m:t>
                          </m:r>
                        </m:sub>
                      </m:sSub>
                      <m:r>
                        <a:rPr lang="en-US" sz="1800" i="1" smtClean="0">
                          <a:latin typeface="Cambria Math" panose="02040503050406030204" pitchFamily="18" charset="0"/>
                        </a:rPr>
                        <m:t> </m:t>
                      </m:r>
                      <m:r>
                        <a:rPr lang="en-US" sz="1800" b="0" i="1" smtClean="0">
                          <a:latin typeface="Cambria Math" panose="02040503050406030204" pitchFamily="18" charset="0"/>
                        </a:rPr>
                        <m:t>   </m:t>
                      </m:r>
                      <m:r>
                        <a:rPr lang="en-US" sz="1800" i="1" smtClean="0">
                          <a:latin typeface="Cambria Math" panose="02040503050406030204" pitchFamily="18" charset="0"/>
                        </a:rPr>
                        <m:t>∀ </m:t>
                      </m:r>
                      <m:r>
                        <a:rPr lang="en-US" sz="1800" i="1" smtClean="0">
                          <a:latin typeface="Cambria Math" panose="02040503050406030204" pitchFamily="18" charset="0"/>
                        </a:rPr>
                        <m:t>𝑠</m:t>
                      </m:r>
                      <m:r>
                        <a:rPr lang="en-US" sz="1800" i="1" smtClean="0">
                          <a:latin typeface="Cambria Math" panose="02040503050406030204" pitchFamily="18" charset="0"/>
                        </a:rPr>
                        <m:t>,</m:t>
                      </m:r>
                      <m:r>
                        <a:rPr lang="en-US" sz="1800" i="1" smtClean="0">
                          <a:latin typeface="Cambria Math" panose="02040503050406030204" pitchFamily="18" charset="0"/>
                        </a:rPr>
                        <m:t>𝑖</m:t>
                      </m:r>
                      <m:r>
                        <a:rPr lang="en-US" sz="1800" i="1" smtClean="0">
                          <a:latin typeface="Cambria Math" panose="02040503050406030204" pitchFamily="18" charset="0"/>
                        </a:rPr>
                        <m:t>,</m:t>
                      </m:r>
                      <m:r>
                        <a:rPr lang="en-US" sz="1800" i="1" smtClean="0">
                          <a:latin typeface="Cambria Math" panose="02040503050406030204" pitchFamily="18" charset="0"/>
                        </a:rPr>
                        <m:t>𝑝</m:t>
                      </m:r>
                      <m:r>
                        <a:rPr lang="en-US" sz="1800" i="1" smtClean="0">
                          <a:latin typeface="Cambria Math" panose="02040503050406030204" pitchFamily="18" charset="0"/>
                        </a:rPr>
                        <m:t>,</m:t>
                      </m:r>
                      <m:r>
                        <a:rPr lang="en-US" sz="1800" i="1" smtClean="0">
                          <a:latin typeface="Cambria Math" panose="02040503050406030204" pitchFamily="18" charset="0"/>
                        </a:rPr>
                        <m:t>h</m:t>
                      </m:r>
                      <m:r>
                        <a:rPr lang="en-US" sz="1800" i="1" smtClean="0">
                          <a:latin typeface="Cambria Math" panose="02040503050406030204" pitchFamily="18" charset="0"/>
                        </a:rPr>
                        <m:t>∈</m:t>
                      </m:r>
                      <m:r>
                        <a:rPr lang="en-US" sz="1800" i="1" smtClean="0">
                          <a:latin typeface="Cambria Math" panose="02040503050406030204" pitchFamily="18" charset="0"/>
                        </a:rPr>
                        <m:t>𝑣</m:t>
                      </m:r>
                    </m:oMath>
                  </m:oMathPara>
                </a14:m>
                <a:endParaRPr lang="en-US" sz="1800" dirty="0"/>
              </a:p>
              <a:p>
                <a:pPr marL="0" indent="0">
                  <a:lnSpc>
                    <a:spcPct val="170000"/>
                  </a:lnSpc>
                  <a:buFont typeface="Arial" panose="020B0604020202020204" pitchFamily="34" charset="0"/>
                  <a:buNone/>
                </a:pPr>
                <a:endParaRPr lang="en-US" sz="1800" dirty="0"/>
              </a:p>
              <a:p>
                <a:pPr marL="0" indent="0">
                  <a:lnSpc>
                    <a:spcPct val="170000"/>
                  </a:lnSpc>
                  <a:buFont typeface="Arial" panose="020B0604020202020204" pitchFamily="34" charset="0"/>
                  <a:buNone/>
                </a:pPr>
                <a:endParaRPr lang="en-US" sz="1800" dirty="0"/>
              </a:p>
              <a:p>
                <a:pPr marL="0" indent="0">
                  <a:lnSpc>
                    <a:spcPct val="170000"/>
                  </a:lnSpc>
                  <a:buFont typeface="Arial" panose="020B0604020202020204" pitchFamily="34" charset="0"/>
                  <a:buNone/>
                </a:pPr>
                <a:endParaRPr lang="en-US" sz="1800" dirty="0"/>
              </a:p>
            </p:txBody>
          </p:sp>
        </mc:Choice>
        <mc:Fallback xmlns="">
          <p:sp>
            <p:nvSpPr>
              <p:cNvPr id="6" name="Content Placeholder 2">
                <a:extLst>
                  <a:ext uri="{FF2B5EF4-FFF2-40B4-BE49-F238E27FC236}">
                    <a16:creationId xmlns:a16="http://schemas.microsoft.com/office/drawing/2014/main" id="{57ED15FD-FA30-44E8-3B8F-3942854AF37E}"/>
                  </a:ext>
                </a:extLst>
              </p:cNvPr>
              <p:cNvSpPr txBox="1">
                <a:spLocks noRot="1" noChangeAspect="1" noMove="1" noResize="1" noEditPoints="1" noAdjustHandles="1" noChangeArrowheads="1" noChangeShapeType="1" noTextEdit="1"/>
              </p:cNvSpPr>
              <p:nvPr/>
            </p:nvSpPr>
            <p:spPr>
              <a:xfrm>
                <a:off x="6096000" y="277811"/>
                <a:ext cx="6096000" cy="6302375"/>
              </a:xfrm>
              <a:prstGeom prst="rect">
                <a:avLst/>
              </a:prstGeom>
              <a:blipFill>
                <a:blip r:embed="rId3"/>
                <a:stretch>
                  <a:fillRect l="-832"/>
                </a:stretch>
              </a:blipFill>
            </p:spPr>
            <p:txBody>
              <a:bodyPr/>
              <a:lstStyle/>
              <a:p>
                <a:r>
                  <a:rPr lang="en-US">
                    <a:noFill/>
                  </a:rPr>
                  <a:t> </a:t>
                </a:r>
              </a:p>
            </p:txBody>
          </p:sp>
        </mc:Fallback>
      </mc:AlternateContent>
    </p:spTree>
    <p:extLst>
      <p:ext uri="{BB962C8B-B14F-4D97-AF65-F5344CB8AC3E}">
        <p14:creationId xmlns:p14="http://schemas.microsoft.com/office/powerpoint/2010/main" val="889798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D6B8-9C1F-E244-0F0D-E2EED6F656AA}"/>
              </a:ext>
            </a:extLst>
          </p:cNvPr>
          <p:cNvSpPr>
            <a:spLocks noGrp="1"/>
          </p:cNvSpPr>
          <p:nvPr>
            <p:ph type="title"/>
          </p:nvPr>
        </p:nvSpPr>
        <p:spPr/>
        <p:txBody>
          <a:bodyPr/>
          <a:lstStyle/>
          <a:p>
            <a:r>
              <a:rPr lang="en-US" dirty="0"/>
              <a:t>What about elastic demand?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F6CC88-4D8C-7B0D-ED3D-22BC1B3EB5DA}"/>
                  </a:ext>
                </a:extLst>
              </p:cNvPr>
              <p:cNvSpPr>
                <a:spLocks noGrp="1"/>
              </p:cNvSpPr>
              <p:nvPr>
                <p:ph idx="1"/>
              </p:nvPr>
            </p:nvSpPr>
            <p:spPr/>
            <p:txBody>
              <a:bodyPr>
                <a:normAutofit fontScale="92500"/>
              </a:bodyPr>
              <a:lstStyle/>
              <a:p>
                <a:pPr marL="0" indent="0">
                  <a:buNone/>
                </a:pPr>
                <a:r>
                  <a:rPr lang="en-US" dirty="0"/>
                  <a:t>Recall we had the elastic demand formula:</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h</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h</m:t>
                                      </m:r>
                                    </m:sub>
                                  </m:sSub>
                                </m:num>
                                <m:den>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h</m:t>
                                      </m:r>
                                    </m:sub>
                                  </m:sSub>
                                </m:den>
                              </m:f>
                            </m:e>
                          </m:d>
                        </m:e>
                        <m:sup>
                          <m:r>
                            <a:rPr lang="en-US" b="0" i="1" smtClean="0">
                              <a:latin typeface="Cambria Math" panose="02040503050406030204" pitchFamily="18" charset="0"/>
                            </a:rPr>
                            <m:t>−</m:t>
                          </m:r>
                          <m:r>
                            <a:rPr lang="en-US" b="0" i="1" smtClean="0">
                              <a:latin typeface="Cambria Math" panose="02040503050406030204" pitchFamily="18" charset="0"/>
                            </a:rPr>
                            <m:t>𝜖</m:t>
                          </m:r>
                        </m:sup>
                      </m:sSup>
                    </m:oMath>
                  </m:oMathPara>
                </a14:m>
                <a:endParaRPr lang="en-US" dirty="0"/>
              </a:p>
              <a:p>
                <a:pPr marL="0" indent="0">
                  <a:buNone/>
                </a:pPr>
                <a:endParaRPr lang="en-US" dirty="0"/>
              </a:p>
              <a:p>
                <a:pPr marL="0" indent="0">
                  <a:buNone/>
                </a:pPr>
                <a:r>
                  <a:rPr lang="en-US" dirty="0"/>
                  <a:t>Can replace dual constraint with:</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𝑞</m:t>
                              </m:r>
                            </m:e>
                          </m:acc>
                        </m:e>
                        <m:sub>
                          <m:r>
                            <a:rPr lang="en-US" i="1">
                              <a:latin typeface="Cambria Math" panose="02040503050406030204" pitchFamily="18" charset="0"/>
                            </a:rPr>
                            <m:t>h</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i="1">
                                          <a:latin typeface="Cambria Math" panose="02040503050406030204" pitchFamily="18" charset="0"/>
                                        </a:rPr>
                                        <m:t>h</m:t>
                                      </m:r>
                                    </m:sub>
                                    <m:sup>
                                      <m:r>
                                        <a:rPr lang="en-US" b="0" i="1" smtClean="0">
                                          <a:latin typeface="Cambria Math" panose="02040503050406030204" pitchFamily="18" charset="0"/>
                                        </a:rPr>
                                        <m:t>𝑑</m:t>
                                      </m:r>
                                    </m:sup>
                                  </m:sSubSup>
                                </m:num>
                                <m:den>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h</m:t>
                                      </m:r>
                                    </m:sub>
                                  </m:sSub>
                                </m:den>
                              </m:f>
                            </m:e>
                          </m:d>
                        </m:e>
                        <m:sup>
                          <m:r>
                            <a:rPr lang="en-US" i="1">
                              <a:latin typeface="Cambria Math" panose="02040503050406030204" pitchFamily="18" charset="0"/>
                            </a:rPr>
                            <m:t>−</m:t>
                          </m:r>
                          <m:r>
                            <a:rPr lang="en-US" i="1">
                              <a:latin typeface="Cambria Math" panose="02040503050406030204" pitchFamily="18" charset="0"/>
                            </a:rPr>
                            <m:t>𝜖</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h</m:t>
                          </m:r>
                        </m:sub>
                        <m:sup>
                          <m:r>
                            <a:rPr lang="en-US" b="0" i="1" smtClean="0">
                              <a:latin typeface="Cambria Math" panose="02040503050406030204" pitchFamily="18" charset="0"/>
                            </a:rPr>
                            <m:t>𝑑</m:t>
                          </m:r>
                        </m:sup>
                      </m:sSubSup>
                    </m:oMath>
                  </m:oMathPara>
                </a14:m>
                <a:endParaRPr lang="en-US" dirty="0"/>
              </a:p>
              <a:p>
                <a:pPr marL="0" indent="0">
                  <a:buNone/>
                </a:pPr>
                <a:endParaRPr lang="en-US" dirty="0"/>
              </a:p>
              <a:p>
                <a:pPr marL="0" indent="0">
                  <a:buNone/>
                </a:pPr>
                <a:r>
                  <a:rPr lang="en-US" dirty="0"/>
                  <a:t>.. Here – using the complementary </a:t>
                </a:r>
                <a:r>
                  <a:rPr lang="en-US" i="1" dirty="0"/>
                  <a:t>dual </a:t>
                </a:r>
                <a:r>
                  <a:rPr lang="en-US" dirty="0"/>
                  <a:t>variable in a </a:t>
                </a:r>
                <a:r>
                  <a:rPr lang="en-US" i="1" dirty="0"/>
                  <a:t>primal </a:t>
                </a:r>
                <a:r>
                  <a:rPr lang="en-US" dirty="0"/>
                  <a:t>constraint</a:t>
                </a:r>
              </a:p>
            </p:txBody>
          </p:sp>
        </mc:Choice>
        <mc:Fallback xmlns="">
          <p:sp>
            <p:nvSpPr>
              <p:cNvPr id="3" name="Content Placeholder 2">
                <a:extLst>
                  <a:ext uri="{FF2B5EF4-FFF2-40B4-BE49-F238E27FC236}">
                    <a16:creationId xmlns:a16="http://schemas.microsoft.com/office/drawing/2014/main" id="{2DF6CC88-4D8C-7B0D-ED3D-22BC1B3EB5DA}"/>
                  </a:ext>
                </a:extLst>
              </p:cNvPr>
              <p:cNvSpPr>
                <a:spLocks noGrp="1" noRot="1" noChangeAspect="1" noMove="1" noResize="1" noEditPoints="1" noAdjustHandles="1" noChangeArrowheads="1" noChangeShapeType="1" noTextEdit="1"/>
              </p:cNvSpPr>
              <p:nvPr>
                <p:ph idx="1"/>
              </p:nvPr>
            </p:nvSpPr>
            <p:spPr>
              <a:blipFill>
                <a:blip r:embed="rId2"/>
                <a:stretch>
                  <a:fillRect l="-1086" t="-2035" b="-17151"/>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5A7D4348-981E-13E5-B2B2-2F8712E5F43C}"/>
              </a:ext>
            </a:extLst>
          </p:cNvPr>
          <p:cNvCxnSpPr/>
          <p:nvPr/>
        </p:nvCxnSpPr>
        <p:spPr>
          <a:xfrm flipV="1">
            <a:off x="8244348" y="3510119"/>
            <a:ext cx="0" cy="589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A35CE89-A471-0529-B830-B05C5E4E0FD2}"/>
              </a:ext>
            </a:extLst>
          </p:cNvPr>
          <p:cNvCxnSpPr>
            <a:cxnSpLocks/>
          </p:cNvCxnSpPr>
          <p:nvPr/>
        </p:nvCxnSpPr>
        <p:spPr>
          <a:xfrm>
            <a:off x="6902245" y="3510119"/>
            <a:ext cx="134210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20AE99CB-98BD-4085-5B6C-B68B5430C96D}"/>
              </a:ext>
            </a:extLst>
          </p:cNvPr>
          <p:cNvCxnSpPr/>
          <p:nvPr/>
        </p:nvCxnSpPr>
        <p:spPr>
          <a:xfrm>
            <a:off x="6902245" y="3510119"/>
            <a:ext cx="0" cy="3392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274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0FEDF-AAF7-E2DE-3034-A0149971ADA8}"/>
              </a:ext>
            </a:extLst>
          </p:cNvPr>
          <p:cNvSpPr>
            <a:spLocks noGrp="1"/>
          </p:cNvSpPr>
          <p:nvPr>
            <p:ph type="title"/>
          </p:nvPr>
        </p:nvSpPr>
        <p:spPr/>
        <p:txBody>
          <a:bodyPr/>
          <a:lstStyle/>
          <a:p>
            <a:r>
              <a:rPr lang="en-US" dirty="0"/>
              <a:t>Oligopolistic Competition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F619F5-BDA4-802D-0257-726224A8F98C}"/>
                  </a:ext>
                </a:extLst>
              </p:cNvPr>
              <p:cNvSpPr>
                <a:spLocks noGrp="1"/>
              </p:cNvSpPr>
              <p:nvPr>
                <p:ph idx="1"/>
              </p:nvPr>
            </p:nvSpPr>
            <p:spPr/>
            <p:txBody>
              <a:bodyPr/>
              <a:lstStyle/>
              <a:p>
                <a:r>
                  <a:rPr lang="en-US" dirty="0"/>
                  <a:t>.. occurs when only a few firms dominate the market</a:t>
                </a:r>
              </a:p>
              <a:p>
                <a:endParaRPr lang="en-US" dirty="0"/>
              </a:p>
              <a:p>
                <a:r>
                  <a:rPr lang="en-US" dirty="0"/>
                  <a:t>When perfectly competitive, firms do not have price control and will set price equal to marginal cost – that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𝑀𝐶</m:t>
                      </m:r>
                    </m:oMath>
                  </m:oMathPara>
                </a14:m>
                <a:endParaRPr lang="en-US" dirty="0"/>
              </a:p>
              <a:p>
                <a:pPr marL="0" indent="0">
                  <a:buNone/>
                </a:pPr>
                <a:endParaRPr lang="en-US" dirty="0"/>
              </a:p>
              <a:p>
                <a:r>
                  <a:rPr lang="en-US" dirty="0"/>
                  <a:t>A few dominant firms (</a:t>
                </a:r>
                <a14:m>
                  <m:oMath xmlns:m="http://schemas.openxmlformats.org/officeDocument/2006/math">
                    <m:r>
                      <a:rPr lang="en-US" b="0" i="1" smtClean="0">
                        <a:latin typeface="Cambria Math" panose="02040503050406030204" pitchFamily="18" charset="0"/>
                      </a:rPr>
                      <m:t>𝑖</m:t>
                    </m:r>
                  </m:oMath>
                </a14:m>
                <a:r>
                  <a:rPr lang="en-US" dirty="0"/>
                  <a:t>) have price control and set marginal revenue (from the demand curve) equal to marginal cost: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oMath>
                  </m:oMathPara>
                </a14:m>
                <a:endParaRPr lang="en-US" dirty="0"/>
              </a:p>
            </p:txBody>
          </p:sp>
        </mc:Choice>
        <mc:Fallback xmlns="">
          <p:sp>
            <p:nvSpPr>
              <p:cNvPr id="3" name="Content Placeholder 2">
                <a:extLst>
                  <a:ext uri="{FF2B5EF4-FFF2-40B4-BE49-F238E27FC236}">
                    <a16:creationId xmlns:a16="http://schemas.microsoft.com/office/drawing/2014/main" id="{FDF619F5-BDA4-802D-0257-726224A8F98C}"/>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2003018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F10AB-830B-8C83-B0BC-BE0318824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B10A6-BFCD-DD27-F281-794C203958DA}"/>
              </a:ext>
            </a:extLst>
          </p:cNvPr>
          <p:cNvSpPr>
            <a:spLocks noGrp="1"/>
          </p:cNvSpPr>
          <p:nvPr>
            <p:ph type="title"/>
          </p:nvPr>
        </p:nvSpPr>
        <p:spPr/>
        <p:txBody>
          <a:bodyPr/>
          <a:lstStyle/>
          <a:p>
            <a:r>
              <a:rPr lang="en-US" dirty="0"/>
              <a:t>Oligopolistic Competition</a:t>
            </a:r>
          </a:p>
        </p:txBody>
      </p:sp>
      <p:sp>
        <p:nvSpPr>
          <p:cNvPr id="3" name="Content Placeholder 2">
            <a:extLst>
              <a:ext uri="{FF2B5EF4-FFF2-40B4-BE49-F238E27FC236}">
                <a16:creationId xmlns:a16="http://schemas.microsoft.com/office/drawing/2014/main" id="{8C0FB2F3-877E-1288-02E2-6DDA15EED273}"/>
              </a:ext>
            </a:extLst>
          </p:cNvPr>
          <p:cNvSpPr>
            <a:spLocks noGrp="1"/>
          </p:cNvSpPr>
          <p:nvPr>
            <p:ph idx="1"/>
          </p:nvPr>
        </p:nvSpPr>
        <p:spPr>
          <a:xfrm>
            <a:off x="270164" y="1825625"/>
            <a:ext cx="11921836" cy="4351338"/>
          </a:xfrm>
        </p:spPr>
        <p:txBody>
          <a:bodyPr>
            <a:normAutofit/>
          </a:bodyPr>
          <a:lstStyle/>
          <a:p>
            <a:r>
              <a:rPr lang="en-US" dirty="0"/>
              <a:t>No longer…</a:t>
            </a:r>
          </a:p>
          <a:p>
            <a:pPr lvl="1"/>
            <a:r>
              <a:rPr lang="en-US" sz="2800" dirty="0"/>
              <a:t>maximizing social surplus as was done with supply and demand curves</a:t>
            </a:r>
          </a:p>
          <a:p>
            <a:pPr lvl="1"/>
            <a:r>
              <a:rPr lang="en-US" sz="2800" dirty="0"/>
              <a:t>able to aggregate objective functions as each firm is self-interested</a:t>
            </a:r>
          </a:p>
          <a:p>
            <a:endParaRPr lang="en-US" dirty="0"/>
          </a:p>
          <a:p>
            <a:r>
              <a:rPr lang="en-US" dirty="0"/>
              <a:t>Another perspective: Each firm is interacting in a shared market but acting individually in their own, profit-maximizing way</a:t>
            </a:r>
          </a:p>
          <a:p>
            <a:endParaRPr lang="en-US" dirty="0"/>
          </a:p>
          <a:p>
            <a:r>
              <a:rPr lang="en-US" dirty="0"/>
              <a:t>… thus can’t simply </a:t>
            </a:r>
            <a:r>
              <a:rPr lang="en-US" dirty="0" err="1"/>
              <a:t>sumand</a:t>
            </a:r>
            <a:r>
              <a:rPr lang="en-US" dirty="0"/>
              <a:t> maximize profits </a:t>
            </a:r>
          </a:p>
        </p:txBody>
      </p:sp>
    </p:spTree>
    <p:extLst>
      <p:ext uri="{BB962C8B-B14F-4D97-AF65-F5344CB8AC3E}">
        <p14:creationId xmlns:p14="http://schemas.microsoft.com/office/powerpoint/2010/main" val="4154398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4A050-44FC-9009-8A6D-551EA2505C8A}"/>
              </a:ext>
            </a:extLst>
          </p:cNvPr>
          <p:cNvSpPr>
            <a:spLocks noGrp="1"/>
          </p:cNvSpPr>
          <p:nvPr>
            <p:ph type="title"/>
          </p:nvPr>
        </p:nvSpPr>
        <p:spPr>
          <a:xfrm>
            <a:off x="0" y="-265691"/>
            <a:ext cx="10515600" cy="1325563"/>
          </a:xfrm>
        </p:spPr>
        <p:txBody>
          <a:bodyPr/>
          <a:lstStyle/>
          <a:p>
            <a:r>
              <a:rPr lang="en-US" dirty="0"/>
              <a:t>Cournot model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00AE07-E8F2-9C19-A367-E27D12CD5E4B}"/>
                  </a:ext>
                </a:extLst>
              </p:cNvPr>
              <p:cNvSpPr>
                <a:spLocks noGrp="1"/>
              </p:cNvSpPr>
              <p:nvPr>
                <p:ph idx="1"/>
              </p:nvPr>
            </p:nvSpPr>
            <p:spPr>
              <a:xfrm>
                <a:off x="838200" y="645460"/>
                <a:ext cx="10515600" cy="6212540"/>
              </a:xfrm>
            </p:spPr>
            <p:txBody>
              <a:bodyPr>
                <a:normAutofit fontScale="92500" lnSpcReduction="10000"/>
              </a:bodyPr>
              <a:lstStyle/>
              <a:p>
                <a:pPr marL="0" indent="0">
                  <a:buNone/>
                </a:pPr>
                <a:r>
                  <a:rPr lang="en-US" dirty="0"/>
                  <a:t>Linear demand as a function of aggregated supply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e>
                    </m:nary>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𝑄</m:t>
                      </m:r>
                      <m:r>
                        <a:rPr lang="en-US" b="0" i="1" smtClean="0">
                          <a:latin typeface="Cambria Math" panose="02040503050406030204" pitchFamily="18" charset="0"/>
                        </a:rPr>
                        <m:t> →</m:t>
                      </m:r>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𝛼</m:t>
                          </m:r>
                        </m:num>
                        <m:den>
                          <m:r>
                            <a:rPr lang="en-US" b="0" i="1" smtClean="0">
                              <a:latin typeface="Cambria Math" panose="02040503050406030204" pitchFamily="18" charset="0"/>
                            </a:rPr>
                            <m:t>−</m:t>
                          </m:r>
                          <m:r>
                            <a:rPr lang="en-US" b="0" i="1" smtClean="0">
                              <a:latin typeface="Cambria Math" panose="02040503050406030204" pitchFamily="18" charset="0"/>
                            </a:rPr>
                            <m:t>𝛽</m:t>
                          </m:r>
                        </m:den>
                      </m:f>
                    </m:oMath>
                  </m:oMathPara>
                </a14:m>
                <a:endParaRPr lang="en-US" dirty="0"/>
              </a:p>
              <a:p>
                <a:pPr marL="0" indent="0">
                  <a:buNone/>
                </a:pPr>
                <a:endParaRPr lang="en-US" dirty="0"/>
              </a:p>
              <a:p>
                <a:pPr marL="0" indent="0">
                  <a:buNone/>
                </a:pPr>
                <a:r>
                  <a:rPr lang="en-US" dirty="0"/>
                  <a:t>Revenue for firm </a:t>
                </a:r>
                <a14:m>
                  <m:oMath xmlns:m="http://schemas.openxmlformats.org/officeDocument/2006/math">
                    <m:r>
                      <a:rPr lang="en-US" b="0" i="1" smtClean="0">
                        <a:latin typeface="Cambria Math" panose="02040503050406030204" pitchFamily="18" charset="0"/>
                      </a:rPr>
                      <m:t>𝑖</m:t>
                    </m:r>
                  </m:oMath>
                </a14:m>
                <a:r>
                  <a:rPr lang="en-US" dirty="0"/>
                  <a:t> is: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𝑗</m:t>
                                      </m:r>
                                    </m:sub>
                                  </m:sSub>
                                </m:e>
                              </m:nary>
                            </m:e>
                          </m:d>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m:oMathPara>
                </a14:m>
                <a:endParaRPr lang="en-US" dirty="0"/>
              </a:p>
              <a:p>
                <a:pPr marL="0" indent="0">
                  <a:buNone/>
                </a:pPr>
                <a:r>
                  <a:rPr lang="en-US" dirty="0"/>
                  <a:t>Assume cost function as: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m:oMathPara>
                </a14:m>
                <a:endParaRPr lang="en-US" dirty="0"/>
              </a:p>
              <a:p>
                <a:pPr marL="0" indent="0">
                  <a:buNone/>
                </a:pPr>
                <a:endParaRPr lang="en-US" dirty="0"/>
              </a:p>
              <a:p>
                <a:pPr marL="0" indent="0">
                  <a:buNone/>
                </a:pPr>
                <a:r>
                  <a:rPr lang="en-US" dirty="0"/>
                  <a:t>Profit is then:</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𝑗</m:t>
                                          </m:r>
                                        </m:sub>
                                      </m:sSub>
                                    </m:e>
                                  </m:nary>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𝑏</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000AE07-E8F2-9C19-A367-E27D12CD5E4B}"/>
                  </a:ext>
                </a:extLst>
              </p:cNvPr>
              <p:cNvSpPr>
                <a:spLocks noGrp="1" noRot="1" noChangeAspect="1" noMove="1" noResize="1" noEditPoints="1" noAdjustHandles="1" noChangeArrowheads="1" noChangeShapeType="1" noTextEdit="1"/>
              </p:cNvSpPr>
              <p:nvPr>
                <p:ph idx="1"/>
              </p:nvPr>
            </p:nvSpPr>
            <p:spPr>
              <a:xfrm>
                <a:off x="838200" y="645460"/>
                <a:ext cx="10515600" cy="6212540"/>
              </a:xfrm>
              <a:blipFill>
                <a:blip r:embed="rId2"/>
                <a:stretch>
                  <a:fillRect l="-1086" t="-11429" b="-27143"/>
                </a:stretch>
              </a:blipFill>
            </p:spPr>
            <p:txBody>
              <a:bodyPr/>
              <a:lstStyle/>
              <a:p>
                <a:r>
                  <a:rPr lang="en-US">
                    <a:noFill/>
                  </a:rPr>
                  <a:t> </a:t>
                </a:r>
              </a:p>
            </p:txBody>
          </p:sp>
        </mc:Fallback>
      </mc:AlternateContent>
    </p:spTree>
    <p:extLst>
      <p:ext uri="{BB962C8B-B14F-4D97-AF65-F5344CB8AC3E}">
        <p14:creationId xmlns:p14="http://schemas.microsoft.com/office/powerpoint/2010/main" val="2790621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D5ABE9-0099-5508-0499-4528F5F3C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E4170-5CFC-FB18-C23F-750CEAEB1D6C}"/>
              </a:ext>
            </a:extLst>
          </p:cNvPr>
          <p:cNvSpPr>
            <a:spLocks noGrp="1"/>
          </p:cNvSpPr>
          <p:nvPr>
            <p:ph type="title"/>
          </p:nvPr>
        </p:nvSpPr>
        <p:spPr>
          <a:xfrm>
            <a:off x="355600" y="0"/>
            <a:ext cx="10515600" cy="1325563"/>
          </a:xfrm>
        </p:spPr>
        <p:txBody>
          <a:bodyPr/>
          <a:lstStyle/>
          <a:p>
            <a:r>
              <a:rPr lang="en-US" dirty="0"/>
              <a:t>Cournot model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312E70-C048-868E-0684-D6A545756385}"/>
                  </a:ext>
                </a:extLst>
              </p:cNvPr>
              <p:cNvSpPr>
                <a:spLocks noGrp="1"/>
              </p:cNvSpPr>
              <p:nvPr>
                <p:ph idx="1"/>
              </p:nvPr>
            </p:nvSpPr>
            <p:spPr>
              <a:xfrm>
                <a:off x="838200" y="1101436"/>
                <a:ext cx="10515600" cy="5590309"/>
              </a:xfrm>
            </p:spPr>
            <p:txBody>
              <a:bodyPr>
                <a:normAutofit fontScale="70000" lnSpcReduction="20000"/>
              </a:bodyPr>
              <a:lstStyle/>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𝑖</m:t>
                          </m:r>
                        </m:sub>
                      </m:sSub>
                      <m:r>
                        <a:rPr lang="en-US" i="1">
                          <a:latin typeface="Cambria Math" panose="02040503050406030204" pitchFamily="18" charset="0"/>
                        </a:rPr>
                        <m:t>=</m:t>
                      </m:r>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𝑗</m:t>
                                          </m:r>
                                        </m:sub>
                                      </m:sSub>
                                    </m:e>
                                  </m:nary>
                                </m:e>
                              </m:d>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𝑗</m:t>
                                  </m:r>
                                </m:sub>
                              </m:sSub>
                            </m:e>
                          </m:nary>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𝑞</m:t>
                          </m:r>
                        </m:e>
                        <m:sub>
                          <m:r>
                            <a:rPr lang="en-US" i="1">
                              <a:latin typeface="Cambria Math" panose="02040503050406030204" pitchFamily="18" charset="0"/>
                            </a:rPr>
                            <m:t>𝑖</m:t>
                          </m:r>
                        </m:sub>
                        <m:sup>
                          <m:r>
                            <a:rPr lang="en-US" i="1">
                              <a:latin typeface="Cambria Math" panose="02040503050406030204" pitchFamily="18" charset="0"/>
                            </a:rPr>
                            <m:t>2</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oMath>
                  </m:oMathPara>
                </a14:m>
                <a:endParaRPr lang="en-US" dirty="0"/>
              </a:p>
              <a:p>
                <a:pPr marL="0" indent="0">
                  <a:buNone/>
                </a:pPr>
                <a:endParaRPr lang="en-US" dirty="0"/>
              </a:p>
              <a:p>
                <a:pPr marL="0" indent="0">
                  <a:buNone/>
                </a:pPr>
                <a:r>
                  <a:rPr lang="en-US" dirty="0"/>
                  <a:t>To find optimal behavior, need to differentiate with respect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a14:m>
                <a:r>
                  <a:rPr lang="en-US" dirty="0"/>
                  <a:t>:</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𝑗</m:t>
                                  </m:r>
                                </m:sub>
                              </m:sSub>
                            </m:e>
                          </m:nary>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r>
                            <a:rPr lang="en-US" b="0" i="1" smtClean="0">
                              <a:latin typeface="Cambria Math" panose="02040503050406030204" pitchFamily="18" charset="0"/>
                            </a:rPr>
                            <m:t>)</m:t>
                          </m:r>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−2</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r>
                  <a:rPr lang="en-US" dirty="0"/>
                  <a:t>Noting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𝑑𝑄</m:t>
                        </m:r>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=1</m:t>
                    </m:r>
                  </m:oMath>
                </a14:m>
                <a:r>
                  <a:rPr lang="en-US" dirty="0"/>
                  <a:t>, then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𝑏𝑄</m:t>
                            </m:r>
                          </m:e>
                        </m:d>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r>
                      <a:rPr lang="en-US" b="0" i="1" smtClean="0">
                        <a:latin typeface="Cambria Math" panose="02040503050406030204" pitchFamily="18" charset="0"/>
                      </a:rPr>
                      <m:t>𝑏</m:t>
                    </m:r>
                  </m:oMath>
                </a14:m>
                <a:r>
                  <a:rPr lang="en-US" dirty="0"/>
                  <a:t>, then:</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e>
                      </m:d>
                      <m:r>
                        <a:rPr lang="en-US" b="0" i="1" smtClean="0">
                          <a:latin typeface="Cambria Math" panose="02040503050406030204" pitchFamily="18" charset="0"/>
                        </a:rPr>
                        <m:t>−2</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𝑗</m:t>
                                  </m:r>
                                </m:sub>
                              </m:sSub>
                            </m:e>
                          </m:nary>
                        </m:e>
                      </m:d>
                      <m:r>
                        <a:rPr lang="en-US" b="0" i="1" smtClean="0">
                          <a:latin typeface="Cambria Math" panose="02040503050406030204" pitchFamily="18" charset="0"/>
                        </a:rPr>
                        <m:t>−3</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e>
                      </m:d>
                      <m:r>
                        <a:rPr lang="en-US" b="0" i="1" smtClean="0">
                          <a:latin typeface="Cambria Math" panose="02040503050406030204" pitchFamily="18" charset="0"/>
                        </a:rPr>
                        <m:t>−2</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D312E70-C048-868E-0684-D6A545756385}"/>
                  </a:ext>
                </a:extLst>
              </p:cNvPr>
              <p:cNvSpPr>
                <a:spLocks noGrp="1" noRot="1" noChangeAspect="1" noMove="1" noResize="1" noEditPoints="1" noAdjustHandles="1" noChangeArrowheads="1" noChangeShapeType="1" noTextEdit="1"/>
              </p:cNvSpPr>
              <p:nvPr>
                <p:ph idx="1"/>
              </p:nvPr>
            </p:nvSpPr>
            <p:spPr>
              <a:xfrm>
                <a:off x="838200" y="1101436"/>
                <a:ext cx="10515600" cy="5590309"/>
              </a:xfrm>
              <a:blipFill>
                <a:blip r:embed="rId2"/>
                <a:stretch>
                  <a:fillRect l="-724" t="-17647" b="-14027"/>
                </a:stretch>
              </a:blipFill>
            </p:spPr>
            <p:txBody>
              <a:bodyPr/>
              <a:lstStyle/>
              <a:p>
                <a:r>
                  <a:rPr lang="en-US">
                    <a:noFill/>
                  </a:rPr>
                  <a:t> </a:t>
                </a:r>
              </a:p>
            </p:txBody>
          </p:sp>
        </mc:Fallback>
      </mc:AlternateContent>
    </p:spTree>
    <p:extLst>
      <p:ext uri="{BB962C8B-B14F-4D97-AF65-F5344CB8AC3E}">
        <p14:creationId xmlns:p14="http://schemas.microsoft.com/office/powerpoint/2010/main" val="11912189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F4142-A6FB-B6BB-EDC3-6C907F207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D8CED-E1A0-2D61-7C14-08273389BAEF}"/>
              </a:ext>
            </a:extLst>
          </p:cNvPr>
          <p:cNvSpPr>
            <a:spLocks noGrp="1"/>
          </p:cNvSpPr>
          <p:nvPr>
            <p:ph type="title"/>
          </p:nvPr>
        </p:nvSpPr>
        <p:spPr>
          <a:xfrm>
            <a:off x="355600" y="0"/>
            <a:ext cx="10515600" cy="1325563"/>
          </a:xfrm>
        </p:spPr>
        <p:txBody>
          <a:bodyPr/>
          <a:lstStyle/>
          <a:p>
            <a:r>
              <a:rPr lang="en-US" dirty="0"/>
              <a:t>Cournot model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5FE496-7359-9007-A3F8-145490E9E253}"/>
                  </a:ext>
                </a:extLst>
              </p:cNvPr>
              <p:cNvSpPr>
                <a:spLocks noGrp="1"/>
              </p:cNvSpPr>
              <p:nvPr>
                <p:ph idx="1"/>
              </p:nvPr>
            </p:nvSpPr>
            <p:spPr>
              <a:xfrm>
                <a:off x="838200" y="1101436"/>
                <a:ext cx="10515600" cy="5590309"/>
              </a:xfrm>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𝑖</m:t>
                          </m:r>
                        </m:sub>
                      </m:sSub>
                      <m:r>
                        <a:rPr lang="en-US" i="1">
                          <a:latin typeface="Cambria Math" panose="02040503050406030204" pitchFamily="18" charset="0"/>
                        </a:rPr>
                        <m:t>=</m:t>
                      </m:r>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𝑗</m:t>
                                          </m:r>
                                        </m:sub>
                                      </m:sSub>
                                    </m:e>
                                  </m:nary>
                                </m:e>
                              </m:d>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𝑗</m:t>
                                  </m:r>
                                </m:sub>
                              </m:sSub>
                            </m:e>
                          </m:nary>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𝑞</m:t>
                          </m:r>
                        </m:e>
                        <m:sub>
                          <m:r>
                            <a:rPr lang="en-US" i="1">
                              <a:latin typeface="Cambria Math" panose="02040503050406030204" pitchFamily="18" charset="0"/>
                            </a:rPr>
                            <m:t>𝑖</m:t>
                          </m:r>
                        </m:sub>
                        <m:sup>
                          <m:r>
                            <a:rPr lang="en-US" i="1">
                              <a:latin typeface="Cambria Math" panose="02040503050406030204" pitchFamily="18" charset="0"/>
                            </a:rPr>
                            <m:t>2</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oMath>
                  </m:oMathPara>
                </a14:m>
                <a:endParaRPr lang="en-US" dirty="0"/>
              </a:p>
              <a:p>
                <a:pPr marL="0" indent="0">
                  <a:buNone/>
                </a:pPr>
                <a:endParaRPr lang="en-US" dirty="0"/>
              </a:p>
              <a:p>
                <a:pPr marL="0" indent="0">
                  <a:buNone/>
                </a:pPr>
                <a:r>
                  <a:rPr lang="en-US" dirty="0"/>
                  <a:t>To find optimal behavior, need to differentiate with respect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a14:m>
                <a:r>
                  <a:rPr lang="en-US" dirty="0"/>
                  <a:t>:</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𝑗</m:t>
                                  </m:r>
                                </m:sub>
                              </m:sSub>
                            </m:e>
                          </m:nary>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r>
                            <a:rPr lang="en-US" b="0" i="1" smtClean="0">
                              <a:latin typeface="Cambria Math" panose="02040503050406030204" pitchFamily="18" charset="0"/>
                            </a:rPr>
                            <m:t>)</m:t>
                          </m:r>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−2</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r>
                  <a:rPr lang="en-US" dirty="0"/>
                  <a:t>Noting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𝑑𝑄</m:t>
                        </m:r>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=1</m:t>
                    </m:r>
                  </m:oMath>
                </a14:m>
                <a:r>
                  <a:rPr lang="en-US" dirty="0"/>
                  <a:t>, then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𝑏𝑄</m:t>
                            </m:r>
                          </m:e>
                        </m:d>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r>
                      <a:rPr lang="en-US" b="0" i="1" smtClean="0">
                        <a:latin typeface="Cambria Math" panose="02040503050406030204" pitchFamily="18" charset="0"/>
                      </a:rPr>
                      <m:t>𝑏</m:t>
                    </m:r>
                  </m:oMath>
                </a14:m>
                <a:r>
                  <a:rPr lang="en-US" dirty="0"/>
                  <a:t>, and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a14:m>
                <a:r>
                  <a:rPr lang="en-US" dirty="0"/>
                  <a:t> then: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e>
                      </m:d>
                      <m:r>
                        <a:rPr lang="en-US" b="0" i="1" smtClean="0">
                          <a:latin typeface="Cambria Math" panose="02040503050406030204" pitchFamily="18" charset="0"/>
                        </a:rPr>
                        <m:t>−2</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B5FE496-7359-9007-A3F8-145490E9E253}"/>
                  </a:ext>
                </a:extLst>
              </p:cNvPr>
              <p:cNvSpPr>
                <a:spLocks noGrp="1" noRot="1" noChangeAspect="1" noMove="1" noResize="1" noEditPoints="1" noAdjustHandles="1" noChangeArrowheads="1" noChangeShapeType="1" noTextEdit="1"/>
              </p:cNvSpPr>
              <p:nvPr>
                <p:ph idx="1"/>
              </p:nvPr>
            </p:nvSpPr>
            <p:spPr>
              <a:xfrm>
                <a:off x="838200" y="1101436"/>
                <a:ext cx="10515600" cy="5590309"/>
              </a:xfrm>
              <a:blipFill>
                <a:blip r:embed="rId2"/>
                <a:stretch>
                  <a:fillRect l="-1086" t="-23529"/>
                </a:stretch>
              </a:blipFill>
            </p:spPr>
            <p:txBody>
              <a:bodyPr/>
              <a:lstStyle/>
              <a:p>
                <a:r>
                  <a:rPr lang="en-US">
                    <a:noFill/>
                  </a:rPr>
                  <a:t> </a:t>
                </a:r>
              </a:p>
            </p:txBody>
          </p:sp>
        </mc:Fallback>
      </mc:AlternateContent>
    </p:spTree>
    <p:extLst>
      <p:ext uri="{BB962C8B-B14F-4D97-AF65-F5344CB8AC3E}">
        <p14:creationId xmlns:p14="http://schemas.microsoft.com/office/powerpoint/2010/main" val="31723748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A9682-14A2-49A7-62C8-E594E3068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6527C-45BB-3C56-3557-AABF8288F882}"/>
              </a:ext>
            </a:extLst>
          </p:cNvPr>
          <p:cNvSpPr>
            <a:spLocks noGrp="1"/>
          </p:cNvSpPr>
          <p:nvPr>
            <p:ph type="title"/>
          </p:nvPr>
        </p:nvSpPr>
        <p:spPr>
          <a:xfrm>
            <a:off x="0" y="0"/>
            <a:ext cx="10515600" cy="1325563"/>
          </a:xfrm>
        </p:spPr>
        <p:txBody>
          <a:bodyPr/>
          <a:lstStyle/>
          <a:p>
            <a:r>
              <a:rPr lang="en-US" dirty="0"/>
              <a:t>Cournot model derivation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AC3927-D5E3-7395-DE86-1A3A567C125D}"/>
                  </a:ext>
                </a:extLst>
              </p:cNvPr>
              <p:cNvSpPr>
                <a:spLocks noGrp="1"/>
              </p:cNvSpPr>
              <p:nvPr>
                <p:ph idx="1"/>
              </p:nvPr>
            </p:nvSpPr>
            <p:spPr>
              <a:xfrm>
                <a:off x="838200" y="1974273"/>
                <a:ext cx="10515600" cy="4717472"/>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𝑏𝑄</m:t>
                          </m:r>
                        </m:e>
                      </m:d>
                      <m:r>
                        <a:rPr lang="en-US" b="0" i="1" smtClean="0">
                          <a:latin typeface="Cambria Math" panose="02040503050406030204" pitchFamily="18" charset="0"/>
                        </a:rPr>
                        <m:t>−</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Para>
                </a14:m>
                <a:endParaRPr lang="en-US" b="0" dirty="0"/>
              </a:p>
              <a:p>
                <a:pPr marL="0" indent="0">
                  <a:buNone/>
                </a:pPr>
                <a:endParaRPr lang="en-US" dirty="0"/>
              </a:p>
              <a:p>
                <a:pPr marL="0" indent="0">
                  <a:buNone/>
                </a:pPr>
                <a:r>
                  <a:rPr lang="en-US" dirty="0"/>
                  <a:t>Implies (a) </a:t>
                </a:r>
                <a14:m>
                  <m:oMath xmlns:m="http://schemas.openxmlformats.org/officeDocument/2006/math">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oMath>
                </a14:m>
                <a:r>
                  <a:rPr lang="en-US" dirty="0"/>
                  <a:t> and (b):</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𝑏𝑄</m:t>
                          </m:r>
                        </m:num>
                        <m:den>
                          <m:r>
                            <a:rPr lang="en-US" b="0" i="1" smtClean="0">
                              <a:latin typeface="Cambria Math" panose="02040503050406030204" pitchFamily="18" charset="0"/>
                            </a:rPr>
                            <m:t>𝑏</m:t>
                          </m:r>
                        </m:den>
                      </m:f>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5AC3927-D5E3-7395-DE86-1A3A567C125D}"/>
                  </a:ext>
                </a:extLst>
              </p:cNvPr>
              <p:cNvSpPr>
                <a:spLocks noGrp="1" noRot="1" noChangeAspect="1" noMove="1" noResize="1" noEditPoints="1" noAdjustHandles="1" noChangeArrowheads="1" noChangeShapeType="1" noTextEdit="1"/>
              </p:cNvSpPr>
              <p:nvPr>
                <p:ph idx="1"/>
              </p:nvPr>
            </p:nvSpPr>
            <p:spPr>
              <a:xfrm>
                <a:off x="838200" y="1974273"/>
                <a:ext cx="10515600" cy="4717472"/>
              </a:xfrm>
              <a:blipFill>
                <a:blip r:embed="rId2"/>
                <a:stretch>
                  <a:fillRect l="-1206" t="-268"/>
                </a:stretch>
              </a:blipFill>
            </p:spPr>
            <p:txBody>
              <a:bodyPr/>
              <a:lstStyle/>
              <a:p>
                <a:r>
                  <a:rPr lang="en-US">
                    <a:noFill/>
                  </a:rPr>
                  <a:t> </a:t>
                </a:r>
              </a:p>
            </p:txBody>
          </p:sp>
        </mc:Fallback>
      </mc:AlternateContent>
    </p:spTree>
    <p:extLst>
      <p:ext uri="{BB962C8B-B14F-4D97-AF65-F5344CB8AC3E}">
        <p14:creationId xmlns:p14="http://schemas.microsoft.com/office/powerpoint/2010/main" val="39978466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CD8AA-C361-AF65-55EC-98A0184A2F6E}"/>
              </a:ext>
            </a:extLst>
          </p:cNvPr>
          <p:cNvSpPr>
            <a:spLocks noGrp="1"/>
          </p:cNvSpPr>
          <p:nvPr>
            <p:ph type="title"/>
          </p:nvPr>
        </p:nvSpPr>
        <p:spPr>
          <a:xfrm>
            <a:off x="0" y="-196010"/>
            <a:ext cx="10515600" cy="1325563"/>
          </a:xfrm>
        </p:spPr>
        <p:txBody>
          <a:bodyPr/>
          <a:lstStyle/>
          <a:p>
            <a:r>
              <a:rPr lang="en-US" dirty="0"/>
              <a:t>Cournot model as an MCP (linear)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3C89EC-B605-E8D0-74C5-7D41F0282312}"/>
                  </a:ext>
                </a:extLst>
              </p:cNvPr>
              <p:cNvSpPr>
                <a:spLocks noGrp="1"/>
              </p:cNvSpPr>
              <p:nvPr>
                <p:ph idx="1"/>
              </p:nvPr>
            </p:nvSpPr>
            <p:spPr>
              <a:xfrm>
                <a:off x="264459" y="778706"/>
                <a:ext cx="5567082" cy="6104965"/>
              </a:xfrm>
            </p:spPr>
            <p:txBody>
              <a:bodyPr>
                <a:normAutofit/>
              </a:bodyPr>
              <a:lstStyle/>
              <a:p>
                <a:pPr marL="0" indent="0">
                  <a:buNone/>
                </a:pPr>
                <a:r>
                  <a:rPr lang="en-US" dirty="0"/>
                  <a:t>Indices:</a:t>
                </a:r>
              </a:p>
              <a:p>
                <a:pPr marL="0" indent="0">
                  <a:buNone/>
                </a:pPr>
                <a14:m>
                  <m:oMath xmlns:m="http://schemas.openxmlformats.org/officeDocument/2006/math">
                    <m:r>
                      <a:rPr lang="en-US" b="0" i="1" smtClean="0">
                        <a:latin typeface="Cambria Math" panose="02040503050406030204" pitchFamily="18" charset="0"/>
                      </a:rPr>
                      <m:t>𝑖</m:t>
                    </m:r>
                  </m:oMath>
                </a14:m>
                <a:r>
                  <a:rPr lang="en-US" dirty="0"/>
                  <a:t>: firm</a:t>
                </a:r>
              </a:p>
              <a:p>
                <a:pPr marL="0" indent="0">
                  <a:buNone/>
                </a:pPr>
                <a:endParaRPr lang="en-US" dirty="0"/>
              </a:p>
              <a:p>
                <a:pPr marL="0" indent="0">
                  <a:buNone/>
                </a:pPr>
                <a:r>
                  <a:rPr lang="en-US" dirty="0"/>
                  <a:t>Parameters:</a:t>
                </a:r>
              </a:p>
              <a:p>
                <a:pPr marL="0" indent="0">
                  <a:buNone/>
                </a:pPr>
                <a14:m>
                  <m:oMath xmlns:m="http://schemas.openxmlformats.org/officeDocument/2006/math">
                    <m:r>
                      <a:rPr lang="en-US" b="0" i="1" smtClean="0">
                        <a:latin typeface="Cambria Math" panose="02040503050406030204" pitchFamily="18" charset="0"/>
                      </a:rPr>
                      <m:t>𝑎</m:t>
                    </m:r>
                  </m:oMath>
                </a14:m>
                <a:r>
                  <a:rPr lang="en-US" b="0" dirty="0">
                    <a:latin typeface="Cambria Math" panose="02040503050406030204" pitchFamily="18" charset="0"/>
                  </a:rPr>
                  <a:t>: demand intercept</a:t>
                </a:r>
              </a:p>
              <a:p>
                <a:pPr marL="0" indent="0">
                  <a:buNone/>
                </a:pPr>
                <a14:m>
                  <m:oMath xmlns:m="http://schemas.openxmlformats.org/officeDocument/2006/math">
                    <m:r>
                      <a:rPr lang="en-US" b="0" i="1" smtClean="0">
                        <a:latin typeface="Cambria Math" panose="02040503050406030204" pitchFamily="18" charset="0"/>
                      </a:rPr>
                      <m:t>𝑏</m:t>
                    </m:r>
                  </m:oMath>
                </a14:m>
                <a:r>
                  <a:rPr lang="en-US" dirty="0"/>
                  <a:t>: demand slope</a:t>
                </a:r>
              </a:p>
              <a:p>
                <a:pPr marL="0" indent="0">
                  <a:buNone/>
                </a:pPr>
                <a:endParaRPr lang="en-US" dirty="0"/>
              </a:p>
              <a:p>
                <a:pPr marL="0" indent="0">
                  <a:buFont typeface="Arial" panose="020B0604020202020204" pitchFamily="34" charset="0"/>
                  <a:buNone/>
                </a:pPr>
                <a:r>
                  <a:rPr lang="en-US" dirty="0"/>
                  <a:t>Variables:</a:t>
                </a: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𝑃</m:t>
                    </m:r>
                  </m:oMath>
                </a14:m>
                <a:r>
                  <a:rPr lang="en-US" dirty="0"/>
                  <a:t>: market price ($ / units)</a:t>
                </a:r>
              </a:p>
              <a:p>
                <a:pPr marL="0" indent="0">
                  <a:buFont typeface="Arial" panose="020B0604020202020204" pitchFamily="34" charse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a14:m>
                <a:r>
                  <a:rPr lang="en-US" dirty="0"/>
                  <a:t>: firm production (units)</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F3C89EC-B605-E8D0-74C5-7D41F0282312}"/>
                  </a:ext>
                </a:extLst>
              </p:cNvPr>
              <p:cNvSpPr>
                <a:spLocks noGrp="1" noRot="1" noChangeAspect="1" noMove="1" noResize="1" noEditPoints="1" noAdjustHandles="1" noChangeArrowheads="1" noChangeShapeType="1" noTextEdit="1"/>
              </p:cNvSpPr>
              <p:nvPr>
                <p:ph idx="1"/>
              </p:nvPr>
            </p:nvSpPr>
            <p:spPr>
              <a:xfrm>
                <a:off x="264459" y="778706"/>
                <a:ext cx="5567082" cy="6104965"/>
              </a:xfrm>
              <a:blipFill>
                <a:blip r:embed="rId2"/>
                <a:stretch>
                  <a:fillRect l="-2273" t="-16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E520325-A82C-63BE-6C5F-812ACDD3AE62}"/>
                  </a:ext>
                </a:extLst>
              </p:cNvPr>
              <p:cNvSpPr txBox="1">
                <a:spLocks/>
              </p:cNvSpPr>
              <p:nvPr/>
            </p:nvSpPr>
            <p:spPr>
              <a:xfrm>
                <a:off x="6096000" y="753035"/>
                <a:ext cx="5567082" cy="61049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i="1" dirty="0"/>
                  <a:t>Complementarity conditions</a:t>
                </a:r>
              </a:p>
              <a:p>
                <a:pPr marL="0" indent="0">
                  <a:buFont typeface="Arial" panose="020B0604020202020204" pitchFamily="34" charset="0"/>
                  <a:buNone/>
                </a:pPr>
                <a:endParaRPr lang="en-US" b="1" i="1" dirty="0"/>
              </a:p>
              <a:p>
                <a:pPr marL="0" indent="0">
                  <a:buFont typeface="Arial" panose="020B0604020202020204" pitchFamily="34" charset="0"/>
                  <a:buNone/>
                </a:pPr>
                <a:r>
                  <a:rPr lang="en-US" dirty="0"/>
                  <a:t>Supply equals demand:</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𝛼</m:t>
                          </m:r>
                        </m:num>
                        <m:den>
                          <m:r>
                            <a:rPr lang="en-US" i="1">
                              <a:latin typeface="Cambria Math" panose="02040503050406030204" pitchFamily="18" charset="0"/>
                            </a:rPr>
                            <m:t>−</m:t>
                          </m:r>
                          <m:r>
                            <a:rPr lang="en-US" i="1">
                              <a:latin typeface="Cambria Math" panose="02040503050406030204" pitchFamily="18" charset="0"/>
                            </a:rPr>
                            <m:t>𝛽</m:t>
                          </m:r>
                        </m:den>
                      </m:f>
                      <m:r>
                        <a:rPr lang="en-US" b="0" i="1" smtClean="0">
                          <a:latin typeface="Cambria Math" panose="02040503050406030204" pitchFamily="18" charset="0"/>
                        </a:rPr>
                        <m:t> ⊥</m:t>
                      </m:r>
                      <m:r>
                        <a:rPr lang="en-US" b="0" i="1" smtClean="0">
                          <a:latin typeface="Cambria Math" panose="02040503050406030204" pitchFamily="18" charset="0"/>
                        </a:rPr>
                        <m:t>𝑃</m:t>
                      </m:r>
                    </m:oMath>
                  </m:oMathPara>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oMath>
                </a14:m>
                <a:r>
                  <a:rPr lang="en-US" dirty="0"/>
                  <a:t>:</a:t>
                </a:r>
              </a:p>
              <a:p>
                <a:pPr marL="0" indent="0">
                  <a:buFont typeface="Arial" panose="020B0604020202020204" pitchFamily="34" charset="0"/>
                  <a:buNone/>
                </a:pPr>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b="0" i="1" smtClean="0">
                              <a:latin typeface="Cambria Math" panose="02040503050406030204" pitchFamily="18" charset="0"/>
                            </a:rPr>
                            <m:t>𝑏</m:t>
                          </m:r>
                          <m:r>
                            <a:rPr lang="en-US" i="1">
                              <a:latin typeface="Cambria Math" panose="02040503050406030204" pitchFamily="18" charset="0"/>
                            </a:rPr>
                            <m:t>𝑄</m:t>
                          </m:r>
                        </m:e>
                      </m:d>
                      <m:r>
                        <a:rPr lang="en-US" i="1">
                          <a:latin typeface="Cambria Math" panose="02040503050406030204" pitchFamily="18" charset="0"/>
                        </a:rPr>
                        <m:t>−</m:t>
                      </m:r>
                      <m:r>
                        <a:rPr lang="en-US" b="0" i="1" smtClean="0">
                          <a:latin typeface="Cambria Math" panose="02040503050406030204" pitchFamily="18" charset="0"/>
                        </a:rPr>
                        <m:t>𝑏</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m:oMathPara>
                </a14:m>
                <a:endParaRPr lang="en-US" dirty="0"/>
              </a:p>
              <a:p>
                <a:pPr marL="0" indent="0">
                  <a:buNone/>
                </a:pPr>
                <a:endParaRPr lang="en-US" dirty="0"/>
              </a:p>
              <a:p>
                <a:pPr marL="0" indent="0">
                  <a:buNone/>
                </a:pPr>
                <a:r>
                  <a:rPr lang="en-US" dirty="0"/>
                  <a:t>Note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e>
                    </m:nary>
                  </m:oMath>
                </a14:m>
                <a:endParaRPr lang="en-US" dirty="0"/>
              </a:p>
              <a:p>
                <a:pPr marL="0" indent="0">
                  <a:buFont typeface="Arial" panose="020B0604020202020204" pitchFamily="34" charset="0"/>
                  <a:buNone/>
                </a:pPr>
                <a:endParaRPr lang="en-US" dirty="0"/>
              </a:p>
            </p:txBody>
          </p:sp>
        </mc:Choice>
        <mc:Fallback xmlns="">
          <p:sp>
            <p:nvSpPr>
              <p:cNvPr id="4" name="Content Placeholder 2">
                <a:extLst>
                  <a:ext uri="{FF2B5EF4-FFF2-40B4-BE49-F238E27FC236}">
                    <a16:creationId xmlns:a16="http://schemas.microsoft.com/office/drawing/2014/main" id="{BE520325-A82C-63BE-6C5F-812ACDD3AE62}"/>
                  </a:ext>
                </a:extLst>
              </p:cNvPr>
              <p:cNvSpPr txBox="1">
                <a:spLocks noRot="1" noChangeAspect="1" noMove="1" noResize="1" noEditPoints="1" noAdjustHandles="1" noChangeArrowheads="1" noChangeShapeType="1" noTextEdit="1"/>
              </p:cNvSpPr>
              <p:nvPr/>
            </p:nvSpPr>
            <p:spPr>
              <a:xfrm>
                <a:off x="6096000" y="753035"/>
                <a:ext cx="5567082" cy="6104965"/>
              </a:xfrm>
              <a:prstGeom prst="rect">
                <a:avLst/>
              </a:prstGeom>
              <a:blipFill>
                <a:blip r:embed="rId3"/>
                <a:stretch>
                  <a:fillRect l="-2506" t="-2911" b="-4990"/>
                </a:stretch>
              </a:blipFill>
            </p:spPr>
            <p:txBody>
              <a:bodyPr/>
              <a:lstStyle/>
              <a:p>
                <a:r>
                  <a:rPr lang="en-US">
                    <a:noFill/>
                  </a:rPr>
                  <a:t> </a:t>
                </a:r>
              </a:p>
            </p:txBody>
          </p:sp>
        </mc:Fallback>
      </mc:AlternateContent>
    </p:spTree>
    <p:extLst>
      <p:ext uri="{BB962C8B-B14F-4D97-AF65-F5344CB8AC3E}">
        <p14:creationId xmlns:p14="http://schemas.microsoft.com/office/powerpoint/2010/main" val="223735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6AE1D-4E29-B336-1AB3-5F4149049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6C320-18BD-1E58-B686-E1B96D3C070C}"/>
              </a:ext>
            </a:extLst>
          </p:cNvPr>
          <p:cNvSpPr>
            <a:spLocks noGrp="1"/>
          </p:cNvSpPr>
          <p:nvPr>
            <p:ph type="title"/>
          </p:nvPr>
        </p:nvSpPr>
        <p:spPr>
          <a:xfrm>
            <a:off x="0" y="-196010"/>
            <a:ext cx="12192000" cy="1325563"/>
          </a:xfrm>
        </p:spPr>
        <p:txBody>
          <a:bodyPr/>
          <a:lstStyle/>
          <a:p>
            <a:r>
              <a:rPr lang="en-US" dirty="0"/>
              <a:t>Cournot model as an MCP – from Murphy et al. 1982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317D2-B770-D086-4FA3-8EFCAF81623F}"/>
                  </a:ext>
                </a:extLst>
              </p:cNvPr>
              <p:cNvSpPr>
                <a:spLocks noGrp="1"/>
              </p:cNvSpPr>
              <p:nvPr>
                <p:ph idx="1"/>
              </p:nvPr>
            </p:nvSpPr>
            <p:spPr>
              <a:xfrm>
                <a:off x="264459" y="797669"/>
                <a:ext cx="5567082" cy="6441740"/>
              </a:xfrm>
            </p:spPr>
            <p:txBody>
              <a:bodyPr>
                <a:normAutofit/>
              </a:bodyPr>
              <a:lstStyle/>
              <a:p>
                <a:pPr marL="0" indent="0">
                  <a:buNone/>
                </a:pPr>
                <a:r>
                  <a:rPr lang="en-US" dirty="0"/>
                  <a:t>Indices:</a:t>
                </a:r>
              </a:p>
              <a:p>
                <a:pPr marL="0" indent="0">
                  <a:buNone/>
                </a:pPr>
                <a14:m>
                  <m:oMath xmlns:m="http://schemas.openxmlformats.org/officeDocument/2006/math">
                    <m:r>
                      <a:rPr lang="en-US" b="0" i="1" smtClean="0">
                        <a:latin typeface="Cambria Math" panose="02040503050406030204" pitchFamily="18" charset="0"/>
                      </a:rPr>
                      <m:t>𝑖</m:t>
                    </m:r>
                  </m:oMath>
                </a14:m>
                <a:r>
                  <a:rPr lang="en-US" dirty="0"/>
                  <a:t>: firm</a:t>
                </a:r>
              </a:p>
              <a:p>
                <a:pPr marL="0" indent="0">
                  <a:buNone/>
                </a:pPr>
                <a:endParaRPr lang="en-US" dirty="0"/>
              </a:p>
              <a:p>
                <a:pPr marL="0" indent="0">
                  <a:buNone/>
                </a:pPr>
                <a:r>
                  <a:rPr lang="en-US" dirty="0"/>
                  <a:t>Parameters:</a:t>
                </a:r>
              </a:p>
              <a:p>
                <a:pPr marL="0" indent="0">
                  <a:buNone/>
                </a:pPr>
                <a14:m>
                  <m:oMath xmlns:m="http://schemas.openxmlformats.org/officeDocument/2006/math">
                    <m:r>
                      <a:rPr lang="en-US" b="0" i="1" smtClean="0">
                        <a:latin typeface="Cambria Math" panose="02040503050406030204" pitchFamily="18" charset="0"/>
                      </a:rPr>
                      <m:t>𝑎</m:t>
                    </m:r>
                  </m:oMath>
                </a14:m>
                <a:r>
                  <a:rPr lang="en-US" b="0" dirty="0">
                    <a:latin typeface="Cambria Math" panose="02040503050406030204" pitchFamily="18" charset="0"/>
                  </a:rPr>
                  <a:t>: demand scaler</a:t>
                </a:r>
              </a:p>
              <a:p>
                <a:pPr marL="0" indent="0">
                  <a:buNone/>
                </a:pPr>
                <a14:m>
                  <m:oMath xmlns:m="http://schemas.openxmlformats.org/officeDocument/2006/math">
                    <m:r>
                      <a:rPr lang="en-US" b="0" i="1" smtClean="0">
                        <a:latin typeface="Cambria Math" panose="02040503050406030204" pitchFamily="18" charset="0"/>
                      </a:rPr>
                      <m:t>𝜖</m:t>
                    </m:r>
                  </m:oMath>
                </a14:m>
                <a:r>
                  <a:rPr lang="en-US" b="0" dirty="0">
                    <a:latin typeface="Cambria Math" panose="02040503050406030204" pitchFamily="18" charset="0"/>
                  </a:rPr>
                  <a:t>: demand elasticity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oMath>
                </a14:m>
                <a:r>
                  <a:rPr lang="en-US" b="0" dirty="0">
                    <a:latin typeface="Cambria Math" panose="02040503050406030204" pitchFamily="18" charset="0"/>
                  </a:rPr>
                  <a:t>: firm-specific costs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oMath>
                </a14:m>
                <a:r>
                  <a:rPr lang="en-US" b="0" dirty="0">
                    <a:latin typeface="Cambria Math" panose="02040503050406030204" pitchFamily="18" charset="0"/>
                  </a:rPr>
                  <a:t>: supply elasticity</a:t>
                </a:r>
              </a:p>
              <a:p>
                <a:pPr marL="0" indent="0">
                  <a:buNone/>
                </a:pPr>
                <a:endParaRPr lang="en-US" dirty="0"/>
              </a:p>
              <a:p>
                <a:pPr marL="0" indent="0">
                  <a:buFont typeface="Arial" panose="020B0604020202020204" pitchFamily="34" charset="0"/>
                  <a:buNone/>
                </a:pPr>
                <a:r>
                  <a:rPr lang="en-US" dirty="0"/>
                  <a:t>Variables:</a:t>
                </a: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𝑃</m:t>
                    </m:r>
                  </m:oMath>
                </a14:m>
                <a:r>
                  <a:rPr lang="en-US" dirty="0"/>
                  <a:t>: market price ($ / units)</a:t>
                </a:r>
              </a:p>
              <a:p>
                <a:pPr marL="0" indent="0">
                  <a:buFont typeface="Arial" panose="020B0604020202020204" pitchFamily="34" charse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a14:m>
                <a:r>
                  <a:rPr lang="en-US" dirty="0"/>
                  <a:t>: firm production (units)</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AE0317D2-B770-D086-4FA3-8EFCAF81623F}"/>
                  </a:ext>
                </a:extLst>
              </p:cNvPr>
              <p:cNvSpPr>
                <a:spLocks noGrp="1" noRot="1" noChangeAspect="1" noMove="1" noResize="1" noEditPoints="1" noAdjustHandles="1" noChangeArrowheads="1" noChangeShapeType="1" noTextEdit="1"/>
              </p:cNvSpPr>
              <p:nvPr>
                <p:ph idx="1"/>
              </p:nvPr>
            </p:nvSpPr>
            <p:spPr>
              <a:xfrm>
                <a:off x="264459" y="797669"/>
                <a:ext cx="5567082" cy="6441740"/>
              </a:xfrm>
              <a:blipFill>
                <a:blip r:embed="rId2"/>
                <a:stretch>
                  <a:fillRect l="-2273" t="-15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39DFC64F-35DD-2997-1059-209E5E770E6A}"/>
                  </a:ext>
                </a:extLst>
              </p:cNvPr>
              <p:cNvSpPr txBox="1">
                <a:spLocks/>
              </p:cNvSpPr>
              <p:nvPr/>
            </p:nvSpPr>
            <p:spPr>
              <a:xfrm>
                <a:off x="6096000" y="1129553"/>
                <a:ext cx="5567082" cy="61049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i="1" dirty="0"/>
                  <a:t>Complementarity conditions</a:t>
                </a:r>
              </a:p>
              <a:p>
                <a:pPr marL="0" indent="0">
                  <a:buFont typeface="Arial" panose="020B0604020202020204" pitchFamily="34" charset="0"/>
                  <a:buNone/>
                </a:pPr>
                <a:endParaRPr lang="en-US" b="1" i="1" dirty="0"/>
              </a:p>
              <a:p>
                <a:pPr marL="0" indent="0">
                  <a:buFont typeface="Arial" panose="020B0604020202020204" pitchFamily="34" charset="0"/>
                  <a:buNone/>
                </a:pPr>
                <a:r>
                  <a:rPr lang="en-US" dirty="0"/>
                  <a:t>Supply equals demand:</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r>
                        <a:rPr lang="en-US" i="1" smtClean="0">
                          <a:latin typeface="Cambria Math" panose="02040503050406030204" pitchFamily="18" charset="0"/>
                        </a:rPr>
                        <m:t>𝛼</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r>
                            <a:rPr lang="en-US" b="0" i="1" smtClean="0">
                              <a:latin typeface="Cambria Math" panose="02040503050406030204" pitchFamily="18" charset="0"/>
                            </a:rPr>
                            <m:t>𝜖</m:t>
                          </m:r>
                        </m:sup>
                      </m:sSup>
                      <m:r>
                        <a:rPr lang="en-US" b="0" i="1" smtClean="0">
                          <a:latin typeface="Cambria Math" panose="02040503050406030204" pitchFamily="18" charset="0"/>
                        </a:rPr>
                        <m:t>⊥</m:t>
                      </m:r>
                      <m:r>
                        <a:rPr lang="en-US" b="0" i="1" smtClean="0">
                          <a:latin typeface="Cambria Math" panose="02040503050406030204" pitchFamily="18" charset="0"/>
                        </a:rPr>
                        <m:t>𝑃</m:t>
                      </m:r>
                    </m:oMath>
                  </m:oMathPara>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oMath>
                </a14:m>
                <a:r>
                  <a:rPr lang="en-US" dirty="0"/>
                  <a: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num>
                                <m:den>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Sub>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den>
                          </m:f>
                        </m:sup>
                      </m:sSup>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r>
                            <a:rPr lang="en-US" b="0" i="1" smtClean="0">
                              <a:latin typeface="Cambria Math" panose="02040503050406030204" pitchFamily="18" charset="0"/>
                            </a:rPr>
                            <m:t>𝑞</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𝜖</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oMath>
                  </m:oMathPara>
                </a14:m>
                <a:endParaRPr lang="en-US" dirty="0"/>
              </a:p>
              <a:p>
                <a:pPr marL="0" indent="0">
                  <a:buNone/>
                </a:pPr>
                <a:endParaRPr lang="en-US" dirty="0"/>
              </a:p>
              <a:p>
                <a:pPr marL="0" indent="0">
                  <a:buNone/>
                </a:pPr>
                <a:r>
                  <a:rPr lang="en-US" dirty="0"/>
                  <a:t>Note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e>
                    </m:nary>
                  </m:oMath>
                </a14:m>
                <a:endParaRPr lang="en-US" dirty="0"/>
              </a:p>
              <a:p>
                <a:pPr marL="0" indent="0">
                  <a:buFont typeface="Arial" panose="020B0604020202020204" pitchFamily="34" charset="0"/>
                  <a:buNone/>
                </a:pPr>
                <a:endParaRPr lang="en-US" dirty="0"/>
              </a:p>
            </p:txBody>
          </p:sp>
        </mc:Choice>
        <mc:Fallback xmlns="">
          <p:sp>
            <p:nvSpPr>
              <p:cNvPr id="4" name="Content Placeholder 2">
                <a:extLst>
                  <a:ext uri="{FF2B5EF4-FFF2-40B4-BE49-F238E27FC236}">
                    <a16:creationId xmlns:a16="http://schemas.microsoft.com/office/drawing/2014/main" id="{39DFC64F-35DD-2997-1059-209E5E770E6A}"/>
                  </a:ext>
                </a:extLst>
              </p:cNvPr>
              <p:cNvSpPr txBox="1">
                <a:spLocks noRot="1" noChangeAspect="1" noMove="1" noResize="1" noEditPoints="1" noAdjustHandles="1" noChangeArrowheads="1" noChangeShapeType="1" noTextEdit="1"/>
              </p:cNvSpPr>
              <p:nvPr/>
            </p:nvSpPr>
            <p:spPr>
              <a:xfrm>
                <a:off x="6096000" y="1129553"/>
                <a:ext cx="5567082" cy="6104965"/>
              </a:xfrm>
              <a:prstGeom prst="rect">
                <a:avLst/>
              </a:prstGeom>
              <a:blipFill>
                <a:blip r:embed="rId3"/>
                <a:stretch>
                  <a:fillRect l="-2506" t="-2697" b="-5602"/>
                </a:stretch>
              </a:blipFill>
            </p:spPr>
            <p:txBody>
              <a:bodyPr/>
              <a:lstStyle/>
              <a:p>
                <a:r>
                  <a:rPr lang="en-US">
                    <a:noFill/>
                  </a:rPr>
                  <a:t> </a:t>
                </a:r>
              </a:p>
            </p:txBody>
          </p:sp>
        </mc:Fallback>
      </mc:AlternateContent>
    </p:spTree>
    <p:extLst>
      <p:ext uri="{BB962C8B-B14F-4D97-AF65-F5344CB8AC3E}">
        <p14:creationId xmlns:p14="http://schemas.microsoft.com/office/powerpoint/2010/main" val="3525798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AAF41-AD6B-83FF-FBA5-E283859C794C}"/>
              </a:ext>
            </a:extLst>
          </p:cNvPr>
          <p:cNvSpPr>
            <a:spLocks noGrp="1"/>
          </p:cNvSpPr>
          <p:nvPr>
            <p:ph type="title"/>
          </p:nvPr>
        </p:nvSpPr>
        <p:spPr/>
        <p:txBody>
          <a:bodyPr/>
          <a:lstStyle/>
          <a:p>
            <a:r>
              <a:rPr lang="en-US" dirty="0"/>
              <a:t>Note on deriving MC curves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9F5D1C-BB33-3EB0-58AE-609E12F17828}"/>
                  </a:ext>
                </a:extLst>
              </p:cNvPr>
              <p:cNvSpPr>
                <a:spLocks noGrp="1"/>
              </p:cNvSpPr>
              <p:nvPr>
                <p:ph idx="1"/>
              </p:nvPr>
            </p:nvSpPr>
            <p:spPr>
              <a:xfrm>
                <a:off x="838200" y="1527243"/>
                <a:ext cx="10515600" cy="5068110"/>
              </a:xfrm>
            </p:spPr>
            <p:txBody>
              <a:bodyPr>
                <a:normAutofit/>
              </a:bodyPr>
              <a:lstStyle/>
              <a:p>
                <a:pPr marL="0" indent="0">
                  <a:buNone/>
                </a:pPr>
                <a:r>
                  <a:rPr lang="en-US" dirty="0"/>
                  <a:t>Original function:</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𝛽</m:t>
                          </m:r>
                        </m:e>
                      </m:d>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+1</m:t>
                              </m:r>
                            </m:sup>
                          </m:sSup>
                        </m:num>
                        <m:den>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𝑞</m:t>
                                  </m:r>
                                </m:e>
                              </m:acc>
                            </m:e>
                            <m:sub>
                              <m:r>
                                <a:rPr lang="en-US" i="1">
                                  <a:latin typeface="Cambria Math" panose="02040503050406030204" pitchFamily="18" charset="0"/>
                                </a:rPr>
                                <m:t>𝑖</m:t>
                              </m:r>
                            </m:sub>
                            <m:sup>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𝑖</m:t>
                                      </m:r>
                                    </m:sub>
                                  </m:sSub>
                                </m:den>
                              </m:f>
                            </m:sup>
                          </m:sSubSup>
                          <m:r>
                            <a:rPr lang="en-US" b="0" i="1" smtClean="0">
                              <a:latin typeface="Cambria Math" panose="02040503050406030204" pitchFamily="18" charset="0"/>
                            </a:rPr>
                            <m:t>𝛽</m:t>
                          </m:r>
                        </m:den>
                      </m:f>
                    </m:oMath>
                  </m:oMathPara>
                </a14:m>
                <a:endParaRPr lang="en-US" dirty="0"/>
              </a:p>
              <a:p>
                <a:pPr marL="0" indent="0">
                  <a:buNone/>
                </a:pPr>
                <a:endParaRPr lang="en-US" dirty="0"/>
              </a:p>
              <a:p>
                <a:pPr marL="0" indent="0">
                  <a:buNone/>
                </a:pPr>
                <a:r>
                  <a:rPr lang="en-US" dirty="0"/>
                  <a:t>Implies:</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num>
                                <m:den>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Sub>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den>
                          </m:f>
                        </m:sup>
                      </m:sSup>
                    </m:oMath>
                  </m:oMathPara>
                </a14:m>
                <a:endParaRPr lang="en-US" dirty="0"/>
              </a:p>
              <a:p>
                <a:pPr marL="0" indent="0">
                  <a:buNone/>
                </a:pPr>
                <a:endParaRPr lang="en-US" dirty="0"/>
              </a:p>
              <a:p>
                <a:pPr marL="0" indent="0">
                  <a:buNone/>
                </a:pPr>
                <a:r>
                  <a:rPr lang="en-US" dirty="0"/>
                  <a:t>From the wild west times of functional forms…</a:t>
                </a:r>
              </a:p>
            </p:txBody>
          </p:sp>
        </mc:Choice>
        <mc:Fallback>
          <p:sp>
            <p:nvSpPr>
              <p:cNvPr id="3" name="Content Placeholder 2">
                <a:extLst>
                  <a:ext uri="{FF2B5EF4-FFF2-40B4-BE49-F238E27FC236}">
                    <a16:creationId xmlns:a16="http://schemas.microsoft.com/office/drawing/2014/main" id="{D29F5D1C-BB33-3EB0-58AE-609E12F17828}"/>
                  </a:ext>
                </a:extLst>
              </p:cNvPr>
              <p:cNvSpPr>
                <a:spLocks noGrp="1" noRot="1" noChangeAspect="1" noMove="1" noResize="1" noEditPoints="1" noAdjustHandles="1" noChangeArrowheads="1" noChangeShapeType="1" noTextEdit="1"/>
              </p:cNvSpPr>
              <p:nvPr>
                <p:ph idx="1"/>
              </p:nvPr>
            </p:nvSpPr>
            <p:spPr>
              <a:xfrm>
                <a:off x="838200" y="1527243"/>
                <a:ext cx="10515600" cy="5068110"/>
              </a:xfrm>
              <a:blipFill>
                <a:blip r:embed="rId2"/>
                <a:stretch>
                  <a:fillRect l="-1206" t="-2000"/>
                </a:stretch>
              </a:blipFill>
            </p:spPr>
            <p:txBody>
              <a:bodyPr/>
              <a:lstStyle/>
              <a:p>
                <a:r>
                  <a:rPr lang="en-US">
                    <a:noFill/>
                  </a:rPr>
                  <a:t> </a:t>
                </a:r>
              </a:p>
            </p:txBody>
          </p:sp>
        </mc:Fallback>
      </mc:AlternateContent>
    </p:spTree>
    <p:extLst>
      <p:ext uri="{BB962C8B-B14F-4D97-AF65-F5344CB8AC3E}">
        <p14:creationId xmlns:p14="http://schemas.microsoft.com/office/powerpoint/2010/main" val="40749485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58E2F-389D-E084-A71F-D22B5EE90517}"/>
              </a:ext>
            </a:extLst>
          </p:cNvPr>
          <p:cNvSpPr>
            <a:spLocks noGrp="1"/>
          </p:cNvSpPr>
          <p:nvPr>
            <p:ph type="title"/>
          </p:nvPr>
        </p:nvSpPr>
        <p:spPr/>
        <p:txBody>
          <a:bodyPr/>
          <a:lstStyle/>
          <a:p>
            <a:r>
              <a:rPr lang="en-US" dirty="0"/>
              <a:t>An MCP ‘hack’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3E0534-4EF9-1863-F4AC-FFE0458DE135}"/>
                  </a:ext>
                </a:extLst>
              </p:cNvPr>
              <p:cNvSpPr>
                <a:spLocks noGrp="1"/>
              </p:cNvSpPr>
              <p:nvPr>
                <p:ph idx="1"/>
              </p:nvPr>
            </p:nvSpPr>
            <p:spPr/>
            <p:txBody>
              <a:bodyPr>
                <a:normAutofit fontScale="85000" lnSpcReduction="20000"/>
              </a:bodyPr>
              <a:lstStyle/>
              <a:p>
                <a:pPr marL="0" indent="0">
                  <a:buNone/>
                </a:pPr>
                <a:r>
                  <a:rPr lang="en-US" dirty="0"/>
                  <a:t>Can also find endogenous levels of primal parameters (actually parameter-variable “hybrids”) based on other primal constraints</a:t>
                </a:r>
              </a:p>
              <a:p>
                <a:pPr marL="0" indent="0">
                  <a:buNone/>
                </a:pPr>
                <a:endParaRPr lang="en-US" dirty="0"/>
              </a:p>
              <a:p>
                <a:pPr marL="0" indent="0">
                  <a:buNone/>
                </a:pPr>
                <a:r>
                  <a:rPr lang="en-US" dirty="0"/>
                  <a:t>For example – let’s say we wanted to find a rate standard (</a:t>
                </a:r>
                <a14:m>
                  <m:oMath xmlns:m="http://schemas.openxmlformats.org/officeDocument/2006/math">
                    <m:r>
                      <a:rPr lang="en-US" b="0" i="1" smtClean="0">
                        <a:latin typeface="Cambria Math" panose="02040503050406030204" pitchFamily="18" charset="0"/>
                      </a:rPr>
                      <m:t>𝜙</m:t>
                    </m:r>
                  </m:oMath>
                </a14:m>
                <a:r>
                  <a:rPr lang="en-US" dirty="0"/>
                  <a:t>) that met the same emissions reduction as a carbon cap (</a:t>
                </a:r>
                <a14:m>
                  <m:oMath xmlns:m="http://schemas.openxmlformats.org/officeDocument/2006/math">
                    <m:r>
                      <a:rPr lang="en-US" b="0" i="1" smtClean="0">
                        <a:latin typeface="Cambria Math" panose="02040503050406030204" pitchFamily="18" charset="0"/>
                      </a:rPr>
                      <m:t>𝜓</m:t>
                    </m:r>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𝜓</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r>
                        <a:rPr lang="en-US" b="1" i="1" smtClean="0">
                          <a:latin typeface="Cambria Math" panose="02040503050406030204" pitchFamily="18" charset="0"/>
                        </a:rPr>
                        <m:t>𝝓</m:t>
                      </m:r>
                    </m:oMath>
                  </m:oMathPara>
                </a14:m>
                <a:endParaRPr lang="en-US" b="1"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𝝓</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e>
                          </m:nary>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e>
                          </m:nary>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𝜙</m:t>
                          </m:r>
                        </m:sup>
                      </m:sSup>
                    </m:oMath>
                  </m:oMathPara>
                </a14:m>
                <a:endParaRPr lang="en-US" dirty="0"/>
              </a:p>
              <a:p>
                <a:pPr marL="0" indent="0">
                  <a:buNone/>
                </a:pPr>
                <a:r>
                  <a:rPr lang="en-US" dirty="0"/>
                  <a:t>ZPC is then: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1" i="1" smtClean="0">
                              <a:latin typeface="Cambria Math" panose="02040503050406030204" pitchFamily="18" charset="0"/>
                            </a:rPr>
                            <m:t>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𝜙</m:t>
                          </m:r>
                        </m:sup>
                      </m:sSup>
                      <m:r>
                        <a:rPr lang="en-US" b="0" i="1" smtClean="0">
                          <a:latin typeface="Cambria Math" panose="02040503050406030204" pitchFamily="18" charset="0"/>
                        </a:rPr>
                        <m:t>≥</m:t>
                      </m:r>
                      <m:r>
                        <a:rPr lang="en-US" b="0" i="1" smtClean="0">
                          <a:latin typeface="Cambria Math" panose="02040503050406030204" pitchFamily="18" charset="0"/>
                        </a:rPr>
                        <m:t>𝑃</m:t>
                      </m:r>
                    </m:oMath>
                  </m:oMathPara>
                </a14:m>
                <a:endParaRPr lang="en-US" dirty="0"/>
              </a:p>
            </p:txBody>
          </p:sp>
        </mc:Choice>
        <mc:Fallback xmlns="">
          <p:sp>
            <p:nvSpPr>
              <p:cNvPr id="3" name="Content Placeholder 2">
                <a:extLst>
                  <a:ext uri="{FF2B5EF4-FFF2-40B4-BE49-F238E27FC236}">
                    <a16:creationId xmlns:a16="http://schemas.microsoft.com/office/drawing/2014/main" id="{1C3E0534-4EF9-1863-F4AC-FFE0458DE135}"/>
                  </a:ext>
                </a:extLst>
              </p:cNvPr>
              <p:cNvSpPr>
                <a:spLocks noGrp="1" noRot="1" noChangeAspect="1" noMove="1" noResize="1" noEditPoints="1" noAdjustHandles="1" noChangeArrowheads="1" noChangeShapeType="1" noTextEdit="1"/>
              </p:cNvSpPr>
              <p:nvPr>
                <p:ph idx="1"/>
              </p:nvPr>
            </p:nvSpPr>
            <p:spPr>
              <a:blipFill>
                <a:blip r:embed="rId2"/>
                <a:stretch>
                  <a:fillRect l="-965" t="-3198" r="-603" b="-2035"/>
                </a:stretch>
              </a:blipFill>
            </p:spPr>
            <p:txBody>
              <a:bodyPr/>
              <a:lstStyle/>
              <a:p>
                <a:r>
                  <a:rPr lang="en-US">
                    <a:noFill/>
                  </a:rPr>
                  <a:t> </a:t>
                </a:r>
              </a:p>
            </p:txBody>
          </p:sp>
        </mc:Fallback>
      </mc:AlternateContent>
    </p:spTree>
    <p:extLst>
      <p:ext uri="{BB962C8B-B14F-4D97-AF65-F5344CB8AC3E}">
        <p14:creationId xmlns:p14="http://schemas.microsoft.com/office/powerpoint/2010/main" val="4269239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2020</TotalTime>
  <Words>2927</Words>
  <Application>Microsoft Macintosh PowerPoint</Application>
  <PresentationFormat>Widescreen</PresentationFormat>
  <Paragraphs>520</Paragraphs>
  <Slides>49</Slides>
  <Notes>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Aptos</vt:lpstr>
      <vt:lpstr>Aptos Display</vt:lpstr>
      <vt:lpstr>Aptos Narrow</vt:lpstr>
      <vt:lpstr>Arial</vt:lpstr>
      <vt:lpstr>Cambria Math</vt:lpstr>
      <vt:lpstr>SFBMR10</vt:lpstr>
      <vt:lpstr>SFBTL10</vt:lpstr>
      <vt:lpstr>Office Theme</vt:lpstr>
      <vt:lpstr>EBGN645</vt:lpstr>
      <vt:lpstr>Note: Presentations</vt:lpstr>
      <vt:lpstr>Agenda</vt:lpstr>
      <vt:lpstr>Ramsey model – main points</vt:lpstr>
      <vt:lpstr>The Ramsey model – indices, parameters</vt:lpstr>
      <vt:lpstr>The Ramsey Model – Variables, Objective function</vt:lpstr>
      <vt:lpstr>Setting the utility discount factor…</vt:lpstr>
      <vt:lpstr>Constraints</vt:lpstr>
      <vt:lpstr>Calibration</vt:lpstr>
      <vt:lpstr>Initial capital/labor calibration</vt:lpstr>
      <vt:lpstr>Calibrating the production scale parameter</vt:lpstr>
      <vt:lpstr>Calibrating the capital productivity</vt:lpstr>
      <vt:lpstr>Some more notes…</vt:lpstr>
      <vt:lpstr>Some more notes..</vt:lpstr>
      <vt:lpstr>Let’s build the base model…</vt:lpstr>
      <vt:lpstr>That’s weird… </vt:lpstr>
      <vt:lpstr>Barro-Mankiw Terminal Investment Condition</vt:lpstr>
      <vt:lpstr>Complementarity Problems</vt:lpstr>
      <vt:lpstr>When should we use MCPs?</vt:lpstr>
      <vt:lpstr>Formulating the dual.. </vt:lpstr>
      <vt:lpstr>A very simple example</vt:lpstr>
      <vt:lpstr>Complementarity conditions</vt:lpstr>
      <vt:lpstr>Ripley’s restaurant – now with the Dual</vt:lpstr>
      <vt:lpstr>Ripley’s restaurant</vt:lpstr>
      <vt:lpstr>Ripley’s restaurant – the dual</vt:lpstr>
      <vt:lpstr>What about our simple electricity model?</vt:lpstr>
      <vt:lpstr>PowerPoint Presentation</vt:lpstr>
      <vt:lpstr>Caveat: Dual signs</vt:lpstr>
      <vt:lpstr>Steps to creating an MCP from an existing LP/NLP</vt:lpstr>
      <vt:lpstr>Write out initial problem</vt:lpstr>
      <vt:lpstr>Derive complementarity conditions</vt:lpstr>
      <vt:lpstr>(Full) Complementarity Conditions</vt:lpstr>
      <vt:lpstr>Let’s add the combo constraint…</vt:lpstr>
      <vt:lpstr>Indices of the shadow value variable will always match the dimensions of its primal constraint – this also implies conditionals on the primal constraint indices need to be applied to the dual variable</vt:lpstr>
      <vt:lpstr>Set up problem as: [primal constraints] &amp; [dual constraints] </vt:lpstr>
      <vt:lpstr>Now in GAMS, need to:</vt:lpstr>
      <vt:lpstr>Now let’s do the electricity example</vt:lpstr>
      <vt:lpstr>PowerPoint Presentation</vt:lpstr>
      <vt:lpstr>What about elastic demand?</vt:lpstr>
      <vt:lpstr>Oligopolistic Competition</vt:lpstr>
      <vt:lpstr>Oligopolistic Competition</vt:lpstr>
      <vt:lpstr>Cournot model derivation</vt:lpstr>
      <vt:lpstr>Cournot model derivation</vt:lpstr>
      <vt:lpstr>Cournot model derivation</vt:lpstr>
      <vt:lpstr>Cournot model derivation</vt:lpstr>
      <vt:lpstr>Cournot model as an MCP (linear)</vt:lpstr>
      <vt:lpstr>Cournot model as an MCP – from Murphy et al. 1982</vt:lpstr>
      <vt:lpstr>Note on deriving MC curves</vt:lpstr>
      <vt:lpstr>An MCP ‘hack’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Maxwell Brown</dc:creator>
  <cp:lastModifiedBy>Maxwell Brown</cp:lastModifiedBy>
  <cp:revision>65</cp:revision>
  <dcterms:created xsi:type="dcterms:W3CDTF">2024-10-02T15:36:01Z</dcterms:created>
  <dcterms:modified xsi:type="dcterms:W3CDTF">2025-11-17T19:50:59Z</dcterms:modified>
</cp:coreProperties>
</file>