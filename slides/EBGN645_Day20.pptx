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44" r:id="rId3"/>
    <p:sldId id="2147377649" r:id="rId4"/>
    <p:sldId id="2147377650" r:id="rId5"/>
    <p:sldId id="258" r:id="rId6"/>
    <p:sldId id="295" r:id="rId7"/>
    <p:sldId id="312" r:id="rId8"/>
    <p:sldId id="267" r:id="rId9"/>
    <p:sldId id="329" r:id="rId10"/>
    <p:sldId id="275" r:id="rId11"/>
    <p:sldId id="27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299" r:id="rId21"/>
    <p:sldId id="286" r:id="rId22"/>
    <p:sldId id="310" r:id="rId23"/>
    <p:sldId id="306" r:id="rId24"/>
    <p:sldId id="308" r:id="rId25"/>
    <p:sldId id="307" r:id="rId26"/>
    <p:sldId id="323" r:id="rId27"/>
    <p:sldId id="296" r:id="rId28"/>
    <p:sldId id="313" r:id="rId29"/>
    <p:sldId id="315" r:id="rId30"/>
    <p:sldId id="338" r:id="rId31"/>
    <p:sldId id="257" r:id="rId32"/>
    <p:sldId id="339" r:id="rId33"/>
    <p:sldId id="341" r:id="rId34"/>
    <p:sldId id="2147377651" r:id="rId35"/>
    <p:sldId id="345" r:id="rId36"/>
    <p:sldId id="2147377647" r:id="rId37"/>
    <p:sldId id="2147377648" r:id="rId38"/>
    <p:sldId id="2147377652" r:id="rId39"/>
    <p:sldId id="342" r:id="rId40"/>
    <p:sldId id="316" r:id="rId41"/>
    <p:sldId id="318" r:id="rId42"/>
    <p:sldId id="325" r:id="rId43"/>
    <p:sldId id="319" r:id="rId44"/>
    <p:sldId id="320" r:id="rId45"/>
    <p:sldId id="321" r:id="rId46"/>
    <p:sldId id="32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06"/>
    <p:restoredTop sz="97030"/>
  </p:normalViewPr>
  <p:slideViewPr>
    <p:cSldViewPr snapToGrid="0">
      <p:cViewPr varScale="1">
        <p:scale>
          <a:sx n="112" d="100"/>
          <a:sy n="112" d="100"/>
        </p:scale>
        <p:origin x="1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61AA3-8DCC-48D5-B81B-61DDBA98EE8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1CC056-4496-4B88-99A9-1D5E2BF1BCB0}">
      <dgm:prSet/>
      <dgm:spPr/>
      <dgm:t>
        <a:bodyPr/>
        <a:lstStyle/>
        <a:p>
          <a:r>
            <a:rPr lang="en-US"/>
            <a:t>Next Monday – know several of you will be gone</a:t>
          </a:r>
        </a:p>
      </dgm:t>
    </dgm:pt>
    <dgm:pt modelId="{40BD95EC-75EB-4C44-97BD-B74879F4A5CC}" type="parTrans" cxnId="{06AB711D-3BB8-47C8-8547-7E283FCADEEA}">
      <dgm:prSet/>
      <dgm:spPr/>
      <dgm:t>
        <a:bodyPr/>
        <a:lstStyle/>
        <a:p>
          <a:endParaRPr lang="en-US"/>
        </a:p>
      </dgm:t>
    </dgm:pt>
    <dgm:pt modelId="{0D362A2C-10FC-4B47-82CC-3677CE6A238C}" type="sibTrans" cxnId="{06AB711D-3BB8-47C8-8547-7E283FCADEEA}">
      <dgm:prSet/>
      <dgm:spPr/>
      <dgm:t>
        <a:bodyPr/>
        <a:lstStyle/>
        <a:p>
          <a:endParaRPr lang="en-US"/>
        </a:p>
      </dgm:t>
    </dgm:pt>
    <dgm:pt modelId="{441B20CE-6FF0-41F2-8663-C121DEC27985}">
      <dgm:prSet/>
      <dgm:spPr/>
      <dgm:t>
        <a:bodyPr/>
        <a:lstStyle/>
        <a:p>
          <a:r>
            <a:rPr lang="en-US" dirty="0"/>
            <a:t>Could re-organize presentations and have cancelled/hangout class 12/10 </a:t>
          </a:r>
        </a:p>
      </dgm:t>
    </dgm:pt>
    <dgm:pt modelId="{12664C4F-21E2-4494-80C5-9552636AE6A4}" type="parTrans" cxnId="{09C07E9E-55AB-4D43-9490-79835C67F4E0}">
      <dgm:prSet/>
      <dgm:spPr/>
      <dgm:t>
        <a:bodyPr/>
        <a:lstStyle/>
        <a:p>
          <a:endParaRPr lang="en-US"/>
        </a:p>
      </dgm:t>
    </dgm:pt>
    <dgm:pt modelId="{85B99AA8-F2A3-417C-BE64-3B00D5DD7451}" type="sibTrans" cxnId="{09C07E9E-55AB-4D43-9490-79835C67F4E0}">
      <dgm:prSet/>
      <dgm:spPr/>
      <dgm:t>
        <a:bodyPr/>
        <a:lstStyle/>
        <a:p>
          <a:endParaRPr lang="en-US"/>
        </a:p>
      </dgm:t>
    </dgm:pt>
    <dgm:pt modelId="{3B87E0A5-679A-F646-8414-8C81E66F66AF}" type="pres">
      <dgm:prSet presAssocID="{6C261AA3-8DCC-48D5-B81B-61DDBA98EE8D}" presName="linear" presStyleCnt="0">
        <dgm:presLayoutVars>
          <dgm:animLvl val="lvl"/>
          <dgm:resizeHandles val="exact"/>
        </dgm:presLayoutVars>
      </dgm:prSet>
      <dgm:spPr/>
    </dgm:pt>
    <dgm:pt modelId="{2D868C9E-93AD-144E-BC8E-A2CD3C53AF41}" type="pres">
      <dgm:prSet presAssocID="{CC1CC056-4496-4B88-99A9-1D5E2BF1BC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2BF059-9FFF-1D48-BECF-8B3CC00568B6}" type="pres">
      <dgm:prSet presAssocID="{0D362A2C-10FC-4B47-82CC-3677CE6A238C}" presName="spacer" presStyleCnt="0"/>
      <dgm:spPr/>
    </dgm:pt>
    <dgm:pt modelId="{419960CF-74DA-5244-BD7C-D7E9B675BE5D}" type="pres">
      <dgm:prSet presAssocID="{441B20CE-6FF0-41F2-8663-C121DEC2798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928D607-78E8-E84F-A74B-E9ADAAD7AD8C}" type="presOf" srcId="{6C261AA3-8DCC-48D5-B81B-61DDBA98EE8D}" destId="{3B87E0A5-679A-F646-8414-8C81E66F66AF}" srcOrd="0" destOrd="0" presId="urn:microsoft.com/office/officeart/2005/8/layout/vList2"/>
    <dgm:cxn modelId="{06AB711D-3BB8-47C8-8547-7E283FCADEEA}" srcId="{6C261AA3-8DCC-48D5-B81B-61DDBA98EE8D}" destId="{CC1CC056-4496-4B88-99A9-1D5E2BF1BCB0}" srcOrd="0" destOrd="0" parTransId="{40BD95EC-75EB-4C44-97BD-B74879F4A5CC}" sibTransId="{0D362A2C-10FC-4B47-82CC-3677CE6A238C}"/>
    <dgm:cxn modelId="{09C07E9E-55AB-4D43-9490-79835C67F4E0}" srcId="{6C261AA3-8DCC-48D5-B81B-61DDBA98EE8D}" destId="{441B20CE-6FF0-41F2-8663-C121DEC27985}" srcOrd="1" destOrd="0" parTransId="{12664C4F-21E2-4494-80C5-9552636AE6A4}" sibTransId="{85B99AA8-F2A3-417C-BE64-3B00D5DD7451}"/>
    <dgm:cxn modelId="{E8F88FA9-A7A5-DB40-809D-0C61316FC778}" type="presOf" srcId="{CC1CC056-4496-4B88-99A9-1D5E2BF1BCB0}" destId="{2D868C9E-93AD-144E-BC8E-A2CD3C53AF41}" srcOrd="0" destOrd="0" presId="urn:microsoft.com/office/officeart/2005/8/layout/vList2"/>
    <dgm:cxn modelId="{D53107FF-64E0-4447-B4A0-42905FE811BC}" type="presOf" srcId="{441B20CE-6FF0-41F2-8663-C121DEC27985}" destId="{419960CF-74DA-5244-BD7C-D7E9B675BE5D}" srcOrd="0" destOrd="0" presId="urn:microsoft.com/office/officeart/2005/8/layout/vList2"/>
    <dgm:cxn modelId="{4D889A2B-386F-EF4F-B315-7FAB98B2559A}" type="presParOf" srcId="{3B87E0A5-679A-F646-8414-8C81E66F66AF}" destId="{2D868C9E-93AD-144E-BC8E-A2CD3C53AF41}" srcOrd="0" destOrd="0" presId="urn:microsoft.com/office/officeart/2005/8/layout/vList2"/>
    <dgm:cxn modelId="{60FC0B00-1607-724E-A0A2-3FAD2A15307B}" type="presParOf" srcId="{3B87E0A5-679A-F646-8414-8C81E66F66AF}" destId="{D92BF059-9FFF-1D48-BECF-8B3CC00568B6}" srcOrd="1" destOrd="0" presId="urn:microsoft.com/office/officeart/2005/8/layout/vList2"/>
    <dgm:cxn modelId="{C6A65B5A-0568-F448-8187-93D5921F9528}" type="presParOf" srcId="{3B87E0A5-679A-F646-8414-8C81E66F66AF}" destId="{419960CF-74DA-5244-BD7C-D7E9B675BE5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83DCC9-2CEF-4DE8-B13B-05CBB6E01E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4AFE67-BAA2-4B4B-9E90-1B31A515C7CD}">
      <dgm:prSet/>
      <dgm:spPr/>
      <dgm:t>
        <a:bodyPr/>
        <a:lstStyle/>
        <a:p>
          <a:r>
            <a:rPr lang="en-US" dirty="0"/>
            <a:t>Duality -&gt; MCP’s (brief review)</a:t>
          </a:r>
        </a:p>
      </dgm:t>
    </dgm:pt>
    <dgm:pt modelId="{ECE3F5DE-D5F9-40BC-B68D-EF4FE8AA4AD3}" type="parTrans" cxnId="{36F60077-4A1C-41CA-A939-B75670472ECC}">
      <dgm:prSet/>
      <dgm:spPr/>
      <dgm:t>
        <a:bodyPr/>
        <a:lstStyle/>
        <a:p>
          <a:endParaRPr lang="en-US"/>
        </a:p>
      </dgm:t>
    </dgm:pt>
    <dgm:pt modelId="{53A6C5B8-B73B-4784-BA20-EF1F59A0E226}" type="sibTrans" cxnId="{36F60077-4A1C-41CA-A939-B75670472ECC}">
      <dgm:prSet/>
      <dgm:spPr/>
      <dgm:t>
        <a:bodyPr/>
        <a:lstStyle/>
        <a:p>
          <a:endParaRPr lang="en-US"/>
        </a:p>
      </dgm:t>
    </dgm:pt>
    <dgm:pt modelId="{83D23122-8F75-43AB-BBCE-959A05478890}">
      <dgm:prSet/>
      <dgm:spPr/>
      <dgm:t>
        <a:bodyPr/>
        <a:lstStyle/>
        <a:p>
          <a:r>
            <a:rPr lang="en-US"/>
            <a:t>Applications:</a:t>
          </a:r>
        </a:p>
      </dgm:t>
    </dgm:pt>
    <dgm:pt modelId="{BEA84373-522A-41EF-A5D7-8F5033F0954E}" type="parTrans" cxnId="{2CB9665B-9922-4DE2-A1CA-5FDE1C3BA512}">
      <dgm:prSet/>
      <dgm:spPr/>
      <dgm:t>
        <a:bodyPr/>
        <a:lstStyle/>
        <a:p>
          <a:endParaRPr lang="en-US"/>
        </a:p>
      </dgm:t>
    </dgm:pt>
    <dgm:pt modelId="{660CFFF4-127B-44F0-A4D5-F4D4AD7E0A4F}" type="sibTrans" cxnId="{2CB9665B-9922-4DE2-A1CA-5FDE1C3BA512}">
      <dgm:prSet/>
      <dgm:spPr/>
      <dgm:t>
        <a:bodyPr/>
        <a:lstStyle/>
        <a:p>
          <a:endParaRPr lang="en-US"/>
        </a:p>
      </dgm:t>
    </dgm:pt>
    <dgm:pt modelId="{6BF918F6-57CE-4D0F-BF31-B9A6997DFA67}">
      <dgm:prSet/>
      <dgm:spPr/>
      <dgm:t>
        <a:bodyPr/>
        <a:lstStyle/>
        <a:p>
          <a:r>
            <a:rPr lang="en-US"/>
            <a:t>Simple example using Ripley’s restaurant</a:t>
          </a:r>
        </a:p>
      </dgm:t>
    </dgm:pt>
    <dgm:pt modelId="{B95630A8-E63F-402A-8420-A75F4E54B0AE}" type="parTrans" cxnId="{2AE4AF2B-4991-4725-8560-2FE905607F42}">
      <dgm:prSet/>
      <dgm:spPr/>
      <dgm:t>
        <a:bodyPr/>
        <a:lstStyle/>
        <a:p>
          <a:endParaRPr lang="en-US"/>
        </a:p>
      </dgm:t>
    </dgm:pt>
    <dgm:pt modelId="{68714C0C-2B63-48F5-A999-78AE584B750E}" type="sibTrans" cxnId="{2AE4AF2B-4991-4725-8560-2FE905607F42}">
      <dgm:prSet/>
      <dgm:spPr/>
      <dgm:t>
        <a:bodyPr/>
        <a:lstStyle/>
        <a:p>
          <a:endParaRPr lang="en-US"/>
        </a:p>
      </dgm:t>
    </dgm:pt>
    <dgm:pt modelId="{376CBD55-7536-4A12-A053-00B9659D18A7}">
      <dgm:prSet/>
      <dgm:spPr/>
      <dgm:t>
        <a:bodyPr/>
        <a:lstStyle/>
        <a:p>
          <a:r>
            <a:rPr lang="en-US" dirty="0"/>
            <a:t>More complicated with electricity dispatch</a:t>
          </a:r>
        </a:p>
      </dgm:t>
    </dgm:pt>
    <dgm:pt modelId="{895A78D3-5430-465C-8C4D-4CA97570AB01}" type="parTrans" cxnId="{5E0749BC-6CB2-4A9B-A9D6-EF98A7CC2EE3}">
      <dgm:prSet/>
      <dgm:spPr/>
      <dgm:t>
        <a:bodyPr/>
        <a:lstStyle/>
        <a:p>
          <a:endParaRPr lang="en-US"/>
        </a:p>
      </dgm:t>
    </dgm:pt>
    <dgm:pt modelId="{4974B085-574E-4E51-A378-DDE9DE6BFE33}" type="sibTrans" cxnId="{5E0749BC-6CB2-4A9B-A9D6-EF98A7CC2EE3}">
      <dgm:prSet/>
      <dgm:spPr/>
      <dgm:t>
        <a:bodyPr/>
        <a:lstStyle/>
        <a:p>
          <a:endParaRPr lang="en-US"/>
        </a:p>
      </dgm:t>
    </dgm:pt>
    <dgm:pt modelId="{C5D504B6-E675-4858-80FB-9D7F65EA219B}">
      <dgm:prSet/>
      <dgm:spPr/>
      <dgm:t>
        <a:bodyPr/>
        <a:lstStyle/>
        <a:p>
          <a:r>
            <a:rPr lang="en-US" dirty="0"/>
            <a:t>Auto-Calibration via MPEC</a:t>
          </a:r>
        </a:p>
      </dgm:t>
    </dgm:pt>
    <dgm:pt modelId="{482077AC-684D-4613-B6D4-7E9693A86F42}" type="parTrans" cxnId="{AD487ED2-D43B-40C2-A604-71DCF16E7461}">
      <dgm:prSet/>
      <dgm:spPr/>
      <dgm:t>
        <a:bodyPr/>
        <a:lstStyle/>
        <a:p>
          <a:endParaRPr lang="en-US"/>
        </a:p>
      </dgm:t>
    </dgm:pt>
    <dgm:pt modelId="{8CDD1BE8-27AA-493A-B569-6DDB9A4B3AD3}" type="sibTrans" cxnId="{AD487ED2-D43B-40C2-A604-71DCF16E7461}">
      <dgm:prSet/>
      <dgm:spPr/>
      <dgm:t>
        <a:bodyPr/>
        <a:lstStyle/>
        <a:p>
          <a:endParaRPr lang="en-US"/>
        </a:p>
      </dgm:t>
    </dgm:pt>
    <dgm:pt modelId="{1435B59B-BBC7-B743-BA84-FA5AF771093E}">
      <dgm:prSet/>
      <dgm:spPr/>
      <dgm:t>
        <a:bodyPr/>
        <a:lstStyle/>
        <a:p>
          <a:r>
            <a:rPr lang="en-US" dirty="0"/>
            <a:t>Oligopolistic competition (of mineral markets)</a:t>
          </a:r>
        </a:p>
      </dgm:t>
    </dgm:pt>
    <dgm:pt modelId="{DCADC36B-304E-E54F-9A16-14D05ADD40A5}" type="parTrans" cxnId="{D0F55E3C-272B-5F45-AB17-DEB25C8D4670}">
      <dgm:prSet/>
      <dgm:spPr/>
      <dgm:t>
        <a:bodyPr/>
        <a:lstStyle/>
        <a:p>
          <a:endParaRPr lang="en-US"/>
        </a:p>
      </dgm:t>
    </dgm:pt>
    <dgm:pt modelId="{1FB198DD-EFD0-9643-A7A5-959A6A45A50E}" type="sibTrans" cxnId="{D0F55E3C-272B-5F45-AB17-DEB25C8D4670}">
      <dgm:prSet/>
      <dgm:spPr/>
      <dgm:t>
        <a:bodyPr/>
        <a:lstStyle/>
        <a:p>
          <a:endParaRPr lang="en-US"/>
        </a:p>
      </dgm:t>
    </dgm:pt>
    <dgm:pt modelId="{8C974982-53A5-C34C-8F90-A182CAFB5992}" type="pres">
      <dgm:prSet presAssocID="{0683DCC9-2CEF-4DE8-B13B-05CBB6E01E0E}" presName="linear" presStyleCnt="0">
        <dgm:presLayoutVars>
          <dgm:animLvl val="lvl"/>
          <dgm:resizeHandles val="exact"/>
        </dgm:presLayoutVars>
      </dgm:prSet>
      <dgm:spPr/>
    </dgm:pt>
    <dgm:pt modelId="{D1FF01EA-7DC2-224D-BEA4-D9561857F8C3}" type="pres">
      <dgm:prSet presAssocID="{654AFE67-BAA2-4B4B-9E90-1B31A515C7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6F25038-9E2E-1941-9F20-6F92A8F76C79}" type="pres">
      <dgm:prSet presAssocID="{53A6C5B8-B73B-4784-BA20-EF1F59A0E226}" presName="spacer" presStyleCnt="0"/>
      <dgm:spPr/>
    </dgm:pt>
    <dgm:pt modelId="{0EFF385E-93C3-6849-BCD0-B2C6D2138876}" type="pres">
      <dgm:prSet presAssocID="{83D23122-8F75-43AB-BBCE-959A0547889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61687CD-95B6-3449-A09A-3A5953F58E31}" type="pres">
      <dgm:prSet presAssocID="{83D23122-8F75-43AB-BBCE-959A0547889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9F1592A-7FE5-424E-868A-0F86F2787EF7}" type="presOf" srcId="{0683DCC9-2CEF-4DE8-B13B-05CBB6E01E0E}" destId="{8C974982-53A5-C34C-8F90-A182CAFB5992}" srcOrd="0" destOrd="0" presId="urn:microsoft.com/office/officeart/2005/8/layout/vList2"/>
    <dgm:cxn modelId="{2AE4AF2B-4991-4725-8560-2FE905607F42}" srcId="{83D23122-8F75-43AB-BBCE-959A05478890}" destId="{6BF918F6-57CE-4D0F-BF31-B9A6997DFA67}" srcOrd="0" destOrd="0" parTransId="{B95630A8-E63F-402A-8420-A75F4E54B0AE}" sibTransId="{68714C0C-2B63-48F5-A999-78AE584B750E}"/>
    <dgm:cxn modelId="{C57F3B2C-4950-B044-89FA-EDCF3637E283}" type="presOf" srcId="{6BF918F6-57CE-4D0F-BF31-B9A6997DFA67}" destId="{761687CD-95B6-3449-A09A-3A5953F58E31}" srcOrd="0" destOrd="0" presId="urn:microsoft.com/office/officeart/2005/8/layout/vList2"/>
    <dgm:cxn modelId="{D0F55E3C-272B-5F45-AB17-DEB25C8D4670}" srcId="{376CBD55-7536-4A12-A053-00B9659D18A7}" destId="{1435B59B-BBC7-B743-BA84-FA5AF771093E}" srcOrd="0" destOrd="0" parTransId="{DCADC36B-304E-E54F-9A16-14D05ADD40A5}" sibTransId="{1FB198DD-EFD0-9643-A7A5-959A6A45A50E}"/>
    <dgm:cxn modelId="{2CB9665B-9922-4DE2-A1CA-5FDE1C3BA512}" srcId="{0683DCC9-2CEF-4DE8-B13B-05CBB6E01E0E}" destId="{83D23122-8F75-43AB-BBCE-959A05478890}" srcOrd="1" destOrd="0" parTransId="{BEA84373-522A-41EF-A5D7-8F5033F0954E}" sibTransId="{660CFFF4-127B-44F0-A4D5-F4D4AD7E0A4F}"/>
    <dgm:cxn modelId="{36F60077-4A1C-41CA-A939-B75670472ECC}" srcId="{0683DCC9-2CEF-4DE8-B13B-05CBB6E01E0E}" destId="{654AFE67-BAA2-4B4B-9E90-1B31A515C7CD}" srcOrd="0" destOrd="0" parTransId="{ECE3F5DE-D5F9-40BC-B68D-EF4FE8AA4AD3}" sibTransId="{53A6C5B8-B73B-4784-BA20-EF1F59A0E226}"/>
    <dgm:cxn modelId="{8AF77098-DF82-0F4B-A963-C8DAA143367C}" type="presOf" srcId="{1435B59B-BBC7-B743-BA84-FA5AF771093E}" destId="{761687CD-95B6-3449-A09A-3A5953F58E31}" srcOrd="0" destOrd="2" presId="urn:microsoft.com/office/officeart/2005/8/layout/vList2"/>
    <dgm:cxn modelId="{5E0749BC-6CB2-4A9B-A9D6-EF98A7CC2EE3}" srcId="{83D23122-8F75-43AB-BBCE-959A05478890}" destId="{376CBD55-7536-4A12-A053-00B9659D18A7}" srcOrd="1" destOrd="0" parTransId="{895A78D3-5430-465C-8C4D-4CA97570AB01}" sibTransId="{4974B085-574E-4E51-A378-DDE9DE6BFE33}"/>
    <dgm:cxn modelId="{086700CB-5450-434D-8F85-152F8E0F0DFE}" type="presOf" srcId="{C5D504B6-E675-4858-80FB-9D7F65EA219B}" destId="{761687CD-95B6-3449-A09A-3A5953F58E31}" srcOrd="0" destOrd="3" presId="urn:microsoft.com/office/officeart/2005/8/layout/vList2"/>
    <dgm:cxn modelId="{AD487ED2-D43B-40C2-A604-71DCF16E7461}" srcId="{83D23122-8F75-43AB-BBCE-959A05478890}" destId="{C5D504B6-E675-4858-80FB-9D7F65EA219B}" srcOrd="2" destOrd="0" parTransId="{482077AC-684D-4613-B6D4-7E9693A86F42}" sibTransId="{8CDD1BE8-27AA-493A-B569-6DDB9A4B3AD3}"/>
    <dgm:cxn modelId="{CA325ADC-1D7C-2B45-8545-40C69DAD2333}" type="presOf" srcId="{83D23122-8F75-43AB-BBCE-959A05478890}" destId="{0EFF385E-93C3-6849-BCD0-B2C6D2138876}" srcOrd="0" destOrd="0" presId="urn:microsoft.com/office/officeart/2005/8/layout/vList2"/>
    <dgm:cxn modelId="{DEDBB3DF-6B74-D048-89EE-73BEF2D9676B}" type="presOf" srcId="{376CBD55-7536-4A12-A053-00B9659D18A7}" destId="{761687CD-95B6-3449-A09A-3A5953F58E31}" srcOrd="0" destOrd="1" presId="urn:microsoft.com/office/officeart/2005/8/layout/vList2"/>
    <dgm:cxn modelId="{87B3CBED-3BBF-5545-9AA3-D258DB326978}" type="presOf" srcId="{654AFE67-BAA2-4B4B-9E90-1B31A515C7CD}" destId="{D1FF01EA-7DC2-224D-BEA4-D9561857F8C3}" srcOrd="0" destOrd="0" presId="urn:microsoft.com/office/officeart/2005/8/layout/vList2"/>
    <dgm:cxn modelId="{A6372688-8A6F-F14B-B249-C0EB742345E9}" type="presParOf" srcId="{8C974982-53A5-C34C-8F90-A182CAFB5992}" destId="{D1FF01EA-7DC2-224D-BEA4-D9561857F8C3}" srcOrd="0" destOrd="0" presId="urn:microsoft.com/office/officeart/2005/8/layout/vList2"/>
    <dgm:cxn modelId="{6395EB53-C8C4-6940-AE9E-71A8243A45D2}" type="presParOf" srcId="{8C974982-53A5-C34C-8F90-A182CAFB5992}" destId="{B6F25038-9E2E-1941-9F20-6F92A8F76C79}" srcOrd="1" destOrd="0" presId="urn:microsoft.com/office/officeart/2005/8/layout/vList2"/>
    <dgm:cxn modelId="{9CFB9A50-576A-D24A-8EB0-5743B5348A59}" type="presParOf" srcId="{8C974982-53A5-C34C-8F90-A182CAFB5992}" destId="{0EFF385E-93C3-6849-BCD0-B2C6D2138876}" srcOrd="2" destOrd="0" presId="urn:microsoft.com/office/officeart/2005/8/layout/vList2"/>
    <dgm:cxn modelId="{DC2754E2-F01A-664E-9913-B629F1340DB3}" type="presParOf" srcId="{8C974982-53A5-C34C-8F90-A182CAFB5992}" destId="{761687CD-95B6-3449-A09A-3A5953F58E3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68C9E-93AD-144E-BC8E-A2CD3C53AF41}">
      <dsp:nvSpPr>
        <dsp:cNvPr id="0" name=""/>
        <dsp:cNvSpPr/>
      </dsp:nvSpPr>
      <dsp:spPr>
        <a:xfrm>
          <a:off x="0" y="51929"/>
          <a:ext cx="6666833" cy="2621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Next Monday – know several of you will be gone</a:t>
          </a:r>
        </a:p>
      </dsp:txBody>
      <dsp:txXfrm>
        <a:off x="127983" y="179912"/>
        <a:ext cx="6410867" cy="2365784"/>
      </dsp:txXfrm>
    </dsp:sp>
    <dsp:sp modelId="{419960CF-74DA-5244-BD7C-D7E9B675BE5D}">
      <dsp:nvSpPr>
        <dsp:cNvPr id="0" name=""/>
        <dsp:cNvSpPr/>
      </dsp:nvSpPr>
      <dsp:spPr>
        <a:xfrm>
          <a:off x="0" y="2780239"/>
          <a:ext cx="6666833" cy="26217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Could re-organize presentations and have cancelled/hangout class 12/10 </a:t>
          </a:r>
        </a:p>
      </dsp:txBody>
      <dsp:txXfrm>
        <a:off x="127983" y="2908222"/>
        <a:ext cx="6410867" cy="2365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F01EA-7DC2-224D-BEA4-D9561857F8C3}">
      <dsp:nvSpPr>
        <dsp:cNvPr id="0" name=""/>
        <dsp:cNvSpPr/>
      </dsp:nvSpPr>
      <dsp:spPr>
        <a:xfrm>
          <a:off x="0" y="159168"/>
          <a:ext cx="7420093" cy="786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Duality -&gt; MCP’s (brief review)</a:t>
          </a:r>
        </a:p>
      </dsp:txBody>
      <dsp:txXfrm>
        <a:off x="38381" y="197549"/>
        <a:ext cx="7343331" cy="709478"/>
      </dsp:txXfrm>
    </dsp:sp>
    <dsp:sp modelId="{0EFF385E-93C3-6849-BCD0-B2C6D2138876}">
      <dsp:nvSpPr>
        <dsp:cNvPr id="0" name=""/>
        <dsp:cNvSpPr/>
      </dsp:nvSpPr>
      <dsp:spPr>
        <a:xfrm>
          <a:off x="0" y="1037568"/>
          <a:ext cx="7420093" cy="7862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Applications:</a:t>
          </a:r>
        </a:p>
      </dsp:txBody>
      <dsp:txXfrm>
        <a:off x="38381" y="1075949"/>
        <a:ext cx="7343331" cy="709478"/>
      </dsp:txXfrm>
    </dsp:sp>
    <dsp:sp modelId="{761687CD-95B6-3449-A09A-3A5953F58E31}">
      <dsp:nvSpPr>
        <dsp:cNvPr id="0" name=""/>
        <dsp:cNvSpPr/>
      </dsp:nvSpPr>
      <dsp:spPr>
        <a:xfrm>
          <a:off x="0" y="1823808"/>
          <a:ext cx="7420093" cy="172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58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Simple example using Ripley’s restaurant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More complicated with electricity dispatch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Oligopolistic competition (of mineral markets)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Auto-Calibration via MPEC</a:t>
          </a:r>
        </a:p>
      </dsp:txBody>
      <dsp:txXfrm>
        <a:off x="0" y="1823808"/>
        <a:ext cx="7420093" cy="172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88CEC-4D82-3F47-91BB-0B78145C2C2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8A2AB-04B4-4044-BFE1-C42BA47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4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76F9-C315-04DF-C46B-1234D418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6EBAC-EA45-B11F-C1D0-2BB58214A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FDBF6-BA6C-39FC-AA37-2BD62A910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7A5FC-C001-A95A-7786-63A90EE9E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2AB-04B4-4044-BFE1-C42BA476634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05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6080-D4E6-2421-2924-9BC303539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31422-967D-BEFF-4074-B141F98CE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E97E-6A45-DF66-B2D3-29990291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CA56E-6A79-EBD2-2F2C-C59CFE6D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D257-294B-48D4-3CC4-CF7C310B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1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CC1-CBD2-3E50-D711-1CA29452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EEC4-89FA-30CC-FAFB-9CC8F54E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BAB65-793F-93D6-8C83-61C13DBF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6511-A5D4-14B0-9F96-75A04B4F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2CA79-B665-85ED-14BE-C667C82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5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9950-1848-4B41-A47F-C1F64E6D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5D71F-2E15-3271-730A-AFA10688D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AC44A-B35D-FCB7-4D38-CCDA78EC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C93C7-B71A-30E8-9748-582CEBF3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1BA9D-EDAE-5223-314A-B1C3F869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942B-7D08-E1FD-746F-86564A48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F5DB9-3756-B51A-12E4-4DF6AD74F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88D52-F325-DBEE-E453-3C545F2E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6F9E0-4115-818B-DC6C-76578683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6E36C-37C0-BBBF-546C-1822BD26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CEC3B-E164-F2E8-CDE8-9ECD6443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0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C310-05FB-4DA1-57DD-C0FA5AAA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0985B-8F2E-DB9B-825A-D4F7D89DE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20F1C-8E05-925D-3114-38EE8D0D4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A0A5D-DCC4-A971-5A2E-1AF1C7F33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88A34-B167-B40E-3D85-53E399047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742EC-C717-69C6-2332-440B43FF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2BD3F-9F3F-6B2C-49D6-01601675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82D59-12C3-B037-1FAB-51E32A29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7959-2C89-6DE3-D3C8-17F94CD8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9877C-EA22-F9CA-28CD-35C4A550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3983B-B795-F640-E9CB-9B430C35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D6102-908F-EEF6-339F-8729A189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3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3C183-F8E0-65DF-8004-A3A9931A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F51D6-3CA9-C701-0279-407EE68E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492A3-D5AC-7B47-D35C-8941066F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9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D0FC-7068-2062-E09C-D33CE755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F828-967E-242E-77A6-AFCDD1FEE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9A395-E562-2CED-A91B-7E6E83EF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82BDF-E589-5259-D09D-7081FF66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BEF19-3B20-844A-1EE6-AD30664E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EFC82-38F2-D916-0EF5-34F18E4B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8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F987-0B17-4883-013C-F55974CB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6304-3B49-1774-F83F-52FC76C79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6867A-87CD-16AB-8D1E-DB34F6C00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4CE4-D63E-5CFC-DC94-69D91BF5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6DE9E-F169-4398-A753-9F29913B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F5A40-923E-FCB5-4636-FA1116FB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4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EBD9-0419-D704-05AB-9E2A8D4D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DEBD1-5F56-A5E1-1A66-EA5E48218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D239-0068-7265-7B6D-5950EDEF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D6B0F-EAAD-849F-4A2C-21DBF5E0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CF1E-9E46-C29D-DC42-6F790FD5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4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B743A-C128-578D-C355-79E0F3BBA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0DCBE-DDC4-D248-A2F6-FF937C15D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1A2FE-E769-C63C-F57D-0514D4F6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819A-98E4-E2B6-F951-D25366DF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19686-553D-C4C2-5524-1E0326C9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8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01AFE-E49C-A952-307D-7CE02720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3F4FF-E957-EEB1-A27F-E27AA102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6618F-6B6F-F698-1026-3A2E35E56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BDCCC-1CBB-FA4E-9CF2-2901E22410E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8B21-5674-95CB-AE9D-4E249E127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4D03B-56B1-3246-FA08-F7935A387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B76E8-CD87-CC44-8F5E-7CFC2AA31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F797-41A3-4290-4808-540E0ADA3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87AD1C3-35EE-F38D-4024-E6F66A06564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dirty="0"/>
                  <a:t>Duality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Complementarity problems</a:t>
                </a:r>
              </a:p>
              <a:p>
                <a:r>
                  <a:rPr lang="en-US" dirty="0"/>
                  <a:t>Cournot models</a:t>
                </a:r>
              </a:p>
              <a:p>
                <a:r>
                  <a:rPr lang="en-US" dirty="0"/>
                  <a:t>MPECs for calibration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87AD1C3-35EE-F38D-4024-E6F66A065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5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3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FD054-0979-60A9-711C-2EA73652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Upcoming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4146A0-F4F8-A8BE-917E-189FAB8E0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68886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048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75568-3361-98A5-07A5-0ABEE1A9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A note on AI (aka don’t do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2549-6092-2697-D30B-3A2CD25E7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Reviewed a paper yesterday, clearly written by AI</a:t>
            </a:r>
          </a:p>
          <a:p>
            <a:r>
              <a:rPr lang="en-US" sz="2400" dirty="0"/>
              <a:t>Author did not check/review/compare values</a:t>
            </a:r>
          </a:p>
          <a:p>
            <a:r>
              <a:rPr lang="en-US" sz="2400" dirty="0"/>
              <a:t>Clearly biased, obviously wrong</a:t>
            </a:r>
          </a:p>
          <a:p>
            <a:r>
              <a:rPr lang="en-US" sz="2400" dirty="0"/>
              <a:t>Still submitted it to a journal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My comment to the editor: “I wouldn’t touch this with a 10ft pole”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92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65B28-6B89-4726-DF97-AB452CF9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41" y="539496"/>
            <a:ext cx="3854917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The question nobody asked…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4456-09F3-FE1F-7897-E4834303F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71" y="4645152"/>
            <a:ext cx="5010106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What watch are you wearing today?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A: “Dog” by Mr. Jones Watches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r Jones Watches Collection – untold blisses">
            <a:extLst>
              <a:ext uri="{FF2B5EF4-FFF2-40B4-BE49-F238E27FC236}">
                <a16:creationId xmlns:a16="http://schemas.microsoft.com/office/drawing/2014/main" id="{6FA59D03-FAB6-CD9D-3473-3D2C70244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6" r="6861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52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85F4F-7208-42B4-9B99-21FB432A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Agenda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D25D6-6C5A-6798-84F7-0A3C65ACD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53" r="42501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0734B8-5E7F-0B48-7CE7-F4A099EE7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896264"/>
              </p:ext>
            </p:extLst>
          </p:nvPr>
        </p:nvGraphicFramePr>
        <p:xfrm>
          <a:off x="4553734" y="2409830"/>
          <a:ext cx="7420093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108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E8EE-181A-FCB6-7901-10B50ADB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Complementarity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63E7-78D4-53DD-97AA-4A744134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844"/>
            <a:ext cx="10515600" cy="46981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Complementarity problems: start with the primal and dual </a:t>
            </a:r>
            <a:r>
              <a:rPr lang="en-US" i="1" dirty="0"/>
              <a:t>constraints</a:t>
            </a:r>
            <a:r>
              <a:rPr lang="en-US" dirty="0"/>
              <a:t> and remove the objective functions</a:t>
            </a:r>
          </a:p>
          <a:p>
            <a:endParaRPr lang="en-US" dirty="0"/>
          </a:p>
          <a:p>
            <a:r>
              <a:rPr lang="en-US" dirty="0"/>
              <a:t>More generally: equilibrium problems</a:t>
            </a:r>
          </a:p>
          <a:p>
            <a:endParaRPr lang="en-US" dirty="0"/>
          </a:p>
          <a:p>
            <a:r>
              <a:rPr lang="en-US" dirty="0"/>
              <a:t>Specific types but -almost- always referred to in practice as Mixed Complementarity Problems (MCPs).. All types:</a:t>
            </a:r>
          </a:p>
          <a:p>
            <a:pPr lvl="1"/>
            <a:r>
              <a:rPr lang="en-US" dirty="0"/>
              <a:t>Linear Complementarity Problems (LCPs)</a:t>
            </a:r>
          </a:p>
          <a:p>
            <a:pPr lvl="1"/>
            <a:r>
              <a:rPr lang="en-US" dirty="0"/>
              <a:t>Non-linear Complementarity Problems (NLCPs)</a:t>
            </a:r>
          </a:p>
          <a:p>
            <a:pPr lvl="1"/>
            <a:r>
              <a:rPr lang="en-US" dirty="0"/>
              <a:t>Both non-linear and linear complementarity problems are </a:t>
            </a:r>
            <a:r>
              <a:rPr lang="en-US" i="1" dirty="0"/>
              <a:t>mixed </a:t>
            </a:r>
            <a:r>
              <a:rPr lang="en-US" dirty="0"/>
              <a:t>(MCPs)</a:t>
            </a:r>
          </a:p>
          <a:p>
            <a:pPr lvl="1"/>
            <a:r>
              <a:rPr lang="en-US" dirty="0"/>
              <a:t>Also: integer, others.. 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1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116D-B749-8D30-8736-01F82D40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use MCPs?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19E08-BF74-52DE-1A27-0E3AC54D9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0444"/>
                <a:ext cx="11026422" cy="4596519"/>
              </a:xfrm>
            </p:spPr>
            <p:txBody>
              <a:bodyPr/>
              <a:lstStyle/>
              <a:p>
                <a:r>
                  <a:rPr lang="en-US" dirty="0"/>
                  <a:t>When price-based policies are of interest</a:t>
                </a:r>
              </a:p>
              <a:p>
                <a:pPr lvl="1"/>
                <a:r>
                  <a:rPr lang="en-US" dirty="0"/>
                  <a:t>Consumers face bundled prices</a:t>
                </a:r>
              </a:p>
              <a:p>
                <a:pPr lvl="1"/>
                <a:r>
                  <a:rPr lang="en-US" dirty="0"/>
                  <a:t>Price floors/ceilings</a:t>
                </a:r>
              </a:p>
              <a:p>
                <a:pPr lvl="1"/>
                <a:r>
                  <a:rPr lang="en-US" dirty="0"/>
                  <a:t>Price-based project costing – long-term contracts, pinning to price index</a:t>
                </a:r>
              </a:p>
              <a:p>
                <a:pPr lvl="1"/>
                <a:r>
                  <a:rPr lang="en-US" dirty="0"/>
                  <a:t>Price-based tax: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When individuals’/producers’ objective functions can’t be aggregated</a:t>
                </a:r>
              </a:p>
              <a:p>
                <a:pPr lvl="1"/>
                <a:r>
                  <a:rPr lang="en-US" dirty="0"/>
                  <a:t>Example in this module: Oligopolistic competition where firms set marginal revenue equal to marginal cost (Cournot model)</a:t>
                </a:r>
              </a:p>
              <a:p>
                <a:pPr lvl="1"/>
                <a:r>
                  <a:rPr lang="en-US" dirty="0"/>
                  <a:t>Other examples: Bertrand, Stackelberg games (MPECs)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19E08-BF74-52DE-1A27-0E3AC54D9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0444"/>
                <a:ext cx="11026422" cy="4596519"/>
              </a:xfrm>
              <a:blipFill>
                <a:blip r:embed="rId2"/>
                <a:stretch>
                  <a:fillRect l="-1036" t="-2204" r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47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AF0B-80F0-6CEF-F63C-57A13B3F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DE0AD5-E621-F48E-7F04-C8D5F3B82826}"/>
              </a:ext>
            </a:extLst>
          </p:cNvPr>
          <p:cNvSpPr/>
          <p:nvPr/>
        </p:nvSpPr>
        <p:spPr>
          <a:xfrm>
            <a:off x="838200" y="3782728"/>
            <a:ext cx="10394482" cy="15207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3A74B-B9C8-B341-B0CF-E3D1DEFC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the dual..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16B7F-BEA5-2B3F-E9DB-BEE05D4A2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2825"/>
                <a:ext cx="479648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Primal: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16B7F-BEA5-2B3F-E9DB-BEE05D4A2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2825"/>
                <a:ext cx="4796481" cy="4351338"/>
              </a:xfrm>
              <a:blipFill>
                <a:blip r:embed="rId2"/>
                <a:stretch>
                  <a:fillRect l="-2646" t="-27326" b="-15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987B73-1916-053C-DBE1-9ABD50BFFE45}"/>
                  </a:ext>
                </a:extLst>
              </p:cNvPr>
              <p:cNvSpPr txBox="1"/>
              <p:nvPr/>
            </p:nvSpPr>
            <p:spPr>
              <a:xfrm>
                <a:off x="6756057" y="553884"/>
                <a:ext cx="60980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# constraints (primal), # variables (dual)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: # variables (primal), # constraints (dual)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987B73-1916-053C-DBE1-9ABD50BFF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057" y="553884"/>
                <a:ext cx="6098058" cy="646331"/>
              </a:xfrm>
              <a:prstGeom prst="rect">
                <a:avLst/>
              </a:prstGeom>
              <a:blipFill>
                <a:blip r:embed="rId3"/>
                <a:stretch>
                  <a:fillRect l="-207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EBF7D1-8BDD-4A2D-88DF-0128C9BD92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3940" y="2282825"/>
                <a:ext cx="609805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Dual: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AEBF7D1-8BDD-4A2D-88DF-0128C9BD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40" y="2282825"/>
                <a:ext cx="6098059" cy="4351338"/>
              </a:xfrm>
              <a:prstGeom prst="rect">
                <a:avLst/>
              </a:prstGeom>
              <a:blipFill>
                <a:blip r:embed="rId4"/>
                <a:stretch>
                  <a:fillRect l="-2287" t="-27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62849A8-9ACB-7BD5-B5AE-24FD5B5D2FC7}"/>
              </a:ext>
            </a:extLst>
          </p:cNvPr>
          <p:cNvSpPr txBox="1"/>
          <p:nvPr/>
        </p:nvSpPr>
        <p:spPr>
          <a:xfrm>
            <a:off x="5110348" y="5303520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Defines our MCP</a:t>
            </a:r>
          </a:p>
        </p:txBody>
      </p:sp>
    </p:spTree>
    <p:extLst>
      <p:ext uri="{BB962C8B-B14F-4D97-AF65-F5344CB8AC3E}">
        <p14:creationId xmlns:p14="http://schemas.microsoft.com/office/powerpoint/2010/main" val="16215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E0BF-A593-D9E3-3F1F-EC964E8F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Ripley’s restaurant – now with the 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755F0-8F5C-9D11-7EBF-F35137DBE8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7136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Indices: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items produced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h𝑎𝑚𝑏𝑢𝑟𝑔𝑒𝑟𝑠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𝑑𝑜𝑔𝑠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𝑓𝑟𝑒𝑛𝑐h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𝑓𝑟𝑖𝑒𝑠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Parameters: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revenue ($’s / item)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cost ($’s / item)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time required to produce an item (hours / item)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: maximum time worked per week (hours)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755F0-8F5C-9D11-7EBF-F35137DBE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7136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A30940-F8C5-893B-8D16-30097E62731A}"/>
              </a:ext>
            </a:extLst>
          </p:cNvPr>
          <p:cNvGraphicFramePr>
            <a:graphicFrameLocks noGrp="1"/>
          </p:cNvGraphicFramePr>
          <p:nvPr/>
        </p:nvGraphicFramePr>
        <p:xfrm>
          <a:off x="3306431" y="5054600"/>
          <a:ext cx="5579137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5028">
                  <a:extLst>
                    <a:ext uri="{9D8B030D-6E8A-4147-A177-3AD203B41FA5}">
                      <a16:colId xmlns:a16="http://schemas.microsoft.com/office/drawing/2014/main" val="2806072947"/>
                    </a:ext>
                  </a:extLst>
                </a:gridCol>
                <a:gridCol w="1454053">
                  <a:extLst>
                    <a:ext uri="{9D8B030D-6E8A-4147-A177-3AD203B41FA5}">
                      <a16:colId xmlns:a16="http://schemas.microsoft.com/office/drawing/2014/main" val="1412884838"/>
                    </a:ext>
                  </a:extLst>
                </a:gridCol>
                <a:gridCol w="1375028">
                  <a:extLst>
                    <a:ext uri="{9D8B030D-6E8A-4147-A177-3AD203B41FA5}">
                      <a16:colId xmlns:a16="http://schemas.microsoft.com/office/drawing/2014/main" val="1409108284"/>
                    </a:ext>
                  </a:extLst>
                </a:gridCol>
                <a:gridCol w="1375028">
                  <a:extLst>
                    <a:ext uri="{9D8B030D-6E8A-4147-A177-3AD203B41FA5}">
                      <a16:colId xmlns:a16="http://schemas.microsoft.com/office/drawing/2014/main" val="187993228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Item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Revenue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Hours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235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Hamburger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51128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Hot dog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0.75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18151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French fries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340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1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E0BF-A593-D9E3-3F1F-EC964E8F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Ripley’s restaurant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755F0-8F5C-9D11-7EBF-F35137DBE8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0185"/>
                <a:ext cx="10515600" cy="486677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Variables: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production of goods (items) – </a:t>
                </a:r>
                <a:r>
                  <a:rPr lang="en-US" b="1" i="1" dirty="0"/>
                  <a:t>non-negative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: profit ($s)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 shadow value of an additional hour</a:t>
                </a:r>
              </a:p>
              <a:p>
                <a:endParaRPr lang="en-US" dirty="0"/>
              </a:p>
              <a:p>
                <a:r>
                  <a:rPr lang="en-US" dirty="0"/>
                  <a:t>Objective function is to maximize profit: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Subject to (constrained by) the weekly hourly limit,</a:t>
                </a:r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r>
                  <a:rPr lang="en-US" b="1" dirty="0"/>
                  <a:t>    now with complementary variable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𝝀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755F0-8F5C-9D11-7EBF-F35137DBE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0185"/>
                <a:ext cx="10515600" cy="4866778"/>
              </a:xfrm>
              <a:blipFill>
                <a:blip r:embed="rId2"/>
                <a:stretch>
                  <a:fillRect l="-844" t="-2865" b="-34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23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B20D7-BCC8-11C0-3DFB-DA64CA1E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F885-7D8B-CEC1-4595-5383ABBF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Ripley’s restaurant – the 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A3EB3-2A4D-C422-EF89-1AED424A54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0185"/>
                <a:ext cx="10515600" cy="48667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Variables: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production of goods (items) – </a:t>
                </a:r>
                <a:r>
                  <a:rPr lang="en-US" b="1" i="1" dirty="0"/>
                  <a:t>non-negative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: profit ($s)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 shadow value of an additional hour</a:t>
                </a:r>
              </a:p>
              <a:p>
                <a:endParaRPr lang="en-US" dirty="0"/>
              </a:p>
              <a:p>
                <a:r>
                  <a:rPr lang="en-US" dirty="0"/>
                  <a:t>Objective function is to minimize costs: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Subject to the zero profit condition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endParaRPr lang="en-US" sz="800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A3EB3-2A4D-C422-EF89-1AED424A5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0185"/>
                <a:ext cx="10515600" cy="4866778"/>
              </a:xfrm>
              <a:blipFill>
                <a:blip r:embed="rId2"/>
                <a:stretch>
                  <a:fillRect l="-1086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92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0EEE-3780-8651-EDE7-E97C7AF9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5982-D057-4715-AB56-7487058F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Steps to creating an MCP from an existing LP/NLP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0289-9670-8B95-5440-8ABEF4B2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out initial problem</a:t>
            </a:r>
          </a:p>
          <a:p>
            <a:r>
              <a:rPr lang="en-US" dirty="0"/>
              <a:t>Derive complementarity conditions (dual w/o objective)</a:t>
            </a:r>
          </a:p>
          <a:p>
            <a:r>
              <a:rPr lang="en-US" dirty="0"/>
              <a:t>Set up problem as: [primal constraints] &amp; [dual constraints]</a:t>
            </a:r>
          </a:p>
          <a:p>
            <a:r>
              <a:rPr lang="en-US" dirty="0"/>
              <a:t>Solve your initial problem</a:t>
            </a:r>
          </a:p>
          <a:p>
            <a:r>
              <a:rPr lang="en-US" dirty="0"/>
              <a:t>Assign level values to both primal variables and dual variables</a:t>
            </a:r>
          </a:p>
          <a:p>
            <a:pPr lvl="1"/>
            <a:r>
              <a:rPr lang="en-US" dirty="0"/>
              <a:t>Dual variable values set as marginal off the respective constraints</a:t>
            </a:r>
          </a:p>
          <a:p>
            <a:pPr lvl="1"/>
            <a:r>
              <a:rPr lang="en-US" dirty="0"/>
              <a:t>Alternatively, could solve both the primal and dual problem </a:t>
            </a:r>
          </a:p>
          <a:p>
            <a:r>
              <a:rPr lang="en-US" dirty="0"/>
              <a:t>Set iteration limit for MCP problem to zero</a:t>
            </a:r>
          </a:p>
          <a:p>
            <a:r>
              <a:rPr lang="en-US" dirty="0"/>
              <a:t>Make sure we have a zero residual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7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9DFD-8D43-68DC-C375-DF226B4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3512-6C24-8618-D0CF-384DB233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out initial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EF012-BE89-5761-59B5-2B957A982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 function is to maximize profit: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Subject to the weekly hourly limit,</a:t>
                </a:r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r>
                  <a:rPr lang="en-US" b="1" dirty="0"/>
                  <a:t>    now with complementary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EA56F8-0333-A5B2-2A0A-99F656B45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640" b="-37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70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ADE3-D1D5-D00B-4D9B-92986FAD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063A-27F3-BBAB-BDB2-405A5EF1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 complementarity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10911E-2F55-6761-D4AC-BFD1828DD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Recall the primal and dual constraints from Ripley’s Restaurant:</a:t>
                </a: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𝒉𝒐𝒖𝒓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.. These form an MCP model..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FC39E-865A-37A9-DC37-85080B176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206" t="-14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169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502C5-ED86-B7F8-E910-9F4A6FED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E71D-E163-B5AD-C940-93A3C5D7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88" y="193521"/>
            <a:ext cx="10515600" cy="1325563"/>
          </a:xfrm>
        </p:spPr>
        <p:txBody>
          <a:bodyPr/>
          <a:lstStyle/>
          <a:p>
            <a:r>
              <a:rPr lang="en-US" dirty="0"/>
              <a:t>(Full) Complementarity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E3AA6-775D-3411-24F7-F2208A65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342"/>
                <a:ext cx="10515600" cy="51619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𝒉𝒐𝒖𝒓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</m:ac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𝒉𝒐𝒖𝒓</m:t>
                          </m:r>
                        </m:sup>
                      </m:sSup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𝒉𝒐𝒖𝒓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D58E71-EE99-B9C5-04C5-09B763D50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342"/>
                <a:ext cx="10515600" cy="5161935"/>
              </a:xfrm>
              <a:blipFill>
                <a:blip r:embed="rId3"/>
                <a:stretch>
                  <a:fillRect t="-30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13B1538-B11A-B9E7-E57B-87B834F66D9A}"/>
              </a:ext>
            </a:extLst>
          </p:cNvPr>
          <p:cNvSpPr txBox="1"/>
          <p:nvPr/>
        </p:nvSpPr>
        <p:spPr>
          <a:xfrm>
            <a:off x="9953932" y="3850627"/>
            <a:ext cx="1399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generated by GAMS!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71AF55-CA70-D55E-5BDA-1B9C770004A4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8200103" y="3429000"/>
            <a:ext cx="1753829" cy="883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2A66F7-05AB-F01D-059A-91E01071E19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8731045" y="4312292"/>
            <a:ext cx="1222887" cy="1616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612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65EC-028B-AF3A-66EF-2E163421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1B05-11FE-48C3-82D0-4806BDA5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the combo constraint…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061CE3-14D8-04B9-6FEF-5039A70B2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Recall, we added a constraint that said: “for every hot dog that Ripley cooks, he also has to cook at least one French fry”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𝑓𝑟𝑒𝑛𝑐h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Zero profit condition becomes…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𝑑𝑜𝑔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𝑓𝑟𝑒𝑛𝑐h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𝑓𝑟𝑦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32EC8-50D7-1E15-BDB0-9C612A2B9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24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502E-618F-5915-B1E6-4D4374B75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E940-6C54-93F0-9A71-7F0BA14A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Indices of the shadow value variable will always match the dimensions of its primal constraint – this also implies conditionals on the primal constraint indices need to match the dual variable</a:t>
            </a:r>
          </a:p>
        </p:txBody>
      </p:sp>
    </p:spTree>
    <p:extLst>
      <p:ext uri="{BB962C8B-B14F-4D97-AF65-F5344CB8AC3E}">
        <p14:creationId xmlns:p14="http://schemas.microsoft.com/office/powerpoint/2010/main" val="240818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648AC-8083-F73E-2E6B-98EB380E4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B0FA-65A5-BE68-E442-78BB8751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Autofit/>
          </a:bodyPr>
          <a:lstStyle/>
          <a:p>
            <a:r>
              <a:rPr lang="en-US" sz="3600" dirty="0"/>
              <a:t>Set up problem as: [primal constraints] &amp; [dual constraints]</a:t>
            </a:r>
            <a:br>
              <a:rPr lang="en-US" sz="3600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92CE5D-9E59-F9A6-2F5A-BD014A664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1883"/>
                <a:ext cx="10515600" cy="548378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Primal constraints: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𝒉𝒐𝒖𝒓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𝑓𝑟𝑒𝑛𝑐h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Dual Constraints (can write as one in GAMS):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𝑑𝑜𝑔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𝑐𝑜𝑚𝑏𝑜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𝑓𝑟𝑒𝑛𝑐h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h𝑎𝑚𝑏𝑢𝑟𝑔𝑒𝑟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057320-DA69-AE24-F189-AE0E52822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1883"/>
                <a:ext cx="10515600" cy="5483789"/>
              </a:xfrm>
              <a:blipFill>
                <a:blip r:embed="rId2"/>
                <a:stretch>
                  <a:fillRect l="-1206" t="-22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095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4494-845B-1143-3454-B8179411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992C-8CF0-B6A9-BB42-4A96F2E71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in GAMS, need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6CE41-B542-0903-E027-06F512B38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your initial problem</a:t>
            </a:r>
          </a:p>
          <a:p>
            <a:r>
              <a:rPr lang="en-US" dirty="0"/>
              <a:t>Assign level values to both primal variables and dual variables</a:t>
            </a:r>
          </a:p>
          <a:p>
            <a:pPr lvl="1"/>
            <a:r>
              <a:rPr lang="en-US" dirty="0"/>
              <a:t>Dual variable values set as marginal off the respective constraints</a:t>
            </a:r>
          </a:p>
          <a:p>
            <a:pPr lvl="1"/>
            <a:r>
              <a:rPr lang="en-US" dirty="0"/>
              <a:t>Alternatively, could solve both the primal and dual problem </a:t>
            </a:r>
          </a:p>
          <a:p>
            <a:r>
              <a:rPr lang="en-US" dirty="0"/>
              <a:t>Set iteration limit for MCP problem to zero</a:t>
            </a:r>
          </a:p>
          <a:p>
            <a:r>
              <a:rPr lang="en-US" dirty="0"/>
              <a:t>Make sure we have a zero residual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435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949-C6CE-7CE6-9FA4-F5BCEFC1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182A-D087-1899-C7D6-73BC60B7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0500"/>
            <a:ext cx="10515600" cy="1325563"/>
          </a:xfrm>
        </p:spPr>
        <p:txBody>
          <a:bodyPr/>
          <a:lstStyle/>
          <a:p>
            <a:r>
              <a:rPr lang="en-US" dirty="0"/>
              <a:t>What about our simple electricity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C43ACE-7E89-7617-DB74-5F15D4FE55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2600"/>
                <a:ext cx="10515600" cy="63754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/>
                  <a:t>s.t.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C43ACE-7E89-7617-DB74-5F15D4FE55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2600"/>
                <a:ext cx="10515600" cy="6375400"/>
              </a:xfrm>
              <a:blipFill>
                <a:blip r:embed="rId2"/>
                <a:stretch>
                  <a:fillRect l="-603" t="-6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172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54C30A-6108-707B-2505-43FDF86F13A4}"/>
              </a:ext>
            </a:extLst>
          </p:cNvPr>
          <p:cNvSpPr/>
          <p:nvPr/>
        </p:nvSpPr>
        <p:spPr>
          <a:xfrm>
            <a:off x="88900" y="2700169"/>
            <a:ext cx="11550874" cy="38800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41D3F-E657-8BE5-E267-BF89B92051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900" y="277812"/>
                <a:ext cx="5765800" cy="6302375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/>
                  <a:t>Primal: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/>
                  <a:t>s.t.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⊥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41D3F-E657-8BE5-E267-BF89B9205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900" y="277812"/>
                <a:ext cx="5765800" cy="6302375"/>
              </a:xfrm>
              <a:blipFill>
                <a:blip r:embed="rId2"/>
                <a:stretch>
                  <a:fillRect l="-661" t="-1008" b="-5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178CE8C-DC89-AF2F-F633-04170A8F09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9628"/>
                <a:ext cx="6096000" cy="630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r>
                  <a:rPr lang="en-US" sz="1800" dirty="0"/>
                  <a:t>Dual: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sup>
                            </m:sSup>
                          </m:e>
                        </m:mr>
                      </m:m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              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1800" dirty="0">
                    <a:latin typeface="Cambria Math" panose="02040503050406030204" pitchFamily="18" charset="0"/>
                  </a:rPr>
                  <a:t>s.t.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+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178CE8C-DC89-AF2F-F633-04170A8F0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628"/>
                <a:ext cx="6096000" cy="6302375"/>
              </a:xfrm>
              <a:prstGeom prst="rect">
                <a:avLst/>
              </a:prstGeom>
              <a:blipFill>
                <a:blip r:embed="rId3"/>
                <a:stretch>
                  <a:fillRect l="-832" t="-5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8F1368-3809-6622-008B-F519BAE5DF17}"/>
              </a:ext>
            </a:extLst>
          </p:cNvPr>
          <p:cNvSpPr txBox="1"/>
          <p:nvPr/>
        </p:nvSpPr>
        <p:spPr>
          <a:xfrm>
            <a:off x="7420412" y="6137337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Defines our MCP</a:t>
            </a:r>
          </a:p>
        </p:txBody>
      </p:sp>
    </p:spTree>
    <p:extLst>
      <p:ext uri="{BB962C8B-B14F-4D97-AF65-F5344CB8AC3E}">
        <p14:creationId xmlns:p14="http://schemas.microsoft.com/office/powerpoint/2010/main" val="457059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BF85-09D1-A64F-955B-33379493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Caveat: Dual signs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00C8CC-F9AA-3EF8-6DE9-72E8285F8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0154"/>
                <a:ext cx="11034252" cy="47816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 the primal, the marginal values used to populate duals can be negative depending on how the constraints are established</a:t>
                </a:r>
              </a:p>
              <a:p>
                <a:r>
                  <a:rPr lang="en-US" dirty="0"/>
                  <a:t>This is especially true with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constraints in maximization problems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constraints in minimization problems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Advice: if your residual isn’t zero, check to make sure the dual variable values you’re specifying aren’t negative</a:t>
                </a:r>
              </a:p>
              <a:p>
                <a:endParaRPr lang="en-US" dirty="0"/>
              </a:p>
              <a:p>
                <a:r>
                  <a:rPr lang="en-US" dirty="0"/>
                  <a:t>Generally: Easiest in GAMS for constraints to be written with =g=</a:t>
                </a:r>
              </a:p>
              <a:p>
                <a:pPr lvl="1"/>
                <a:r>
                  <a:rPr lang="en-US" dirty="0"/>
                  <a:t>Equality constraints (=e=) require free complementarity variables (!)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00C8CC-F9AA-3EF8-6DE9-72E8285F8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0154"/>
                <a:ext cx="11034252" cy="4781652"/>
              </a:xfrm>
              <a:blipFill>
                <a:blip r:embed="rId2"/>
                <a:stretch>
                  <a:fillRect l="-1034" t="-2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094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585B-1AEB-AC42-3813-084A056C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do the electricity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35E12-49DC-8ED8-2E2F-53A31135E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out initial problem</a:t>
            </a:r>
          </a:p>
          <a:p>
            <a:r>
              <a:rPr lang="en-US" dirty="0"/>
              <a:t>Derive complementarity conditions (dual w/o objective)</a:t>
            </a:r>
          </a:p>
          <a:p>
            <a:r>
              <a:rPr lang="en-US" dirty="0"/>
              <a:t>Set up problem as: [primal constraints] &amp; [dual constraints]</a:t>
            </a:r>
          </a:p>
          <a:p>
            <a:r>
              <a:rPr lang="en-US" dirty="0"/>
              <a:t>Solve your initial problem</a:t>
            </a:r>
          </a:p>
          <a:p>
            <a:r>
              <a:rPr lang="en-US" dirty="0"/>
              <a:t>Assign level values to both primal variables and dual variables</a:t>
            </a:r>
          </a:p>
          <a:p>
            <a:pPr lvl="1"/>
            <a:r>
              <a:rPr lang="en-US" dirty="0"/>
              <a:t>Dual variable values set as marginal off the respective constraints</a:t>
            </a:r>
          </a:p>
          <a:p>
            <a:pPr lvl="1"/>
            <a:r>
              <a:rPr lang="en-US" dirty="0"/>
              <a:t>Alternatively, could solve both the primal and dual problem </a:t>
            </a:r>
          </a:p>
          <a:p>
            <a:r>
              <a:rPr lang="en-US" dirty="0"/>
              <a:t>Set iteration limit for MCP problem to zero</a:t>
            </a:r>
          </a:p>
          <a:p>
            <a:r>
              <a:rPr lang="en-US" dirty="0"/>
              <a:t>Make sure we have a zero residual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95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A20A-7939-2032-B525-8FE49E2E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37782-AC91-0FA0-1422-D7A74442B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900" y="277812"/>
                <a:ext cx="5765800" cy="630237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/>
                  <a:t>Primal: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⊥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37782-AC91-0FA0-1422-D7A74442B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900" y="277812"/>
                <a:ext cx="5765800" cy="6302375"/>
              </a:xfrm>
              <a:blipFill>
                <a:blip r:embed="rId2"/>
                <a:stretch>
                  <a:fillRect l="-1542" b="-6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7ED15FD-FA30-44E8-3B8F-3942854AF3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277811"/>
                <a:ext cx="6096000" cy="630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r>
                  <a:rPr lang="en-US" sz="1800" dirty="0"/>
                  <a:t>Dual: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+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  <a:p>
                <a:pPr marL="0"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7ED15FD-FA30-44E8-3B8F-3942854AF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7811"/>
                <a:ext cx="6096000" cy="6302375"/>
              </a:xfrm>
              <a:prstGeom prst="rect">
                <a:avLst/>
              </a:prstGeom>
              <a:blipFill>
                <a:blip r:embed="rId3"/>
                <a:stretch>
                  <a:fillRect l="-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98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D6B8-9C1F-E244-0F0D-E2EED6F6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elastic demand?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6CC88-4D8C-7B0D-ED3D-22BC1B3EB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Recall we had the elastic demand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replace dual constraint with: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Here – using the complementary </a:t>
                </a:r>
                <a:r>
                  <a:rPr lang="en-US" i="1" dirty="0"/>
                  <a:t>dual </a:t>
                </a:r>
                <a:r>
                  <a:rPr lang="en-US" dirty="0"/>
                  <a:t>variable in a </a:t>
                </a:r>
                <a:r>
                  <a:rPr lang="en-US" i="1" dirty="0"/>
                  <a:t>primal </a:t>
                </a:r>
                <a:r>
                  <a:rPr lang="en-US" dirty="0"/>
                  <a:t>constraint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6CC88-4D8C-7B0D-ED3D-22BC1B3EB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17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D4348-981E-13E5-B2B2-2F8712E5F43C}"/>
              </a:ext>
            </a:extLst>
          </p:cNvPr>
          <p:cNvCxnSpPr/>
          <p:nvPr/>
        </p:nvCxnSpPr>
        <p:spPr>
          <a:xfrm flipV="1">
            <a:off x="8244348" y="3510119"/>
            <a:ext cx="0" cy="589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35CE89-A471-0529-B830-B05C5E4E0FD2}"/>
              </a:ext>
            </a:extLst>
          </p:cNvPr>
          <p:cNvCxnSpPr>
            <a:cxnSpLocks/>
          </p:cNvCxnSpPr>
          <p:nvPr/>
        </p:nvCxnSpPr>
        <p:spPr>
          <a:xfrm>
            <a:off x="6902245" y="3510119"/>
            <a:ext cx="13421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AE99CB-98BD-4085-5B6C-B68B5430C96D}"/>
              </a:ext>
            </a:extLst>
          </p:cNvPr>
          <p:cNvCxnSpPr/>
          <p:nvPr/>
        </p:nvCxnSpPr>
        <p:spPr>
          <a:xfrm>
            <a:off x="6902245" y="3510119"/>
            <a:ext cx="0" cy="339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74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8E2F-389D-E084-A71F-D22B5EE9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MCP ‘hack’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E0534-4EF9-1863-F4AC-FFE0458DE1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Can also find endogenous levels of primal parameters (actually parameter-variable “hybrids”) based on other primal constraints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 – let’s say we added elastic demand and wanted to find a rate standard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) that met the same emissions reduction as a carbon cap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ZPC is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E0534-4EF9-1863-F4AC-FFE0458DE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239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E1699-F1B7-4969-7D32-D6CA6729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good book..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28CAF-EFCE-EC74-0C68-E23E9E5B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292" y="666728"/>
            <a:ext cx="373040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85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FEDF-AAF7-E2DE-3034-A0149971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Oligopolistic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619F5-BDA4-802D-0257-726224A8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.. occurs when only a few firms dominate the market</a:t>
                </a:r>
              </a:p>
              <a:p>
                <a:endParaRPr lang="en-US" dirty="0"/>
              </a:p>
              <a:p>
                <a:r>
                  <a:rPr lang="en-US" dirty="0"/>
                  <a:t>When perfectly competitive, firms do not have price control and will set price equal to marginal cost – that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few dominant firms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have price control and set marginal revenue (from the demand curve) equal to marginal cost: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F619F5-BDA4-802D-0257-726224A8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301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F10AB-830B-8C83-B0BC-BE031882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B10A6-BFCD-DD27-F281-794C203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Oligopolistic Competition (OC)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B2F3-877E-1288-02E2-6DDA15EED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185" y="319088"/>
            <a:ext cx="7450650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No longer…</a:t>
            </a:r>
          </a:p>
          <a:p>
            <a:pPr lvl="1"/>
            <a:r>
              <a:rPr lang="en-US" dirty="0"/>
              <a:t>maximizing social surplus/utility as was done with supply and demand curves</a:t>
            </a:r>
          </a:p>
          <a:p>
            <a:pPr lvl="1"/>
            <a:r>
              <a:rPr lang="en-US" dirty="0"/>
              <a:t>able to aggregate objective functions as each firm is self-interested</a:t>
            </a:r>
          </a:p>
          <a:p>
            <a:endParaRPr lang="en-US" dirty="0"/>
          </a:p>
          <a:p>
            <a:r>
              <a:rPr lang="en-US" dirty="0"/>
              <a:t>Another perspective: Each firm is interacting in a shared market but acting individually in their own, profit-maximizing way</a:t>
            </a:r>
          </a:p>
          <a:p>
            <a:endParaRPr lang="en-US" dirty="0"/>
          </a:p>
          <a:p>
            <a:r>
              <a:rPr lang="en-US" dirty="0"/>
              <a:t>… thus can’t simply sum profits </a:t>
            </a:r>
          </a:p>
        </p:txBody>
      </p:sp>
    </p:spTree>
    <p:extLst>
      <p:ext uri="{BB962C8B-B14F-4D97-AF65-F5344CB8AC3E}">
        <p14:creationId xmlns:p14="http://schemas.microsoft.com/office/powerpoint/2010/main" val="4154398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889B-F560-43FE-60FE-B70AC5DB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think about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47A54-A290-C821-7CBE-6CC9266A8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Under PC, goal is to maximize social surplus: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Under OC, each actor’s goal is to maximize their own profits: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47A54-A290-C821-7CBE-6CC9266A8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667250"/>
              </a:xfrm>
              <a:blipFill>
                <a:blip r:embed="rId2"/>
                <a:stretch>
                  <a:fillRect l="-724" t="-19783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5AE10A-5FA2-BF5A-25E7-9A001C072702}"/>
                  </a:ext>
                </a:extLst>
              </p:cNvPr>
              <p:cNvSpPr txBox="1"/>
              <p:nvPr/>
            </p:nvSpPr>
            <p:spPr>
              <a:xfrm>
                <a:off x="9338359" y="3662744"/>
                <a:ext cx="2376100" cy="67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Can’t say: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pPr algn="ctr"/>
                <a:r>
                  <a:rPr lang="en-US" dirty="0"/>
                  <a:t>(actually, you could)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5AE10A-5FA2-BF5A-25E7-9A001C07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359" y="3662744"/>
                <a:ext cx="2376100" cy="673518"/>
              </a:xfrm>
              <a:prstGeom prst="rect">
                <a:avLst/>
              </a:prstGeom>
              <a:blipFill>
                <a:blip r:embed="rId3"/>
                <a:stretch>
                  <a:fillRect l="-1596" t="-62963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9A6BF0-B6FC-F2A5-1312-605252D1D1D0}"/>
                  </a:ext>
                </a:extLst>
              </p:cNvPr>
              <p:cNvSpPr txBox="1"/>
              <p:nvPr/>
            </p:nvSpPr>
            <p:spPr>
              <a:xfrm>
                <a:off x="3072441" y="6357938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9A6BF0-B6FC-F2A5-1312-605252D1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441" y="6357938"/>
                <a:ext cx="60976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A brief History of “Ackchyually…” -">
            <a:extLst>
              <a:ext uri="{FF2B5EF4-FFF2-40B4-BE49-F238E27FC236}">
                <a16:creationId xmlns:a16="http://schemas.microsoft.com/office/drawing/2014/main" id="{9336A8B9-05B6-D5E4-E381-912311D7A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86" y="4543515"/>
            <a:ext cx="2183755" cy="218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ove, Ackshually">
            <a:extLst>
              <a:ext uri="{FF2B5EF4-FFF2-40B4-BE49-F238E27FC236}">
                <a16:creationId xmlns:a16="http://schemas.microsoft.com/office/drawing/2014/main" id="{CD1073C7-9771-E093-0F66-6D3F55C1D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045" y="610692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297BBF-C16C-CF38-1BEB-EE209EB7AD2F}"/>
              </a:ext>
            </a:extLst>
          </p:cNvPr>
          <p:cNvCxnSpPr>
            <a:stCxn id="4" idx="1"/>
          </p:cNvCxnSpPr>
          <p:nvPr/>
        </p:nvCxnSpPr>
        <p:spPr>
          <a:xfrm flipH="1">
            <a:off x="8078993" y="3999503"/>
            <a:ext cx="1259366" cy="544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090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3CDC6-32B2-1800-36A0-908525F6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Some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72305-7C56-1BC7-38FA-F9B0B2DD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882315"/>
            <a:ext cx="5984839" cy="5294647"/>
          </a:xfrm>
        </p:spPr>
        <p:txBody>
          <a:bodyPr>
            <a:normAutofit/>
          </a:bodyPr>
          <a:lstStyle/>
          <a:p>
            <a:r>
              <a:rPr lang="en-US" sz="1700" dirty="0"/>
              <a:t>Mineral data from USGS gathered by student</a:t>
            </a:r>
          </a:p>
          <a:p>
            <a:pPr lvl="1"/>
            <a:r>
              <a:rPr lang="en-US" sz="1700" dirty="0"/>
              <a:t>production - tonnes</a:t>
            </a:r>
          </a:p>
          <a:p>
            <a:pPr lvl="1"/>
            <a:r>
              <a:rPr lang="en-US" sz="1700" dirty="0"/>
              <a:t>price - $ / tonne</a:t>
            </a:r>
          </a:p>
          <a:p>
            <a:pPr lvl="1"/>
            <a:r>
              <a:rPr lang="en-US" sz="1700" dirty="0"/>
              <a:t>Currently – rare earths bundled</a:t>
            </a:r>
          </a:p>
          <a:p>
            <a:r>
              <a:rPr lang="en-US" sz="1700" dirty="0"/>
              <a:t>Used a tool (the ‘</a:t>
            </a:r>
            <a:r>
              <a:rPr lang="en-US" sz="1700" dirty="0" err="1"/>
              <a:t>columnizer,py</a:t>
            </a:r>
            <a:r>
              <a:rPr lang="en-US" sz="1700" dirty="0"/>
              <a:t>’) to dump all sets to CSVs</a:t>
            </a:r>
          </a:p>
          <a:p>
            <a:r>
              <a:rPr lang="en-US" sz="1700" dirty="0"/>
              <a:t>Built first as a calibrated, perfect-competition MCP</a:t>
            </a:r>
          </a:p>
          <a:p>
            <a:pPr lvl="1"/>
            <a:r>
              <a:rPr lang="en-US" sz="1700" dirty="0"/>
              <a:t>Market clearing and zero profit conditions</a:t>
            </a:r>
          </a:p>
          <a:p>
            <a:pPr lvl="1"/>
            <a:r>
              <a:rPr lang="en-US" sz="1700" dirty="0"/>
              <a:t>Check benchmark recreation</a:t>
            </a:r>
          </a:p>
          <a:p>
            <a:r>
              <a:rPr lang="en-US" sz="1700" dirty="0"/>
              <a:t>Added on game theory elements (Cournot)</a:t>
            </a:r>
          </a:p>
          <a:p>
            <a:pPr lvl="1"/>
            <a:r>
              <a:rPr lang="en-US" sz="1700" dirty="0"/>
              <a:t>Screwed up benchmark recreation</a:t>
            </a:r>
          </a:p>
          <a:p>
            <a:pPr lvl="1"/>
            <a:r>
              <a:rPr lang="en-US" sz="1700" dirty="0" err="1"/>
              <a:t>ie</a:t>
            </a:r>
            <a:r>
              <a:rPr lang="en-US" sz="1700" dirty="0"/>
              <a:t> cannot recover </a:t>
            </a:r>
          </a:p>
          <a:p>
            <a:r>
              <a:rPr lang="en-US" sz="1700" dirty="0"/>
              <a:t>Set up auto-calibration via MPEC</a:t>
            </a:r>
          </a:p>
          <a:p>
            <a:r>
              <a:rPr lang="en-US" sz="1700" dirty="0"/>
              <a:t>Re-created equilibrium</a:t>
            </a:r>
          </a:p>
          <a:p>
            <a:r>
              <a:rPr lang="en-US" sz="1700" dirty="0"/>
              <a:t>Running supply/demand shocks</a:t>
            </a:r>
          </a:p>
          <a:p>
            <a:endParaRPr lang="en-US" sz="1700" dirty="0"/>
          </a:p>
        </p:txBody>
      </p:sp>
      <p:pic>
        <p:nvPicPr>
          <p:cNvPr id="4098" name="Picture 2" descr="40 Funny Tweets That Had Me Giggling And Kicking My Feet Up Off The Couch">
            <a:extLst>
              <a:ext uri="{FF2B5EF4-FFF2-40B4-BE49-F238E27FC236}">
                <a16:creationId xmlns:a16="http://schemas.microsoft.com/office/drawing/2014/main" id="{23CDE571-E302-ECEE-68BB-9DA93A13C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45" y="3268254"/>
            <a:ext cx="4467765" cy="323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180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A366-76BB-D82F-70B0-48C327D7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perfect competition, calibrated constant elasticity of supply/demand, mixed complementarity problem (</a:t>
            </a:r>
            <a:r>
              <a:rPr lang="en-US" dirty="0" err="1"/>
              <a:t>ie</a:t>
            </a:r>
            <a:r>
              <a:rPr lang="en-US" dirty="0"/>
              <a:t> a PC-CCES/D-MCP)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B090-8A9A-2506-C812-4A64A9E4A0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2429"/>
                <a:ext cx="10515600" cy="4184534"/>
              </a:xfrm>
            </p:spPr>
            <p:txBody>
              <a:bodyPr/>
              <a:lstStyle/>
              <a:p>
                <a:r>
                  <a:rPr lang="en-US" dirty="0"/>
                  <a:t>Supply must equal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Zero profit condition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B090-8A9A-2506-C812-4A64A9E4A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2429"/>
                <a:ext cx="10515600" cy="4184534"/>
              </a:xfrm>
              <a:blipFill>
                <a:blip r:embed="rId2"/>
                <a:stretch>
                  <a:fillRect l="-1086" t="-26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0F7F32-CC04-3E53-A5F0-1FF7541CB995}"/>
              </a:ext>
            </a:extLst>
          </p:cNvPr>
          <p:cNvSpPr txBox="1"/>
          <p:nvPr/>
        </p:nvSpPr>
        <p:spPr>
          <a:xfrm>
            <a:off x="8798623" y="3587393"/>
            <a:ext cx="2982699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Why does this re-create our initial benchmark values?</a:t>
            </a:r>
          </a:p>
        </p:txBody>
      </p:sp>
    </p:spTree>
    <p:extLst>
      <p:ext uri="{BB962C8B-B14F-4D97-AF65-F5344CB8AC3E}">
        <p14:creationId xmlns:p14="http://schemas.microsoft.com/office/powerpoint/2010/main" val="3254419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49F5A-7A0C-3452-239A-01BD8573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F89F-BF13-CE5E-8EB4-5D820FD2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</a:t>
            </a:r>
            <a:r>
              <a:rPr lang="en-US" b="1" i="1" dirty="0"/>
              <a:t>oligopolistic </a:t>
            </a:r>
            <a:r>
              <a:rPr lang="en-US" dirty="0"/>
              <a:t>competition, calibrated constant elasticity of supply/demand, mixed complementarity problem (</a:t>
            </a:r>
            <a:r>
              <a:rPr lang="en-US" dirty="0" err="1"/>
              <a:t>ie</a:t>
            </a:r>
            <a:r>
              <a:rPr lang="en-US" dirty="0"/>
              <a:t> a </a:t>
            </a:r>
            <a:r>
              <a:rPr lang="en-US" b="1" i="1" dirty="0"/>
              <a:t>O</a:t>
            </a:r>
            <a:r>
              <a:rPr lang="en-US" dirty="0"/>
              <a:t>C-CCES/D-MCP)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2ACD2-2089-CA3B-CD3A-BE6FB3099C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644" y="2119471"/>
                <a:ext cx="6718433" cy="418453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Supply must equal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Zero profit condition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2ACD2-2089-CA3B-CD3A-BE6FB3099C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644" y="2119471"/>
                <a:ext cx="6718433" cy="4184534"/>
              </a:xfrm>
              <a:blipFill>
                <a:blip r:embed="rId2"/>
                <a:stretch>
                  <a:fillRect l="-1321" t="-26364" b="-2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36E04A-0B3A-3518-B258-68EFF2906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732" y="2119471"/>
            <a:ext cx="4259261" cy="3930449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EACEEB8F-CA34-69ED-C344-3FB68D6706A5}"/>
              </a:ext>
            </a:extLst>
          </p:cNvPr>
          <p:cNvSpPr/>
          <p:nvPr/>
        </p:nvSpPr>
        <p:spPr>
          <a:xfrm rot="16200000">
            <a:off x="4518768" y="5380860"/>
            <a:ext cx="202720" cy="202130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05CA258E-7760-29FF-250A-F5C5D626FDE5}"/>
              </a:ext>
            </a:extLst>
          </p:cNvPr>
          <p:cNvCxnSpPr>
            <a:endCxn id="4" idx="2"/>
          </p:cNvCxnSpPr>
          <p:nvPr/>
        </p:nvCxnSpPr>
        <p:spPr>
          <a:xfrm flipV="1">
            <a:off x="4639377" y="6049920"/>
            <a:ext cx="5237986" cy="4429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72B4007-8F7E-8BBC-A7F6-0081D41FC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407" y="3930531"/>
            <a:ext cx="1996963" cy="5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66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8F62-41B7-C1B2-7C1B-899D560D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37DE-6406-2E6E-389D-45337556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with the </a:t>
            </a:r>
            <a:r>
              <a:rPr lang="en-US" b="1" i="1" dirty="0"/>
              <a:t>O</a:t>
            </a:r>
            <a:r>
              <a:rPr lang="en-US" dirty="0"/>
              <a:t>C-CCES/D-MCP)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4F3DB-4D10-3750-0B71-F1138D6A9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644" y="2119471"/>
                <a:ext cx="6718433" cy="418453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Supply must equal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Zero profit condition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4F3DB-4D10-3750-0B71-F1138D6A9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644" y="2119471"/>
                <a:ext cx="6718433" cy="4184534"/>
              </a:xfrm>
              <a:blipFill>
                <a:blip r:embed="rId2"/>
                <a:stretch>
                  <a:fillRect l="-1321" t="-26364" b="-2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2ED6CA5-119D-6CD9-E5A1-CAEFBC3F6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407" y="3930531"/>
            <a:ext cx="1996963" cy="5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5796-F4C8-FC7F-32EF-19405970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3EFF-3799-2DDD-A596-B3A1A6A8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 Complementarity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661A3-98EB-6E2B-0C51-183A3B331A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2825"/>
                <a:ext cx="479648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Market clearing: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661A3-98EB-6E2B-0C51-183A3B331A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2825"/>
                <a:ext cx="4796481" cy="4351338"/>
              </a:xfrm>
              <a:blipFill>
                <a:blip r:embed="rId2"/>
                <a:stretch>
                  <a:fillRect l="-2646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6EE2A1-3B93-7343-332B-196815B310D6}"/>
                  </a:ext>
                </a:extLst>
              </p:cNvPr>
              <p:cNvSpPr txBox="1"/>
              <p:nvPr/>
            </p:nvSpPr>
            <p:spPr>
              <a:xfrm>
                <a:off x="4615662" y="5034445"/>
                <a:ext cx="609805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: # constraints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: # variables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6EE2A1-3B93-7343-332B-196815B3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662" y="5034445"/>
                <a:ext cx="6098058" cy="954107"/>
              </a:xfrm>
              <a:prstGeom prst="rect">
                <a:avLst/>
              </a:prstGeom>
              <a:blipFill>
                <a:blip r:embed="rId3"/>
                <a:stretch>
                  <a:fillRect l="-1040" t="-6579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DB29B49-3BFC-139C-67D1-67273DE00D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3940" y="2282825"/>
                <a:ext cx="609805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Zero profit: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DB29B49-3BFC-139C-67D1-67273DE00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40" y="2282825"/>
                <a:ext cx="6098059" cy="4351338"/>
              </a:xfrm>
              <a:prstGeom prst="rect">
                <a:avLst/>
              </a:prstGeom>
              <a:blipFill>
                <a:blip r:embed="rId4"/>
                <a:stretch>
                  <a:fillRect l="-2287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882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A5F8-36D2-26A6-CE9D-DCA8FA2F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5FF2-B5B2-B77D-BFA1-531ADD1B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MPECs for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6E54-FD7B-EE73-0597-A5051C68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268187-4B45-F75B-9735-594411D4CB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01294"/>
                <a:ext cx="479648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Market clearing: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268187-4B45-F75B-9735-594411D4C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4796481" cy="4351338"/>
              </a:xfrm>
              <a:prstGeom prst="rect">
                <a:avLst/>
              </a:prstGeom>
              <a:blipFill>
                <a:blip r:embed="rId3"/>
                <a:stretch>
                  <a:fillRect l="-2646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BBAF5-8275-5C24-CC72-A3DE3A2945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3940" y="4001294"/>
                <a:ext cx="609805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Zero profit: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8BBAF5-8275-5C24-CC72-A3DE3A294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40" y="4001294"/>
                <a:ext cx="6098059" cy="4351338"/>
              </a:xfrm>
              <a:prstGeom prst="rect">
                <a:avLst/>
              </a:prstGeom>
              <a:blipFill>
                <a:blip r:embed="rId4"/>
                <a:stretch>
                  <a:fillRect l="-2287" t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51B846-894F-E3A3-D7B9-3BD3DD3C9E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51B846-894F-E3A3-D7B9-3BD3DD3C9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C059E78-310D-89AD-D50D-2DBA5F880B34}"/>
              </a:ext>
            </a:extLst>
          </p:cNvPr>
          <p:cNvSpPr txBox="1"/>
          <p:nvPr/>
        </p:nvSpPr>
        <p:spPr>
          <a:xfrm>
            <a:off x="7642458" y="1255494"/>
            <a:ext cx="4042611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CAVEAT: these are very difficult to solve and require a bit more art than science</a:t>
            </a:r>
          </a:p>
        </p:txBody>
      </p:sp>
    </p:spTree>
    <p:extLst>
      <p:ext uri="{BB962C8B-B14F-4D97-AF65-F5344CB8AC3E}">
        <p14:creationId xmlns:p14="http://schemas.microsoft.com/office/powerpoint/2010/main" val="1051503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F515-68E8-BA32-2797-55227B0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28360-A05C-0C85-8254-FEB701F7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mathematical program with equilibrium constraints to calibrate an oligopolistic competition, calibrated constant elasticity of supply/demand, mixed complementarity problem </a:t>
            </a:r>
            <a:br>
              <a:rPr lang="en-US" sz="3200" dirty="0"/>
            </a:br>
            <a:r>
              <a:rPr lang="en-US" sz="3200" dirty="0"/>
              <a:t>(</a:t>
            </a:r>
            <a:r>
              <a:rPr lang="en-US" sz="3200" dirty="0" err="1"/>
              <a:t>ie</a:t>
            </a:r>
            <a:r>
              <a:rPr lang="en-US" sz="3200" dirty="0"/>
              <a:t> a MPEC-OC-CCES/D-MCP) – aka “holy s*** it worked!”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E8036-1FC3-2F4A-FF9E-0DA3A88AA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644" y="2119471"/>
                <a:ext cx="10000649" cy="418453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s.t.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E8036-1FC3-2F4A-FF9E-0DA3A88AA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644" y="2119471"/>
                <a:ext cx="10000649" cy="4184534"/>
              </a:xfrm>
              <a:blipFill>
                <a:blip r:embed="rId2"/>
                <a:stretch>
                  <a:fillRect l="-761" b="-13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94B90-2201-B597-6835-4C0E191AB458}"/>
                  </a:ext>
                </a:extLst>
              </p:cNvPr>
              <p:cNvSpPr txBox="1"/>
              <p:nvPr/>
            </p:nvSpPr>
            <p:spPr>
              <a:xfrm>
                <a:off x="1807143" y="2906829"/>
                <a:ext cx="2232259" cy="957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set of parameters we’re estimating,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94B90-2201-B597-6835-4C0E191AB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43" y="2906829"/>
                <a:ext cx="2232259" cy="957121"/>
              </a:xfrm>
              <a:prstGeom prst="rect">
                <a:avLst/>
              </a:prstGeom>
              <a:blipFill>
                <a:blip r:embed="rId3"/>
                <a:stretch>
                  <a:fillRect t="-2597" r="-1130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FAB0D8-8992-B6E7-2D07-3F329C8391C7}"/>
              </a:ext>
            </a:extLst>
          </p:cNvPr>
          <p:cNvCxnSpPr>
            <a:cxnSpLocks/>
          </p:cNvCxnSpPr>
          <p:nvPr/>
        </p:nvCxnSpPr>
        <p:spPr>
          <a:xfrm flipV="1">
            <a:off x="4039402" y="2646949"/>
            <a:ext cx="802105" cy="259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9F1C47-7A14-E8C0-849C-6895958AE1DD}"/>
              </a:ext>
            </a:extLst>
          </p:cNvPr>
          <p:cNvSpPr txBox="1"/>
          <p:nvPr/>
        </p:nvSpPr>
        <p:spPr>
          <a:xfrm>
            <a:off x="7427498" y="1908061"/>
            <a:ext cx="26020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between endogenous and exogenous values (usually squared) – can add variables too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0DE8C23-A181-FDA4-4D23-61514077C4A0}"/>
              </a:ext>
            </a:extLst>
          </p:cNvPr>
          <p:cNvSpPr/>
          <p:nvPr/>
        </p:nvSpPr>
        <p:spPr>
          <a:xfrm rot="5400000">
            <a:off x="5772751" y="2168094"/>
            <a:ext cx="360950" cy="131866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26F31AC-778A-EA3C-F3B3-B3A773777D41}"/>
              </a:ext>
            </a:extLst>
          </p:cNvPr>
          <p:cNvCxnSpPr>
            <a:cxnSpLocks/>
            <a:stCxn id="16" idx="1"/>
          </p:cNvCxnSpPr>
          <p:nvPr/>
        </p:nvCxnSpPr>
        <p:spPr>
          <a:xfrm rot="16200000" flipH="1">
            <a:off x="6662065" y="2299061"/>
            <a:ext cx="56596" cy="1474274"/>
          </a:xfrm>
          <a:prstGeom prst="bentConnector4">
            <a:avLst>
              <a:gd name="adj1" fmla="val 106294"/>
              <a:gd name="adj2" fmla="val 561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9236BEFA-FDE4-5BF2-1023-AE0373034EB7}"/>
              </a:ext>
            </a:extLst>
          </p:cNvPr>
          <p:cNvSpPr/>
          <p:nvPr/>
        </p:nvSpPr>
        <p:spPr>
          <a:xfrm>
            <a:off x="8514349" y="3696907"/>
            <a:ext cx="254266" cy="260709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B6107-05C3-3C38-5B1D-ECE3A16D9457}"/>
              </a:ext>
            </a:extLst>
          </p:cNvPr>
          <p:cNvSpPr txBox="1"/>
          <p:nvPr/>
        </p:nvSpPr>
        <p:spPr>
          <a:xfrm>
            <a:off x="8796288" y="4815790"/>
            <a:ext cx="223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Our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2689427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627F-317B-5768-D4F0-2E1841465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00D6-FCAF-D880-D9E7-719F1708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mathematical program with equilibrium constraints to calibrate an oligopolistic competition, calibrated constant elasticity of supply/demand, mixed complementarity problem </a:t>
            </a:r>
            <a:br>
              <a:rPr lang="en-US" sz="3200" dirty="0"/>
            </a:br>
            <a:r>
              <a:rPr lang="en-US" sz="3200" dirty="0"/>
              <a:t>(</a:t>
            </a:r>
            <a:r>
              <a:rPr lang="en-US" sz="3200" dirty="0" err="1"/>
              <a:t>ie</a:t>
            </a:r>
            <a:r>
              <a:rPr lang="en-US" sz="3200" dirty="0"/>
              <a:t> a MPEC-OC-CCES/D-MCP) – aka “holy s*** it worked!”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AE579-BACD-0B99-5650-387DBA4005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644" y="2119471"/>
                <a:ext cx="10000649" cy="418453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AE579-BACD-0B99-5650-387DBA400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644" y="2119471"/>
                <a:ext cx="10000649" cy="4184534"/>
              </a:xfrm>
              <a:blipFill>
                <a:blip r:embed="rId2"/>
                <a:stretch>
                  <a:fillRect t="-30909" b="-1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876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EC9D-964A-EC1A-C030-54B7ECD1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D3E5-302C-C898-A952-340E04998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39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A050-44FC-9009-8A6D-551EA250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5691"/>
            <a:ext cx="10515600" cy="1325563"/>
          </a:xfrm>
        </p:spPr>
        <p:txBody>
          <a:bodyPr/>
          <a:lstStyle/>
          <a:p>
            <a:r>
              <a:rPr lang="en-US" dirty="0"/>
              <a:t>Cournot model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0AE07-E8F2-9C19-A367-E27D12CD5E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5460"/>
                <a:ext cx="10515600" cy="621254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Linear demand as a function of aggregated supply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Revenue for firm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Assume cost function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Profit is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0AE07-E8F2-9C19-A367-E27D12CD5E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5460"/>
                <a:ext cx="10515600" cy="6212540"/>
              </a:xfrm>
              <a:blipFill>
                <a:blip r:embed="rId2"/>
                <a:stretch>
                  <a:fillRect l="-1086" t="-11429" b="-2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621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D5ABE9-0099-5508-0499-4528F5F3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4170-5CFC-FB18-C23F-750CEAEB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0"/>
            <a:ext cx="10515600" cy="1325563"/>
          </a:xfrm>
        </p:spPr>
        <p:txBody>
          <a:bodyPr/>
          <a:lstStyle/>
          <a:p>
            <a:r>
              <a:rPr lang="en-US" dirty="0"/>
              <a:t>Cournot model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12E70-C048-868E-0684-D6A5457563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1436"/>
                <a:ext cx="10515600" cy="5590309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find optimal behavior, need to differentiate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𝑏𝑄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12E70-C048-868E-0684-D6A545756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1436"/>
                <a:ext cx="10515600" cy="5590309"/>
              </a:xfrm>
              <a:blipFill>
                <a:blip r:embed="rId2"/>
                <a:stretch>
                  <a:fillRect l="-724" t="-17647" b="-1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21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4142-A6FB-B6BB-EDC3-6C907F20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8CED-E1A0-2D61-7C14-08273389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0"/>
            <a:ext cx="10515600" cy="1325563"/>
          </a:xfrm>
        </p:spPr>
        <p:txBody>
          <a:bodyPr/>
          <a:lstStyle/>
          <a:p>
            <a:r>
              <a:rPr lang="en-US" dirty="0"/>
              <a:t>Cournot model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FE496-7359-9007-A3F8-145490E9E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1436"/>
                <a:ext cx="10515600" cy="559030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find optimal behavior, need to differentiate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𝑏𝑄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then: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FE496-7359-9007-A3F8-145490E9E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1436"/>
                <a:ext cx="10515600" cy="5590309"/>
              </a:xfrm>
              <a:blipFill>
                <a:blip r:embed="rId2"/>
                <a:stretch>
                  <a:fillRect l="-1086" t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374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9682-14A2-49A7-62C8-E594E306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27C-45BB-3C56-3557-AABF8288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Cournot model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AC3927-D5E3-7395-DE86-1A3A567C12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4273"/>
                <a:ext cx="10515600" cy="47174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Implies (a)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(b):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AC3927-D5E3-7395-DE86-1A3A567C12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4273"/>
                <a:ext cx="10515600" cy="4717472"/>
              </a:xfrm>
              <a:blipFill>
                <a:blip r:embed="rId2"/>
                <a:stretch>
                  <a:fillRect l="-1206" t="-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846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8AA-C361-AF65-55EC-98A0184A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6010"/>
            <a:ext cx="10515600" cy="1325563"/>
          </a:xfrm>
        </p:spPr>
        <p:txBody>
          <a:bodyPr/>
          <a:lstStyle/>
          <a:p>
            <a:r>
              <a:rPr lang="en-US" dirty="0"/>
              <a:t>Cournot model as an MCP (linear)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3C89EC-B605-E8D0-74C5-7D41F02823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459" y="778706"/>
                <a:ext cx="5567082" cy="61049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Indices: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firm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demand intercept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 demand slope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market price ($ / units)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firm production (units)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3C89EC-B605-E8D0-74C5-7D41F0282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459" y="778706"/>
                <a:ext cx="5567082" cy="6104965"/>
              </a:xfrm>
              <a:blipFill>
                <a:blip r:embed="rId2"/>
                <a:stretch>
                  <a:fillRect l="-2273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E520325-A82C-63BE-6C5F-812ACDD3AE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753035"/>
                <a:ext cx="5567082" cy="6104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dirty="0"/>
                  <a:t>Complementarity conditions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="1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Supply equals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E520325-A82C-63BE-6C5F-812ACDD3A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53035"/>
                <a:ext cx="5567082" cy="6104965"/>
              </a:xfrm>
              <a:prstGeom prst="rect">
                <a:avLst/>
              </a:prstGeom>
              <a:blipFill>
                <a:blip r:embed="rId3"/>
                <a:stretch>
                  <a:fillRect l="-2506" t="-2911" b="-4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35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AE1D-4E29-B336-1AB3-5F414904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C320-18BD-1E58-B686-E1B96D3C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6010"/>
            <a:ext cx="12192000" cy="1325563"/>
          </a:xfrm>
        </p:spPr>
        <p:txBody>
          <a:bodyPr/>
          <a:lstStyle/>
          <a:p>
            <a:r>
              <a:rPr lang="en-US" dirty="0"/>
              <a:t>Cournot model as an MCP – from Murphy et al. 1982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0317D2-B770-D086-4FA3-8EFCAF8162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459" y="797669"/>
                <a:ext cx="5567082" cy="64417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Indices: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firm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demand scaler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demand elasticity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firm-specific costs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supply elasticity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market price ($ / units)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firm production (units)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0317D2-B770-D086-4FA3-8EFCAF8162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459" y="797669"/>
                <a:ext cx="5567082" cy="6441740"/>
              </a:xfrm>
              <a:blipFill>
                <a:blip r:embed="rId2"/>
                <a:stretch>
                  <a:fillRect l="-2273" t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DFC64F-35DD-2997-1059-209E5E770E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129553"/>
                <a:ext cx="5567082" cy="6104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dirty="0"/>
                  <a:t>Complementarity conditions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b="1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Supply equals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DFC64F-35DD-2997-1059-209E5E770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129553"/>
                <a:ext cx="5567082" cy="6104965"/>
              </a:xfrm>
              <a:prstGeom prst="rect">
                <a:avLst/>
              </a:prstGeom>
              <a:blipFill>
                <a:blip r:embed="rId3"/>
                <a:stretch>
                  <a:fillRect l="-2506" t="-2697" b="-5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798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AF41-AD6B-83FF-FBA5-E283859C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deriving MC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9F5D1C-BB33-3EB0-58AE-609E12F17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243"/>
                <a:ext cx="10515600" cy="50681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Original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From the wild west times of functional forms…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9F5D1C-BB33-3EB0-58AE-609E12F17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243"/>
                <a:ext cx="10515600" cy="5068110"/>
              </a:xfrm>
              <a:blipFill>
                <a:blip r:embed="rId2"/>
                <a:stretch>
                  <a:fillRect l="-1206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948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2551</Words>
  <Application>Microsoft Macintosh PowerPoint</Application>
  <PresentationFormat>Widescreen</PresentationFormat>
  <Paragraphs>440</Paragraphs>
  <Slides>46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Aptos Display</vt:lpstr>
      <vt:lpstr>Aptos Narrow</vt:lpstr>
      <vt:lpstr>Arial</vt:lpstr>
      <vt:lpstr>Cambria Math</vt:lpstr>
      <vt:lpstr>Office Theme</vt:lpstr>
      <vt:lpstr>EBGN645</vt:lpstr>
      <vt:lpstr>Upcoming Classes</vt:lpstr>
      <vt:lpstr>A note on AI (aka don’t do this)</vt:lpstr>
      <vt:lpstr>The question nobody asked…</vt:lpstr>
      <vt:lpstr>Agenda</vt:lpstr>
      <vt:lpstr>Complementarity Problems</vt:lpstr>
      <vt:lpstr>When should we use MCPs?</vt:lpstr>
      <vt:lpstr>Formulating the dual.. </vt:lpstr>
      <vt:lpstr>Ripley’s restaurant – now with the Dual</vt:lpstr>
      <vt:lpstr>Ripley’s restaurant</vt:lpstr>
      <vt:lpstr>Ripley’s restaurant – the dual</vt:lpstr>
      <vt:lpstr>Steps to creating an MCP from an existing LP/NLP</vt:lpstr>
      <vt:lpstr>Write out initial problem</vt:lpstr>
      <vt:lpstr>Derive complementarity conditions</vt:lpstr>
      <vt:lpstr>(Full) Complementarity Conditions</vt:lpstr>
      <vt:lpstr>Let’s add the combo constraint…</vt:lpstr>
      <vt:lpstr>Indices of the shadow value variable will always match the dimensions of its primal constraint – this also implies conditionals on the primal constraint indices need to match the dual variable</vt:lpstr>
      <vt:lpstr>Set up problem as: [primal constraints] &amp; [dual constraints] </vt:lpstr>
      <vt:lpstr>Now in GAMS, need to:</vt:lpstr>
      <vt:lpstr>What about our simple electricity model?</vt:lpstr>
      <vt:lpstr>PowerPoint Presentation</vt:lpstr>
      <vt:lpstr>Caveat: Dual signs</vt:lpstr>
      <vt:lpstr>Now let’s do the electricity example</vt:lpstr>
      <vt:lpstr>PowerPoint Presentation</vt:lpstr>
      <vt:lpstr>What about elastic demand?</vt:lpstr>
      <vt:lpstr>An MCP ‘hack’</vt:lpstr>
      <vt:lpstr>A good book..</vt:lpstr>
      <vt:lpstr>Oligopolistic Competition</vt:lpstr>
      <vt:lpstr>Oligopolistic Competition (OC)</vt:lpstr>
      <vt:lpstr>Another way to think about it</vt:lpstr>
      <vt:lpstr>Some background</vt:lpstr>
      <vt:lpstr>A perfect competition, calibrated constant elasticity of supply/demand, mixed complementarity problem (ie a PC-CCES/D-MCP)</vt:lpstr>
      <vt:lpstr>An oligopolistic competition, calibrated constant elasticity of supply/demand, mixed complementarity problem (ie a OC-CCES/D-MCP)</vt:lpstr>
      <vt:lpstr>Problems with the OC-CCES/D-MCP)</vt:lpstr>
      <vt:lpstr>OG Complementarity conditions</vt:lpstr>
      <vt:lpstr>MPECs for calibration</vt:lpstr>
      <vt:lpstr>A mathematical program with equilibrium constraints to calibrate an oligopolistic competition, calibrated constant elasticity of supply/demand, mixed complementarity problem  (ie a MPEC-OC-CCES/D-MCP) – aka “holy s*** it worked!”</vt:lpstr>
      <vt:lpstr>A mathematical program with equilibrium constraints to calibrate an oligopolistic competition, calibrated constant elasticity of supply/demand, mixed complementarity problem  (ie a MPEC-OC-CCES/D-MCP) – aka “holy s*** it worked!”</vt:lpstr>
      <vt:lpstr>Extra slides…</vt:lpstr>
      <vt:lpstr>Cournot model derivation</vt:lpstr>
      <vt:lpstr>Cournot model derivation</vt:lpstr>
      <vt:lpstr>Cournot model derivation</vt:lpstr>
      <vt:lpstr>Cournot model derivation</vt:lpstr>
      <vt:lpstr>Cournot model as an MCP (linear)</vt:lpstr>
      <vt:lpstr>Cournot model as an MCP – from Murphy et al. 1982</vt:lpstr>
      <vt:lpstr>Note on deriving MC curves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76</cp:revision>
  <dcterms:created xsi:type="dcterms:W3CDTF">2024-10-02T15:36:01Z</dcterms:created>
  <dcterms:modified xsi:type="dcterms:W3CDTF">2025-11-20T19:50:55Z</dcterms:modified>
</cp:coreProperties>
</file>