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76" r:id="rId3"/>
    <p:sldId id="2147378245" r:id="rId4"/>
    <p:sldId id="2147378240" r:id="rId5"/>
    <p:sldId id="257" r:id="rId6"/>
    <p:sldId id="2147378092" r:id="rId7"/>
    <p:sldId id="2147378244" r:id="rId8"/>
    <p:sldId id="2147378109" r:id="rId9"/>
    <p:sldId id="2147378164" r:id="rId10"/>
    <p:sldId id="2147378129" r:id="rId11"/>
    <p:sldId id="2147378130" r:id="rId12"/>
    <p:sldId id="2147378138" r:id="rId13"/>
    <p:sldId id="2147378139" r:id="rId14"/>
    <p:sldId id="2147378140" r:id="rId15"/>
    <p:sldId id="2147378143" r:id="rId16"/>
    <p:sldId id="2147378142" r:id="rId17"/>
    <p:sldId id="2147378144" r:id="rId18"/>
    <p:sldId id="2147378141" r:id="rId19"/>
    <p:sldId id="2147378147" r:id="rId20"/>
    <p:sldId id="2147378148" r:id="rId21"/>
    <p:sldId id="2147378149" r:id="rId22"/>
    <p:sldId id="2147378150" r:id="rId23"/>
    <p:sldId id="2147378239" r:id="rId24"/>
    <p:sldId id="2147378166" r:id="rId25"/>
    <p:sldId id="2147378131" r:id="rId26"/>
    <p:sldId id="2147378160" r:id="rId27"/>
    <p:sldId id="2147378161" r:id="rId28"/>
    <p:sldId id="2147378176" r:id="rId29"/>
    <p:sldId id="2147378177" r:id="rId30"/>
    <p:sldId id="2147378178" r:id="rId31"/>
    <p:sldId id="2147378162" r:id="rId32"/>
    <p:sldId id="2147378179" r:id="rId33"/>
    <p:sldId id="2147378180" r:id="rId34"/>
    <p:sldId id="2147378181" r:id="rId35"/>
    <p:sldId id="2147378163" r:id="rId36"/>
    <p:sldId id="2147378182" r:id="rId37"/>
    <p:sldId id="2147378183" r:id="rId38"/>
    <p:sldId id="2147378184" r:id="rId39"/>
    <p:sldId id="2147378159" r:id="rId40"/>
    <p:sldId id="2147378198" r:id="rId41"/>
    <p:sldId id="2147378233" r:id="rId42"/>
    <p:sldId id="2147378234" r:id="rId43"/>
    <p:sldId id="2147378172" r:id="rId44"/>
    <p:sldId id="2147378196" r:id="rId45"/>
    <p:sldId id="2147378197" r:id="rId46"/>
    <p:sldId id="2147378210" r:id="rId47"/>
    <p:sldId id="2147378199" r:id="rId48"/>
    <p:sldId id="2147378201" r:id="rId49"/>
    <p:sldId id="2147378202" r:id="rId50"/>
    <p:sldId id="2147378203" r:id="rId51"/>
    <p:sldId id="2147378205" r:id="rId52"/>
    <p:sldId id="2147378218" r:id="rId53"/>
    <p:sldId id="2147378219" r:id="rId54"/>
    <p:sldId id="2147378220" r:id="rId55"/>
    <p:sldId id="2147378211" r:id="rId56"/>
    <p:sldId id="2147378207" r:id="rId57"/>
    <p:sldId id="2147378222" r:id="rId58"/>
    <p:sldId id="2147378223" r:id="rId59"/>
    <p:sldId id="2147378224" r:id="rId60"/>
    <p:sldId id="2147378225" r:id="rId61"/>
    <p:sldId id="2147378227" r:id="rId62"/>
    <p:sldId id="2147378226" r:id="rId63"/>
    <p:sldId id="2147378206" r:id="rId64"/>
    <p:sldId id="2147378209" r:id="rId65"/>
    <p:sldId id="2147378217" r:id="rId66"/>
    <p:sldId id="2147378204" r:id="rId67"/>
    <p:sldId id="2147378208" r:id="rId68"/>
    <p:sldId id="2147378214" r:id="rId69"/>
    <p:sldId id="2147378215" r:id="rId70"/>
    <p:sldId id="2147378216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4"/>
    <p:restoredTop sz="94651"/>
  </p:normalViewPr>
  <p:slideViewPr>
    <p:cSldViewPr snapToGrid="0">
      <p:cViewPr varScale="1">
        <p:scale>
          <a:sx n="106" d="100"/>
          <a:sy n="106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04412-2049-4CC2-A3F0-335FA875BCB7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F162E2-E520-4450-A282-3F92328E0CCB}">
      <dgm:prSet/>
      <dgm:spPr/>
      <dgm:t>
        <a:bodyPr/>
        <a:lstStyle/>
        <a:p>
          <a:pPr>
            <a:defRPr b="1"/>
          </a:pPr>
          <a:r>
            <a:rPr lang="en-US" dirty="0"/>
            <a:t>Today</a:t>
          </a:r>
        </a:p>
      </dgm:t>
    </dgm:pt>
    <dgm:pt modelId="{B1431A47-EEA7-4A99-9E98-393BB0476EB4}" type="parTrans" cxnId="{627700C2-C8E6-4153-9E4D-6B18DB4722BF}">
      <dgm:prSet/>
      <dgm:spPr/>
      <dgm:t>
        <a:bodyPr/>
        <a:lstStyle/>
        <a:p>
          <a:endParaRPr lang="en-US"/>
        </a:p>
      </dgm:t>
    </dgm:pt>
    <dgm:pt modelId="{BCC0DFA9-2481-45B6-B33C-99834E517F70}" type="sibTrans" cxnId="{627700C2-C8E6-4153-9E4D-6B18DB4722BF}">
      <dgm:prSet/>
      <dgm:spPr/>
      <dgm:t>
        <a:bodyPr/>
        <a:lstStyle/>
        <a:p>
          <a:endParaRPr lang="en-US"/>
        </a:p>
      </dgm:t>
    </dgm:pt>
    <dgm:pt modelId="{BE2DE924-F4C5-4134-8611-4E4A40DA8D46}">
      <dgm:prSet custT="1"/>
      <dgm:spPr/>
      <dgm:t>
        <a:bodyPr/>
        <a:lstStyle/>
        <a:p>
          <a:r>
            <a:rPr lang="en-US" sz="2400" dirty="0"/>
            <a:t>Presentation from </a:t>
          </a:r>
        </a:p>
        <a:p>
          <a:r>
            <a:rPr lang="en-US" sz="2400" dirty="0"/>
            <a:t>Jared Woollacott</a:t>
          </a:r>
        </a:p>
      </dgm:t>
    </dgm:pt>
    <dgm:pt modelId="{F0BA01FA-5D90-4810-966C-0BC2000C1BE1}" type="parTrans" cxnId="{90CFF434-67BD-4E58-9B37-8541ECC9A5D5}">
      <dgm:prSet/>
      <dgm:spPr/>
      <dgm:t>
        <a:bodyPr/>
        <a:lstStyle/>
        <a:p>
          <a:endParaRPr lang="en-US"/>
        </a:p>
      </dgm:t>
    </dgm:pt>
    <dgm:pt modelId="{26F40BEC-B424-49EA-B176-4A1DDEE432AF}" type="sibTrans" cxnId="{90CFF434-67BD-4E58-9B37-8541ECC9A5D5}">
      <dgm:prSet/>
      <dgm:spPr/>
      <dgm:t>
        <a:bodyPr/>
        <a:lstStyle/>
        <a:p>
          <a:endParaRPr lang="en-US"/>
        </a:p>
      </dgm:t>
    </dgm:pt>
    <dgm:pt modelId="{2F424365-8D43-4FA6-80CB-2B37A4BCEEB7}">
      <dgm:prSet/>
      <dgm:spPr/>
      <dgm:t>
        <a:bodyPr/>
        <a:lstStyle/>
        <a:p>
          <a:pPr>
            <a:defRPr b="1"/>
          </a:pPr>
          <a:r>
            <a:rPr lang="en-US" dirty="0"/>
            <a:t>Tuesday (10/14) 10am-2pm</a:t>
          </a:r>
        </a:p>
      </dgm:t>
    </dgm:pt>
    <dgm:pt modelId="{9897491B-05C4-49B0-B41A-8EC5B0CA9F57}" type="parTrans" cxnId="{27C54636-9DFD-4B8C-AF7A-85F78B0BDA48}">
      <dgm:prSet/>
      <dgm:spPr/>
      <dgm:t>
        <a:bodyPr/>
        <a:lstStyle/>
        <a:p>
          <a:endParaRPr lang="en-US"/>
        </a:p>
      </dgm:t>
    </dgm:pt>
    <dgm:pt modelId="{FCD11D45-B70B-4C1F-AFFB-247CAB3EF1A9}" type="sibTrans" cxnId="{27C54636-9DFD-4B8C-AF7A-85F78B0BDA48}">
      <dgm:prSet/>
      <dgm:spPr/>
      <dgm:t>
        <a:bodyPr/>
        <a:lstStyle/>
        <a:p>
          <a:endParaRPr lang="en-US"/>
        </a:p>
      </dgm:t>
    </dgm:pt>
    <dgm:pt modelId="{C852D3A5-30B6-4FFA-AEF1-5EEF907D9D5E}">
      <dgm:prSet custT="1"/>
      <dgm:spPr/>
      <dgm:t>
        <a:bodyPr/>
        <a:lstStyle/>
        <a:p>
          <a:r>
            <a:rPr lang="en-US" sz="2400" dirty="0"/>
            <a:t>Extra office hours next week</a:t>
          </a:r>
        </a:p>
      </dgm:t>
    </dgm:pt>
    <dgm:pt modelId="{C9529EA4-791E-43DD-A02F-766C5DB2EF38}" type="parTrans" cxnId="{4F62F419-08A2-486B-83A8-CF0A0016D56D}">
      <dgm:prSet/>
      <dgm:spPr/>
      <dgm:t>
        <a:bodyPr/>
        <a:lstStyle/>
        <a:p>
          <a:endParaRPr lang="en-US"/>
        </a:p>
      </dgm:t>
    </dgm:pt>
    <dgm:pt modelId="{93A4FFD0-3C19-48F4-9CB2-77A46B7EE3B1}" type="sibTrans" cxnId="{4F62F419-08A2-486B-83A8-CF0A0016D56D}">
      <dgm:prSet/>
      <dgm:spPr/>
      <dgm:t>
        <a:bodyPr/>
        <a:lstStyle/>
        <a:p>
          <a:endParaRPr lang="en-US"/>
        </a:p>
      </dgm:t>
    </dgm:pt>
    <dgm:pt modelId="{A1BED7C6-A5FE-AD43-8B85-190C2BD282B7}">
      <dgm:prSet/>
      <dgm:spPr/>
      <dgm:t>
        <a:bodyPr/>
        <a:lstStyle/>
        <a:p>
          <a:pPr>
            <a:defRPr b="1"/>
          </a:pPr>
          <a:r>
            <a:rPr lang="en-US" dirty="0"/>
            <a:t>Wednesday (10/22)</a:t>
          </a:r>
        </a:p>
      </dgm:t>
    </dgm:pt>
    <dgm:pt modelId="{54CA9130-6E5C-2049-966F-CEA9F500C270}" type="parTrans" cxnId="{7F9D30B5-2E7C-464F-8B4C-5B4F2FD2DFFC}">
      <dgm:prSet/>
      <dgm:spPr/>
      <dgm:t>
        <a:bodyPr/>
        <a:lstStyle/>
        <a:p>
          <a:endParaRPr lang="en-US"/>
        </a:p>
      </dgm:t>
    </dgm:pt>
    <dgm:pt modelId="{3F843A7D-E792-E549-972B-7AC731D38BE3}" type="sibTrans" cxnId="{7F9D30B5-2E7C-464F-8B4C-5B4F2FD2DFFC}">
      <dgm:prSet/>
      <dgm:spPr/>
      <dgm:t>
        <a:bodyPr/>
        <a:lstStyle/>
        <a:p>
          <a:endParaRPr lang="en-US"/>
        </a:p>
      </dgm:t>
    </dgm:pt>
    <dgm:pt modelId="{B633A0A7-D5FD-4E45-8E5C-5A65DA33A760}">
      <dgm:prSet custT="1"/>
      <dgm:spPr/>
      <dgm:t>
        <a:bodyPr/>
        <a:lstStyle/>
        <a:p>
          <a:r>
            <a:rPr lang="en-US" sz="2400" dirty="0"/>
            <a:t>Homework 1b due</a:t>
          </a:r>
        </a:p>
      </dgm:t>
    </dgm:pt>
    <dgm:pt modelId="{F4497183-36F8-CE48-AC93-D333208FE70B}" type="parTrans" cxnId="{44286450-11D1-D244-AB90-538A021478ED}">
      <dgm:prSet/>
      <dgm:spPr/>
      <dgm:t>
        <a:bodyPr/>
        <a:lstStyle/>
        <a:p>
          <a:endParaRPr lang="en-US"/>
        </a:p>
      </dgm:t>
    </dgm:pt>
    <dgm:pt modelId="{BC464BEE-34F1-AF45-851E-25D0594B7231}" type="sibTrans" cxnId="{44286450-11D1-D244-AB90-538A021478ED}">
      <dgm:prSet/>
      <dgm:spPr/>
      <dgm:t>
        <a:bodyPr/>
        <a:lstStyle/>
        <a:p>
          <a:endParaRPr lang="en-US"/>
        </a:p>
      </dgm:t>
    </dgm:pt>
    <dgm:pt modelId="{5611310B-22B7-2742-BBFA-3CA2A95CFB33}" type="pres">
      <dgm:prSet presAssocID="{97804412-2049-4CC2-A3F0-335FA875BCB7}" presName="root" presStyleCnt="0">
        <dgm:presLayoutVars>
          <dgm:chMax/>
          <dgm:chPref/>
          <dgm:animLvl val="lvl"/>
        </dgm:presLayoutVars>
      </dgm:prSet>
      <dgm:spPr/>
    </dgm:pt>
    <dgm:pt modelId="{4F49EA8E-14B2-3244-AD10-2D4DC80C5BFA}" type="pres">
      <dgm:prSet presAssocID="{97804412-2049-4CC2-A3F0-335FA875BCB7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01B0A56-D639-114E-AFD9-D2CA151A167D}" type="pres">
      <dgm:prSet presAssocID="{97804412-2049-4CC2-A3F0-335FA875BCB7}" presName="nodes" presStyleCnt="0">
        <dgm:presLayoutVars>
          <dgm:chMax/>
          <dgm:chPref/>
          <dgm:animLvl val="lvl"/>
        </dgm:presLayoutVars>
      </dgm:prSet>
      <dgm:spPr/>
    </dgm:pt>
    <dgm:pt modelId="{A4B9B4A0-FAA2-F946-A240-87FA83B73F1D}" type="pres">
      <dgm:prSet presAssocID="{5CF162E2-E520-4450-A282-3F92328E0CCB}" presName="composite" presStyleCnt="0"/>
      <dgm:spPr/>
    </dgm:pt>
    <dgm:pt modelId="{61EE7A89-D4BF-3D41-8D1A-68A7E9B5F984}" type="pres">
      <dgm:prSet presAssocID="{5CF162E2-E520-4450-A282-3F92328E0CCB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338DAC2-2C6C-7841-9841-B0538C705781}" type="pres">
      <dgm:prSet presAssocID="{5CF162E2-E520-4450-A282-3F92328E0CCB}" presName="DropPinPlaceHolder" presStyleCnt="0"/>
      <dgm:spPr/>
    </dgm:pt>
    <dgm:pt modelId="{5A5D04E9-ECC5-5D4F-844C-D2C7B0346B1F}" type="pres">
      <dgm:prSet presAssocID="{5CF162E2-E520-4450-A282-3F92328E0CCB}" presName="DropPin" presStyleLbl="alignNode1" presStyleIdx="0" presStyleCnt="3"/>
      <dgm:spPr/>
    </dgm:pt>
    <dgm:pt modelId="{44713054-C65B-6E41-8C6D-526658058D7B}" type="pres">
      <dgm:prSet presAssocID="{5CF162E2-E520-4450-A282-3F92328E0CCB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C4DBCA8-04BC-3545-88F9-2237B2B063D4}" type="pres">
      <dgm:prSet presAssocID="{5CF162E2-E520-4450-A282-3F92328E0CCB}" presName="L2TextContainer" presStyleLbl="revTx" presStyleIdx="0" presStyleCnt="6">
        <dgm:presLayoutVars>
          <dgm:bulletEnabled val="1"/>
        </dgm:presLayoutVars>
      </dgm:prSet>
      <dgm:spPr/>
    </dgm:pt>
    <dgm:pt modelId="{5B4B9DCF-674A-3E4E-9D8A-B3761C8A1255}" type="pres">
      <dgm:prSet presAssocID="{5CF162E2-E520-4450-A282-3F92328E0CCB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596D1687-2E84-3A42-A7B7-739D03BB5D95}" type="pres">
      <dgm:prSet presAssocID="{5CF162E2-E520-4450-A282-3F92328E0CCB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0A955B8-7EF7-104B-8F20-D9614D0CD33E}" type="pres">
      <dgm:prSet presAssocID="{5CF162E2-E520-4450-A282-3F92328E0CCB}" presName="EmptyPlaceHolder" presStyleCnt="0"/>
      <dgm:spPr/>
    </dgm:pt>
    <dgm:pt modelId="{8701ACD4-71C7-854C-9C66-B7BD8F1A8796}" type="pres">
      <dgm:prSet presAssocID="{BCC0DFA9-2481-45B6-B33C-99834E517F70}" presName="spaceBetweenRectangles" presStyleCnt="0"/>
      <dgm:spPr/>
    </dgm:pt>
    <dgm:pt modelId="{BAD3F82B-BE35-E041-BED3-1E05522492A9}" type="pres">
      <dgm:prSet presAssocID="{2F424365-8D43-4FA6-80CB-2B37A4BCEEB7}" presName="composite" presStyleCnt="0"/>
      <dgm:spPr/>
    </dgm:pt>
    <dgm:pt modelId="{EE16CA80-7EFE-AF41-B67F-1DF3B9286EA7}" type="pres">
      <dgm:prSet presAssocID="{2F424365-8D43-4FA6-80CB-2B37A4BCEEB7}" presName="ConnectorPoint" presStyleLbl="lnNode1" presStyleIdx="1" presStyleCnt="3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A805E50-7725-D248-9264-735C3A5D1D84}" type="pres">
      <dgm:prSet presAssocID="{2F424365-8D43-4FA6-80CB-2B37A4BCEEB7}" presName="DropPinPlaceHolder" presStyleCnt="0"/>
      <dgm:spPr/>
    </dgm:pt>
    <dgm:pt modelId="{B3C6DA1E-732D-4440-8780-3F3FB1A41A0B}" type="pres">
      <dgm:prSet presAssocID="{2F424365-8D43-4FA6-80CB-2B37A4BCEEB7}" presName="DropPin" presStyleLbl="alignNode1" presStyleIdx="1" presStyleCnt="3"/>
      <dgm:spPr/>
    </dgm:pt>
    <dgm:pt modelId="{14D3F928-4171-F749-8B4E-5B7F6A900CF6}" type="pres">
      <dgm:prSet presAssocID="{2F424365-8D43-4FA6-80CB-2B37A4BCEEB7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8E80D13-D0FD-7D49-BB25-6E0BCD4370B5}" type="pres">
      <dgm:prSet presAssocID="{2F424365-8D43-4FA6-80CB-2B37A4BCEEB7}" presName="L2TextContainer" presStyleLbl="revTx" presStyleIdx="2" presStyleCnt="6">
        <dgm:presLayoutVars>
          <dgm:bulletEnabled val="1"/>
        </dgm:presLayoutVars>
      </dgm:prSet>
      <dgm:spPr/>
    </dgm:pt>
    <dgm:pt modelId="{EC339451-0DBB-9744-8457-5648B7F9CC87}" type="pres">
      <dgm:prSet presAssocID="{2F424365-8D43-4FA6-80CB-2B37A4BCEEB7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8B18C6CF-0E38-DE40-8F52-4677203EA459}" type="pres">
      <dgm:prSet presAssocID="{2F424365-8D43-4FA6-80CB-2B37A4BCEEB7}" presName="ConnectLine" presStyleLbl="sibTrans1D1" presStyleIdx="1" presStyleCnt="3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F9EA556C-AA43-2A4B-91E6-090C7786B505}" type="pres">
      <dgm:prSet presAssocID="{2F424365-8D43-4FA6-80CB-2B37A4BCEEB7}" presName="EmptyPlaceHolder" presStyleCnt="0"/>
      <dgm:spPr/>
    </dgm:pt>
    <dgm:pt modelId="{5595122C-036B-C248-BB2F-E38D5D1A0349}" type="pres">
      <dgm:prSet presAssocID="{FCD11D45-B70B-4C1F-AFFB-247CAB3EF1A9}" presName="spaceBetweenRectangles" presStyleCnt="0"/>
      <dgm:spPr/>
    </dgm:pt>
    <dgm:pt modelId="{60D7083F-CC54-7B42-A9CD-E60B10798061}" type="pres">
      <dgm:prSet presAssocID="{A1BED7C6-A5FE-AD43-8B85-190C2BD282B7}" presName="composite" presStyleCnt="0"/>
      <dgm:spPr/>
    </dgm:pt>
    <dgm:pt modelId="{64D51680-9CAF-014F-9C8C-143BBE8DDB7D}" type="pres">
      <dgm:prSet presAssocID="{A1BED7C6-A5FE-AD43-8B85-190C2BD282B7}" presName="ConnectorPoint" presStyleLbl="lnNode1" presStyleIdx="2" presStyleCnt="3"/>
      <dgm:spPr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469094B-06AF-2344-ACF0-AC5E247B71E4}" type="pres">
      <dgm:prSet presAssocID="{A1BED7C6-A5FE-AD43-8B85-190C2BD282B7}" presName="DropPinPlaceHolder" presStyleCnt="0"/>
      <dgm:spPr/>
    </dgm:pt>
    <dgm:pt modelId="{EC3FB413-6033-B749-81EC-5AF5C0E16031}" type="pres">
      <dgm:prSet presAssocID="{A1BED7C6-A5FE-AD43-8B85-190C2BD282B7}" presName="DropPin" presStyleLbl="alignNode1" presStyleIdx="2" presStyleCnt="3"/>
      <dgm:spPr/>
    </dgm:pt>
    <dgm:pt modelId="{9F47D4DA-0BC3-EE44-A13C-09D928524D4D}" type="pres">
      <dgm:prSet presAssocID="{A1BED7C6-A5FE-AD43-8B85-190C2BD282B7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FFD64710-8BC3-A344-BF77-8F701DBF038F}" type="pres">
      <dgm:prSet presAssocID="{A1BED7C6-A5FE-AD43-8B85-190C2BD282B7}" presName="L2TextContainer" presStyleLbl="revTx" presStyleIdx="4" presStyleCnt="6">
        <dgm:presLayoutVars>
          <dgm:bulletEnabled val="1"/>
        </dgm:presLayoutVars>
      </dgm:prSet>
      <dgm:spPr/>
    </dgm:pt>
    <dgm:pt modelId="{5E71FFEF-3BA8-B041-A040-5777A4E4C33F}" type="pres">
      <dgm:prSet presAssocID="{A1BED7C6-A5FE-AD43-8B85-190C2BD282B7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2DD9E714-B010-3546-9909-CE608427AC93}" type="pres">
      <dgm:prSet presAssocID="{A1BED7C6-A5FE-AD43-8B85-190C2BD282B7}" presName="ConnectLine" presStyleLbl="sibTrans1D1" presStyleIdx="2" presStyleCnt="3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309CD487-5F3B-2B48-B1FD-C04CEF569E24}" type="pres">
      <dgm:prSet presAssocID="{A1BED7C6-A5FE-AD43-8B85-190C2BD282B7}" presName="EmptyPlaceHolder" presStyleCnt="0"/>
      <dgm:spPr/>
    </dgm:pt>
  </dgm:ptLst>
  <dgm:cxnLst>
    <dgm:cxn modelId="{695E3801-0760-D84D-8759-4F2C8D13FAD7}" type="presOf" srcId="{5CF162E2-E520-4450-A282-3F92328E0CCB}" destId="{5B4B9DCF-674A-3E4E-9D8A-B3761C8A1255}" srcOrd="0" destOrd="0" presId="urn:microsoft.com/office/officeart/2017/3/layout/DropPinTimeline"/>
    <dgm:cxn modelId="{9031F607-1EE7-404E-A641-71EC6AADDD14}" type="presOf" srcId="{2F424365-8D43-4FA6-80CB-2B37A4BCEEB7}" destId="{EC339451-0DBB-9744-8457-5648B7F9CC87}" srcOrd="0" destOrd="0" presId="urn:microsoft.com/office/officeart/2017/3/layout/DropPinTimeline"/>
    <dgm:cxn modelId="{4F62F419-08A2-486B-83A8-CF0A0016D56D}" srcId="{2F424365-8D43-4FA6-80CB-2B37A4BCEEB7}" destId="{C852D3A5-30B6-4FFA-AEF1-5EEF907D9D5E}" srcOrd="0" destOrd="0" parTransId="{C9529EA4-791E-43DD-A02F-766C5DB2EF38}" sibTransId="{93A4FFD0-3C19-48F4-9CB2-77A46B7EE3B1}"/>
    <dgm:cxn modelId="{90CFF434-67BD-4E58-9B37-8541ECC9A5D5}" srcId="{5CF162E2-E520-4450-A282-3F92328E0CCB}" destId="{BE2DE924-F4C5-4134-8611-4E4A40DA8D46}" srcOrd="0" destOrd="0" parTransId="{F0BA01FA-5D90-4810-966C-0BC2000C1BE1}" sibTransId="{26F40BEC-B424-49EA-B176-4A1DDEE432AF}"/>
    <dgm:cxn modelId="{27C54636-9DFD-4B8C-AF7A-85F78B0BDA48}" srcId="{97804412-2049-4CC2-A3F0-335FA875BCB7}" destId="{2F424365-8D43-4FA6-80CB-2B37A4BCEEB7}" srcOrd="1" destOrd="0" parTransId="{9897491B-05C4-49B0-B41A-8EC5B0CA9F57}" sibTransId="{FCD11D45-B70B-4C1F-AFFB-247CAB3EF1A9}"/>
    <dgm:cxn modelId="{44286450-11D1-D244-AB90-538A021478ED}" srcId="{A1BED7C6-A5FE-AD43-8B85-190C2BD282B7}" destId="{B633A0A7-D5FD-4E45-8E5C-5A65DA33A760}" srcOrd="0" destOrd="0" parTransId="{F4497183-36F8-CE48-AC93-D333208FE70B}" sibTransId="{BC464BEE-34F1-AF45-851E-25D0594B7231}"/>
    <dgm:cxn modelId="{4C5EA164-2107-DD4E-8567-02B9C5AD3A01}" type="presOf" srcId="{B633A0A7-D5FD-4E45-8E5C-5A65DA33A760}" destId="{FFD64710-8BC3-A344-BF77-8F701DBF038F}" srcOrd="0" destOrd="0" presId="urn:microsoft.com/office/officeart/2017/3/layout/DropPinTimeline"/>
    <dgm:cxn modelId="{1036F873-AEC9-6046-B907-B5CDF12E6F74}" type="presOf" srcId="{A1BED7C6-A5FE-AD43-8B85-190C2BD282B7}" destId="{5E71FFEF-3BA8-B041-A040-5777A4E4C33F}" srcOrd="0" destOrd="0" presId="urn:microsoft.com/office/officeart/2017/3/layout/DropPinTimeline"/>
    <dgm:cxn modelId="{C19B79A3-8BAF-D74D-8187-739A1BF2F8CB}" type="presOf" srcId="{BE2DE924-F4C5-4134-8611-4E4A40DA8D46}" destId="{AC4DBCA8-04BC-3545-88F9-2237B2B063D4}" srcOrd="0" destOrd="0" presId="urn:microsoft.com/office/officeart/2017/3/layout/DropPinTimeline"/>
    <dgm:cxn modelId="{7F9D30B5-2E7C-464F-8B4C-5B4F2FD2DFFC}" srcId="{97804412-2049-4CC2-A3F0-335FA875BCB7}" destId="{A1BED7C6-A5FE-AD43-8B85-190C2BD282B7}" srcOrd="2" destOrd="0" parTransId="{54CA9130-6E5C-2049-966F-CEA9F500C270}" sibTransId="{3F843A7D-E792-E549-972B-7AC731D38BE3}"/>
    <dgm:cxn modelId="{627700C2-C8E6-4153-9E4D-6B18DB4722BF}" srcId="{97804412-2049-4CC2-A3F0-335FA875BCB7}" destId="{5CF162E2-E520-4450-A282-3F92328E0CCB}" srcOrd="0" destOrd="0" parTransId="{B1431A47-EEA7-4A99-9E98-393BB0476EB4}" sibTransId="{BCC0DFA9-2481-45B6-B33C-99834E517F70}"/>
    <dgm:cxn modelId="{AF1977D8-8FE3-E348-9BCF-7C81273AE88A}" type="presOf" srcId="{97804412-2049-4CC2-A3F0-335FA875BCB7}" destId="{5611310B-22B7-2742-BBFA-3CA2A95CFB33}" srcOrd="0" destOrd="0" presId="urn:microsoft.com/office/officeart/2017/3/layout/DropPinTimeline"/>
    <dgm:cxn modelId="{8F4F2AF3-FB6F-9645-9D5A-35333CDB9085}" type="presOf" srcId="{C852D3A5-30B6-4FFA-AEF1-5EEF907D9D5E}" destId="{28E80D13-D0FD-7D49-BB25-6E0BCD4370B5}" srcOrd="0" destOrd="0" presId="urn:microsoft.com/office/officeart/2017/3/layout/DropPinTimeline"/>
    <dgm:cxn modelId="{553F933B-2B27-D042-AAE4-7D772692755F}" type="presParOf" srcId="{5611310B-22B7-2742-BBFA-3CA2A95CFB33}" destId="{4F49EA8E-14B2-3244-AD10-2D4DC80C5BFA}" srcOrd="0" destOrd="0" presId="urn:microsoft.com/office/officeart/2017/3/layout/DropPinTimeline"/>
    <dgm:cxn modelId="{B017C8A2-D7F1-8E44-AF49-F126901BD445}" type="presParOf" srcId="{5611310B-22B7-2742-BBFA-3CA2A95CFB33}" destId="{A01B0A56-D639-114E-AFD9-D2CA151A167D}" srcOrd="1" destOrd="0" presId="urn:microsoft.com/office/officeart/2017/3/layout/DropPinTimeline"/>
    <dgm:cxn modelId="{D5A6E5D0-B3C4-3145-8DD8-E01A3E34ED1B}" type="presParOf" srcId="{A01B0A56-D639-114E-AFD9-D2CA151A167D}" destId="{A4B9B4A0-FAA2-F946-A240-87FA83B73F1D}" srcOrd="0" destOrd="0" presId="urn:microsoft.com/office/officeart/2017/3/layout/DropPinTimeline"/>
    <dgm:cxn modelId="{0D1ED48B-2A2A-634E-AB7F-146F263DC47E}" type="presParOf" srcId="{A4B9B4A0-FAA2-F946-A240-87FA83B73F1D}" destId="{61EE7A89-D4BF-3D41-8D1A-68A7E9B5F984}" srcOrd="0" destOrd="0" presId="urn:microsoft.com/office/officeart/2017/3/layout/DropPinTimeline"/>
    <dgm:cxn modelId="{1F21626A-361B-0B4E-97BE-EF18B6A5B5F8}" type="presParOf" srcId="{A4B9B4A0-FAA2-F946-A240-87FA83B73F1D}" destId="{4338DAC2-2C6C-7841-9841-B0538C705781}" srcOrd="1" destOrd="0" presId="urn:microsoft.com/office/officeart/2017/3/layout/DropPinTimeline"/>
    <dgm:cxn modelId="{6BC8DCBA-DD98-BF41-AD3F-60EC2A1E5CA6}" type="presParOf" srcId="{4338DAC2-2C6C-7841-9841-B0538C705781}" destId="{5A5D04E9-ECC5-5D4F-844C-D2C7B0346B1F}" srcOrd="0" destOrd="0" presId="urn:microsoft.com/office/officeart/2017/3/layout/DropPinTimeline"/>
    <dgm:cxn modelId="{72F112AE-CDCE-F943-9E5D-B5292B7971C2}" type="presParOf" srcId="{4338DAC2-2C6C-7841-9841-B0538C705781}" destId="{44713054-C65B-6E41-8C6D-526658058D7B}" srcOrd="1" destOrd="0" presId="urn:microsoft.com/office/officeart/2017/3/layout/DropPinTimeline"/>
    <dgm:cxn modelId="{4E4663FA-38B1-104C-B455-4C7E3DC700A3}" type="presParOf" srcId="{A4B9B4A0-FAA2-F946-A240-87FA83B73F1D}" destId="{AC4DBCA8-04BC-3545-88F9-2237B2B063D4}" srcOrd="2" destOrd="0" presId="urn:microsoft.com/office/officeart/2017/3/layout/DropPinTimeline"/>
    <dgm:cxn modelId="{91A9F34E-5776-0A47-B326-247DC48B04EA}" type="presParOf" srcId="{A4B9B4A0-FAA2-F946-A240-87FA83B73F1D}" destId="{5B4B9DCF-674A-3E4E-9D8A-B3761C8A1255}" srcOrd="3" destOrd="0" presId="urn:microsoft.com/office/officeart/2017/3/layout/DropPinTimeline"/>
    <dgm:cxn modelId="{547F82D5-B9F9-B04B-B1F6-51E34E7AB38F}" type="presParOf" srcId="{A4B9B4A0-FAA2-F946-A240-87FA83B73F1D}" destId="{596D1687-2E84-3A42-A7B7-739D03BB5D95}" srcOrd="4" destOrd="0" presId="urn:microsoft.com/office/officeart/2017/3/layout/DropPinTimeline"/>
    <dgm:cxn modelId="{5C6F9EB2-0945-8940-92C4-F60C430A1D61}" type="presParOf" srcId="{A4B9B4A0-FAA2-F946-A240-87FA83B73F1D}" destId="{E0A955B8-7EF7-104B-8F20-D9614D0CD33E}" srcOrd="5" destOrd="0" presId="urn:microsoft.com/office/officeart/2017/3/layout/DropPinTimeline"/>
    <dgm:cxn modelId="{01F35DB5-ABDA-BC43-B2E2-219C587F7FB2}" type="presParOf" srcId="{A01B0A56-D639-114E-AFD9-D2CA151A167D}" destId="{8701ACD4-71C7-854C-9C66-B7BD8F1A8796}" srcOrd="1" destOrd="0" presId="urn:microsoft.com/office/officeart/2017/3/layout/DropPinTimeline"/>
    <dgm:cxn modelId="{D9E66153-A0D6-A84B-BE88-8C2DE500A003}" type="presParOf" srcId="{A01B0A56-D639-114E-AFD9-D2CA151A167D}" destId="{BAD3F82B-BE35-E041-BED3-1E05522492A9}" srcOrd="2" destOrd="0" presId="urn:microsoft.com/office/officeart/2017/3/layout/DropPinTimeline"/>
    <dgm:cxn modelId="{ED8D4A12-8B37-6848-8448-C6CBA1B99EE7}" type="presParOf" srcId="{BAD3F82B-BE35-E041-BED3-1E05522492A9}" destId="{EE16CA80-7EFE-AF41-B67F-1DF3B9286EA7}" srcOrd="0" destOrd="0" presId="urn:microsoft.com/office/officeart/2017/3/layout/DropPinTimeline"/>
    <dgm:cxn modelId="{4A46B5EF-7D2E-2F4B-8C83-AC93A0AB3D02}" type="presParOf" srcId="{BAD3F82B-BE35-E041-BED3-1E05522492A9}" destId="{0A805E50-7725-D248-9264-735C3A5D1D84}" srcOrd="1" destOrd="0" presId="urn:microsoft.com/office/officeart/2017/3/layout/DropPinTimeline"/>
    <dgm:cxn modelId="{B232701F-995C-7243-A1F9-5D116277D5A9}" type="presParOf" srcId="{0A805E50-7725-D248-9264-735C3A5D1D84}" destId="{B3C6DA1E-732D-4440-8780-3F3FB1A41A0B}" srcOrd="0" destOrd="0" presId="urn:microsoft.com/office/officeart/2017/3/layout/DropPinTimeline"/>
    <dgm:cxn modelId="{90CCDB39-A6CB-2345-9BCA-79F4BEB27393}" type="presParOf" srcId="{0A805E50-7725-D248-9264-735C3A5D1D84}" destId="{14D3F928-4171-F749-8B4E-5B7F6A900CF6}" srcOrd="1" destOrd="0" presId="urn:microsoft.com/office/officeart/2017/3/layout/DropPinTimeline"/>
    <dgm:cxn modelId="{C449CDD2-E7EE-BF49-B374-369F0F9A9DE1}" type="presParOf" srcId="{BAD3F82B-BE35-E041-BED3-1E05522492A9}" destId="{28E80D13-D0FD-7D49-BB25-6E0BCD4370B5}" srcOrd="2" destOrd="0" presId="urn:microsoft.com/office/officeart/2017/3/layout/DropPinTimeline"/>
    <dgm:cxn modelId="{A4E2A1CD-69D0-0C4F-A34B-1EB2FDCEB774}" type="presParOf" srcId="{BAD3F82B-BE35-E041-BED3-1E05522492A9}" destId="{EC339451-0DBB-9744-8457-5648B7F9CC87}" srcOrd="3" destOrd="0" presId="urn:microsoft.com/office/officeart/2017/3/layout/DropPinTimeline"/>
    <dgm:cxn modelId="{51017497-4AFF-0444-8630-4C4630BB8D44}" type="presParOf" srcId="{BAD3F82B-BE35-E041-BED3-1E05522492A9}" destId="{8B18C6CF-0E38-DE40-8F52-4677203EA459}" srcOrd="4" destOrd="0" presId="urn:microsoft.com/office/officeart/2017/3/layout/DropPinTimeline"/>
    <dgm:cxn modelId="{F0008786-2DB1-FF43-9EB7-3957EA118884}" type="presParOf" srcId="{BAD3F82B-BE35-E041-BED3-1E05522492A9}" destId="{F9EA556C-AA43-2A4B-91E6-090C7786B505}" srcOrd="5" destOrd="0" presId="urn:microsoft.com/office/officeart/2017/3/layout/DropPinTimeline"/>
    <dgm:cxn modelId="{80FC05B6-1971-E144-9A36-B4E42A5988DF}" type="presParOf" srcId="{A01B0A56-D639-114E-AFD9-D2CA151A167D}" destId="{5595122C-036B-C248-BB2F-E38D5D1A0349}" srcOrd="3" destOrd="0" presId="urn:microsoft.com/office/officeart/2017/3/layout/DropPinTimeline"/>
    <dgm:cxn modelId="{98B1B584-EF9E-1E43-A876-25F89A5C3833}" type="presParOf" srcId="{A01B0A56-D639-114E-AFD9-D2CA151A167D}" destId="{60D7083F-CC54-7B42-A9CD-E60B10798061}" srcOrd="4" destOrd="0" presId="urn:microsoft.com/office/officeart/2017/3/layout/DropPinTimeline"/>
    <dgm:cxn modelId="{DE998A4E-634E-5740-A1FC-860944931628}" type="presParOf" srcId="{60D7083F-CC54-7B42-A9CD-E60B10798061}" destId="{64D51680-9CAF-014F-9C8C-143BBE8DDB7D}" srcOrd="0" destOrd="0" presId="urn:microsoft.com/office/officeart/2017/3/layout/DropPinTimeline"/>
    <dgm:cxn modelId="{558812A4-4801-0045-952C-855B2FD4E1C0}" type="presParOf" srcId="{60D7083F-CC54-7B42-A9CD-E60B10798061}" destId="{D469094B-06AF-2344-ACF0-AC5E247B71E4}" srcOrd="1" destOrd="0" presId="urn:microsoft.com/office/officeart/2017/3/layout/DropPinTimeline"/>
    <dgm:cxn modelId="{7A988A04-F838-9C40-892B-FE88A49072D6}" type="presParOf" srcId="{D469094B-06AF-2344-ACF0-AC5E247B71E4}" destId="{EC3FB413-6033-B749-81EC-5AF5C0E16031}" srcOrd="0" destOrd="0" presId="urn:microsoft.com/office/officeart/2017/3/layout/DropPinTimeline"/>
    <dgm:cxn modelId="{18527908-CFAA-C743-A546-9D3BB054D91D}" type="presParOf" srcId="{D469094B-06AF-2344-ACF0-AC5E247B71E4}" destId="{9F47D4DA-0BC3-EE44-A13C-09D928524D4D}" srcOrd="1" destOrd="0" presId="urn:microsoft.com/office/officeart/2017/3/layout/DropPinTimeline"/>
    <dgm:cxn modelId="{37124AED-C9E7-E744-BF8C-9009109B3C95}" type="presParOf" srcId="{60D7083F-CC54-7B42-A9CD-E60B10798061}" destId="{FFD64710-8BC3-A344-BF77-8F701DBF038F}" srcOrd="2" destOrd="0" presId="urn:microsoft.com/office/officeart/2017/3/layout/DropPinTimeline"/>
    <dgm:cxn modelId="{A7A80257-3E64-F048-8244-C4A074972BDB}" type="presParOf" srcId="{60D7083F-CC54-7B42-A9CD-E60B10798061}" destId="{5E71FFEF-3BA8-B041-A040-5777A4E4C33F}" srcOrd="3" destOrd="0" presId="urn:microsoft.com/office/officeart/2017/3/layout/DropPinTimeline"/>
    <dgm:cxn modelId="{642FD32C-A62A-7B43-AF93-1EF56E851567}" type="presParOf" srcId="{60D7083F-CC54-7B42-A9CD-E60B10798061}" destId="{2DD9E714-B010-3546-9909-CE608427AC93}" srcOrd="4" destOrd="0" presId="urn:microsoft.com/office/officeart/2017/3/layout/DropPinTimeline"/>
    <dgm:cxn modelId="{E2DABE4B-7804-C744-81CD-CAA37415FDBF}" type="presParOf" srcId="{60D7083F-CC54-7B42-A9CD-E60B10798061}" destId="{309CD487-5F3B-2B48-B1FD-C04CEF569E2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E7622-130A-4600-96B0-A4D4F3A9BB4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D4AD7-C95F-4247-85FD-04E2740902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(In US and Canada) Need to assign value to land for..</a:t>
          </a:r>
        </a:p>
      </dgm:t>
    </dgm:pt>
    <dgm:pt modelId="{9DCB351B-AD15-4102-B732-3756F0AA7418}" type="parTrans" cxnId="{6FDE764E-97F0-4D0A-9F9A-911E694F6528}">
      <dgm:prSet/>
      <dgm:spPr/>
      <dgm:t>
        <a:bodyPr/>
        <a:lstStyle/>
        <a:p>
          <a:endParaRPr lang="en-US"/>
        </a:p>
      </dgm:t>
    </dgm:pt>
    <dgm:pt modelId="{6BDA3B9F-7C8E-46A1-B81D-4A19485EE6ED}" type="sibTrans" cxnId="{6FDE764E-97F0-4D0A-9F9A-911E694F6528}">
      <dgm:prSet/>
      <dgm:spPr/>
      <dgm:t>
        <a:bodyPr/>
        <a:lstStyle/>
        <a:p>
          <a:endParaRPr lang="en-US"/>
        </a:p>
      </dgm:t>
    </dgm:pt>
    <dgm:pt modelId="{6FBC42F2-29C7-49A2-9DCC-11451E44EF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Property taxes</a:t>
          </a:r>
        </a:p>
      </dgm:t>
    </dgm:pt>
    <dgm:pt modelId="{0041F5C3-7068-4E57-AE95-1F70BFE96933}" type="parTrans" cxnId="{1EF5633A-68D3-4FCE-BCEB-FC296C353882}">
      <dgm:prSet/>
      <dgm:spPr/>
      <dgm:t>
        <a:bodyPr/>
        <a:lstStyle/>
        <a:p>
          <a:endParaRPr lang="en-US"/>
        </a:p>
      </dgm:t>
    </dgm:pt>
    <dgm:pt modelId="{BBC60E1D-F74E-47B7-9A90-A8B1BBE2CC18}" type="sibTrans" cxnId="{1EF5633A-68D3-4FCE-BCEB-FC296C353882}">
      <dgm:prSet/>
      <dgm:spPr/>
      <dgm:t>
        <a:bodyPr/>
        <a:lstStyle/>
        <a:p>
          <a:endParaRPr lang="en-US"/>
        </a:p>
      </dgm:t>
    </dgm:pt>
    <dgm:pt modelId="{B7BCCB02-CB5F-4A43-B813-3E55D27A28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Sales</a:t>
          </a:r>
        </a:p>
      </dgm:t>
    </dgm:pt>
    <dgm:pt modelId="{CE31C9B0-F4C5-4C03-84D0-44C32252B963}" type="parTrans" cxnId="{4DE0BD28-C856-43FD-9DA4-E220F29BCCF2}">
      <dgm:prSet/>
      <dgm:spPr/>
      <dgm:t>
        <a:bodyPr/>
        <a:lstStyle/>
        <a:p>
          <a:endParaRPr lang="en-US"/>
        </a:p>
      </dgm:t>
    </dgm:pt>
    <dgm:pt modelId="{BD3658EA-A700-4E66-B0D8-2090796C5422}" type="sibTrans" cxnId="{4DE0BD28-C856-43FD-9DA4-E220F29BCCF2}">
      <dgm:prSet/>
      <dgm:spPr/>
      <dgm:t>
        <a:bodyPr/>
        <a:lstStyle/>
        <a:p>
          <a:endParaRPr lang="en-US"/>
        </a:p>
      </dgm:t>
    </dgm:pt>
    <dgm:pt modelId="{98009D66-CCCC-440C-9C75-F0A6AFE950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Resource investments</a:t>
          </a:r>
        </a:p>
      </dgm:t>
    </dgm:pt>
    <dgm:pt modelId="{0DF5EF1D-A08E-4429-9032-FB2388D38EB7}" type="parTrans" cxnId="{38427D71-3FDE-47A7-A23C-45C1ABFD818E}">
      <dgm:prSet/>
      <dgm:spPr/>
      <dgm:t>
        <a:bodyPr/>
        <a:lstStyle/>
        <a:p>
          <a:endParaRPr lang="en-US"/>
        </a:p>
      </dgm:t>
    </dgm:pt>
    <dgm:pt modelId="{A73CAB68-E6B5-4D75-AF74-1433F6F29A77}" type="sibTrans" cxnId="{38427D71-3FDE-47A7-A23C-45C1ABFD818E}">
      <dgm:prSet/>
      <dgm:spPr/>
      <dgm:t>
        <a:bodyPr/>
        <a:lstStyle/>
        <a:p>
          <a:endParaRPr lang="en-US"/>
        </a:p>
      </dgm:t>
    </dgm:pt>
    <dgm:pt modelId="{78BE2F0E-3374-4E81-87FA-84AA45F830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Faustmann answers: what is the value of this land today given the potential to harvest in X years?</a:t>
          </a:r>
        </a:p>
      </dgm:t>
    </dgm:pt>
    <dgm:pt modelId="{8305E92D-8816-4F7C-A39B-FC9E94C3DA80}" type="parTrans" cxnId="{4327576B-C8DB-466C-AE7E-84EF18A75B90}">
      <dgm:prSet/>
      <dgm:spPr/>
      <dgm:t>
        <a:bodyPr/>
        <a:lstStyle/>
        <a:p>
          <a:endParaRPr lang="en-US"/>
        </a:p>
      </dgm:t>
    </dgm:pt>
    <dgm:pt modelId="{2EA2B397-346C-487D-B429-3874B9C9E8F5}" type="sibTrans" cxnId="{4327576B-C8DB-466C-AE7E-84EF18A75B90}">
      <dgm:prSet/>
      <dgm:spPr/>
      <dgm:t>
        <a:bodyPr/>
        <a:lstStyle/>
        <a:p>
          <a:endParaRPr lang="en-US"/>
        </a:p>
      </dgm:t>
    </dgm:pt>
    <dgm:pt modelId="{A8BC3030-1119-4108-A20D-E99AC5F0C0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When considering.. </a:t>
          </a:r>
        </a:p>
      </dgm:t>
    </dgm:pt>
    <dgm:pt modelId="{C5028CE0-BE83-49F1-BC67-A9A1E0DDF663}" type="parTrans" cxnId="{3535AC9E-BF21-4EDE-8252-D06E4E1BF6F0}">
      <dgm:prSet/>
      <dgm:spPr/>
      <dgm:t>
        <a:bodyPr/>
        <a:lstStyle/>
        <a:p>
          <a:endParaRPr lang="en-US"/>
        </a:p>
      </dgm:t>
    </dgm:pt>
    <dgm:pt modelId="{7EFD134A-C077-468B-A7D4-515796D49E0F}" type="sibTrans" cxnId="{3535AC9E-BF21-4EDE-8252-D06E4E1BF6F0}">
      <dgm:prSet/>
      <dgm:spPr/>
      <dgm:t>
        <a:bodyPr/>
        <a:lstStyle/>
        <a:p>
          <a:endParaRPr lang="en-US"/>
        </a:p>
      </dgm:t>
    </dgm:pt>
    <dgm:pt modelId="{A5300371-C1E4-4803-A0F9-E6074C9AC4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Timber prices</a:t>
          </a:r>
        </a:p>
      </dgm:t>
    </dgm:pt>
    <dgm:pt modelId="{8D39D6A7-0BA9-43D9-AEF4-8DBA239C2C19}" type="parTrans" cxnId="{C2F87CEC-D918-4ABC-8DA7-643FAA59B5F9}">
      <dgm:prSet/>
      <dgm:spPr/>
      <dgm:t>
        <a:bodyPr/>
        <a:lstStyle/>
        <a:p>
          <a:endParaRPr lang="en-US"/>
        </a:p>
      </dgm:t>
    </dgm:pt>
    <dgm:pt modelId="{5591A537-1D75-450A-9BE8-E9F7CA59EA6E}" type="sibTrans" cxnId="{C2F87CEC-D918-4ABC-8DA7-643FAA59B5F9}">
      <dgm:prSet/>
      <dgm:spPr/>
      <dgm:t>
        <a:bodyPr/>
        <a:lstStyle/>
        <a:p>
          <a:endParaRPr lang="en-US"/>
        </a:p>
      </dgm:t>
    </dgm:pt>
    <dgm:pt modelId="{A6B3E03C-910D-4437-8899-B66241057F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Growth curves from yield tables</a:t>
          </a:r>
        </a:p>
      </dgm:t>
    </dgm:pt>
    <dgm:pt modelId="{A48A4EA7-2F81-4042-9B01-4EB33388504F}" type="parTrans" cxnId="{A80CC414-E2C5-432B-A6B0-8C9272CA6349}">
      <dgm:prSet/>
      <dgm:spPr/>
      <dgm:t>
        <a:bodyPr/>
        <a:lstStyle/>
        <a:p>
          <a:endParaRPr lang="en-US"/>
        </a:p>
      </dgm:t>
    </dgm:pt>
    <dgm:pt modelId="{A11DC416-9045-422D-B62B-4FB991CE526A}" type="sibTrans" cxnId="{A80CC414-E2C5-432B-A6B0-8C9272CA6349}">
      <dgm:prSet/>
      <dgm:spPr/>
      <dgm:t>
        <a:bodyPr/>
        <a:lstStyle/>
        <a:p>
          <a:endParaRPr lang="en-US"/>
        </a:p>
      </dgm:t>
    </dgm:pt>
    <dgm:pt modelId="{21F40B8D-C14F-4A37-BC35-6996224861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Planning/management costs</a:t>
          </a:r>
        </a:p>
      </dgm:t>
    </dgm:pt>
    <dgm:pt modelId="{C1FE2434-DE25-4A38-A2F7-2E8C0FDD4D5B}" type="parTrans" cxnId="{B198163C-7431-440E-BB4D-3635E6C63DF5}">
      <dgm:prSet/>
      <dgm:spPr/>
      <dgm:t>
        <a:bodyPr/>
        <a:lstStyle/>
        <a:p>
          <a:endParaRPr lang="en-US"/>
        </a:p>
      </dgm:t>
    </dgm:pt>
    <dgm:pt modelId="{7177B709-AB1A-427E-9CCA-124E8133D785}" type="sibTrans" cxnId="{B198163C-7431-440E-BB4D-3635E6C63DF5}">
      <dgm:prSet/>
      <dgm:spPr/>
      <dgm:t>
        <a:bodyPr/>
        <a:lstStyle/>
        <a:p>
          <a:endParaRPr lang="en-US"/>
        </a:p>
      </dgm:t>
    </dgm:pt>
    <dgm:pt modelId="{B8554162-26C1-40EB-A88F-1721CD9F87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Interest rate (4-6% for public)</a:t>
          </a:r>
        </a:p>
      </dgm:t>
    </dgm:pt>
    <dgm:pt modelId="{A397FC76-1311-4C62-A800-2C9F88757C9D}" type="parTrans" cxnId="{0CFB0070-CAE5-44AF-AD46-10641ECFC318}">
      <dgm:prSet/>
      <dgm:spPr/>
      <dgm:t>
        <a:bodyPr/>
        <a:lstStyle/>
        <a:p>
          <a:endParaRPr lang="en-US"/>
        </a:p>
      </dgm:t>
    </dgm:pt>
    <dgm:pt modelId="{0C1816C4-6CF6-45AE-94A3-75C93C58A32F}" type="sibTrans" cxnId="{0CFB0070-CAE5-44AF-AD46-10641ECFC318}">
      <dgm:prSet/>
      <dgm:spPr/>
      <dgm:t>
        <a:bodyPr/>
        <a:lstStyle/>
        <a:p>
          <a:endParaRPr lang="en-US"/>
        </a:p>
      </dgm:t>
    </dgm:pt>
    <dgm:pt modelId="{E9C70CCF-FA15-412F-B03F-88B3A80761AA}" type="pres">
      <dgm:prSet presAssocID="{D8DE7622-130A-4600-96B0-A4D4F3A9BB42}" presName="root" presStyleCnt="0">
        <dgm:presLayoutVars>
          <dgm:dir/>
          <dgm:resizeHandles val="exact"/>
        </dgm:presLayoutVars>
      </dgm:prSet>
      <dgm:spPr/>
    </dgm:pt>
    <dgm:pt modelId="{A396C4B2-1340-419B-AF5D-6A2607177F8E}" type="pres">
      <dgm:prSet presAssocID="{5C6D4AD7-C95F-4247-85FD-04E27409028B}" presName="compNode" presStyleCnt="0"/>
      <dgm:spPr/>
    </dgm:pt>
    <dgm:pt modelId="{D17930A9-F9E3-4084-A7D5-F7A7791DCDD9}" type="pres">
      <dgm:prSet presAssocID="{5C6D4AD7-C95F-4247-85FD-04E2740902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24AFFDB9-24CC-475B-B3D4-13C0AD4F3D9F}" type="pres">
      <dgm:prSet presAssocID="{5C6D4AD7-C95F-4247-85FD-04E27409028B}" presName="iconSpace" presStyleCnt="0"/>
      <dgm:spPr/>
    </dgm:pt>
    <dgm:pt modelId="{E5C3E865-4112-4539-8BFD-5EB3702CE8AF}" type="pres">
      <dgm:prSet presAssocID="{5C6D4AD7-C95F-4247-85FD-04E27409028B}" presName="parTx" presStyleLbl="revTx" presStyleIdx="0" presStyleCnt="6">
        <dgm:presLayoutVars>
          <dgm:chMax val="0"/>
          <dgm:chPref val="0"/>
        </dgm:presLayoutVars>
      </dgm:prSet>
      <dgm:spPr/>
    </dgm:pt>
    <dgm:pt modelId="{136B331B-4FA2-4AC1-BA15-0E47B54879D9}" type="pres">
      <dgm:prSet presAssocID="{5C6D4AD7-C95F-4247-85FD-04E27409028B}" presName="txSpace" presStyleCnt="0"/>
      <dgm:spPr/>
    </dgm:pt>
    <dgm:pt modelId="{1AFBB45D-8F1C-4F8D-A97E-7D9F63DB474B}" type="pres">
      <dgm:prSet presAssocID="{5C6D4AD7-C95F-4247-85FD-04E27409028B}" presName="desTx" presStyleLbl="revTx" presStyleIdx="1" presStyleCnt="6">
        <dgm:presLayoutVars/>
      </dgm:prSet>
      <dgm:spPr/>
    </dgm:pt>
    <dgm:pt modelId="{6A44A123-5DD0-4F44-9FF8-19AA88862445}" type="pres">
      <dgm:prSet presAssocID="{6BDA3B9F-7C8E-46A1-B81D-4A19485EE6ED}" presName="sibTrans" presStyleCnt="0"/>
      <dgm:spPr/>
    </dgm:pt>
    <dgm:pt modelId="{1E8A8337-97A9-4266-A9CE-46DA7CB7582B}" type="pres">
      <dgm:prSet presAssocID="{78BE2F0E-3374-4E81-87FA-84AA45F83050}" presName="compNode" presStyleCnt="0"/>
      <dgm:spPr/>
    </dgm:pt>
    <dgm:pt modelId="{0F773589-489F-4993-8281-005E614152CC}" type="pres">
      <dgm:prSet presAssocID="{78BE2F0E-3374-4E81-87FA-84AA45F830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76E942EB-F28D-4A67-8F06-8E92E8BDEEE6}" type="pres">
      <dgm:prSet presAssocID="{78BE2F0E-3374-4E81-87FA-84AA45F83050}" presName="iconSpace" presStyleCnt="0"/>
      <dgm:spPr/>
    </dgm:pt>
    <dgm:pt modelId="{3AFBED39-8510-4E38-962F-0933340055C3}" type="pres">
      <dgm:prSet presAssocID="{78BE2F0E-3374-4E81-87FA-84AA45F83050}" presName="parTx" presStyleLbl="revTx" presStyleIdx="2" presStyleCnt="6">
        <dgm:presLayoutVars>
          <dgm:chMax val="0"/>
          <dgm:chPref val="0"/>
        </dgm:presLayoutVars>
      </dgm:prSet>
      <dgm:spPr/>
    </dgm:pt>
    <dgm:pt modelId="{07568D76-ED26-496C-9EBF-3E4100B62658}" type="pres">
      <dgm:prSet presAssocID="{78BE2F0E-3374-4E81-87FA-84AA45F83050}" presName="txSpace" presStyleCnt="0"/>
      <dgm:spPr/>
    </dgm:pt>
    <dgm:pt modelId="{A1490F5D-26C4-4387-8FF2-6CA608F96143}" type="pres">
      <dgm:prSet presAssocID="{78BE2F0E-3374-4E81-87FA-84AA45F83050}" presName="desTx" presStyleLbl="revTx" presStyleIdx="3" presStyleCnt="6">
        <dgm:presLayoutVars/>
      </dgm:prSet>
      <dgm:spPr/>
    </dgm:pt>
    <dgm:pt modelId="{760E6457-E12E-4851-A1A1-1AFAA8BC0F51}" type="pres">
      <dgm:prSet presAssocID="{2EA2B397-346C-487D-B429-3874B9C9E8F5}" presName="sibTrans" presStyleCnt="0"/>
      <dgm:spPr/>
    </dgm:pt>
    <dgm:pt modelId="{FABC9453-B258-4362-8B3A-DB8E48CCDB70}" type="pres">
      <dgm:prSet presAssocID="{A8BC3030-1119-4108-A20D-E99AC5F0C068}" presName="compNode" presStyleCnt="0"/>
      <dgm:spPr/>
    </dgm:pt>
    <dgm:pt modelId="{5E1E9EFB-A628-48C0-B9AB-5D8DCCCCEFE4}" type="pres">
      <dgm:prSet presAssocID="{A8BC3030-1119-4108-A20D-E99AC5F0C0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C413493A-D74D-4068-BC8F-78455067E132}" type="pres">
      <dgm:prSet presAssocID="{A8BC3030-1119-4108-A20D-E99AC5F0C068}" presName="iconSpace" presStyleCnt="0"/>
      <dgm:spPr/>
    </dgm:pt>
    <dgm:pt modelId="{ECC593FC-A571-47CB-B82C-FF5934C6F316}" type="pres">
      <dgm:prSet presAssocID="{A8BC3030-1119-4108-A20D-E99AC5F0C068}" presName="parTx" presStyleLbl="revTx" presStyleIdx="4" presStyleCnt="6">
        <dgm:presLayoutVars>
          <dgm:chMax val="0"/>
          <dgm:chPref val="0"/>
        </dgm:presLayoutVars>
      </dgm:prSet>
      <dgm:spPr/>
    </dgm:pt>
    <dgm:pt modelId="{5B0B5A71-2B44-45E6-B115-11E989272D60}" type="pres">
      <dgm:prSet presAssocID="{A8BC3030-1119-4108-A20D-E99AC5F0C068}" presName="txSpace" presStyleCnt="0"/>
      <dgm:spPr/>
    </dgm:pt>
    <dgm:pt modelId="{78807BBC-8381-4EF5-A44F-0B388D4F9B76}" type="pres">
      <dgm:prSet presAssocID="{A8BC3030-1119-4108-A20D-E99AC5F0C068}" presName="desTx" presStyleLbl="revTx" presStyleIdx="5" presStyleCnt="6" custScaleX="161123" custLinFactNeighborX="77" custLinFactNeighborY="26610">
        <dgm:presLayoutVars/>
      </dgm:prSet>
      <dgm:spPr/>
    </dgm:pt>
  </dgm:ptLst>
  <dgm:cxnLst>
    <dgm:cxn modelId="{BA909A0D-85E4-4AEC-A473-BB238482BF08}" type="presOf" srcId="{6FBC42F2-29C7-49A2-9DCC-11451E44EFD5}" destId="{1AFBB45D-8F1C-4F8D-A97E-7D9F63DB474B}" srcOrd="0" destOrd="0" presId="urn:microsoft.com/office/officeart/2018/5/layout/CenteredIconLabelDescriptionList"/>
    <dgm:cxn modelId="{F3B82E0F-C3E7-4F65-9245-A739DFC67193}" type="presOf" srcId="{A8BC3030-1119-4108-A20D-E99AC5F0C068}" destId="{ECC593FC-A571-47CB-B82C-FF5934C6F316}" srcOrd="0" destOrd="0" presId="urn:microsoft.com/office/officeart/2018/5/layout/CenteredIconLabelDescriptionList"/>
    <dgm:cxn modelId="{A80CC414-E2C5-432B-A6B0-8C9272CA6349}" srcId="{A8BC3030-1119-4108-A20D-E99AC5F0C068}" destId="{A6B3E03C-910D-4437-8899-B66241057F1E}" srcOrd="1" destOrd="0" parTransId="{A48A4EA7-2F81-4042-9B01-4EB33388504F}" sibTransId="{A11DC416-9045-422D-B62B-4FB991CE526A}"/>
    <dgm:cxn modelId="{4DE0BD28-C856-43FD-9DA4-E220F29BCCF2}" srcId="{5C6D4AD7-C95F-4247-85FD-04E27409028B}" destId="{B7BCCB02-CB5F-4A43-B813-3E55D27A28AA}" srcOrd="1" destOrd="0" parTransId="{CE31C9B0-F4C5-4C03-84D0-44C32252B963}" sibTransId="{BD3658EA-A700-4E66-B0D8-2090796C5422}"/>
    <dgm:cxn modelId="{14568E2B-B9BA-468E-AC20-9641F77BBB72}" type="presOf" srcId="{78BE2F0E-3374-4E81-87FA-84AA45F83050}" destId="{3AFBED39-8510-4E38-962F-0933340055C3}" srcOrd="0" destOrd="0" presId="urn:microsoft.com/office/officeart/2018/5/layout/CenteredIconLabelDescriptionList"/>
    <dgm:cxn modelId="{1EF5633A-68D3-4FCE-BCEB-FC296C353882}" srcId="{5C6D4AD7-C95F-4247-85FD-04E27409028B}" destId="{6FBC42F2-29C7-49A2-9DCC-11451E44EFD5}" srcOrd="0" destOrd="0" parTransId="{0041F5C3-7068-4E57-AE95-1F70BFE96933}" sibTransId="{BBC60E1D-F74E-47B7-9A90-A8B1BBE2CC18}"/>
    <dgm:cxn modelId="{B198163C-7431-440E-BB4D-3635E6C63DF5}" srcId="{A8BC3030-1119-4108-A20D-E99AC5F0C068}" destId="{21F40B8D-C14F-4A37-BC35-69962248611F}" srcOrd="2" destOrd="0" parTransId="{C1FE2434-DE25-4A38-A2F7-2E8C0FDD4D5B}" sibTransId="{7177B709-AB1A-427E-9CCA-124E8133D785}"/>
    <dgm:cxn modelId="{F5C6CB49-487F-4C0B-9A52-FBC089D3208B}" type="presOf" srcId="{A5300371-C1E4-4803-A0F9-E6074C9AC4EF}" destId="{78807BBC-8381-4EF5-A44F-0B388D4F9B76}" srcOrd="0" destOrd="0" presId="urn:microsoft.com/office/officeart/2018/5/layout/CenteredIconLabelDescriptionList"/>
    <dgm:cxn modelId="{6FDE764E-97F0-4D0A-9F9A-911E694F6528}" srcId="{D8DE7622-130A-4600-96B0-A4D4F3A9BB42}" destId="{5C6D4AD7-C95F-4247-85FD-04E27409028B}" srcOrd="0" destOrd="0" parTransId="{9DCB351B-AD15-4102-B732-3756F0AA7418}" sibTransId="{6BDA3B9F-7C8E-46A1-B81D-4A19485EE6ED}"/>
    <dgm:cxn modelId="{4327576B-C8DB-466C-AE7E-84EF18A75B90}" srcId="{D8DE7622-130A-4600-96B0-A4D4F3A9BB42}" destId="{78BE2F0E-3374-4E81-87FA-84AA45F83050}" srcOrd="1" destOrd="0" parTransId="{8305E92D-8816-4F7C-A39B-FC9E94C3DA80}" sibTransId="{2EA2B397-346C-487D-B429-3874B9C9E8F5}"/>
    <dgm:cxn modelId="{0CFB0070-CAE5-44AF-AD46-10641ECFC318}" srcId="{A8BC3030-1119-4108-A20D-E99AC5F0C068}" destId="{B8554162-26C1-40EB-A88F-1721CD9F878A}" srcOrd="3" destOrd="0" parTransId="{A397FC76-1311-4C62-A800-2C9F88757C9D}" sibTransId="{0C1816C4-6CF6-45AE-94A3-75C93C58A32F}"/>
    <dgm:cxn modelId="{38427D71-3FDE-47A7-A23C-45C1ABFD818E}" srcId="{5C6D4AD7-C95F-4247-85FD-04E27409028B}" destId="{98009D66-CCCC-440C-9C75-F0A6AFE95029}" srcOrd="2" destOrd="0" parTransId="{0DF5EF1D-A08E-4429-9032-FB2388D38EB7}" sibTransId="{A73CAB68-E6B5-4D75-AF74-1433F6F29A77}"/>
    <dgm:cxn modelId="{681BD880-59C7-4FAD-9C5D-0D7D8585A208}" type="presOf" srcId="{A6B3E03C-910D-4437-8899-B66241057F1E}" destId="{78807BBC-8381-4EF5-A44F-0B388D4F9B76}" srcOrd="0" destOrd="1" presId="urn:microsoft.com/office/officeart/2018/5/layout/CenteredIconLabelDescriptionList"/>
    <dgm:cxn modelId="{4BA38D81-6A47-45A1-A11C-2E99CA86DADE}" type="presOf" srcId="{21F40B8D-C14F-4A37-BC35-69962248611F}" destId="{78807BBC-8381-4EF5-A44F-0B388D4F9B76}" srcOrd="0" destOrd="2" presId="urn:microsoft.com/office/officeart/2018/5/layout/CenteredIconLabelDescriptionList"/>
    <dgm:cxn modelId="{98DEA18D-2806-48CE-BB24-6D13038B2991}" type="presOf" srcId="{B7BCCB02-CB5F-4A43-B813-3E55D27A28AA}" destId="{1AFBB45D-8F1C-4F8D-A97E-7D9F63DB474B}" srcOrd="0" destOrd="1" presId="urn:microsoft.com/office/officeart/2018/5/layout/CenteredIconLabelDescriptionList"/>
    <dgm:cxn modelId="{5B5A9892-0C8A-438E-A12C-3310FBE330AF}" type="presOf" srcId="{B8554162-26C1-40EB-A88F-1721CD9F878A}" destId="{78807BBC-8381-4EF5-A44F-0B388D4F9B76}" srcOrd="0" destOrd="3" presId="urn:microsoft.com/office/officeart/2018/5/layout/CenteredIconLabelDescriptionList"/>
    <dgm:cxn modelId="{3535AC9E-BF21-4EDE-8252-D06E4E1BF6F0}" srcId="{D8DE7622-130A-4600-96B0-A4D4F3A9BB42}" destId="{A8BC3030-1119-4108-A20D-E99AC5F0C068}" srcOrd="2" destOrd="0" parTransId="{C5028CE0-BE83-49F1-BC67-A9A1E0DDF663}" sibTransId="{7EFD134A-C077-468B-A7D4-515796D49E0F}"/>
    <dgm:cxn modelId="{08446AD3-F8B0-4882-AA79-8150D00C34FD}" type="presOf" srcId="{D8DE7622-130A-4600-96B0-A4D4F3A9BB42}" destId="{E9C70CCF-FA15-412F-B03F-88B3A80761AA}" srcOrd="0" destOrd="0" presId="urn:microsoft.com/office/officeart/2018/5/layout/CenteredIconLabelDescriptionList"/>
    <dgm:cxn modelId="{5CB34ADA-C8DF-4FAF-BE6E-8DC5C841ACCA}" type="presOf" srcId="{98009D66-CCCC-440C-9C75-F0A6AFE95029}" destId="{1AFBB45D-8F1C-4F8D-A97E-7D9F63DB474B}" srcOrd="0" destOrd="2" presId="urn:microsoft.com/office/officeart/2018/5/layout/CenteredIconLabelDescriptionList"/>
    <dgm:cxn modelId="{C2F87CEC-D918-4ABC-8DA7-643FAA59B5F9}" srcId="{A8BC3030-1119-4108-A20D-E99AC5F0C068}" destId="{A5300371-C1E4-4803-A0F9-E6074C9AC4EF}" srcOrd="0" destOrd="0" parTransId="{8D39D6A7-0BA9-43D9-AEF4-8DBA239C2C19}" sibTransId="{5591A537-1D75-450A-9BE8-E9F7CA59EA6E}"/>
    <dgm:cxn modelId="{46ACD3F0-7267-4062-AAF6-B6CA56E98FA9}" type="presOf" srcId="{5C6D4AD7-C95F-4247-85FD-04E27409028B}" destId="{E5C3E865-4112-4539-8BFD-5EB3702CE8AF}" srcOrd="0" destOrd="0" presId="urn:microsoft.com/office/officeart/2018/5/layout/CenteredIconLabelDescriptionList"/>
    <dgm:cxn modelId="{B20A9443-0024-4C11-A24D-AD0C2B01CE0D}" type="presParOf" srcId="{E9C70CCF-FA15-412F-B03F-88B3A80761AA}" destId="{A396C4B2-1340-419B-AF5D-6A2607177F8E}" srcOrd="0" destOrd="0" presId="urn:microsoft.com/office/officeart/2018/5/layout/CenteredIconLabelDescriptionList"/>
    <dgm:cxn modelId="{4EE832BD-91C2-4B1A-8CBD-C42587EB2D12}" type="presParOf" srcId="{A396C4B2-1340-419B-AF5D-6A2607177F8E}" destId="{D17930A9-F9E3-4084-A7D5-F7A7791DCDD9}" srcOrd="0" destOrd="0" presId="urn:microsoft.com/office/officeart/2018/5/layout/CenteredIconLabelDescriptionList"/>
    <dgm:cxn modelId="{98976E6E-4E82-49E0-A3EE-A8FABFE39520}" type="presParOf" srcId="{A396C4B2-1340-419B-AF5D-6A2607177F8E}" destId="{24AFFDB9-24CC-475B-B3D4-13C0AD4F3D9F}" srcOrd="1" destOrd="0" presId="urn:microsoft.com/office/officeart/2018/5/layout/CenteredIconLabelDescriptionList"/>
    <dgm:cxn modelId="{5A71FF1A-8459-40A2-A82F-5940B6990073}" type="presParOf" srcId="{A396C4B2-1340-419B-AF5D-6A2607177F8E}" destId="{E5C3E865-4112-4539-8BFD-5EB3702CE8AF}" srcOrd="2" destOrd="0" presId="urn:microsoft.com/office/officeart/2018/5/layout/CenteredIconLabelDescriptionList"/>
    <dgm:cxn modelId="{BCDC85D1-6E71-4580-B1BC-7869AF96DB46}" type="presParOf" srcId="{A396C4B2-1340-419B-AF5D-6A2607177F8E}" destId="{136B331B-4FA2-4AC1-BA15-0E47B54879D9}" srcOrd="3" destOrd="0" presId="urn:microsoft.com/office/officeart/2018/5/layout/CenteredIconLabelDescriptionList"/>
    <dgm:cxn modelId="{248C518D-4BD2-48A9-8684-A5BD179F3B2F}" type="presParOf" srcId="{A396C4B2-1340-419B-AF5D-6A2607177F8E}" destId="{1AFBB45D-8F1C-4F8D-A97E-7D9F63DB474B}" srcOrd="4" destOrd="0" presId="urn:microsoft.com/office/officeart/2018/5/layout/CenteredIconLabelDescriptionList"/>
    <dgm:cxn modelId="{C078C9A3-4CC9-4E44-9AA2-0948E5C9E83D}" type="presParOf" srcId="{E9C70CCF-FA15-412F-B03F-88B3A80761AA}" destId="{6A44A123-5DD0-4F44-9FF8-19AA88862445}" srcOrd="1" destOrd="0" presId="urn:microsoft.com/office/officeart/2018/5/layout/CenteredIconLabelDescriptionList"/>
    <dgm:cxn modelId="{89CBB470-317E-43AD-9E56-97E02DBF9FC4}" type="presParOf" srcId="{E9C70CCF-FA15-412F-B03F-88B3A80761AA}" destId="{1E8A8337-97A9-4266-A9CE-46DA7CB7582B}" srcOrd="2" destOrd="0" presId="urn:microsoft.com/office/officeart/2018/5/layout/CenteredIconLabelDescriptionList"/>
    <dgm:cxn modelId="{94D75AB4-FE92-4FA8-8F8B-844690968F9F}" type="presParOf" srcId="{1E8A8337-97A9-4266-A9CE-46DA7CB7582B}" destId="{0F773589-489F-4993-8281-005E614152CC}" srcOrd="0" destOrd="0" presId="urn:microsoft.com/office/officeart/2018/5/layout/CenteredIconLabelDescriptionList"/>
    <dgm:cxn modelId="{D8698C29-37CE-45CB-842D-0DC39F760E52}" type="presParOf" srcId="{1E8A8337-97A9-4266-A9CE-46DA7CB7582B}" destId="{76E942EB-F28D-4A67-8F06-8E92E8BDEEE6}" srcOrd="1" destOrd="0" presId="urn:microsoft.com/office/officeart/2018/5/layout/CenteredIconLabelDescriptionList"/>
    <dgm:cxn modelId="{895CE658-BFB6-403E-B10A-FAC5BF4C304F}" type="presParOf" srcId="{1E8A8337-97A9-4266-A9CE-46DA7CB7582B}" destId="{3AFBED39-8510-4E38-962F-0933340055C3}" srcOrd="2" destOrd="0" presId="urn:microsoft.com/office/officeart/2018/5/layout/CenteredIconLabelDescriptionList"/>
    <dgm:cxn modelId="{5B884BD7-CCD7-4F49-9171-B97F37F42674}" type="presParOf" srcId="{1E8A8337-97A9-4266-A9CE-46DA7CB7582B}" destId="{07568D76-ED26-496C-9EBF-3E4100B62658}" srcOrd="3" destOrd="0" presId="urn:microsoft.com/office/officeart/2018/5/layout/CenteredIconLabelDescriptionList"/>
    <dgm:cxn modelId="{D0007C37-E31F-4EBE-89E2-FD3B4EACE6D9}" type="presParOf" srcId="{1E8A8337-97A9-4266-A9CE-46DA7CB7582B}" destId="{A1490F5D-26C4-4387-8FF2-6CA608F96143}" srcOrd="4" destOrd="0" presId="urn:microsoft.com/office/officeart/2018/5/layout/CenteredIconLabelDescriptionList"/>
    <dgm:cxn modelId="{7D2A47C6-0CE7-434D-B3C9-73FE052BE12E}" type="presParOf" srcId="{E9C70CCF-FA15-412F-B03F-88B3A80761AA}" destId="{760E6457-E12E-4851-A1A1-1AFAA8BC0F51}" srcOrd="3" destOrd="0" presId="urn:microsoft.com/office/officeart/2018/5/layout/CenteredIconLabelDescriptionList"/>
    <dgm:cxn modelId="{4736454C-8F4C-47E8-9A26-524B2A1F12DD}" type="presParOf" srcId="{E9C70CCF-FA15-412F-B03F-88B3A80761AA}" destId="{FABC9453-B258-4362-8B3A-DB8E48CCDB70}" srcOrd="4" destOrd="0" presId="urn:microsoft.com/office/officeart/2018/5/layout/CenteredIconLabelDescriptionList"/>
    <dgm:cxn modelId="{5AF8A57D-D484-44C7-BA22-C3D410EC1FE7}" type="presParOf" srcId="{FABC9453-B258-4362-8B3A-DB8E48CCDB70}" destId="{5E1E9EFB-A628-48C0-B9AB-5D8DCCCCEFE4}" srcOrd="0" destOrd="0" presId="urn:microsoft.com/office/officeart/2018/5/layout/CenteredIconLabelDescriptionList"/>
    <dgm:cxn modelId="{5ECBEA75-9687-42FB-B01D-849B594B2A38}" type="presParOf" srcId="{FABC9453-B258-4362-8B3A-DB8E48CCDB70}" destId="{C413493A-D74D-4068-BC8F-78455067E132}" srcOrd="1" destOrd="0" presId="urn:microsoft.com/office/officeart/2018/5/layout/CenteredIconLabelDescriptionList"/>
    <dgm:cxn modelId="{5307DE9F-1BD9-45B2-8005-96B8AB352CB9}" type="presParOf" srcId="{FABC9453-B258-4362-8B3A-DB8E48CCDB70}" destId="{ECC593FC-A571-47CB-B82C-FF5934C6F316}" srcOrd="2" destOrd="0" presId="urn:microsoft.com/office/officeart/2018/5/layout/CenteredIconLabelDescriptionList"/>
    <dgm:cxn modelId="{35C09F11-AF83-43F8-A90E-FBB5B3B0ACC0}" type="presParOf" srcId="{FABC9453-B258-4362-8B3A-DB8E48CCDB70}" destId="{5B0B5A71-2B44-45E6-B115-11E989272D60}" srcOrd="3" destOrd="0" presId="urn:microsoft.com/office/officeart/2018/5/layout/CenteredIconLabelDescriptionList"/>
    <dgm:cxn modelId="{1AB90625-4B85-4419-8DAA-A078CEB6EC53}" type="presParOf" srcId="{FABC9453-B258-4362-8B3A-DB8E48CCDB70}" destId="{78807BBC-8381-4EF5-A44F-0B388D4F9B7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9EA8E-14B2-3244-AD10-2D4DC80C5BFA}">
      <dsp:nvSpPr>
        <dsp:cNvPr id="0" name=""/>
        <dsp:cNvSpPr/>
      </dsp:nvSpPr>
      <dsp:spPr>
        <a:xfrm>
          <a:off x="0" y="1783080"/>
          <a:ext cx="1011935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D04E9-ECC5-5D4F-844C-D2C7B0346B1F}">
      <dsp:nvSpPr>
        <dsp:cNvPr id="0" name=""/>
        <dsp:cNvSpPr/>
      </dsp:nvSpPr>
      <dsp:spPr>
        <a:xfrm rot="8100000">
          <a:off x="59599" y="410930"/>
          <a:ext cx="262252" cy="262252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13054-C65B-6E41-8C6D-526658058D7B}">
      <dsp:nvSpPr>
        <dsp:cNvPr id="0" name=""/>
        <dsp:cNvSpPr/>
      </dsp:nvSpPr>
      <dsp:spPr>
        <a:xfrm>
          <a:off x="88733" y="440064"/>
          <a:ext cx="203984" cy="203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DBCA8-04BC-3545-88F9-2237B2B063D4}">
      <dsp:nvSpPr>
        <dsp:cNvPr id="0" name=""/>
        <dsp:cNvSpPr/>
      </dsp:nvSpPr>
      <dsp:spPr>
        <a:xfrm>
          <a:off x="376165" y="727496"/>
          <a:ext cx="4202078" cy="1055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Presentation from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Jared Woollacott</a:t>
          </a:r>
        </a:p>
      </dsp:txBody>
      <dsp:txXfrm>
        <a:off x="376165" y="727496"/>
        <a:ext cx="4202078" cy="1055583"/>
      </dsp:txXfrm>
    </dsp:sp>
    <dsp:sp modelId="{5B4B9DCF-674A-3E4E-9D8A-B3761C8A1255}">
      <dsp:nvSpPr>
        <dsp:cNvPr id="0" name=""/>
        <dsp:cNvSpPr/>
      </dsp:nvSpPr>
      <dsp:spPr>
        <a:xfrm>
          <a:off x="376165" y="356615"/>
          <a:ext cx="4202078" cy="37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Today</a:t>
          </a:r>
        </a:p>
      </dsp:txBody>
      <dsp:txXfrm>
        <a:off x="376165" y="356615"/>
        <a:ext cx="4202078" cy="370880"/>
      </dsp:txXfrm>
    </dsp:sp>
    <dsp:sp modelId="{596D1687-2E84-3A42-A7B7-739D03BB5D95}">
      <dsp:nvSpPr>
        <dsp:cNvPr id="0" name=""/>
        <dsp:cNvSpPr/>
      </dsp:nvSpPr>
      <dsp:spPr>
        <a:xfrm>
          <a:off x="190725" y="727496"/>
          <a:ext cx="0" cy="1055583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EE7A89-D4BF-3D41-8D1A-68A7E9B5F984}">
      <dsp:nvSpPr>
        <dsp:cNvPr id="0" name=""/>
        <dsp:cNvSpPr/>
      </dsp:nvSpPr>
      <dsp:spPr>
        <a:xfrm>
          <a:off x="157346" y="1749700"/>
          <a:ext cx="66758" cy="6675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6DA1E-732D-4440-8780-3F3FB1A41A0B}">
      <dsp:nvSpPr>
        <dsp:cNvPr id="0" name=""/>
        <dsp:cNvSpPr/>
      </dsp:nvSpPr>
      <dsp:spPr>
        <a:xfrm rot="18900000">
          <a:off x="2582621" y="2892977"/>
          <a:ext cx="262252" cy="262252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3F928-4171-F749-8B4E-5B7F6A900CF6}">
      <dsp:nvSpPr>
        <dsp:cNvPr id="0" name=""/>
        <dsp:cNvSpPr/>
      </dsp:nvSpPr>
      <dsp:spPr>
        <a:xfrm>
          <a:off x="2611755" y="2922111"/>
          <a:ext cx="203984" cy="203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80D13-D0FD-7D49-BB25-6E0BCD4370B5}">
      <dsp:nvSpPr>
        <dsp:cNvPr id="0" name=""/>
        <dsp:cNvSpPr/>
      </dsp:nvSpPr>
      <dsp:spPr>
        <a:xfrm>
          <a:off x="2899188" y="1783080"/>
          <a:ext cx="4202078" cy="1055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0" rIns="0" bIns="15240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Extra office hours next week</a:t>
          </a:r>
        </a:p>
      </dsp:txBody>
      <dsp:txXfrm>
        <a:off x="2899188" y="1783080"/>
        <a:ext cx="4202078" cy="1055583"/>
      </dsp:txXfrm>
    </dsp:sp>
    <dsp:sp modelId="{EC339451-0DBB-9744-8457-5648B7F9CC87}">
      <dsp:nvSpPr>
        <dsp:cNvPr id="0" name=""/>
        <dsp:cNvSpPr/>
      </dsp:nvSpPr>
      <dsp:spPr>
        <a:xfrm>
          <a:off x="2899188" y="2838663"/>
          <a:ext cx="4202078" cy="37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Tuesday (10/14) 10am-2pm</a:t>
          </a:r>
        </a:p>
      </dsp:txBody>
      <dsp:txXfrm>
        <a:off x="2899188" y="2838663"/>
        <a:ext cx="4202078" cy="370880"/>
      </dsp:txXfrm>
    </dsp:sp>
    <dsp:sp modelId="{8B18C6CF-0E38-DE40-8F52-4677203EA459}">
      <dsp:nvSpPr>
        <dsp:cNvPr id="0" name=""/>
        <dsp:cNvSpPr/>
      </dsp:nvSpPr>
      <dsp:spPr>
        <a:xfrm>
          <a:off x="2713748" y="1783080"/>
          <a:ext cx="0" cy="1055583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6CA80-7EFE-AF41-B67F-1DF3B9286EA7}">
      <dsp:nvSpPr>
        <dsp:cNvPr id="0" name=""/>
        <dsp:cNvSpPr/>
      </dsp:nvSpPr>
      <dsp:spPr>
        <a:xfrm>
          <a:off x="2680368" y="1749700"/>
          <a:ext cx="66758" cy="667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FB413-6033-B749-81EC-5AF5C0E16031}">
      <dsp:nvSpPr>
        <dsp:cNvPr id="0" name=""/>
        <dsp:cNvSpPr/>
      </dsp:nvSpPr>
      <dsp:spPr>
        <a:xfrm rot="8100000">
          <a:off x="5105644" y="410930"/>
          <a:ext cx="262252" cy="262252"/>
        </a:xfrm>
        <a:prstGeom prst="teardrop">
          <a:avLst>
            <a:gd name="adj" fmla="val 11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7D4DA-0BC3-EE44-A13C-09D928524D4D}">
      <dsp:nvSpPr>
        <dsp:cNvPr id="0" name=""/>
        <dsp:cNvSpPr/>
      </dsp:nvSpPr>
      <dsp:spPr>
        <a:xfrm>
          <a:off x="5134778" y="440064"/>
          <a:ext cx="203984" cy="2039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64710-8BC3-A344-BF77-8F701DBF038F}">
      <dsp:nvSpPr>
        <dsp:cNvPr id="0" name=""/>
        <dsp:cNvSpPr/>
      </dsp:nvSpPr>
      <dsp:spPr>
        <a:xfrm>
          <a:off x="5422210" y="727496"/>
          <a:ext cx="4202078" cy="1055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Homework 1b due</a:t>
          </a:r>
        </a:p>
      </dsp:txBody>
      <dsp:txXfrm>
        <a:off x="5422210" y="727496"/>
        <a:ext cx="4202078" cy="1055583"/>
      </dsp:txXfrm>
    </dsp:sp>
    <dsp:sp modelId="{5E71FFEF-3BA8-B041-A040-5777A4E4C33F}">
      <dsp:nvSpPr>
        <dsp:cNvPr id="0" name=""/>
        <dsp:cNvSpPr/>
      </dsp:nvSpPr>
      <dsp:spPr>
        <a:xfrm>
          <a:off x="5422210" y="356615"/>
          <a:ext cx="4202078" cy="37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Wednesday (10/22)</a:t>
          </a:r>
        </a:p>
      </dsp:txBody>
      <dsp:txXfrm>
        <a:off x="5422210" y="356615"/>
        <a:ext cx="4202078" cy="370880"/>
      </dsp:txXfrm>
    </dsp:sp>
    <dsp:sp modelId="{2DD9E714-B010-3546-9909-CE608427AC93}">
      <dsp:nvSpPr>
        <dsp:cNvPr id="0" name=""/>
        <dsp:cNvSpPr/>
      </dsp:nvSpPr>
      <dsp:spPr>
        <a:xfrm>
          <a:off x="5236770" y="727496"/>
          <a:ext cx="0" cy="1055583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D51680-9CAF-014F-9C8C-143BBE8DDB7D}">
      <dsp:nvSpPr>
        <dsp:cNvPr id="0" name=""/>
        <dsp:cNvSpPr/>
      </dsp:nvSpPr>
      <dsp:spPr>
        <a:xfrm>
          <a:off x="5203391" y="1749700"/>
          <a:ext cx="66758" cy="6675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930A9-F9E3-4084-A7D5-F7A7791DCDD9}">
      <dsp:nvSpPr>
        <dsp:cNvPr id="0" name=""/>
        <dsp:cNvSpPr/>
      </dsp:nvSpPr>
      <dsp:spPr>
        <a:xfrm>
          <a:off x="864470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3E865-4112-4539-8BFD-5EB3702CE8AF}">
      <dsp:nvSpPr>
        <dsp:cNvPr id="0" name=""/>
        <dsp:cNvSpPr/>
      </dsp:nvSpPr>
      <dsp:spPr>
        <a:xfrm>
          <a:off x="2052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(In US and Canada) Need to assign value to land for..</a:t>
          </a:r>
        </a:p>
      </dsp:txBody>
      <dsp:txXfrm>
        <a:off x="2052" y="1768401"/>
        <a:ext cx="2653593" cy="653032"/>
      </dsp:txXfrm>
    </dsp:sp>
    <dsp:sp modelId="{1AFBB45D-8F1C-4F8D-A97E-7D9F63DB474B}">
      <dsp:nvSpPr>
        <dsp:cNvPr id="0" name=""/>
        <dsp:cNvSpPr/>
      </dsp:nvSpPr>
      <dsp:spPr>
        <a:xfrm>
          <a:off x="2052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Property taxes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Resource investments</a:t>
          </a:r>
        </a:p>
      </dsp:txBody>
      <dsp:txXfrm>
        <a:off x="2052" y="2479903"/>
        <a:ext cx="2653593" cy="1157499"/>
      </dsp:txXfrm>
    </dsp:sp>
    <dsp:sp modelId="{0F773589-489F-4993-8281-005E614152CC}">
      <dsp:nvSpPr>
        <dsp:cNvPr id="0" name=""/>
        <dsp:cNvSpPr/>
      </dsp:nvSpPr>
      <dsp:spPr>
        <a:xfrm>
          <a:off x="3982443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BED39-8510-4E38-962F-0933340055C3}">
      <dsp:nvSpPr>
        <dsp:cNvPr id="0" name=""/>
        <dsp:cNvSpPr/>
      </dsp:nvSpPr>
      <dsp:spPr>
        <a:xfrm>
          <a:off x="3120025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Faustmann answers: what is the value of this land today given the potential to harvest in X years?</a:t>
          </a:r>
        </a:p>
      </dsp:txBody>
      <dsp:txXfrm>
        <a:off x="3120025" y="1768401"/>
        <a:ext cx="2653593" cy="653032"/>
      </dsp:txXfrm>
    </dsp:sp>
    <dsp:sp modelId="{A1490F5D-26C4-4387-8FF2-6CA608F96143}">
      <dsp:nvSpPr>
        <dsp:cNvPr id="0" name=""/>
        <dsp:cNvSpPr/>
      </dsp:nvSpPr>
      <dsp:spPr>
        <a:xfrm>
          <a:off x="3120025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1E9EFB-A628-48C0-B9AB-5D8DCCCCEFE4}">
      <dsp:nvSpPr>
        <dsp:cNvPr id="0" name=""/>
        <dsp:cNvSpPr/>
      </dsp:nvSpPr>
      <dsp:spPr>
        <a:xfrm>
          <a:off x="7911393" y="609571"/>
          <a:ext cx="928757" cy="9287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593FC-A571-47CB-B82C-FF5934C6F316}">
      <dsp:nvSpPr>
        <dsp:cNvPr id="0" name=""/>
        <dsp:cNvSpPr/>
      </dsp:nvSpPr>
      <dsp:spPr>
        <a:xfrm>
          <a:off x="7048975" y="1664038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When considering.. </a:t>
          </a:r>
        </a:p>
      </dsp:txBody>
      <dsp:txXfrm>
        <a:off x="7048975" y="1664038"/>
        <a:ext cx="2653593" cy="653032"/>
      </dsp:txXfrm>
    </dsp:sp>
    <dsp:sp modelId="{78807BBC-8381-4EF5-A44F-0B388D4F9B76}">
      <dsp:nvSpPr>
        <dsp:cNvPr id="0" name=""/>
        <dsp:cNvSpPr/>
      </dsp:nvSpPr>
      <dsp:spPr>
        <a:xfrm>
          <a:off x="6240040" y="2585909"/>
          <a:ext cx="4275549" cy="157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Timber prices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Growth curves from yield tables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Planning/management costs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Interest rate (4-6% for public)</a:t>
          </a:r>
        </a:p>
      </dsp:txBody>
      <dsp:txXfrm>
        <a:off x="6240040" y="2585909"/>
        <a:ext cx="4275549" cy="157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AEF6-7701-A448-8306-967C4ED74540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81CC-B7D7-204E-8212-B1D5B8EC0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/7jY_ZP6gQiQ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81CC-B7D7-204E-8212-B1D5B8EC04A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8685-BF39-1495-CF24-4F1B0307D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70D9A-C5D2-FF7C-3644-A4DF8E89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66580-4BD6-903B-24E8-248EE184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833E-E817-74EA-AF0F-7BE77F45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881-D5F7-4DFC-EDD7-5B4CB705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5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ADB-B80F-4DBE-2089-E463BF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9650-58FD-6F35-5CFE-A6132BD1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9DA3-C902-45CF-1E5A-AF70F624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8F805-C836-5139-139D-9E094B8D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012B-7603-ED21-D784-A0D7ED1D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0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600-9272-D9D7-798D-8D73A0BB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C3236-7D2D-CF0A-7AD8-975A408D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09E9-C946-D66F-DB27-46E004F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7067-F01C-1BFC-D433-5910030F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5947D-1648-B7E2-CD4F-9458A0EE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5E61-F812-1423-34EE-6FEC775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3AAA-69FB-12A5-6737-C7F5373CA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847A6-5FEF-46A4-12D6-EF4C61A7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FC1ED-BF91-EA9D-6BFC-EDCD4CB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97AC-3D60-39F1-8974-DD22A393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0B4E5-D22A-4CA8-6CA7-84AB229A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BA90-0A1F-DA9D-19F2-88E1DED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4331-C7A8-1A51-2C79-AE089269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31F30-3CF7-A0AC-BBD8-5E10E34EC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5D109-61E9-D8F1-E494-6BF5ADD75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BE70D-79AB-B43B-DB6D-C147C0901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9B1AB-0C7E-450B-370C-332C3CE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5CFB9-9629-CD38-647F-DEC7E331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98033-3117-7EB5-AF93-43DD7EA7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5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FBD4-AECC-E8C5-699F-0C0903C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49BC2-4D8F-48F9-AD49-909ED7E2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2770D-597A-F527-A555-5F513FB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CECB0-C3A8-A297-ED7D-3A216E47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18144-F63D-4592-FB39-3F0FC0B0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9F033-E09A-ED79-82B5-84084274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CD2E4-7CFD-80DD-AC76-B4678D1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EC68-9E8A-1C4E-3870-837460FB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7183-3209-1E66-2BF7-1E1A4929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AE320-2885-02E9-B408-B6525506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DE966-F088-C19B-82CC-03B3041D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08DAD-768A-4C0A-F45B-F3FB4335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0889F-7F15-E862-45CC-BE877A53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9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0D12-6DAD-171E-5C44-1C933DBA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5210E-6C87-CE34-5144-9869CA0A8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0B58-298A-786B-6B20-C8620C51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2C1E-0CC0-0198-4AAC-338809C6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3992-6824-C0C3-BD44-70007CBE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27E1-DE32-B61D-721C-F6029E9A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A54F-0914-1D5E-53DA-546EE30E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33A5-10B3-8922-AFE2-FA3A0D231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5B6B-E662-D7EE-403C-422DA0D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06DC3-D311-881F-12C0-2FE33C0A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12770-8D29-70D7-240E-A5D28D8B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4A2C-5C3D-7618-54D9-236EE375E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C421-D912-2B56-4407-EB582E3C3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B872-E8F9-D888-62B2-24851297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F562E-3003-3833-0DFA-C3E2ED5A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A6C1-A554-A489-BF47-674D944F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9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6F00F-E4B5-6449-3F27-7F7400DF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53526-985E-710C-A6C0-ABF1E758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AF5F-ECEE-FE4F-325D-5A7DE3A86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0BA02-0F25-D340-918E-D8EE852131BC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CCA8-3B4C-02C5-3971-C6C37AC0E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37C8-E258-F0CF-E7E9-564B96C59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nstrations.wolfram.com/FaustmannsRuleOfOptimalRotation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B5F-040E-C296-9511-14682DFA9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EBGN645: Day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BC080-9AF2-CAEA-F90D-6A0698128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32B9C-355D-67BA-698F-4AD65C0F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Notes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623D90B2-AA10-A4AD-91BD-B2D62C64A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0258634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981CEF-FA6B-D573-5E1E-93FF28B105CF}"/>
              </a:ext>
            </a:extLst>
          </p:cNvPr>
          <p:cNvSpPr txBox="1"/>
          <p:nvPr/>
        </p:nvSpPr>
        <p:spPr>
          <a:xfrm>
            <a:off x="7388917" y="6109793"/>
            <a:ext cx="417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Today: Need to leave at noon</a:t>
            </a:r>
          </a:p>
        </p:txBody>
      </p:sp>
    </p:spTree>
    <p:extLst>
      <p:ext uri="{BB962C8B-B14F-4D97-AF65-F5344CB8AC3E}">
        <p14:creationId xmlns:p14="http://schemas.microsoft.com/office/powerpoint/2010/main" val="263556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097A-DED3-3CD6-B544-E79915CF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D46A-FD99-3951-10ED-20F71F0F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class 10/27-29 (INFORMS)</a:t>
            </a:r>
          </a:p>
          <a:p>
            <a:endParaRPr lang="en-US" dirty="0"/>
          </a:p>
          <a:p>
            <a:r>
              <a:rPr lang="en-US" dirty="0"/>
              <a:t>Potentially optional: 11/10</a:t>
            </a:r>
          </a:p>
          <a:p>
            <a:r>
              <a:rPr lang="en-US" dirty="0"/>
              <a:t>Possibly 11/12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25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A56C-9844-CC47-A6CC-3C9E5441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F820-8EC6-2590-7B06-A2F654955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825625"/>
            <a:ext cx="5021704" cy="4351338"/>
          </a:xfrm>
        </p:spPr>
        <p:txBody>
          <a:bodyPr>
            <a:normAutofit/>
          </a:bodyPr>
          <a:lstStyle/>
          <a:p>
            <a:r>
              <a:rPr lang="en-US" dirty="0"/>
              <a:t>The question nobody asked: </a:t>
            </a:r>
          </a:p>
          <a:p>
            <a:pPr marL="0" indent="0" algn="ctr">
              <a:buNone/>
            </a:pPr>
            <a:r>
              <a:rPr lang="en-US" dirty="0"/>
              <a:t>   “What watch are you    wearing today?”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A: 1977 King Quartz                    	4823-8120</a:t>
            </a:r>
          </a:p>
          <a:p>
            <a:endParaRPr lang="en-US" dirty="0"/>
          </a:p>
          <a:p>
            <a:r>
              <a:rPr lang="en-US" dirty="0"/>
              <a:t>Short history on Seiko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AFF331-20C1-E352-D3F8-E561B6215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606" y="1067190"/>
            <a:ext cx="6688112" cy="501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00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31195-D227-5636-C8D7-5F31DCAD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Bigger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AEFF-1D30-A839-FCF7-0BA8016D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329784"/>
            <a:ext cx="5358373" cy="63258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Homework 1 together</a:t>
            </a:r>
          </a:p>
          <a:p>
            <a:r>
              <a:rPr lang="en-US" sz="2400" dirty="0"/>
              <a:t>Resource models</a:t>
            </a:r>
          </a:p>
          <a:p>
            <a:pPr lvl="1"/>
            <a:r>
              <a:rPr lang="en-US" sz="1800" strike="sngStrike" dirty="0"/>
              <a:t>Hotelling (review)</a:t>
            </a:r>
          </a:p>
          <a:p>
            <a:pPr lvl="1"/>
            <a:r>
              <a:rPr lang="en-US" sz="1800" dirty="0"/>
              <a:t>Fisheries management (Gordon-Schaeffer)</a:t>
            </a:r>
          </a:p>
          <a:p>
            <a:pPr lvl="1"/>
            <a:r>
              <a:rPr lang="en-US" sz="1800" dirty="0"/>
              <a:t>Forestry management (Faustmann)</a:t>
            </a:r>
          </a:p>
          <a:p>
            <a:r>
              <a:rPr lang="en-US" sz="2200" dirty="0"/>
              <a:t>CO-WY electricity ‘dispatch’</a:t>
            </a:r>
          </a:p>
          <a:p>
            <a:r>
              <a:rPr lang="en-US" sz="2200" dirty="0"/>
              <a:t>Non-linear, calibrated market models</a:t>
            </a:r>
          </a:p>
          <a:p>
            <a:pPr lvl="1"/>
            <a:r>
              <a:rPr lang="en-US" sz="1800" dirty="0"/>
              <a:t>US petroleum, backstop techs</a:t>
            </a:r>
          </a:p>
          <a:p>
            <a:r>
              <a:rPr lang="en-US" sz="2200" dirty="0"/>
              <a:t>Review of duality -&gt; MCP models</a:t>
            </a:r>
          </a:p>
          <a:p>
            <a:r>
              <a:rPr lang="en-US" sz="2200" dirty="0"/>
              <a:t>Game theory models</a:t>
            </a:r>
          </a:p>
          <a:p>
            <a:pPr lvl="1"/>
            <a:r>
              <a:rPr lang="en-US" sz="1800" dirty="0"/>
              <a:t>Stackelberg</a:t>
            </a:r>
          </a:p>
          <a:p>
            <a:pPr lvl="1"/>
            <a:r>
              <a:rPr lang="en-US" sz="1800" dirty="0"/>
              <a:t>Cournot</a:t>
            </a:r>
          </a:p>
          <a:p>
            <a:r>
              <a:rPr lang="en-US" sz="2200" dirty="0"/>
              <a:t>Ramsey model</a:t>
            </a:r>
          </a:p>
          <a:p>
            <a:r>
              <a:rPr lang="en-US" sz="2200" dirty="0"/>
              <a:t>CGE models</a:t>
            </a:r>
          </a:p>
          <a:p>
            <a:r>
              <a:rPr lang="en-US" sz="2200" dirty="0"/>
              <a:t>MPECs/EPECs</a:t>
            </a:r>
          </a:p>
          <a:p>
            <a:r>
              <a:rPr lang="en-US" sz="2200" dirty="0"/>
              <a:t>Presentations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5709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58F5-3D54-DAA9-86AB-00E85745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647"/>
            <a:ext cx="10515600" cy="1325563"/>
          </a:xfrm>
        </p:spPr>
        <p:txBody>
          <a:bodyPr/>
          <a:lstStyle/>
          <a:p>
            <a:r>
              <a:rPr lang="en-US" dirty="0"/>
              <a:t>Bigger picture of Hotelling and non-renewable resource extraction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3A90A0-6557-4A45-9E01-A144442A912F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727371"/>
          <a:ext cx="106713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7104">
                  <a:extLst>
                    <a:ext uri="{9D8B030D-6E8A-4147-A177-3AD203B41FA5}">
                      <a16:colId xmlns:a16="http://schemas.microsoft.com/office/drawing/2014/main" val="2923460607"/>
                    </a:ext>
                  </a:extLst>
                </a:gridCol>
                <a:gridCol w="2581965">
                  <a:extLst>
                    <a:ext uri="{9D8B030D-6E8A-4147-A177-3AD203B41FA5}">
                      <a16:colId xmlns:a16="http://schemas.microsoft.com/office/drawing/2014/main" val="1057207179"/>
                    </a:ext>
                  </a:extLst>
                </a:gridCol>
                <a:gridCol w="4532243">
                  <a:extLst>
                    <a:ext uri="{9D8B030D-6E8A-4147-A177-3AD203B41FA5}">
                      <a16:colId xmlns:a16="http://schemas.microsoft.com/office/drawing/2014/main" val="3516289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Monopoly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06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Price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Rises at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Rises slower than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1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96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Initial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948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Resource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84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May not fully exhaust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56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93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4B634-04E6-32D7-48A4-23AE65F5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BBBAA-6DBA-E9BE-22FA-2D5F5AB2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Modelers, myself included, love to make things complicated</a:t>
            </a:r>
          </a:p>
          <a:p>
            <a:pPr lvl="1"/>
            <a:r>
              <a:rPr lang="en-US" dirty="0"/>
              <a:t>The biggest, </a:t>
            </a:r>
            <a:r>
              <a:rPr lang="en-US" dirty="0" err="1"/>
              <a:t>bestest</a:t>
            </a:r>
            <a:r>
              <a:rPr lang="en-US" dirty="0"/>
              <a:t>, most detailed model ever</a:t>
            </a:r>
          </a:p>
          <a:p>
            <a:endParaRPr lang="en-US" dirty="0"/>
          </a:p>
          <a:p>
            <a:r>
              <a:rPr lang="en-US" dirty="0"/>
              <a:t>Economists, however, try to draw broader and more generalizable conclusions from modeling efforts</a:t>
            </a:r>
          </a:p>
          <a:p>
            <a:pPr lvl="1"/>
            <a:r>
              <a:rPr lang="en-US" dirty="0"/>
              <a:t>e.g. named Lemmas (Shephard’s), rules (Hotelling), models (Gordon-Schaeffer, Faustman), methods (the Lagrangian), …</a:t>
            </a:r>
          </a:p>
          <a:p>
            <a:pPr lvl="1"/>
            <a:r>
              <a:rPr lang="en-US" dirty="0"/>
              <a:t>Have seen many high-quality econ articles with really poor modeling (esp as it relates to electricity)</a:t>
            </a:r>
          </a:p>
          <a:p>
            <a:pPr lvl="1"/>
            <a:endParaRPr lang="en-US" dirty="0"/>
          </a:p>
          <a:p>
            <a:r>
              <a:rPr lang="en-US" dirty="0"/>
              <a:t>Economists also love perverse policy incentives</a:t>
            </a:r>
          </a:p>
        </p:txBody>
      </p:sp>
    </p:spTree>
    <p:extLst>
      <p:ext uri="{BB962C8B-B14F-4D97-AF65-F5344CB8AC3E}">
        <p14:creationId xmlns:p14="http://schemas.microsoft.com/office/powerpoint/2010/main" val="230570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CBAC-1B1D-7EC8-BD9E-C46EA761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– </a:t>
            </a:r>
            <a:r>
              <a:rPr lang="en-US" b="1" i="1" dirty="0"/>
              <a:t>renewable </a:t>
            </a:r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B3EC-3395-5128-7909-119FF0E3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How does your management strategy change if </a:t>
            </a:r>
          </a:p>
          <a:p>
            <a:pPr marL="0" indent="0" algn="ctr">
              <a:buNone/>
            </a:pPr>
            <a:r>
              <a:rPr lang="en-US" dirty="0"/>
              <a:t>the resource regenerates over time?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For fisheries, the population is ‘constantly’ multiplying</a:t>
            </a:r>
          </a:p>
          <a:p>
            <a:pPr lvl="1">
              <a:buFontTx/>
              <a:buChar char="-"/>
            </a:pPr>
            <a:r>
              <a:rPr lang="en-US" dirty="0"/>
              <a:t>Overharvest and they die out</a:t>
            </a:r>
          </a:p>
          <a:p>
            <a:pPr lvl="1">
              <a:buFontTx/>
              <a:buChar char="-"/>
            </a:pPr>
            <a:r>
              <a:rPr lang="en-US" dirty="0"/>
              <a:t>Underharvest and you’re leaving money on the table</a:t>
            </a:r>
          </a:p>
          <a:p>
            <a:pPr lvl="1"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For forestry, it starts anew with each harvest</a:t>
            </a:r>
          </a:p>
        </p:txBody>
      </p:sp>
    </p:spTree>
    <p:extLst>
      <p:ext uri="{BB962C8B-B14F-4D97-AF65-F5344CB8AC3E}">
        <p14:creationId xmlns:p14="http://schemas.microsoft.com/office/powerpoint/2010/main" val="381504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79E50-8FFC-F246-B475-B9A5C5BA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Specific to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C57B-BEF8-7C16-6A86-C9CDA224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2143594"/>
            <a:ext cx="5213835" cy="4212756"/>
          </a:xfrm>
        </p:spPr>
        <p:txBody>
          <a:bodyPr anchor="ctr"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What level of fish stock is sustainable?</a:t>
            </a:r>
          </a:p>
          <a:p>
            <a:pPr lvl="1"/>
            <a:r>
              <a:rPr lang="en-US" sz="2800" dirty="0"/>
              <a:t>We do not want to overharvest and decimate stock</a:t>
            </a:r>
          </a:p>
          <a:p>
            <a:pPr lvl="1"/>
            <a:r>
              <a:rPr lang="en-US" sz="2800" dirty="0"/>
              <a:t>We do not want to underharvest and leave money/food in the water</a:t>
            </a:r>
          </a:p>
          <a:p>
            <a:pPr lvl="1"/>
            <a:endParaRPr lang="en-US" sz="2800" dirty="0"/>
          </a:p>
          <a:p>
            <a:r>
              <a:rPr lang="en-US" dirty="0"/>
              <a:t>Goal: manage the growth of a renewable resource to maximize profit</a:t>
            </a:r>
          </a:p>
        </p:txBody>
      </p:sp>
      <p:pic>
        <p:nvPicPr>
          <p:cNvPr id="5" name="Picture 4" descr="Yellowfish moving against the direction of a school of white fish">
            <a:extLst>
              <a:ext uri="{FF2B5EF4-FFF2-40B4-BE49-F238E27FC236}">
                <a16:creationId xmlns:a16="http://schemas.microsoft.com/office/drawing/2014/main" id="{8F9F5CC9-3B13-76DB-1F76-FFD3B0A4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003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2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3EEE-CA45-AC6A-70D3-D18F153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terms we need to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3C12-2D29-1CDD-E97A-80EEB3F1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Harvest: extraction of the renewable resource</a:t>
            </a:r>
          </a:p>
          <a:p>
            <a:endParaRPr lang="en-US" dirty="0"/>
          </a:p>
          <a:p>
            <a:r>
              <a:rPr lang="en-US" dirty="0"/>
              <a:t>Maximum sustainable yield (MSY): The maximum harvest we can </a:t>
            </a:r>
            <a:r>
              <a:rPr lang="en-US" i="1" dirty="0"/>
              <a:t>continuously/indefinitely</a:t>
            </a:r>
            <a:r>
              <a:rPr lang="en-US" dirty="0"/>
              <a:t> take without system collapse</a:t>
            </a:r>
          </a:p>
          <a:p>
            <a:endParaRPr lang="en-US" dirty="0"/>
          </a:p>
          <a:p>
            <a:r>
              <a:rPr lang="en-US" dirty="0"/>
              <a:t>Exponential growth: monotonically increasing rate of change</a:t>
            </a:r>
          </a:p>
          <a:p>
            <a:endParaRPr lang="en-US" dirty="0"/>
          </a:p>
          <a:p>
            <a:r>
              <a:rPr lang="en-US" dirty="0"/>
              <a:t>Logistic growth: think of an s-shapes curve</a:t>
            </a:r>
          </a:p>
          <a:p>
            <a:endParaRPr lang="en-US" dirty="0"/>
          </a:p>
          <a:p>
            <a:r>
              <a:rPr lang="en-US" dirty="0"/>
              <a:t>Carrying capacity: the natural limit to to an environment’s stock</a:t>
            </a:r>
          </a:p>
        </p:txBody>
      </p:sp>
    </p:spTree>
    <p:extLst>
      <p:ext uri="{BB962C8B-B14F-4D97-AF65-F5344CB8AC3E}">
        <p14:creationId xmlns:p14="http://schemas.microsoft.com/office/powerpoint/2010/main" val="261327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CE19-E729-F3E9-6494-4647B4C4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exponential growth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Reads as: the change in the stock over the time is proportional to the stock at that time – looks very similar to Hotelling’s Rule and 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224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D7110-8E09-3CE5-26E9-AAD607C6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Exponential growth not realistic though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81CA-91B0-EB2F-3C3F-1DBAB9E1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Limits to…</a:t>
            </a:r>
          </a:p>
          <a:p>
            <a:pPr lvl="1"/>
            <a:r>
              <a:rPr lang="en-US" sz="2200" dirty="0"/>
              <a:t>Food</a:t>
            </a:r>
          </a:p>
          <a:p>
            <a:pPr lvl="1"/>
            <a:r>
              <a:rPr lang="en-US" sz="2200" dirty="0"/>
              <a:t>Space</a:t>
            </a:r>
          </a:p>
          <a:p>
            <a:pPr lvl="1"/>
            <a:r>
              <a:rPr lang="en-US" sz="2200" dirty="0"/>
              <a:t>Environmental quality</a:t>
            </a:r>
          </a:p>
          <a:p>
            <a:pPr lvl="1"/>
            <a:r>
              <a:rPr lang="en-US" sz="2200" dirty="0"/>
              <a:t>Productivity of the resource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0167A6BF-6232-3E0D-CD96-BA87EFEB63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0" r="-1" b="2169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80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732F-4D8A-97B9-94F6-C2F4FD6F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0991-2C5D-8CB3-9358-0766EC82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Previous, not realistic: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Thus, we introduce carrying capacity: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006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439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F69E-EDB2-0B89-5523-C974D2D4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4989-9B99-D13F-B194-A56D9254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Thus, we introduce carrying capacity (becomes </a:t>
                </a:r>
                <a:r>
                  <a:rPr lang="en-US" i="1" dirty="0"/>
                  <a:t>logistic growth</a:t>
                </a:r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At low levels -&gt; growth is exponential</a:t>
                </a:r>
              </a:p>
              <a:p>
                <a:pPr marL="0" indent="0">
                  <a:buNone/>
                </a:pPr>
                <a:r>
                  <a:rPr lang="en-US" i="1" dirty="0"/>
                  <a:t>At medium stock levels (K/2) -&gt; growth is fastest</a:t>
                </a:r>
              </a:p>
              <a:p>
                <a:pPr marL="0" indent="0">
                  <a:buNone/>
                </a:pPr>
                <a:r>
                  <a:rPr lang="en-US" i="1" dirty="0"/>
                  <a:t>At high stock levels (S near K) -&gt; growth slows down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132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91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99A-4839-290B-9FFA-EB88176B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A68C-ED29-E812-FEB7-E7BDE386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Logistic growth and 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DF588-5055-1F72-DA9B-51B02309C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Label growth function as: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Again – find the maximum by setting derivative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Implies growth is maximized when: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DF588-5055-1F72-DA9B-51B02309C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50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52B3-8C42-4033-820C-9075BCE3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Logistic growth and 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B623B-63DC-2DE4-07BC-26A75F6D2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Label growth function as: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p>
                          </m:s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MSY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B623B-63DC-2DE4-07BC-26A75F6D2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71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595D-AAE8-887C-E51F-64CE84F1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MSY Logic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00106-5628-F6B0-1512-CB19DEF7E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93889" y="1454046"/>
                <a:ext cx="8394492" cy="472291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Interpretation: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Peak growth occurs at half capacity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Maximum yield </a:t>
                </a:r>
                <a:r>
                  <a:rPr lang="en-US" dirty="0" err="1"/>
                  <a:t>occures</a:t>
                </a:r>
                <a:r>
                  <a:rPr lang="en-US" dirty="0"/>
                  <a:t> at one-quarter of the total possible growth</a:t>
                </a:r>
              </a:p>
              <a:p>
                <a:pPr marL="0" indent="0">
                  <a:buNone/>
                </a:pPr>
                <a:r>
                  <a:rPr lang="en-US" dirty="0"/>
                  <a:t>Alternatively…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Growth rate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maximized at half the carrying capacity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At that point, half the potential resource growth already used to replenish existing stock, leaving only one-quarter of total potential growth as harvestable MSY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00106-5628-F6B0-1512-CB19DEF7E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93889" y="1454046"/>
                <a:ext cx="8394492" cy="4722917"/>
              </a:xfrm>
              <a:blipFill>
                <a:blip r:embed="rId2"/>
                <a:stretch>
                  <a:fillRect l="-1360" t="-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186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FC8D9-B38B-6591-A943-C0A0C4BC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Now – what if we add harvesting?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9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9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9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sz="19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900" b="1" i="1"/>
              </a:p>
              <a:p>
                <a:pPr marL="0" indent="0">
                  <a:buNone/>
                </a:pPr>
                <a:endParaRPr lang="en-US" sz="1900" b="1" i="1"/>
              </a:p>
              <a:p>
                <a:pPr marL="0" indent="0">
                  <a:buNone/>
                </a:pPr>
                <a:r>
                  <a:rPr lang="en-US" sz="1900"/>
                  <a:t>… Let’s define harvest as the product of..</a:t>
                </a:r>
              </a:p>
              <a:p>
                <a:pPr marL="0" indent="0">
                  <a:buNone/>
                </a:pPr>
                <a:r>
                  <a:rPr lang="en-US" sz="1900"/>
                  <a:t>	- A catching coefficient (</a:t>
                </a:r>
                <a14:m>
                  <m:oMath xmlns:m="http://schemas.openxmlformats.org/officeDocument/2006/math">
                    <m:r>
                      <a:rPr lang="en-US" sz="1900" b="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) </a:t>
                </a:r>
              </a:p>
              <a:p>
                <a:pPr marL="0" indent="0">
                  <a:buNone/>
                </a:pPr>
                <a:r>
                  <a:rPr lang="en-US" sz="1900"/>
                  <a:t>	- The current stock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900"/>
                  <a:t>)</a:t>
                </a:r>
              </a:p>
              <a:p>
                <a:pPr marL="0" indent="0">
                  <a:buNone/>
                </a:pPr>
                <a:r>
                  <a:rPr lang="en-US" sz="1900"/>
                  <a:t>	- And some effort level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900"/>
                  <a:t>)	</a:t>
                </a:r>
              </a:p>
              <a:p>
                <a:pPr marL="0" indent="0">
                  <a:buNone/>
                </a:pPr>
                <a:endParaRPr lang="en-US" sz="1900"/>
              </a:p>
              <a:p>
                <a:pPr marL="0" indent="0">
                  <a:buNone/>
                </a:pPr>
                <a:r>
                  <a:rPr lang="en-US" sz="190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b="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9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  <a:blipFill>
                <a:blip r:embed="rId2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Harvester harvesting grain on a field">
            <a:extLst>
              <a:ext uri="{FF2B5EF4-FFF2-40B4-BE49-F238E27FC236}">
                <a16:creationId xmlns:a16="http://schemas.microsoft.com/office/drawing/2014/main" id="{C6CCB599-8DB2-63A5-3FDE-C9A7645B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5" r="2032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2834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7193-9B92-1E70-F0F0-1506E893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don’t want the stock to change?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Sustainable harvest curve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… Gives us the sustainable amount of </a:t>
                </a:r>
                <a:r>
                  <a:rPr lang="en-US" i="1" u="sng" dirty="0"/>
                  <a:t>effort</a:t>
                </a:r>
                <a:endParaRPr lang="en-US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620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749F-48B5-6F9F-73BC-E6834167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541"/>
            <a:ext cx="10515600" cy="1325563"/>
          </a:xfrm>
        </p:spPr>
        <p:txBody>
          <a:bodyPr/>
          <a:lstStyle/>
          <a:p>
            <a:r>
              <a:rPr lang="en-US" dirty="0"/>
              <a:t>Let’s bring money into this..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675" y="1364104"/>
                <a:ext cx="11092722" cy="524655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Add new parameter for each extracted,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; total revenue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Now, each effort we put in costs 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so total cost can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there are no restrictions, everyone piles in and no profits are made, that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Means we can find the open access equilibrium level of stock: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675" y="1364104"/>
                <a:ext cx="11092722" cy="5246557"/>
              </a:xfrm>
              <a:blipFill>
                <a:blip r:embed="rId2"/>
                <a:stretch>
                  <a:fillRect l="-800" t="-2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392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2CBD-D80D-8433-730E-8163DE8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OA level of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p>
                  </m:oMath>
                </a14:m>
                <a:r>
                  <a:rPr lang="en-US" dirty="0"/>
                  <a:t>..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𝑂𝐴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549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But we care about profit…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in the sky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Profit is just revenue minus cost: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This is a bit tough, so we’ll solve for it in GAMS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1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68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3BA67-94C6-2849-53C8-E808D3FB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Important note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BC1C-66AD-D520-66BE-3C407BA72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62" y="2482099"/>
            <a:ext cx="5833872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 could optimize with and without price control (same way we did with Hotelling).. 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b="1" i="1" dirty="0">
                <a:highlight>
                  <a:srgbClr val="FFFF00"/>
                </a:highlight>
              </a:rPr>
              <a:t>but we already know the optimality conditions</a:t>
            </a:r>
          </a:p>
          <a:p>
            <a:endParaRPr lang="en-US" sz="2000" dirty="0"/>
          </a:p>
          <a:p>
            <a:r>
              <a:rPr lang="en-US" sz="2000" dirty="0"/>
              <a:t>Thus: we can explore how different conditions impact those optimal decisions</a:t>
            </a:r>
          </a:p>
          <a:p>
            <a:endParaRPr lang="en-US" sz="2000" dirty="0"/>
          </a:p>
          <a:p>
            <a:r>
              <a:rPr lang="en-US" sz="2000" dirty="0"/>
              <a:t>We call this an </a:t>
            </a:r>
            <a:r>
              <a:rPr lang="en-US" sz="2000" b="1" i="1" dirty="0">
                <a:highlight>
                  <a:srgbClr val="FFFF00"/>
                </a:highlight>
              </a:rPr>
              <a:t>analytical model</a:t>
            </a:r>
            <a:r>
              <a:rPr lang="en-US" sz="2000" dirty="0"/>
              <a:t>.. basically, exploring the solution space</a:t>
            </a:r>
          </a:p>
        </p:txBody>
      </p:sp>
      <p:pic>
        <p:nvPicPr>
          <p:cNvPr id="5" name="Picture 4" descr="Orbiting balls art">
            <a:extLst>
              <a:ext uri="{FF2B5EF4-FFF2-40B4-BE49-F238E27FC236}">
                <a16:creationId xmlns:a16="http://schemas.microsoft.com/office/drawing/2014/main" id="{E7861DAC-94F6-1334-5B16-A9F66829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5" r="1434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623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683A-F4D0-2B10-CDF4-DDB055AE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GAMS..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A443-CB0E-08E7-5BC5-0362D3159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Specify.. </a:t>
            </a:r>
          </a:p>
          <a:p>
            <a:pPr lvl="1"/>
            <a:r>
              <a:rPr lang="en-US" dirty="0"/>
              <a:t>r=0.5</a:t>
            </a:r>
          </a:p>
          <a:p>
            <a:pPr lvl="1"/>
            <a:r>
              <a:rPr lang="en-US" dirty="0"/>
              <a:t>k=3500</a:t>
            </a:r>
          </a:p>
          <a:p>
            <a:pPr lvl="1"/>
            <a:r>
              <a:rPr lang="en-US" dirty="0"/>
              <a:t>50 time periods</a:t>
            </a:r>
          </a:p>
          <a:p>
            <a:pPr lvl="1"/>
            <a:endParaRPr lang="en-US" dirty="0"/>
          </a:p>
          <a:p>
            <a:r>
              <a:rPr lang="en-US" dirty="0"/>
              <a:t>… then can solve analytically (we know the optimality conditions)</a:t>
            </a:r>
          </a:p>
          <a:p>
            <a:endParaRPr lang="en-US" dirty="0"/>
          </a:p>
          <a:p>
            <a:r>
              <a:rPr lang="en-US" dirty="0"/>
              <a:t>See: </a:t>
            </a:r>
            <a:r>
              <a:rPr lang="en-US" dirty="0" err="1"/>
              <a:t>fishy.gms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04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BC9AF-7200-FA2B-D3BE-AF5CBF9602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if we 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BC9AF-7200-FA2B-D3BE-AF5CBF960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A9E7-E591-43C5-D4AD-1749EB8C7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could be likened to a new technology – more efficient capture!</a:t>
            </a:r>
          </a:p>
        </p:txBody>
      </p:sp>
    </p:spTree>
    <p:extLst>
      <p:ext uri="{BB962C8B-B14F-4D97-AF65-F5344CB8AC3E}">
        <p14:creationId xmlns:p14="http://schemas.microsoft.com/office/powerpoint/2010/main" val="182980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7C6C-7E2A-6673-8760-48481FB8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Commonly-proposed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736B-DE87-ABA5-03D8-2DB2797A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365"/>
            <a:ext cx="10515600" cy="4351338"/>
          </a:xfrm>
        </p:spPr>
        <p:txBody>
          <a:bodyPr/>
          <a:lstStyle/>
          <a:p>
            <a:r>
              <a:rPr lang="en-US" dirty="0"/>
              <a:t>Individual transfer quotas – basically like a cap and trade for fish</a:t>
            </a:r>
          </a:p>
          <a:p>
            <a:endParaRPr lang="en-US" dirty="0"/>
          </a:p>
          <a:p>
            <a:r>
              <a:rPr lang="en-US" dirty="0"/>
              <a:t>Taxes on effort or harvest – align private and social costs</a:t>
            </a:r>
          </a:p>
          <a:p>
            <a:endParaRPr lang="en-US" dirty="0"/>
          </a:p>
          <a:p>
            <a:r>
              <a:rPr lang="en-US" dirty="0"/>
              <a:t>Protected areas / sanctuaries</a:t>
            </a:r>
          </a:p>
          <a:p>
            <a:endParaRPr lang="en-US" dirty="0"/>
          </a:p>
          <a:p>
            <a:r>
              <a:rPr lang="en-US" dirty="0"/>
              <a:t>Equipment restrictions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52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9547-4F8C-E627-A055-D4D14DC8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Individual transfer quotas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set a limit on total harvest/effort: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Examples:</a:t>
                </a:r>
              </a:p>
              <a:p>
                <a:r>
                  <a:rPr lang="en-US" dirty="0"/>
                  <a:t>New Zealand Hoki fishery – success, raised profits</a:t>
                </a:r>
              </a:p>
              <a:p>
                <a:r>
                  <a:rPr lang="en-US" dirty="0"/>
                  <a:t>Iceland Cod Fishery – failure </a:t>
                </a:r>
              </a:p>
              <a:p>
                <a:pPr lvl="1"/>
                <a:r>
                  <a:rPr lang="en-US" dirty="0"/>
                  <a:t>Giant corporations bought out small fishers</a:t>
                </a:r>
              </a:p>
              <a:p>
                <a:pPr lvl="1"/>
                <a:r>
                  <a:rPr lang="en-US" dirty="0"/>
                  <a:t>Low enforcement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18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AA39-7841-6A97-81A9-47DC6A60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69151" cy="1325563"/>
          </a:xfrm>
        </p:spPr>
        <p:txBody>
          <a:bodyPr/>
          <a:lstStyle/>
          <a:p>
            <a:r>
              <a:rPr lang="en-US" dirty="0"/>
              <a:t>New Zealand Hoki Fishery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B68A6-68FB-9E71-DF5C-763DFAFB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02" y="1825625"/>
            <a:ext cx="5680624" cy="4351338"/>
          </a:xfrm>
        </p:spPr>
        <p:txBody>
          <a:bodyPr/>
          <a:lstStyle/>
          <a:p>
            <a:r>
              <a:rPr lang="en-US" dirty="0"/>
              <a:t>Fishery management strategy started in 1986</a:t>
            </a:r>
          </a:p>
          <a:p>
            <a:r>
              <a:rPr lang="en-US" dirty="0"/>
              <a:t>Works on a system of ITQ’s that limit the Total Allowable Commercial Catch (TACC)</a:t>
            </a:r>
          </a:p>
          <a:p>
            <a:r>
              <a:rPr lang="en-US" dirty="0"/>
              <a:t>Total number of TACCs set at 10% of total estimated stock</a:t>
            </a:r>
          </a:p>
          <a:p>
            <a:r>
              <a:rPr lang="en-US" dirty="0"/>
              <a:t>Resulted in 36% increase in total profits per unit of cost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664B3-A418-31F1-E626-BB9E21EB6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50" y="0"/>
            <a:ext cx="5680624" cy="6858000"/>
          </a:xfrm>
          <a:prstGeom prst="rect">
            <a:avLst/>
          </a:prstGeom>
        </p:spPr>
      </p:pic>
      <p:pic>
        <p:nvPicPr>
          <p:cNvPr id="1026" name="Picture 2" descr="Hoki Mai | New Zealand Geographic">
            <a:extLst>
              <a:ext uri="{FF2B5EF4-FFF2-40B4-BE49-F238E27FC236}">
                <a16:creationId xmlns:a16="http://schemas.microsoft.com/office/drawing/2014/main" id="{8B499246-1652-F118-8AEF-55FAC619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714" y="2286000"/>
            <a:ext cx="3143847" cy="71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119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8170-E066-0DA3-3B7E-0968E68B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Iceland Cod Fishery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A474-5D20-EF2A-AE2E-9DA6CD8C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8" y="1825625"/>
            <a:ext cx="5699776" cy="4165600"/>
          </a:xfrm>
        </p:spPr>
        <p:txBody>
          <a:bodyPr/>
          <a:lstStyle/>
          <a:p>
            <a:r>
              <a:rPr lang="en-US" dirty="0"/>
              <a:t>ITQ system started in 1984</a:t>
            </a:r>
          </a:p>
          <a:p>
            <a:r>
              <a:rPr lang="en-US" dirty="0"/>
              <a:t>Allowed for grandfathering in of substantial fishing quotas</a:t>
            </a:r>
          </a:p>
          <a:p>
            <a:r>
              <a:rPr lang="en-US" dirty="0"/>
              <a:t>Several rights were sold to large corporations who overfished with little punitive recompense</a:t>
            </a:r>
          </a:p>
          <a:p>
            <a:r>
              <a:rPr lang="en-US" dirty="0"/>
              <a:t>Cod industry plagued by constant declines and surges in stock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B61B2-BAA6-C11C-D814-A8789C58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0"/>
            <a:ext cx="5321300" cy="4165600"/>
          </a:xfrm>
          <a:prstGeom prst="rect">
            <a:avLst/>
          </a:prstGeom>
        </p:spPr>
      </p:pic>
      <p:pic>
        <p:nvPicPr>
          <p:cNvPr id="2050" name="Picture 2" descr="Atlantic Cod | NOAA Fisheries">
            <a:extLst>
              <a:ext uri="{FF2B5EF4-FFF2-40B4-BE49-F238E27FC236}">
                <a16:creationId xmlns:a16="http://schemas.microsoft.com/office/drawing/2014/main" id="{46503A8C-8159-B3A0-9C62-08F10F379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112" y="4165600"/>
            <a:ext cx="3546475" cy="236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894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F579-1778-1C83-9183-BC9EA584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ITQs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4EA70-FEB3-32C6-4BFE-96C38EED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transfer quotas can succeed or fail</a:t>
            </a:r>
          </a:p>
          <a:p>
            <a:endParaRPr lang="en-US" dirty="0"/>
          </a:p>
          <a:p>
            <a:r>
              <a:rPr lang="en-US" dirty="0"/>
              <a:t>Failures a result of:</a:t>
            </a:r>
          </a:p>
          <a:p>
            <a:pPr lvl="1"/>
            <a:r>
              <a:rPr lang="en-US" dirty="0"/>
              <a:t>Overfishing (obviously), itself being a result of..</a:t>
            </a:r>
          </a:p>
          <a:p>
            <a:pPr lvl="1"/>
            <a:r>
              <a:rPr lang="en-US" dirty="0"/>
              <a:t>Low enforcement</a:t>
            </a:r>
          </a:p>
          <a:p>
            <a:pPr lvl="1"/>
            <a:r>
              <a:rPr lang="en-US" dirty="0"/>
              <a:t>Consolidation</a:t>
            </a:r>
          </a:p>
          <a:p>
            <a:pPr lvl="1"/>
            <a:r>
              <a:rPr lang="en-US" dirty="0"/>
              <a:t>Lacking monitoring and updates to quotas</a:t>
            </a:r>
          </a:p>
          <a:p>
            <a:pPr lvl="1"/>
            <a:endParaRPr lang="en-US" dirty="0"/>
          </a:p>
          <a:p>
            <a:r>
              <a:rPr lang="en-US" dirty="0"/>
              <a:t>Several other examples ..</a:t>
            </a:r>
          </a:p>
        </p:txBody>
      </p:sp>
    </p:spTree>
    <p:extLst>
      <p:ext uri="{BB962C8B-B14F-4D97-AF65-F5344CB8AC3E}">
        <p14:creationId xmlns:p14="http://schemas.microsoft.com/office/powerpoint/2010/main" val="1176647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BF4B-AA53-FCF2-7833-716252C9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42B3-E67E-ABED-5AB7-DBC4C254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Effort tax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simple tax on effort: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Examples:</a:t>
                </a:r>
              </a:p>
              <a:p>
                <a:r>
                  <a:rPr lang="en-US" dirty="0"/>
                  <a:t>Denmark effort taxes on heavy fishing days</a:t>
                </a:r>
              </a:p>
              <a:p>
                <a:r>
                  <a:rPr lang="en-US" dirty="0"/>
                  <a:t>Indonesia – </a:t>
                </a:r>
              </a:p>
              <a:p>
                <a:pPr lvl="1"/>
                <a:r>
                  <a:rPr lang="en-US" dirty="0"/>
                  <a:t>Weak enforcement and tax evasion in remote areas</a:t>
                </a:r>
              </a:p>
              <a:p>
                <a:pPr lvl="1"/>
                <a:r>
                  <a:rPr lang="en-US" dirty="0"/>
                  <a:t>Fishers shifted to illegal methods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012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82D7-4787-D9D6-FC98-70F7899D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29479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Denmark’s effort tax</a:t>
            </a:r>
          </a:p>
        </p:txBody>
      </p:sp>
      <p:pic>
        <p:nvPicPr>
          <p:cNvPr id="3074" name="Picture 2" descr="Fishing industry in Denmark - Wikipedia">
            <a:extLst>
              <a:ext uri="{FF2B5EF4-FFF2-40B4-BE49-F238E27FC236}">
                <a16:creationId xmlns:a16="http://schemas.microsoft.com/office/drawing/2014/main" id="{67805839-2A1C-292F-033C-9ABEDB64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17" b="15758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0390-9F75-B8A1-C054-F884DB667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774" y="3947160"/>
            <a:ext cx="8558213" cy="245268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One of the first major attempts at fisheries regulation for a big industry (Denmark is 5</a:t>
            </a:r>
            <a:r>
              <a:rPr lang="en-US" sz="2000" baseline="30000" dirty="0"/>
              <a:t>th</a:t>
            </a:r>
            <a:r>
              <a:rPr lang="en-US" sz="2000" dirty="0"/>
              <a:t> largest fish exporter in the world)</a:t>
            </a:r>
          </a:p>
          <a:p>
            <a:r>
              <a:rPr lang="en-US" sz="2000" dirty="0"/>
              <a:t>Tax based on fishing pressure – directly tied to horsepower, equipment, …</a:t>
            </a:r>
          </a:p>
          <a:p>
            <a:r>
              <a:rPr lang="en-US" sz="2000" dirty="0"/>
              <a:t>Wasn’t based on catch equipment… problem?</a:t>
            </a:r>
          </a:p>
          <a:p>
            <a:r>
              <a:rPr lang="en-US" sz="2000" dirty="0"/>
              <a:t>Criticized for taxing inputs, not outputs</a:t>
            </a:r>
          </a:p>
          <a:p>
            <a:r>
              <a:rPr lang="en-US" sz="2000" dirty="0"/>
              <a:t>Eventually switched to an ITQ</a:t>
            </a:r>
          </a:p>
        </p:txBody>
      </p:sp>
    </p:spTree>
    <p:extLst>
      <p:ext uri="{BB962C8B-B14F-4D97-AF65-F5344CB8AC3E}">
        <p14:creationId xmlns:p14="http://schemas.microsoft.com/office/powerpoint/2010/main" val="27367025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0649-C089-3248-4B96-1010B23B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Indonesia’s effort 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5BD4-DF3B-4C3A-FA9D-2B2FC26E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4095"/>
            <a:ext cx="4820087" cy="349286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Similar to Denmark in that it imposed a tax based on boat characteristics</a:t>
            </a:r>
          </a:p>
          <a:p>
            <a:r>
              <a:rPr lang="en-US" sz="2400" dirty="0"/>
              <a:t>Had an exception for boats under a certain size</a:t>
            </a:r>
          </a:p>
          <a:p>
            <a:r>
              <a:rPr lang="en-US" sz="2400" dirty="0"/>
              <a:t>Led to industry fragmentation</a:t>
            </a:r>
          </a:p>
          <a:p>
            <a:r>
              <a:rPr lang="en-US" sz="2400" dirty="0"/>
              <a:t>When prices of fish skyrocketed in mid-2000’s, tax was too small</a:t>
            </a:r>
          </a:p>
          <a:p>
            <a:r>
              <a:rPr lang="en-US" sz="2400" dirty="0"/>
              <a:t>In 2023, switched to ITQ</a:t>
            </a:r>
          </a:p>
          <a:p>
            <a:r>
              <a:rPr lang="en-US" sz="2400" dirty="0"/>
              <a:t>Still – low enforcement</a:t>
            </a:r>
          </a:p>
          <a:p>
            <a:r>
              <a:rPr lang="en-US" sz="2400" dirty="0"/>
              <a:t>Community outrage</a:t>
            </a:r>
          </a:p>
        </p:txBody>
      </p:sp>
      <p:pic>
        <p:nvPicPr>
          <p:cNvPr id="4098" name="Picture 2" descr="Aquaculture in Indonesia - Wikipedia">
            <a:extLst>
              <a:ext uri="{FF2B5EF4-FFF2-40B4-BE49-F238E27FC236}">
                <a16:creationId xmlns:a16="http://schemas.microsoft.com/office/drawing/2014/main" id="{6CA7F278-A06B-DFE4-547D-C4F15779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936127"/>
            <a:ext cx="6440424" cy="293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336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A742-66E1-DA15-6E8E-D3299004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taxes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192C-4230-9D43-47BD-0A21903D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4569"/>
            <a:ext cx="10515600" cy="3902393"/>
          </a:xfrm>
        </p:spPr>
        <p:txBody>
          <a:bodyPr/>
          <a:lstStyle/>
          <a:p>
            <a:r>
              <a:rPr lang="en-US" dirty="0"/>
              <a:t>Two examples, both failed – why?</a:t>
            </a:r>
          </a:p>
          <a:p>
            <a:pPr lvl="1"/>
            <a:r>
              <a:rPr lang="en-US" dirty="0"/>
              <a:t>Difficult to enforce</a:t>
            </a:r>
          </a:p>
          <a:p>
            <a:pPr lvl="1"/>
            <a:r>
              <a:rPr lang="en-US" dirty="0"/>
              <a:t>Difficult to parameterize a one-size-fits-all solution</a:t>
            </a:r>
          </a:p>
          <a:p>
            <a:pPr lvl="2"/>
            <a:r>
              <a:rPr lang="en-US" dirty="0"/>
              <a:t>Workaround for catch equipment with the Denmark tax</a:t>
            </a:r>
          </a:p>
          <a:p>
            <a:pPr lvl="2"/>
            <a:r>
              <a:rPr lang="en-US" dirty="0"/>
              <a:t>Cut-off in size in the Indonesian system</a:t>
            </a:r>
          </a:p>
          <a:p>
            <a:pPr lvl="1"/>
            <a:r>
              <a:rPr lang="en-US" dirty="0"/>
              <a:t>Both examples ultimately switched to ITQ</a:t>
            </a:r>
          </a:p>
          <a:p>
            <a:pPr lvl="1"/>
            <a:r>
              <a:rPr lang="en-US" dirty="0"/>
              <a:t>Perhaps most importantly - community and company opposition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91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56F0-8825-3C88-C5BD-6F1ACED9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.com: No Fishing Sign, 14&quot;x 10&quot; .04&quot; Aluminum Reflective Sign Rust  Free Aluminum-UV Protected and Weatherproof : Industrial &amp; Scientific">
            <a:extLst>
              <a:ext uri="{FF2B5EF4-FFF2-40B4-BE49-F238E27FC236}">
                <a16:creationId xmlns:a16="http://schemas.microsoft.com/office/drawing/2014/main" id="{306319E1-E892-CAD7-1F1B-E59B355F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60" y="1587639"/>
            <a:ext cx="2718079" cy="27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D695-268C-9BC2-6337-361FAF5F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6CFB-404A-5679-5A85-BB3C21CAC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721"/>
            <a:ext cx="11069097" cy="4780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Marine Protected Areas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How they work: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Great Barrier Reef, Australia</a:t>
            </a:r>
          </a:p>
          <a:p>
            <a:r>
              <a:rPr lang="en-US" dirty="0"/>
              <a:t>Philippines coral reefs  - fail</a:t>
            </a:r>
          </a:p>
          <a:p>
            <a:pPr lvl="1"/>
            <a:r>
              <a:rPr lang="en-US" dirty="0"/>
              <a:t>Rules ignored, fines were not high enough</a:t>
            </a:r>
          </a:p>
          <a:p>
            <a:pPr lvl="1"/>
            <a:r>
              <a:rPr lang="en-US" dirty="0"/>
              <a:t>Community-opposed (loss of livelihood, not enough information)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06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AAE2-7EC1-915D-8451-86451080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76900" cy="1325563"/>
          </a:xfrm>
        </p:spPr>
        <p:txBody>
          <a:bodyPr/>
          <a:lstStyle/>
          <a:p>
            <a:r>
              <a:rPr lang="en-US" dirty="0"/>
              <a:t>Great Barrier Reef Marine 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5DE71-1317-59D0-1E04-4BD8B774B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548313" cy="4351338"/>
          </a:xfrm>
        </p:spPr>
        <p:txBody>
          <a:bodyPr/>
          <a:lstStyle/>
          <a:p>
            <a:r>
              <a:rPr lang="en-US" dirty="0"/>
              <a:t>Started in 1975 but ‘zone’ approach introduced in 2004</a:t>
            </a:r>
          </a:p>
          <a:p>
            <a:r>
              <a:rPr lang="en-US" dirty="0"/>
              <a:t>Basically – enforced no fishing rules in several regions along the reef</a:t>
            </a:r>
          </a:p>
          <a:p>
            <a:r>
              <a:rPr lang="en-US" dirty="0"/>
              <a:t>Included permitting for fishing</a:t>
            </a:r>
          </a:p>
          <a:p>
            <a:r>
              <a:rPr lang="en-US" dirty="0"/>
              <a:t>Benefits neighbors</a:t>
            </a:r>
          </a:p>
        </p:txBody>
      </p:sp>
      <p:pic>
        <p:nvPicPr>
          <p:cNvPr id="5122" name="Picture 2" descr="Figure S1. Map of the Great Barrier Reef Marine Park showing the... |  Download Scientific Diagram">
            <a:extLst>
              <a:ext uri="{FF2B5EF4-FFF2-40B4-BE49-F238E27FC236}">
                <a16:creationId xmlns:a16="http://schemas.microsoft.com/office/drawing/2014/main" id="{C03CA646-80A8-E15D-E9BC-7AEFED0B1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773" y="0"/>
            <a:ext cx="488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997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5AFD-8419-B9F7-3E6C-81CF2A54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12"/>
            <a:ext cx="10515600" cy="1325563"/>
          </a:xfrm>
        </p:spPr>
        <p:txBody>
          <a:bodyPr/>
          <a:lstStyle/>
          <a:p>
            <a:r>
              <a:rPr lang="en-US" dirty="0"/>
              <a:t>Philippines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15FD-D589-56E1-0C6C-2F1701B71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57387"/>
            <a:ext cx="10515600" cy="4351338"/>
          </a:xfrm>
        </p:spPr>
        <p:txBody>
          <a:bodyPr/>
          <a:lstStyle/>
          <a:p>
            <a:r>
              <a:rPr lang="en-US" dirty="0"/>
              <a:t>Failed:</a:t>
            </a:r>
          </a:p>
          <a:p>
            <a:r>
              <a:rPr lang="en-US" dirty="0"/>
              <a:t>Nobody cared</a:t>
            </a:r>
          </a:p>
          <a:p>
            <a:r>
              <a:rPr lang="en-US" dirty="0"/>
              <a:t>Weak fines</a:t>
            </a:r>
          </a:p>
          <a:p>
            <a:r>
              <a:rPr lang="en-US" dirty="0"/>
              <a:t>Despised</a:t>
            </a:r>
          </a:p>
        </p:txBody>
      </p:sp>
      <p:pic>
        <p:nvPicPr>
          <p:cNvPr id="6146" name="Picture 2" descr="INFOGRAPHIC: Marine Protected Areas in the Coral Triangle | WWF">
            <a:extLst>
              <a:ext uri="{FF2B5EF4-FFF2-40B4-BE49-F238E27FC236}">
                <a16:creationId xmlns:a16="http://schemas.microsoft.com/office/drawing/2014/main" id="{913427A3-49D1-627F-9708-2BB40468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3" y="0"/>
            <a:ext cx="9698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97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FDA2-3D12-3A95-8C5E-4085A001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Marine Protected Areas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0376-0839-BE62-9C53-A4389DB4F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6011"/>
            <a:ext cx="10515600" cy="3810952"/>
          </a:xfrm>
        </p:spPr>
        <p:txBody>
          <a:bodyPr/>
          <a:lstStyle/>
          <a:p>
            <a:r>
              <a:rPr lang="en-US" dirty="0"/>
              <a:t>Great Barrier Reef vs Philippines</a:t>
            </a:r>
          </a:p>
          <a:p>
            <a:pPr lvl="1"/>
            <a:r>
              <a:rPr lang="en-US" dirty="0"/>
              <a:t>GBR: Strong enforcement, community involvement</a:t>
            </a:r>
          </a:p>
          <a:p>
            <a:pPr lvl="1"/>
            <a:r>
              <a:rPr lang="en-US" dirty="0"/>
              <a:t>Philippines: Weak fines, fragmented enforcement, community hatred</a:t>
            </a:r>
          </a:p>
          <a:p>
            <a:pPr lvl="1"/>
            <a:endParaRPr lang="en-US" dirty="0"/>
          </a:p>
          <a:p>
            <a:r>
              <a:rPr lang="en-US" dirty="0"/>
              <a:t>Very tough to enforce</a:t>
            </a:r>
          </a:p>
        </p:txBody>
      </p:sp>
    </p:spTree>
    <p:extLst>
      <p:ext uri="{BB962C8B-B14F-4D97-AF65-F5344CB8AC3E}">
        <p14:creationId xmlns:p14="http://schemas.microsoft.com/office/powerpoint/2010/main" val="700980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2350-6D33-DF5D-B64D-8BA0D2F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16CB-0C6B-8B7E-917E-F0808C25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example of over-exploitation (tragedy of the commons) of a </a:t>
            </a:r>
            <a:r>
              <a:rPr lang="en-US" i="1" dirty="0"/>
              <a:t>common pool resource </a:t>
            </a:r>
          </a:p>
          <a:p>
            <a:pPr lvl="1"/>
            <a:r>
              <a:rPr lang="en-US" dirty="0"/>
              <a:t>Free entry leads to overharvesting</a:t>
            </a:r>
          </a:p>
          <a:p>
            <a:pPr lvl="1"/>
            <a:r>
              <a:rPr lang="en-US" dirty="0"/>
              <a:t>Profit maximization results in a greater stock being kept</a:t>
            </a:r>
          </a:p>
          <a:p>
            <a:pPr lvl="1"/>
            <a:endParaRPr lang="en-US" dirty="0"/>
          </a:p>
          <a:p>
            <a:r>
              <a:rPr lang="en-US" dirty="0"/>
              <a:t>Policies instruments helpful in management</a:t>
            </a:r>
          </a:p>
          <a:p>
            <a:pPr lvl="1"/>
            <a:r>
              <a:rPr lang="en-US" dirty="0"/>
              <a:t>Need heavy fines, local involvement/participation</a:t>
            </a:r>
          </a:p>
          <a:p>
            <a:pPr lvl="1"/>
            <a:r>
              <a:rPr lang="en-US" dirty="0"/>
              <a:t>Demonstrably beneficial to fishers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367321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5EB2-54CD-C656-06E7-1995C189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DD-59E0-815C-2496-4D18760A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you own a plot of land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plant trees today and want to eventually cut them down to sell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should you harvest those trees?</a:t>
            </a:r>
          </a:p>
          <a:p>
            <a:pPr marL="0" indent="0">
              <a:buNone/>
            </a:pPr>
            <a:r>
              <a:rPr lang="en-US" dirty="0"/>
              <a:t>	... Knowing you’re going to replant and not sell the land</a:t>
            </a:r>
          </a:p>
        </p:txBody>
      </p:sp>
    </p:spTree>
    <p:extLst>
      <p:ext uri="{BB962C8B-B14F-4D97-AF65-F5344CB8AC3E}">
        <p14:creationId xmlns:p14="http://schemas.microsoft.com/office/powerpoint/2010/main" val="3932387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22DC-FC64-BA35-732C-F00437C5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A154-D918-1FAE-5AAB-BF2B9F96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72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F45C-49BA-EB10-AFF9-1F6E477B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8C8D-08D6-8C66-D09B-5AF8F4A5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BBB0D-95C9-84A9-99B5-B3BA10F5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r>
              <a:rPr lang="en-US" dirty="0"/>
              <a:t>“I’m stumped”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r>
              <a:rPr lang="en-US" dirty="0"/>
              <a:t>Because they knew how to log their changes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pPr marL="0" indent="0">
              <a:buNone/>
            </a:pPr>
            <a:r>
              <a:rPr lang="en-US" dirty="0"/>
              <a:t>For some </a:t>
            </a:r>
            <a:r>
              <a:rPr lang="en-US" i="1" dirty="0"/>
              <a:t>rooted</a:t>
            </a:r>
            <a:r>
              <a:rPr lang="en-US" dirty="0"/>
              <a:t> discussion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86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9B38-D65E-F834-517B-8112E06A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1809-E194-9BC5-BC79-2F19E72E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not talking about </a:t>
            </a:r>
            <a:r>
              <a:rPr lang="en-US" i="1" dirty="0"/>
              <a:t>stock </a:t>
            </a:r>
            <a:r>
              <a:rPr lang="en-US" dirty="0"/>
              <a:t>we’re talking about </a:t>
            </a:r>
            <a:r>
              <a:rPr lang="en-US" i="1" dirty="0"/>
              <a:t>rotation</a:t>
            </a:r>
          </a:p>
          <a:p>
            <a:r>
              <a:rPr lang="en-US" dirty="0"/>
              <a:t>Still harvesting but once we do, the ‘stock’ resets (for now)</a:t>
            </a:r>
          </a:p>
          <a:p>
            <a:endParaRPr lang="en-US" dirty="0"/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Trees grow in volume/value over time, but also tie up resources (land)</a:t>
            </a:r>
          </a:p>
          <a:p>
            <a:pPr lvl="1"/>
            <a:r>
              <a:rPr lang="en-US" dirty="0"/>
              <a:t>Harvesting too early: missed value from growth</a:t>
            </a:r>
          </a:p>
          <a:p>
            <a:pPr lvl="1"/>
            <a:r>
              <a:rPr lang="en-US" dirty="0"/>
              <a:t>Harvesting too late: delays profits (we want money </a:t>
            </a:r>
            <a:r>
              <a:rPr lang="en-US" i="1" dirty="0"/>
              <a:t>now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Enter the </a:t>
            </a:r>
            <a:r>
              <a:rPr lang="en-US" i="1" dirty="0"/>
              <a:t>Faustmann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63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AC2-C1F5-1286-91E3-4F326753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Martin Faustmann</a:t>
            </a:r>
          </a:p>
        </p:txBody>
      </p:sp>
      <p:pic>
        <p:nvPicPr>
          <p:cNvPr id="2050" name="Picture 2" descr="Faustmann, Martin">
            <a:extLst>
              <a:ext uri="{FF2B5EF4-FFF2-40B4-BE49-F238E27FC236}">
                <a16:creationId xmlns:a16="http://schemas.microsoft.com/office/drawing/2014/main" id="{99B836C0-CACC-88EF-72EA-913FF61A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2" b="-1"/>
          <a:stretch/>
        </p:blipFill>
        <p:spPr bwMode="auto"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A6A0-49AE-63B7-0ED4-56FD3C218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4569217" cy="348386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Born 1822, Died 1876</a:t>
            </a:r>
          </a:p>
          <a:p>
            <a:r>
              <a:rPr lang="en-US" sz="2200" dirty="0"/>
              <a:t>Spotty college record</a:t>
            </a:r>
          </a:p>
          <a:p>
            <a:r>
              <a:rPr lang="en-US" sz="2200" dirty="0"/>
              <a:t>Quickly became chief forester of </a:t>
            </a:r>
            <a:r>
              <a:rPr lang="en-US" sz="2200" dirty="0" err="1"/>
              <a:t>Dudenhofen</a:t>
            </a:r>
            <a:r>
              <a:rPr lang="en-US" sz="2200" dirty="0"/>
              <a:t> (Black Forest)</a:t>
            </a:r>
          </a:p>
          <a:p>
            <a:r>
              <a:rPr lang="en-US" sz="2200" dirty="0"/>
              <a:t>Known for incorporating time into the consideration of forest harvests:</a:t>
            </a:r>
          </a:p>
          <a:p>
            <a:pPr marL="236538" indent="-55563">
              <a:buNone/>
            </a:pPr>
            <a:r>
              <a:rPr lang="en-US" sz="2200" dirty="0"/>
              <a:t>“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a patient forester chooses to let their stand grow for an additional decade, they might receive a much larger timber sale revenue, but at the cost of delaying the next rotation: after harvesting, they are left with bare land, while their impatient colleague now has 10-year-old-trees.”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7039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26CD-1C4F-1BC0-054B-ACE1F495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Faustmann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13E8-216B-5ADE-AC17-A2AACF2D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widely in forestry and resource management</a:t>
            </a:r>
          </a:p>
          <a:p>
            <a:endParaRPr lang="en-US" sz="2000" dirty="0"/>
          </a:p>
          <a:p>
            <a:r>
              <a:rPr lang="en-US" sz="2000" dirty="0"/>
              <a:t>Actually used by companies and governments (more on this later)</a:t>
            </a:r>
          </a:p>
          <a:p>
            <a:endParaRPr lang="en-US" sz="2000" dirty="0"/>
          </a:p>
          <a:p>
            <a:r>
              <a:rPr lang="en-US" sz="2000" b="1" i="1" dirty="0"/>
              <a:t>Fundamentally: How you choose a rotation period to maximize the value of land when it can be harvest, replanted, and used forever on a T-year cycle?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E6F46-0A05-89D7-4744-CCA7068A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04752"/>
            <a:ext cx="4389120" cy="1920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37DF8-2EBD-B5FA-2FCB-BF06AE71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114024"/>
            <a:ext cx="4389120" cy="15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7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AB89-94BE-718B-68D8-1C1841E6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difference with Faustmann and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5C75-FCD3-69C9-D48D-E755E9C6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139"/>
            <a:ext cx="10515600" cy="3913823"/>
          </a:xfrm>
        </p:spPr>
        <p:txBody>
          <a:bodyPr/>
          <a:lstStyle/>
          <a:p>
            <a:r>
              <a:rPr lang="en-US" dirty="0"/>
              <a:t>In this sense – our choice variable is the optimal ‘timing’ of when to harvest, it is not some harvest amount</a:t>
            </a:r>
          </a:p>
          <a:p>
            <a:endParaRPr lang="en-US" dirty="0"/>
          </a:p>
          <a:p>
            <a:r>
              <a:rPr lang="en-US" dirty="0"/>
              <a:t>That is – we are choosing the length of time between the planting period and harvesting that maximizes our long-run (to infinity!) profits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73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82D3-E465-2A2A-C90E-06AE5CD0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Objective: Maximize the value of the land, discounted over time</a:t>
                </a:r>
              </a:p>
              <a:p>
                <a:pPr lvl="1"/>
                <a:r>
                  <a:rPr lang="en-US" dirty="0"/>
                  <a:t>Value a function of when you harvest – </a:t>
                </a:r>
                <a:r>
                  <a:rPr lang="en-US" i="1" dirty="0"/>
                  <a:t>V(T)</a:t>
                </a:r>
              </a:p>
              <a:p>
                <a:pPr lvl="1"/>
                <a:r>
                  <a:rPr lang="en-US" dirty="0"/>
                  <a:t>Cost of replanting - </a:t>
                </a:r>
                <a:r>
                  <a:rPr lang="en-US" i="1" dirty="0"/>
                  <a:t>c</a:t>
                </a:r>
              </a:p>
              <a:p>
                <a:pPr lvl="1"/>
                <a:r>
                  <a:rPr lang="en-US" dirty="0"/>
                  <a:t>Balancing present vs future (discounting)</a:t>
                </a:r>
              </a:p>
              <a:p>
                <a:pPr lvl="1"/>
                <a:r>
                  <a:rPr lang="en-US" dirty="0"/>
                  <a:t>Replanting infinitely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Total value == Land Expectation Value (LEV)</a:t>
                </a:r>
              </a:p>
              <a:p>
                <a:endParaRPr lang="en-US" dirty="0"/>
              </a:p>
              <a:p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67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9366-49F3-12FF-EAAA-D6893B30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7D33-37A7-FCE0-014C-EE2B779C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– Add on discounting over infinite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Note: -1 comes from the sum of the infinite series..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𝑘𝑟𝑇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b="-3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304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BEF2-DF17-DC57-5D50-E69DA624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95E1-1FFF-2904-755C-86B0E6FF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 – maximize LEV by choosing rotation harvest length, </a:t>
                </a:r>
                <a:r>
                  <a:rPr lang="en-US" i="1" dirty="0"/>
                  <a:t>T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quotient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265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C312-98CB-DAA9-16F4-958BA3B3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E738-1A71-139A-CFFB-4459E3EA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order condition, set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𝑑𝐿𝐸𝑉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8E08DA-97E2-7FD2-551C-5D6C6A45E3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812332" y="564682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207024-7599-C37B-CACC-52238BDFA7BA}"/>
              </a:ext>
            </a:extLst>
          </p:cNvPr>
          <p:cNvSpPr txBox="1"/>
          <p:nvPr/>
        </p:nvSpPr>
        <p:spPr>
          <a:xfrm>
            <a:off x="199950" y="6216133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C91B7-1209-8231-A26C-072C524AFB4A}"/>
              </a:ext>
            </a:extLst>
          </p:cNvPr>
          <p:cNvSpPr txBox="1"/>
          <p:nvPr/>
        </p:nvSpPr>
        <p:spPr>
          <a:xfrm>
            <a:off x="6062964" y="6077633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51F0C0-1847-D30D-D89A-4AFFE05B9CD5}"/>
              </a:ext>
            </a:extLst>
          </p:cNvPr>
          <p:cNvCxnSpPr>
            <a:cxnSpLocks/>
          </p:cNvCxnSpPr>
          <p:nvPr/>
        </p:nvCxnSpPr>
        <p:spPr>
          <a:xfrm flipH="1" flipV="1">
            <a:off x="7398846" y="5511885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386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D1C-1D8E-5214-E263-BA3292E4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9A7-D65D-F18E-684A-5AD50566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LHS implies: The gain from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V’(T): how much money you’d make if you waited a tiny bit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 perpetuity factor -&gt; the value lost in waiting</a:t>
                </a:r>
              </a:p>
              <a:p>
                <a:pPr lvl="3">
                  <a:buFontTx/>
                  <a:buChar char="-"/>
                </a:pPr>
                <a:r>
                  <a:rPr lang="en-US" sz="2400" dirty="0"/>
                  <a:t>It’s my money and I need it now! </a:t>
                </a:r>
              </a:p>
              <a:p>
                <a:pPr lvl="3">
                  <a:buFontTx/>
                  <a:buChar char="-"/>
                </a:pP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3400" dirty="0"/>
                  <a:t>In short: this is the PV of growing trees just a tiny bit longer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3"/>
                <a:stretch>
                  <a:fillRect l="-1568" t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3AED66-4C7D-D89D-511A-78E17B8A2A5F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A2ED40-D77C-145E-B20F-AE7EEE6D4844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2BE0-EF21-B2A8-A422-2C4F05D3999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Opportunity cost of capital tied up in the stand,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ED823-F843-2640-2961-503B049ACA2A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99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8CE7-53EF-A147-912B-FA6F62A5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010-AE3B-C3F4-E99E-7E6B2394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RHS implies: The cost of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(V(T)-c): Profit you’d take, right now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: the return you’d get if you put that money in the bank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n-US" sz="2400" dirty="0"/>
                  <a:t>: value of getting that money sooner versus later</a:t>
                </a:r>
              </a:p>
              <a:p>
                <a:pPr>
                  <a:buFontTx/>
                  <a:buChar char="-"/>
                </a:pPr>
                <a:r>
                  <a:rPr lang="en-US" sz="3400" dirty="0"/>
                  <a:t>In short: opportunity cost of not harvesting and reinvesting that money right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AD7E9F-282D-465B-65F2-379735D7B7B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44FF35-C1BD-74DB-C636-0406ADF0A3C6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6DA18-547A-C7FB-0B6D-4886CEF8130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93FDE-F7CD-2530-880F-57D5F2882EA1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16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595B-B45F-710B-AD11-03B67164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915C-8E97-9326-38EB-2E6B9BF1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 short – the forester should wait until the value of waiting equates to the opportunity cost of harvesting/reinvesting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12CFEC-2AB5-3F5B-BB76-E7F702B36934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56E61F-F653-FAE5-0D04-769072B0CC3B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2E20-9EBD-1BF5-2167-55B367C7BB8A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151087-9DA2-4F1D-7CDC-0F5165F8FF5C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268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D98-281E-A19B-5C90-F8E8C9E6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0E89-4A31-1B15-3A07-EC77162A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 analogy – “forest” is $’s in a saving account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quickly, you’re making good money and should let it sit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slowly, relative to other opportunities, should take it out (harvest) and put the money somewhere else</a:t>
                </a:r>
              </a:p>
              <a:p>
                <a:pPr>
                  <a:buFontTx/>
                  <a:buChar char="-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  <a:blipFill>
                <a:blip r:embed="rId2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B902A-446C-DA71-7720-408FF3084B2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2AD46F-D0F9-D1D4-BD9D-A9E0738C49D2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07B38-79D1-ADF6-E7D8-D4EE1D1B3804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97930-2171-1200-3428-50DBED680F0D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8385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6117-7EF6-34B3-B28E-2F292DBC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Faustmann model…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 – rotation period (years)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  <a:blipFill>
                <a:blip r:embed="rId3"/>
                <a:stretch>
                  <a:fillRect l="-2764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2615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9F36-2FF6-A569-A2FF-78F0CAE4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F6B7-026B-C801-29BA-CFFD034E1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hlinkClick r:id="rId2"/>
              </a:rPr>
              <a:t>https://demonstrations.wolfram.com/FaustmannsRuleOfOptimalRotation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GAMS model – </a:t>
            </a:r>
            <a:r>
              <a:rPr lang="en-US" dirty="0" err="1"/>
              <a:t>faustmann.gms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13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B728-91D8-F655-436D-A2E26007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47D4-9058-B09F-B802-F36895AB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690688"/>
            <a:ext cx="626087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Several large timber companies (Weyerhaeuser, Rayonier) use Faustmann for their even-aged plantations</a:t>
            </a:r>
          </a:p>
          <a:p>
            <a:r>
              <a:rPr lang="en-US" dirty="0"/>
              <a:t>Model used to..</a:t>
            </a:r>
          </a:p>
          <a:p>
            <a:pPr lvl="1"/>
            <a:r>
              <a:rPr lang="en-US" dirty="0"/>
              <a:t>Determine optimal rotation ages (equipment planning)</a:t>
            </a:r>
          </a:p>
          <a:p>
            <a:pPr lvl="1"/>
            <a:r>
              <a:rPr lang="en-US" dirty="0"/>
              <a:t>Evaluate land value and ‘silvicultural’ intervention</a:t>
            </a:r>
          </a:p>
          <a:p>
            <a:pPr lvl="1"/>
            <a:r>
              <a:rPr lang="en-US" dirty="0"/>
              <a:t>Consider how market prices/trends impact land value</a:t>
            </a:r>
          </a:p>
          <a:p>
            <a:r>
              <a:rPr lang="en-US" dirty="0"/>
              <a:t>Include stochastic extensions for pests/drought/…</a:t>
            </a:r>
          </a:p>
        </p:txBody>
      </p:sp>
      <p:pic>
        <p:nvPicPr>
          <p:cNvPr id="2050" name="Picture 2" descr="Weyerhaeuser International Headquarters | TCLF">
            <a:extLst>
              <a:ext uri="{FF2B5EF4-FFF2-40B4-BE49-F238E27FC236}">
                <a16:creationId xmlns:a16="http://schemas.microsoft.com/office/drawing/2014/main" id="{E84D92BE-499C-C763-CC36-F5F06D654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922" y="3318053"/>
            <a:ext cx="5644128" cy="317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yerhaeuser Announces New Sustainability Strategy">
            <a:extLst>
              <a:ext uri="{FF2B5EF4-FFF2-40B4-BE49-F238E27FC236}">
                <a16:creationId xmlns:a16="http://schemas.microsoft.com/office/drawing/2014/main" id="{EFCA3380-428E-7158-EB2E-8B82962A1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26" y="594680"/>
            <a:ext cx="4487320" cy="2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1457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CB90-F15E-B5A3-C3CE-99542FA7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3853-4819-176A-0351-7D5D6084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AF7366-84AF-134E-FCF0-C40648707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419340"/>
              </p:ext>
            </p:extLst>
          </p:nvPr>
        </p:nvGraphicFramePr>
        <p:xfrm>
          <a:off x="958850" y="3801605"/>
          <a:ext cx="10896600" cy="2809875"/>
        </p:xfrm>
        <a:graphic>
          <a:graphicData uri="http://schemas.openxmlformats.org/drawingml/2006/table">
            <a:tbl>
              <a:tblPr/>
              <a:tblGrid>
                <a:gridCol w="2574034">
                  <a:extLst>
                    <a:ext uri="{9D8B030D-6E8A-4147-A177-3AD203B41FA5}">
                      <a16:colId xmlns:a16="http://schemas.microsoft.com/office/drawing/2014/main" val="1830477163"/>
                    </a:ext>
                  </a:extLst>
                </a:gridCol>
                <a:gridCol w="4557016">
                  <a:extLst>
                    <a:ext uri="{9D8B030D-6E8A-4147-A177-3AD203B41FA5}">
                      <a16:colId xmlns:a16="http://schemas.microsoft.com/office/drawing/2014/main" val="2040882039"/>
                    </a:ext>
                  </a:extLst>
                </a:gridCol>
                <a:gridCol w="3765550">
                  <a:extLst>
                    <a:ext uri="{9D8B030D-6E8A-4147-A177-3AD203B41FA5}">
                      <a16:colId xmlns:a16="http://schemas.microsoft.com/office/drawing/2014/main" val="317249645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Aspect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Finland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Sweden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901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State forest agency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Metsähallitus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Sveaskog + Skogsstyrelsen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223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ownership share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~60% private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~80% private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469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 of Faustmann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Directly for state rotation planning and LEV mapping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planning and </a:t>
                      </a: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advising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555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Biodiversity integration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Hartman-style extensions common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Multi-objective optimization more common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630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Modeling platforms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SIMO, Heureka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PlanWise, Heureka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641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Discount rate differences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Lower for state/public forest objectives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More market-based in private land models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56590"/>
                  </a:ext>
                </a:extLst>
              </a:tr>
            </a:tbl>
          </a:graphicData>
        </a:graphic>
      </p:graphicFrame>
      <p:pic>
        <p:nvPicPr>
          <p:cNvPr id="4098" name="Picture 2" descr="Finland - Wikipedia">
            <a:extLst>
              <a:ext uri="{FF2B5EF4-FFF2-40B4-BE49-F238E27FC236}">
                <a16:creationId xmlns:a16="http://schemas.microsoft.com/office/drawing/2014/main" id="{4F55F89D-EFE8-AC1B-1D3F-945E67D7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0" y="1517650"/>
            <a:ext cx="3175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eden - Wikipedia">
            <a:extLst>
              <a:ext uri="{FF2B5EF4-FFF2-40B4-BE49-F238E27FC236}">
                <a16:creationId xmlns:a16="http://schemas.microsoft.com/office/drawing/2014/main" id="{F10808E8-944F-3805-EDFA-0D8364A4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578769"/>
            <a:ext cx="3175000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16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FD24E47-DE7D-4765-15F9-7A72A97FA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375" y="1437556"/>
            <a:ext cx="5970476" cy="416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F7F8E4-CAAF-4454-242E-B6CABA5D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C886-BF70-6C80-BC2E-CA4607C0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27" y="1812836"/>
            <a:ext cx="643255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Extension of Faustman = Hartman</a:t>
            </a:r>
          </a:p>
          <a:p>
            <a:r>
              <a:rPr lang="en-US" dirty="0"/>
              <a:t>Includes ecological/environmental services</a:t>
            </a:r>
          </a:p>
          <a:p>
            <a:endParaRPr lang="en-US" dirty="0"/>
          </a:p>
          <a:p>
            <a:r>
              <a:rPr lang="en-US" dirty="0"/>
              <a:t>Used by REDD+ </a:t>
            </a:r>
          </a:p>
          <a:p>
            <a:pPr lvl="1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Reducing Emissions from Deforestation and Forest Degradation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Discussed previously – provides carbon offset credits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Pays countries/landowners not to deforest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Equivalent to CRP but for forests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34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8BE2-4551-135A-0057-A35639F1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Brief on Hartman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Extends Faustman to add on the value of amenities:</a:t>
                </a:r>
              </a:p>
              <a:p>
                <a:pPr marL="0" indent="0">
                  <a:buNone/>
                </a:pPr>
                <a:endParaRPr lang="en-US" sz="1800" i="1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limLoc m:val="undOvr"/>
                              <m:ctrl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𝒓𝒕</m:t>
                                  </m:r>
                                </m:sup>
                              </m:s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Basically: adds value to longer rotations – gaining amenity services while the forest stands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  <a:blipFill>
                <a:blip r:embed="rId2"/>
                <a:stretch>
                  <a:fillRect l="-1064" t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0D871E-0F09-BDB9-3982-5C9C767A12CD}"/>
              </a:ext>
            </a:extLst>
          </p:cNvPr>
          <p:cNvGraphicFramePr>
            <a:graphicFrameLocks noGrp="1"/>
          </p:cNvGraphicFramePr>
          <p:nvPr/>
        </p:nvGraphicFramePr>
        <p:xfrm>
          <a:off x="7105650" y="2075715"/>
          <a:ext cx="4744976" cy="3630115"/>
        </p:xfrm>
        <a:graphic>
          <a:graphicData uri="http://schemas.openxmlformats.org/drawingml/2006/table">
            <a:tbl>
              <a:tblPr/>
              <a:tblGrid>
                <a:gridCol w="1585461">
                  <a:extLst>
                    <a:ext uri="{9D8B030D-6E8A-4147-A177-3AD203B41FA5}">
                      <a16:colId xmlns:a16="http://schemas.microsoft.com/office/drawing/2014/main" val="431854112"/>
                    </a:ext>
                  </a:extLst>
                </a:gridCol>
                <a:gridCol w="1745164">
                  <a:extLst>
                    <a:ext uri="{9D8B030D-6E8A-4147-A177-3AD203B41FA5}">
                      <a16:colId xmlns:a16="http://schemas.microsoft.com/office/drawing/2014/main" val="879348937"/>
                    </a:ext>
                  </a:extLst>
                </a:gridCol>
                <a:gridCol w="1414351">
                  <a:extLst>
                    <a:ext uri="{9D8B030D-6E8A-4147-A177-3AD203B41FA5}">
                      <a16:colId xmlns:a16="http://schemas.microsoft.com/office/drawing/2014/main" val="2132404881"/>
                    </a:ext>
                  </a:extLst>
                </a:gridCol>
              </a:tblGrid>
              <a:tr h="400985">
                <a:tc>
                  <a:txBody>
                    <a:bodyPr/>
                    <a:lstStyle/>
                    <a:p>
                      <a:r>
                        <a:rPr lang="en-US" sz="1800" b="1" dirty="0"/>
                        <a:t>Feature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Faustmann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Hartman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367506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 dirty="0"/>
                        <a:t>Maximizes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Timber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Timber + amenity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15516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Rotation age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Usually shorter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Often longer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97617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Ecological services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Ignored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Included explicitly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628622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/>
                        <a:t>Relevant to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Industrial timberland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Multi-use or public forests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27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4611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CC7-214B-59D9-948B-08C7405E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 Hartman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44119-3F09-06A7-5006-4C96268D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43" y="2717621"/>
            <a:ext cx="3734333" cy="3459341"/>
          </a:xfrm>
        </p:spPr>
        <p:txBody>
          <a:bodyPr/>
          <a:lstStyle/>
          <a:p>
            <a:r>
              <a:rPr lang="en-US" dirty="0"/>
              <a:t>Genuinely.. Tough to find more info on him</a:t>
            </a:r>
          </a:p>
          <a:p>
            <a:endParaRPr lang="en-US" dirty="0"/>
          </a:p>
          <a:p>
            <a:r>
              <a:rPr lang="en-US" dirty="0"/>
              <a:t>Forestry paper cited 1000+ times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16F5F-1B63-952E-A72F-0935E826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306" y="1780376"/>
            <a:ext cx="7772400" cy="43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652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304D-1FFA-D742-BDC5-9D56C662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[IV]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4D7906-0DE9-7BD6-413D-367A9E7E29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207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DA0C-A99E-BD65-5417-4E0592BB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to Hotelling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5B00-9CC6-2767-82AF-C586B46F5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499"/>
            <a:ext cx="10515600" cy="3319463"/>
          </a:xfrm>
        </p:spPr>
        <p:txBody>
          <a:bodyPr/>
          <a:lstStyle/>
          <a:p>
            <a:r>
              <a:rPr lang="en-US" dirty="0"/>
              <a:t>Hotelling -&gt; once you’ve extracted, there is no going back</a:t>
            </a:r>
          </a:p>
          <a:p>
            <a:pPr lvl="1"/>
            <a:r>
              <a:rPr lang="en-US" dirty="0"/>
              <a:t>Market structure makes for an interesting comparison</a:t>
            </a:r>
          </a:p>
          <a:p>
            <a:pPr lvl="1"/>
            <a:endParaRPr lang="en-US" dirty="0"/>
          </a:p>
          <a:p>
            <a:r>
              <a:rPr lang="en-US" dirty="0"/>
              <a:t>Faustmann -&gt; restarts the cycle</a:t>
            </a:r>
          </a:p>
          <a:p>
            <a:pPr lvl="1"/>
            <a:r>
              <a:rPr lang="en-US" dirty="0"/>
              <a:t>Thus, land value and replacement cost must be accounted for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493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5757-B70D-90CB-5AFD-F0D4C86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72" y="2967648"/>
            <a:ext cx="11624310" cy="1325563"/>
          </a:xfrm>
        </p:spPr>
        <p:txBody>
          <a:bodyPr/>
          <a:lstStyle/>
          <a:p>
            <a:pPr algn="ctr"/>
            <a:r>
              <a:rPr lang="en-US" dirty="0"/>
              <a:t>Do we see any problems with Faustmann?</a:t>
            </a:r>
          </a:p>
        </p:txBody>
      </p:sp>
    </p:spTree>
    <p:extLst>
      <p:ext uri="{BB962C8B-B14F-4D97-AF65-F5344CB8AC3E}">
        <p14:creationId xmlns:p14="http://schemas.microsoft.com/office/powerpoint/2010/main" val="42559334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1F62-3EAC-7671-25E6-56C15D06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 of Faustmann</a:t>
            </a:r>
          </a:p>
        </p:txBody>
      </p:sp>
      <p:pic>
        <p:nvPicPr>
          <p:cNvPr id="1026" name="Picture 2" descr="The Debate Over the Clearcutting Method">
            <a:extLst>
              <a:ext uri="{FF2B5EF4-FFF2-40B4-BE49-F238E27FC236}">
                <a16:creationId xmlns:a16="http://schemas.microsoft.com/office/drawing/2014/main" id="{ACE2F7FE-6342-4F10-656B-74597720B9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012" y="1815545"/>
            <a:ext cx="65400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668AE-0637-FB1F-4D62-16A7BDFD1774}"/>
              </a:ext>
            </a:extLst>
          </p:cNvPr>
          <p:cNvSpPr txBox="1">
            <a:spLocks/>
          </p:cNvSpPr>
          <p:nvPr/>
        </p:nvSpPr>
        <p:spPr>
          <a:xfrm>
            <a:off x="269098" y="1521069"/>
            <a:ext cx="5038259" cy="487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Pros:</a:t>
            </a:r>
          </a:p>
          <a:p>
            <a:pPr lvl="1"/>
            <a:r>
              <a:rPr lang="en-US" dirty="0"/>
              <a:t>Easy/intuitive</a:t>
            </a:r>
          </a:p>
          <a:p>
            <a:pPr lvl="1"/>
            <a:r>
              <a:rPr lang="en-US" dirty="0"/>
              <a:t>Focus on PV</a:t>
            </a:r>
          </a:p>
          <a:p>
            <a:pPr lvl="1"/>
            <a:r>
              <a:rPr lang="en-US" dirty="0"/>
              <a:t>Easily-expandable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Even-aged, clear-cutting</a:t>
            </a:r>
          </a:p>
          <a:p>
            <a:pPr lvl="1"/>
            <a:r>
              <a:rPr lang="en-US" dirty="0"/>
              <a:t>Ignores ecological services</a:t>
            </a:r>
          </a:p>
          <a:p>
            <a:pPr lvl="1"/>
            <a:r>
              <a:rPr lang="en-US" dirty="0"/>
              <a:t>Perfect foresight</a:t>
            </a:r>
          </a:p>
          <a:p>
            <a:pPr lvl="1"/>
            <a:r>
              <a:rPr lang="en-US" dirty="0"/>
              <a:t>Super simple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070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7F56-D079-C1DE-149F-E40A453E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Enter a new challenger – Managed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B931-BB54-62AA-D55D-E8B5950C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025"/>
            <a:ext cx="10515600" cy="4351338"/>
          </a:xfrm>
        </p:spPr>
        <p:txBody>
          <a:bodyPr/>
          <a:lstStyle/>
          <a:p>
            <a:r>
              <a:rPr lang="en-US" dirty="0"/>
              <a:t>It doesn’t always make sense to just clear-cut a forest</a:t>
            </a:r>
          </a:p>
          <a:p>
            <a:endParaRPr lang="en-US" dirty="0"/>
          </a:p>
          <a:p>
            <a:r>
              <a:rPr lang="en-US" dirty="0"/>
              <a:t>Similar to fisheries – we can harvest some trees when the time is right but wait for others to mature and become more valuable</a:t>
            </a:r>
          </a:p>
          <a:p>
            <a:endParaRPr lang="en-US" dirty="0"/>
          </a:p>
          <a:p>
            <a:r>
              <a:rPr lang="en-US" dirty="0"/>
              <a:t>Thus, need to introduce the idea that we want to optimize via choosing a quantity to harvest, not a harvest period</a:t>
            </a:r>
          </a:p>
        </p:txBody>
      </p:sp>
    </p:spTree>
    <p:extLst>
      <p:ext uri="{BB962C8B-B14F-4D97-AF65-F5344CB8AC3E}">
        <p14:creationId xmlns:p14="http://schemas.microsoft.com/office/powerpoint/2010/main" val="911929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5105-B2BF-11DC-5DC0-127332CD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Subtle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our previous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543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FA14-B1C1-2A01-EF4B-85B752C8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Index</a:t>
                </a:r>
              </a:p>
              <a:p>
                <a:pPr marL="0" indent="0">
                  <a:buNone/>
                </a:pPr>
                <a:r>
                  <a:rPr lang="en-US" dirty="0"/>
                  <a:t>y: year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∈{1,..,100}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– harvest (timber products / yr)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TV – terminal value of stock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  <a:blipFill>
                <a:blip r:embed="rId3"/>
                <a:stretch>
                  <a:fillRect l="-2582" t="-3198" b="-4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4936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75E-E427-EA35-2FD0-B512522C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FAAD-BDB8-337D-550B-5D55B167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S.T….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∈{100}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t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0518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91C4-3482-FC3E-89E2-4621EB80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the GAMS model!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4E3A-3708-CD78-410D-05ACAD89A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Tableau!</a:t>
            </a:r>
          </a:p>
        </p:txBody>
      </p:sp>
    </p:spTree>
    <p:extLst>
      <p:ext uri="{BB962C8B-B14F-4D97-AF65-F5344CB8AC3E}">
        <p14:creationId xmlns:p14="http://schemas.microsoft.com/office/powerpoint/2010/main" val="3110633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3281</Words>
  <Application>Microsoft Macintosh PowerPoint</Application>
  <PresentationFormat>Widescreen</PresentationFormat>
  <Paragraphs>617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Aptos</vt:lpstr>
      <vt:lpstr>Aptos Display</vt:lpstr>
      <vt:lpstr>Aptos Narrow</vt:lpstr>
      <vt:lpstr>Arial</vt:lpstr>
      <vt:lpstr>Cambria Math</vt:lpstr>
      <vt:lpstr>Google Sans</vt:lpstr>
      <vt:lpstr>Office Theme</vt:lpstr>
      <vt:lpstr>EBGN645: Day 10</vt:lpstr>
      <vt:lpstr>Notes</vt:lpstr>
      <vt:lpstr>Scheduling notes</vt:lpstr>
      <vt:lpstr>Questions</vt:lpstr>
      <vt:lpstr>Bigger picture</vt:lpstr>
      <vt:lpstr>Bigger picture of Hotelling and non-renewable resource extraction</vt:lpstr>
      <vt:lpstr>Short discussion</vt:lpstr>
      <vt:lpstr>Now – renewable resources</vt:lpstr>
      <vt:lpstr>Specific to fisheries</vt:lpstr>
      <vt:lpstr>Some terms we need to know…</vt:lpstr>
      <vt:lpstr>The exponential growth function</vt:lpstr>
      <vt:lpstr>Exponential growth not realistic though</vt:lpstr>
      <vt:lpstr>Exponential growth not realistic though</vt:lpstr>
      <vt:lpstr>Exponential growth not realistic though</vt:lpstr>
      <vt:lpstr>Logistic growth and Maximum Sustainable Yield</vt:lpstr>
      <vt:lpstr>Logistic growth and Maximum Sustainable Yield</vt:lpstr>
      <vt:lpstr>MSY Logic </vt:lpstr>
      <vt:lpstr>Now – what if we add harvesting?</vt:lpstr>
      <vt:lpstr>What if we don’t want the stock to change?</vt:lpstr>
      <vt:lpstr>Let’s bring money into this..</vt:lpstr>
      <vt:lpstr>Evaluating OA level of effort</vt:lpstr>
      <vt:lpstr>But we care about profit… that π in the sky</vt:lpstr>
      <vt:lpstr>Important note here</vt:lpstr>
      <vt:lpstr>In GAMS..</vt:lpstr>
      <vt:lpstr>What if we change α?</vt:lpstr>
      <vt:lpstr>Commonly-proposed policies</vt:lpstr>
      <vt:lpstr>Policies in practice [I]</vt:lpstr>
      <vt:lpstr>New Zealand Hoki Fishery Management</vt:lpstr>
      <vt:lpstr>Iceland Cod Fishery</vt:lpstr>
      <vt:lpstr>ITQs in practice</vt:lpstr>
      <vt:lpstr>Policies in practice [II]</vt:lpstr>
      <vt:lpstr>Denmark’s effort tax</vt:lpstr>
      <vt:lpstr>Indonesia’s effort tax</vt:lpstr>
      <vt:lpstr>Effort taxes in practice</vt:lpstr>
      <vt:lpstr>Policies in practice [III]</vt:lpstr>
      <vt:lpstr>Great Barrier Reef Marine Park</vt:lpstr>
      <vt:lpstr>Philippines</vt:lpstr>
      <vt:lpstr>Marine Protected Areas in Practice</vt:lpstr>
      <vt:lpstr>Takeaways from fisheries</vt:lpstr>
      <vt:lpstr>Prompt</vt:lpstr>
      <vt:lpstr>Pause</vt:lpstr>
      <vt:lpstr>Pause</vt:lpstr>
      <vt:lpstr>Forestry</vt:lpstr>
      <vt:lpstr>Martin Faustmann</vt:lpstr>
      <vt:lpstr>The Faustmann Model</vt:lpstr>
      <vt:lpstr>Main difference with Faustmann and others</vt:lpstr>
      <vt:lpstr>The Faustmann Model</vt:lpstr>
      <vt:lpstr>The Faustmann Model [II]</vt:lpstr>
      <vt:lpstr>The Faustmann Model [II]</vt:lpstr>
      <vt:lpstr>The Faustmann Model [III]</vt:lpstr>
      <vt:lpstr>The Faustmann Equation [I]</vt:lpstr>
      <vt:lpstr>The Faustmann Equation [II]</vt:lpstr>
      <vt:lpstr>The Faustmann Equation [III]</vt:lpstr>
      <vt:lpstr>The Faustmann Equation [III]</vt:lpstr>
      <vt:lpstr>The full Faustmann model…</vt:lpstr>
      <vt:lpstr>Faustmann in practice</vt:lpstr>
      <vt:lpstr>Faustmann in practice [I]</vt:lpstr>
      <vt:lpstr>Faustmann in practice [II]</vt:lpstr>
      <vt:lpstr>Faustmann in Practice [III]</vt:lpstr>
      <vt:lpstr>Brief on Hartman Model</vt:lpstr>
      <vt:lpstr>Richard Hartman</vt:lpstr>
      <vt:lpstr>Faustmann in Practice [IV]</vt:lpstr>
      <vt:lpstr>Relationship to Hotelling</vt:lpstr>
      <vt:lpstr>Do we see any problems with Faustmann?</vt:lpstr>
      <vt:lpstr>Pros/cons of Faustmann</vt:lpstr>
      <vt:lpstr>Enter a new challenger – Managed forests</vt:lpstr>
      <vt:lpstr>Subtle difference</vt:lpstr>
      <vt:lpstr>The full managed model</vt:lpstr>
      <vt:lpstr>The full managed model</vt:lpstr>
      <vt:lpstr>To the GAMS model!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46</cp:revision>
  <dcterms:created xsi:type="dcterms:W3CDTF">2024-08-23T18:45:09Z</dcterms:created>
  <dcterms:modified xsi:type="dcterms:W3CDTF">2025-10-08T16:54:21Z</dcterms:modified>
</cp:coreProperties>
</file>