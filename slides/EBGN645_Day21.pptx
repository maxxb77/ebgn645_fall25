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344" r:id="rId3"/>
    <p:sldId id="345" r:id="rId4"/>
    <p:sldId id="2147377651" r:id="rId5"/>
    <p:sldId id="2147377670" r:id="rId6"/>
    <p:sldId id="346" r:id="rId7"/>
    <p:sldId id="2147377648" r:id="rId8"/>
    <p:sldId id="2147377652" r:id="rId9"/>
    <p:sldId id="2147377650" r:id="rId10"/>
    <p:sldId id="2147377653" r:id="rId11"/>
    <p:sldId id="2147377667" r:id="rId12"/>
    <p:sldId id="2147377661" r:id="rId13"/>
    <p:sldId id="2147377669" r:id="rId14"/>
    <p:sldId id="2147377668" r:id="rId15"/>
    <p:sldId id="2147377663" r:id="rId16"/>
    <p:sldId id="2147377664" r:id="rId17"/>
    <p:sldId id="2147377662" r:id="rId18"/>
    <p:sldId id="2147377665" r:id="rId19"/>
    <p:sldId id="2147377666" r:id="rId20"/>
    <p:sldId id="327" r:id="rId21"/>
    <p:sldId id="328" r:id="rId22"/>
    <p:sldId id="331" r:id="rId23"/>
    <p:sldId id="332" r:id="rId24"/>
    <p:sldId id="333" r:id="rId25"/>
    <p:sldId id="308" r:id="rId26"/>
    <p:sldId id="2147377642" r:id="rId27"/>
    <p:sldId id="330" r:id="rId28"/>
    <p:sldId id="341" r:id="rId29"/>
    <p:sldId id="338" r:id="rId30"/>
    <p:sldId id="339" r:id="rId31"/>
    <p:sldId id="340" r:id="rId32"/>
    <p:sldId id="334" r:id="rId33"/>
    <p:sldId id="342" r:id="rId34"/>
    <p:sldId id="343" r:id="rId35"/>
    <p:sldId id="2147377643" r:id="rId36"/>
    <p:sldId id="357" r:id="rId37"/>
    <p:sldId id="2147377644" r:id="rId38"/>
    <p:sldId id="2147377645" r:id="rId39"/>
    <p:sldId id="347" r:id="rId40"/>
    <p:sldId id="335" r:id="rId41"/>
    <p:sldId id="349" r:id="rId42"/>
    <p:sldId id="348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8" r:id="rId51"/>
    <p:sldId id="283" r:id="rId52"/>
    <p:sldId id="296" r:id="rId53"/>
    <p:sldId id="2147377640" r:id="rId54"/>
    <p:sldId id="2147377646" r:id="rId55"/>
    <p:sldId id="214737764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386"/>
    <p:restoredTop sz="97030"/>
  </p:normalViewPr>
  <p:slideViewPr>
    <p:cSldViewPr snapToGrid="0">
      <p:cViewPr varScale="1">
        <p:scale>
          <a:sx n="112" d="100"/>
          <a:sy n="112" d="100"/>
        </p:scale>
        <p:origin x="1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61AA3-8DCC-48D5-B81B-61DDBA98EE8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1CC056-4496-4B88-99A9-1D5E2BF1BCB0}">
      <dgm:prSet/>
      <dgm:spPr/>
      <dgm:t>
        <a:bodyPr/>
        <a:lstStyle/>
        <a:p>
          <a:r>
            <a:rPr lang="en-US" dirty="0"/>
            <a:t>Project due date: 12/15</a:t>
          </a:r>
        </a:p>
      </dgm:t>
    </dgm:pt>
    <dgm:pt modelId="{40BD95EC-75EB-4C44-97BD-B74879F4A5CC}" type="parTrans" cxnId="{06AB711D-3BB8-47C8-8547-7E283FCADEEA}">
      <dgm:prSet/>
      <dgm:spPr/>
      <dgm:t>
        <a:bodyPr/>
        <a:lstStyle/>
        <a:p>
          <a:endParaRPr lang="en-US"/>
        </a:p>
      </dgm:t>
    </dgm:pt>
    <dgm:pt modelId="{0D362A2C-10FC-4B47-82CC-3677CE6A238C}" type="sibTrans" cxnId="{06AB711D-3BB8-47C8-8547-7E283FCADEEA}">
      <dgm:prSet/>
      <dgm:spPr/>
      <dgm:t>
        <a:bodyPr/>
        <a:lstStyle/>
        <a:p>
          <a:endParaRPr lang="en-US"/>
        </a:p>
      </dgm:t>
    </dgm:pt>
    <dgm:pt modelId="{441B20CE-6FF0-41F2-8663-C121DEC27985}">
      <dgm:prSet/>
      <dgm:spPr/>
      <dgm:t>
        <a:bodyPr/>
        <a:lstStyle/>
        <a:p>
          <a:r>
            <a:rPr lang="en-US" dirty="0"/>
            <a:t>Could re-organize presentations and have cancelled/hangout class 12/10 </a:t>
          </a:r>
        </a:p>
      </dgm:t>
    </dgm:pt>
    <dgm:pt modelId="{12664C4F-21E2-4494-80C5-9552636AE6A4}" type="parTrans" cxnId="{09C07E9E-55AB-4D43-9490-79835C67F4E0}">
      <dgm:prSet/>
      <dgm:spPr/>
      <dgm:t>
        <a:bodyPr/>
        <a:lstStyle/>
        <a:p>
          <a:endParaRPr lang="en-US"/>
        </a:p>
      </dgm:t>
    </dgm:pt>
    <dgm:pt modelId="{85B99AA8-F2A3-417C-BE64-3B00D5DD7451}" type="sibTrans" cxnId="{09C07E9E-55AB-4D43-9490-79835C67F4E0}">
      <dgm:prSet/>
      <dgm:spPr/>
      <dgm:t>
        <a:bodyPr/>
        <a:lstStyle/>
        <a:p>
          <a:endParaRPr lang="en-US"/>
        </a:p>
      </dgm:t>
    </dgm:pt>
    <dgm:pt modelId="{3B87E0A5-679A-F646-8414-8C81E66F66AF}" type="pres">
      <dgm:prSet presAssocID="{6C261AA3-8DCC-48D5-B81B-61DDBA98EE8D}" presName="linear" presStyleCnt="0">
        <dgm:presLayoutVars>
          <dgm:animLvl val="lvl"/>
          <dgm:resizeHandles val="exact"/>
        </dgm:presLayoutVars>
      </dgm:prSet>
      <dgm:spPr/>
    </dgm:pt>
    <dgm:pt modelId="{2D868C9E-93AD-144E-BC8E-A2CD3C53AF41}" type="pres">
      <dgm:prSet presAssocID="{CC1CC056-4496-4B88-99A9-1D5E2BF1BC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2BF059-9FFF-1D48-BECF-8B3CC00568B6}" type="pres">
      <dgm:prSet presAssocID="{0D362A2C-10FC-4B47-82CC-3677CE6A238C}" presName="spacer" presStyleCnt="0"/>
      <dgm:spPr/>
    </dgm:pt>
    <dgm:pt modelId="{419960CF-74DA-5244-BD7C-D7E9B675BE5D}" type="pres">
      <dgm:prSet presAssocID="{441B20CE-6FF0-41F2-8663-C121DEC2798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928D607-78E8-E84F-A74B-E9ADAAD7AD8C}" type="presOf" srcId="{6C261AA3-8DCC-48D5-B81B-61DDBA98EE8D}" destId="{3B87E0A5-679A-F646-8414-8C81E66F66AF}" srcOrd="0" destOrd="0" presId="urn:microsoft.com/office/officeart/2005/8/layout/vList2"/>
    <dgm:cxn modelId="{06AB711D-3BB8-47C8-8547-7E283FCADEEA}" srcId="{6C261AA3-8DCC-48D5-B81B-61DDBA98EE8D}" destId="{CC1CC056-4496-4B88-99A9-1D5E2BF1BCB0}" srcOrd="0" destOrd="0" parTransId="{40BD95EC-75EB-4C44-97BD-B74879F4A5CC}" sibTransId="{0D362A2C-10FC-4B47-82CC-3677CE6A238C}"/>
    <dgm:cxn modelId="{09C07E9E-55AB-4D43-9490-79835C67F4E0}" srcId="{6C261AA3-8DCC-48D5-B81B-61DDBA98EE8D}" destId="{441B20CE-6FF0-41F2-8663-C121DEC27985}" srcOrd="1" destOrd="0" parTransId="{12664C4F-21E2-4494-80C5-9552636AE6A4}" sibTransId="{85B99AA8-F2A3-417C-BE64-3B00D5DD7451}"/>
    <dgm:cxn modelId="{E8F88FA9-A7A5-DB40-809D-0C61316FC778}" type="presOf" srcId="{CC1CC056-4496-4B88-99A9-1D5E2BF1BCB0}" destId="{2D868C9E-93AD-144E-BC8E-A2CD3C53AF41}" srcOrd="0" destOrd="0" presId="urn:microsoft.com/office/officeart/2005/8/layout/vList2"/>
    <dgm:cxn modelId="{D53107FF-64E0-4447-B4A0-42905FE811BC}" type="presOf" srcId="{441B20CE-6FF0-41F2-8663-C121DEC27985}" destId="{419960CF-74DA-5244-BD7C-D7E9B675BE5D}" srcOrd="0" destOrd="0" presId="urn:microsoft.com/office/officeart/2005/8/layout/vList2"/>
    <dgm:cxn modelId="{4D889A2B-386F-EF4F-B315-7FAB98B2559A}" type="presParOf" srcId="{3B87E0A5-679A-F646-8414-8C81E66F66AF}" destId="{2D868C9E-93AD-144E-BC8E-A2CD3C53AF41}" srcOrd="0" destOrd="0" presId="urn:microsoft.com/office/officeart/2005/8/layout/vList2"/>
    <dgm:cxn modelId="{60FC0B00-1607-724E-A0A2-3FAD2A15307B}" type="presParOf" srcId="{3B87E0A5-679A-F646-8414-8C81E66F66AF}" destId="{D92BF059-9FFF-1D48-BECF-8B3CC00568B6}" srcOrd="1" destOrd="0" presId="urn:microsoft.com/office/officeart/2005/8/layout/vList2"/>
    <dgm:cxn modelId="{C6A65B5A-0568-F448-8187-93D5921F9528}" type="presParOf" srcId="{3B87E0A5-679A-F646-8414-8C81E66F66AF}" destId="{419960CF-74DA-5244-BD7C-D7E9B675BE5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3F942D-9D69-D649-9A00-AD11DC48FE86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9348832E-097B-3244-A2E9-371D808BE4D3}">
          <dgm:prSet phldrT="[Text]" custT="1"/>
          <dgm:spPr/>
          <dgm:t>
            <a:bodyPr/>
            <a:lstStyle/>
            <a:p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m:oMathPara>
              </a14:m>
              <a:endParaRPr lang="en-US" sz="3200" dirty="0"/>
            </a:p>
          </dgm:t>
        </dgm:pt>
      </mc:Choice>
      <mc:Fallback>
        <dgm:pt modelId="{9348832E-097B-3244-A2E9-371D808BE4D3}">
          <dgm:prSet phldrT="[Text]" custT="1"/>
          <dgm:spPr/>
          <dgm:t>
            <a:bodyPr/>
            <a:lstStyle/>
            <a:p>
              <a:r>
                <a:rPr lang="en-US" sz="3200" b="0" i="0">
                  <a:latin typeface="Cambria Math" panose="02040503050406030204" pitchFamily="18" charset="0"/>
                </a:rPr>
                <a:t>𝑀𝑎𝑥 𝜋_𝑟</a:t>
              </a:r>
              <a:endParaRPr lang="en-US" sz="3200" dirty="0"/>
            </a:p>
          </dgm:t>
        </dgm:pt>
      </mc:Fallback>
    </mc:AlternateContent>
    <dgm:pt modelId="{03063573-67E9-2743-A9A3-B0E036926BED}" type="parTrans" cxnId="{AC2FC70E-3C19-F24C-87F2-7BE33C928AFE}">
      <dgm:prSet/>
      <dgm:spPr/>
      <dgm:t>
        <a:bodyPr/>
        <a:lstStyle/>
        <a:p>
          <a:endParaRPr lang="en-US" sz="1050"/>
        </a:p>
      </dgm:t>
    </dgm:pt>
    <dgm:pt modelId="{559CA58C-12EC-6440-95F3-EA44784FC2BB}" type="sibTrans" cxnId="{AC2FC70E-3C19-F24C-87F2-7BE33C928AFE}">
      <dgm:prSet custT="1"/>
      <dgm:spPr/>
      <dgm:t>
        <a:bodyPr/>
        <a:lstStyle/>
        <a:p>
          <a:endParaRPr lang="en-US" sz="1200"/>
        </a:p>
      </dgm:t>
    </dgm:pt>
    <mc:AlternateContent xmlns:mc="http://schemas.openxmlformats.org/markup-compatibility/2006">
      <mc:Choice xmlns:a14="http://schemas.microsoft.com/office/drawing/2010/main" Requires="a14">
        <dgm:pt modelId="{A04E6214-A6A9-4A42-883F-3ECB46D91DAE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m:oMathPara>
              </a14:m>
              <a:endParaRPr lang="en-US" sz="3200" dirty="0"/>
            </a:p>
          </dgm:t>
        </dgm:pt>
      </mc:Choice>
      <mc:Fallback>
        <dgm:pt modelId="{A04E6214-A6A9-4A42-883F-3ECB46D91DAE}">
          <dgm:prSet phldrT="[Text]" custT="1"/>
          <dgm:spPr/>
          <dgm:t>
            <a:bodyPr/>
            <a:lstStyle/>
            <a:p>
              <a:pPr/>
              <a:r>
                <a:rPr lang="en-US" sz="3200" b="0" i="0">
                  <a:latin typeface="Cambria Math" panose="02040503050406030204" pitchFamily="18" charset="0"/>
                </a:rPr>
                <a:t>𝑀𝑎𝑥 𝜋_𝑠</a:t>
              </a:r>
              <a:endParaRPr lang="en-US" sz="3200" dirty="0"/>
            </a:p>
          </dgm:t>
        </dgm:pt>
      </mc:Fallback>
    </mc:AlternateContent>
    <dgm:pt modelId="{D8ADA9A2-6E71-7744-9A58-000AC2A317FF}" type="parTrans" cxnId="{7E93FFB6-9E99-6A4D-9668-2531D97B6DC7}">
      <dgm:prSet/>
      <dgm:spPr/>
      <dgm:t>
        <a:bodyPr/>
        <a:lstStyle/>
        <a:p>
          <a:endParaRPr lang="en-US" sz="1050"/>
        </a:p>
      </dgm:t>
    </dgm:pt>
    <dgm:pt modelId="{F5638716-4F16-674D-940E-5B75E92DEA52}" type="sibTrans" cxnId="{7E93FFB6-9E99-6A4D-9668-2531D97B6DC7}">
      <dgm:prSet custT="1"/>
      <dgm:spPr/>
      <dgm:t>
        <a:bodyPr/>
        <a:lstStyle/>
        <a:p>
          <a:endParaRPr lang="en-US" sz="1200"/>
        </a:p>
      </dgm:t>
    </dgm:pt>
    <mc:AlternateContent xmlns:mc="http://schemas.openxmlformats.org/markup-compatibility/2006">
      <mc:Choice xmlns:a14="http://schemas.microsoft.com/office/drawing/2010/main" Requires="a14">
        <dgm:pt modelId="{1FA4CB2B-F7E2-5E4C-9A02-DC6B28C39680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m:oMathPara>
              </a14:m>
              <a:endParaRPr lang="en-US" sz="3200" dirty="0"/>
            </a:p>
          </dgm:t>
        </dgm:pt>
      </mc:Choice>
      <mc:Fallback>
        <dgm:pt modelId="{1FA4CB2B-F7E2-5E4C-9A02-DC6B28C39680}">
          <dgm:prSet phldrT="[Text]" custT="1"/>
          <dgm:spPr/>
          <dgm:t>
            <a:bodyPr/>
            <a:lstStyle/>
            <a:p>
              <a:pPr/>
              <a:r>
                <a:rPr lang="en-US" sz="3200" b="0" i="0">
                  <a:latin typeface="Cambria Math" panose="02040503050406030204" pitchFamily="18" charset="0"/>
                </a:rPr>
                <a:t>𝑀𝑎𝑥 𝜋_𝑡</a:t>
              </a:r>
              <a:endParaRPr lang="en-US" sz="3200" dirty="0"/>
            </a:p>
          </dgm:t>
        </dgm:pt>
      </mc:Fallback>
    </mc:AlternateContent>
    <dgm:pt modelId="{743F99D0-481D-FF43-AAB5-35DF0EF0E9B0}" type="parTrans" cxnId="{CBFF53CD-A0C4-5A4C-A763-071DB675EED5}">
      <dgm:prSet/>
      <dgm:spPr/>
      <dgm:t>
        <a:bodyPr/>
        <a:lstStyle/>
        <a:p>
          <a:endParaRPr lang="en-US" sz="1050"/>
        </a:p>
      </dgm:t>
    </dgm:pt>
    <dgm:pt modelId="{2BDCFEFE-0034-8C44-835A-E485B60674D7}" type="sibTrans" cxnId="{CBFF53CD-A0C4-5A4C-A763-071DB675EED5}">
      <dgm:prSet custT="1"/>
      <dgm:spPr/>
      <dgm:t>
        <a:bodyPr/>
        <a:lstStyle/>
        <a:p>
          <a:endParaRPr lang="en-US" sz="1200"/>
        </a:p>
      </dgm:t>
    </dgm:pt>
    <mc:AlternateContent xmlns:mc="http://schemas.openxmlformats.org/markup-compatibility/2006">
      <mc:Choice xmlns:a14="http://schemas.microsoft.com/office/drawing/2010/main" Requires="a14">
        <dgm:pt modelId="{879A0FD5-F356-B14E-A5CB-D0F622644949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m:oMathPara>
              </a14:m>
              <a:endParaRPr lang="en-US" sz="3200" dirty="0"/>
            </a:p>
          </dgm:t>
        </dgm:pt>
      </mc:Choice>
      <mc:Fallback>
        <dgm:pt modelId="{879A0FD5-F356-B14E-A5CB-D0F622644949}">
          <dgm:prSet phldrT="[Text]" custT="1"/>
          <dgm:spPr/>
          <dgm:t>
            <a:bodyPr/>
            <a:lstStyle/>
            <a:p>
              <a:pPr/>
              <a:r>
                <a:rPr lang="en-US" sz="3200" b="0" i="0">
                  <a:latin typeface="Cambria Math" panose="02040503050406030204" pitchFamily="18" charset="0"/>
                </a:rPr>
                <a:t>𝑀𝑎𝑥 𝜋_𝑢</a:t>
              </a:r>
              <a:endParaRPr lang="en-US" sz="3200" dirty="0"/>
            </a:p>
          </dgm:t>
        </dgm:pt>
      </mc:Fallback>
    </mc:AlternateContent>
    <dgm:pt modelId="{10A39E66-A2C7-B94F-8943-4604981544EA}" type="parTrans" cxnId="{501441CB-7229-D342-B63D-2347E60211DF}">
      <dgm:prSet/>
      <dgm:spPr/>
      <dgm:t>
        <a:bodyPr/>
        <a:lstStyle/>
        <a:p>
          <a:endParaRPr lang="en-US" sz="1050"/>
        </a:p>
      </dgm:t>
    </dgm:pt>
    <dgm:pt modelId="{3642D40F-282E-C243-B4CA-16451542964D}" type="sibTrans" cxnId="{501441CB-7229-D342-B63D-2347E60211DF}">
      <dgm:prSet custT="1"/>
      <dgm:spPr/>
      <dgm:t>
        <a:bodyPr/>
        <a:lstStyle/>
        <a:p>
          <a:endParaRPr lang="en-US" sz="1200"/>
        </a:p>
      </dgm:t>
    </dgm:pt>
    <mc:AlternateContent xmlns:mc="http://schemas.openxmlformats.org/markup-compatibility/2006">
      <mc:Choice xmlns:a14="http://schemas.microsoft.com/office/drawing/2010/main" Requires="a14">
        <dgm:pt modelId="{53B01C80-C00C-B140-B468-9140EF9584BF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m:oMathPara>
              </a14:m>
              <a:endParaRPr lang="en-US" sz="3200" dirty="0"/>
            </a:p>
          </dgm:t>
        </dgm:pt>
      </mc:Choice>
      <mc:Fallback>
        <dgm:pt modelId="{53B01C80-C00C-B140-B468-9140EF9584BF}">
          <dgm:prSet phldrT="[Text]" custT="1"/>
          <dgm:spPr/>
          <dgm:t>
            <a:bodyPr/>
            <a:lstStyle/>
            <a:p>
              <a:pPr/>
              <a:r>
                <a:rPr lang="en-US" sz="3200" b="0" i="0">
                  <a:latin typeface="Cambria Math" panose="02040503050406030204" pitchFamily="18" charset="0"/>
                </a:rPr>
                <a:t>𝑀𝑎𝑥 𝜋_𝑣</a:t>
              </a:r>
              <a:endParaRPr lang="en-US" sz="3200" dirty="0"/>
            </a:p>
          </dgm:t>
        </dgm:pt>
      </mc:Fallback>
    </mc:AlternateContent>
    <dgm:pt modelId="{7F6A38A7-C197-8F4E-B4F1-6CF83D184551}" type="parTrans" cxnId="{09DBE44D-9BFD-7042-833D-710174615475}">
      <dgm:prSet/>
      <dgm:spPr/>
      <dgm:t>
        <a:bodyPr/>
        <a:lstStyle/>
        <a:p>
          <a:endParaRPr lang="en-US" sz="1050"/>
        </a:p>
      </dgm:t>
    </dgm:pt>
    <dgm:pt modelId="{C4E363DA-FCE1-A543-8CFB-869B8B723A6C}" type="sibTrans" cxnId="{09DBE44D-9BFD-7042-833D-710174615475}">
      <dgm:prSet custT="1"/>
      <dgm:spPr/>
      <dgm:t>
        <a:bodyPr/>
        <a:lstStyle/>
        <a:p>
          <a:endParaRPr lang="en-US" sz="1200"/>
        </a:p>
      </dgm:t>
    </dgm:pt>
    <dgm:pt modelId="{A5FAF8AC-90DF-FC47-8DE9-B7AD9BD8909A}" type="pres">
      <dgm:prSet presAssocID="{093F942D-9D69-D649-9A00-AD11DC48FE86}" presName="cycle" presStyleCnt="0">
        <dgm:presLayoutVars>
          <dgm:dir/>
          <dgm:resizeHandles val="exact"/>
        </dgm:presLayoutVars>
      </dgm:prSet>
      <dgm:spPr/>
    </dgm:pt>
    <dgm:pt modelId="{0DCEE84B-D3D2-404E-8A54-E42346D68788}" type="pres">
      <dgm:prSet presAssocID="{9348832E-097B-3244-A2E9-371D808BE4D3}" presName="node" presStyleLbl="node1" presStyleIdx="0" presStyleCnt="5">
        <dgm:presLayoutVars>
          <dgm:bulletEnabled val="1"/>
        </dgm:presLayoutVars>
      </dgm:prSet>
      <dgm:spPr/>
    </dgm:pt>
    <dgm:pt modelId="{B5FC4C2E-DF2F-D548-BEAE-5DDD3B0A5C0E}" type="pres">
      <dgm:prSet presAssocID="{559CA58C-12EC-6440-95F3-EA44784FC2BB}" presName="sibTrans" presStyleLbl="sibTrans2D1" presStyleIdx="0" presStyleCnt="5"/>
      <dgm:spPr/>
    </dgm:pt>
    <dgm:pt modelId="{952D1D4F-FDC1-A045-9302-8F36C0DE24FE}" type="pres">
      <dgm:prSet presAssocID="{559CA58C-12EC-6440-95F3-EA44784FC2BB}" presName="connectorText" presStyleLbl="sibTrans2D1" presStyleIdx="0" presStyleCnt="5"/>
      <dgm:spPr/>
    </dgm:pt>
    <dgm:pt modelId="{688219AD-4572-9F41-A568-969DE06FB29B}" type="pres">
      <dgm:prSet presAssocID="{A04E6214-A6A9-4A42-883F-3ECB46D91DAE}" presName="node" presStyleLbl="node1" presStyleIdx="1" presStyleCnt="5">
        <dgm:presLayoutVars>
          <dgm:bulletEnabled val="1"/>
        </dgm:presLayoutVars>
      </dgm:prSet>
      <dgm:spPr/>
    </dgm:pt>
    <dgm:pt modelId="{AB8175D8-A968-2E4F-A8F6-B2A21FF2D157}" type="pres">
      <dgm:prSet presAssocID="{F5638716-4F16-674D-940E-5B75E92DEA52}" presName="sibTrans" presStyleLbl="sibTrans2D1" presStyleIdx="1" presStyleCnt="5"/>
      <dgm:spPr/>
    </dgm:pt>
    <dgm:pt modelId="{1E3C60CF-459E-634A-B817-9183430C59E6}" type="pres">
      <dgm:prSet presAssocID="{F5638716-4F16-674D-940E-5B75E92DEA52}" presName="connectorText" presStyleLbl="sibTrans2D1" presStyleIdx="1" presStyleCnt="5"/>
      <dgm:spPr/>
    </dgm:pt>
    <dgm:pt modelId="{F12A7721-DC0D-6F46-B9F2-FDE0F430C287}" type="pres">
      <dgm:prSet presAssocID="{1FA4CB2B-F7E2-5E4C-9A02-DC6B28C39680}" presName="node" presStyleLbl="node1" presStyleIdx="2" presStyleCnt="5">
        <dgm:presLayoutVars>
          <dgm:bulletEnabled val="1"/>
        </dgm:presLayoutVars>
      </dgm:prSet>
      <dgm:spPr/>
    </dgm:pt>
    <dgm:pt modelId="{BD507344-3033-7046-8E49-7E184B985E8B}" type="pres">
      <dgm:prSet presAssocID="{2BDCFEFE-0034-8C44-835A-E485B60674D7}" presName="sibTrans" presStyleLbl="sibTrans2D1" presStyleIdx="2" presStyleCnt="5"/>
      <dgm:spPr/>
    </dgm:pt>
    <dgm:pt modelId="{D9FBC515-A703-FD41-B28A-8B215FE94A62}" type="pres">
      <dgm:prSet presAssocID="{2BDCFEFE-0034-8C44-835A-E485B60674D7}" presName="connectorText" presStyleLbl="sibTrans2D1" presStyleIdx="2" presStyleCnt="5"/>
      <dgm:spPr/>
    </dgm:pt>
    <dgm:pt modelId="{8238BC49-25D3-4B45-9F63-FB01132AEADC}" type="pres">
      <dgm:prSet presAssocID="{879A0FD5-F356-B14E-A5CB-D0F622644949}" presName="node" presStyleLbl="node1" presStyleIdx="3" presStyleCnt="5">
        <dgm:presLayoutVars>
          <dgm:bulletEnabled val="1"/>
        </dgm:presLayoutVars>
      </dgm:prSet>
      <dgm:spPr/>
    </dgm:pt>
    <dgm:pt modelId="{F4F08512-BF54-7243-ABC8-42D0837884C6}" type="pres">
      <dgm:prSet presAssocID="{3642D40F-282E-C243-B4CA-16451542964D}" presName="sibTrans" presStyleLbl="sibTrans2D1" presStyleIdx="3" presStyleCnt="5"/>
      <dgm:spPr/>
    </dgm:pt>
    <dgm:pt modelId="{39E3785A-82CA-1A4A-9FFB-F453E15B4723}" type="pres">
      <dgm:prSet presAssocID="{3642D40F-282E-C243-B4CA-16451542964D}" presName="connectorText" presStyleLbl="sibTrans2D1" presStyleIdx="3" presStyleCnt="5"/>
      <dgm:spPr/>
    </dgm:pt>
    <dgm:pt modelId="{669B63B3-9434-B64A-8318-CCF72E0F2386}" type="pres">
      <dgm:prSet presAssocID="{53B01C80-C00C-B140-B468-9140EF9584BF}" presName="node" presStyleLbl="node1" presStyleIdx="4" presStyleCnt="5">
        <dgm:presLayoutVars>
          <dgm:bulletEnabled val="1"/>
        </dgm:presLayoutVars>
      </dgm:prSet>
      <dgm:spPr/>
    </dgm:pt>
    <dgm:pt modelId="{96B976C7-E92A-564B-980E-02E0E91FD964}" type="pres">
      <dgm:prSet presAssocID="{C4E363DA-FCE1-A543-8CFB-869B8B723A6C}" presName="sibTrans" presStyleLbl="sibTrans2D1" presStyleIdx="4" presStyleCnt="5"/>
      <dgm:spPr/>
    </dgm:pt>
    <dgm:pt modelId="{D7300271-00AF-6346-8047-931B7551217F}" type="pres">
      <dgm:prSet presAssocID="{C4E363DA-FCE1-A543-8CFB-869B8B723A6C}" presName="connectorText" presStyleLbl="sibTrans2D1" presStyleIdx="4" presStyleCnt="5"/>
      <dgm:spPr/>
    </dgm:pt>
  </dgm:ptLst>
  <dgm:cxnLst>
    <dgm:cxn modelId="{022F7E0E-70B3-9945-AF49-22E6D36711B1}" type="presOf" srcId="{A04E6214-A6A9-4A42-883F-3ECB46D91DAE}" destId="{688219AD-4572-9F41-A568-969DE06FB29B}" srcOrd="0" destOrd="0" presId="urn:microsoft.com/office/officeart/2005/8/layout/cycle2"/>
    <dgm:cxn modelId="{AC2FC70E-3C19-F24C-87F2-7BE33C928AFE}" srcId="{093F942D-9D69-D649-9A00-AD11DC48FE86}" destId="{9348832E-097B-3244-A2E9-371D808BE4D3}" srcOrd="0" destOrd="0" parTransId="{03063573-67E9-2743-A9A3-B0E036926BED}" sibTransId="{559CA58C-12EC-6440-95F3-EA44784FC2BB}"/>
    <dgm:cxn modelId="{35ACAA13-23CD-304B-8063-047E5447EBA7}" type="presOf" srcId="{2BDCFEFE-0034-8C44-835A-E485B60674D7}" destId="{BD507344-3033-7046-8E49-7E184B985E8B}" srcOrd="0" destOrd="0" presId="urn:microsoft.com/office/officeart/2005/8/layout/cycle2"/>
    <dgm:cxn modelId="{E8358D29-7BB7-8541-9BD9-E337DAC2DB06}" type="presOf" srcId="{F5638716-4F16-674D-940E-5B75E92DEA52}" destId="{AB8175D8-A968-2E4F-A8F6-B2A21FF2D157}" srcOrd="0" destOrd="0" presId="urn:microsoft.com/office/officeart/2005/8/layout/cycle2"/>
    <dgm:cxn modelId="{45EA062E-6FFC-3D4F-A225-1D4E48D453BF}" type="presOf" srcId="{3642D40F-282E-C243-B4CA-16451542964D}" destId="{39E3785A-82CA-1A4A-9FFB-F453E15B4723}" srcOrd="1" destOrd="0" presId="urn:microsoft.com/office/officeart/2005/8/layout/cycle2"/>
    <dgm:cxn modelId="{1C7AA23C-D65C-D047-89C0-72BC9AA8C0A6}" type="presOf" srcId="{C4E363DA-FCE1-A543-8CFB-869B8B723A6C}" destId="{96B976C7-E92A-564B-980E-02E0E91FD964}" srcOrd="0" destOrd="0" presId="urn:microsoft.com/office/officeart/2005/8/layout/cycle2"/>
    <dgm:cxn modelId="{09DBE44D-9BFD-7042-833D-710174615475}" srcId="{093F942D-9D69-D649-9A00-AD11DC48FE86}" destId="{53B01C80-C00C-B140-B468-9140EF9584BF}" srcOrd="4" destOrd="0" parTransId="{7F6A38A7-C197-8F4E-B4F1-6CF83D184551}" sibTransId="{C4E363DA-FCE1-A543-8CFB-869B8B723A6C}"/>
    <dgm:cxn modelId="{E2790E4E-2714-D249-B1CA-35BB10FBA16D}" type="presOf" srcId="{F5638716-4F16-674D-940E-5B75E92DEA52}" destId="{1E3C60CF-459E-634A-B817-9183430C59E6}" srcOrd="1" destOrd="0" presId="urn:microsoft.com/office/officeart/2005/8/layout/cycle2"/>
    <dgm:cxn modelId="{DB12EF7A-646F-D245-A5E1-464AECCB2506}" type="presOf" srcId="{C4E363DA-FCE1-A543-8CFB-869B8B723A6C}" destId="{D7300271-00AF-6346-8047-931B7551217F}" srcOrd="1" destOrd="0" presId="urn:microsoft.com/office/officeart/2005/8/layout/cycle2"/>
    <dgm:cxn modelId="{CB83A07D-CA89-4F4A-8CCB-70CFFFC90C35}" type="presOf" srcId="{1FA4CB2B-F7E2-5E4C-9A02-DC6B28C39680}" destId="{F12A7721-DC0D-6F46-B9F2-FDE0F430C287}" srcOrd="0" destOrd="0" presId="urn:microsoft.com/office/officeart/2005/8/layout/cycle2"/>
    <dgm:cxn modelId="{4981D986-AD40-ED4A-8166-61F23BED4A8C}" type="presOf" srcId="{9348832E-097B-3244-A2E9-371D808BE4D3}" destId="{0DCEE84B-D3D2-404E-8A54-E42346D68788}" srcOrd="0" destOrd="0" presId="urn:microsoft.com/office/officeart/2005/8/layout/cycle2"/>
    <dgm:cxn modelId="{7E93FFB6-9E99-6A4D-9668-2531D97B6DC7}" srcId="{093F942D-9D69-D649-9A00-AD11DC48FE86}" destId="{A04E6214-A6A9-4A42-883F-3ECB46D91DAE}" srcOrd="1" destOrd="0" parTransId="{D8ADA9A2-6E71-7744-9A58-000AC2A317FF}" sibTransId="{F5638716-4F16-674D-940E-5B75E92DEA52}"/>
    <dgm:cxn modelId="{4BE83DC4-4319-CC45-986E-21D0E841A8A3}" type="presOf" srcId="{559CA58C-12EC-6440-95F3-EA44784FC2BB}" destId="{B5FC4C2E-DF2F-D548-BEAE-5DDD3B0A5C0E}" srcOrd="0" destOrd="0" presId="urn:microsoft.com/office/officeart/2005/8/layout/cycle2"/>
    <dgm:cxn modelId="{D92769C9-D0E3-E347-B9AC-C54E5B254C4F}" type="presOf" srcId="{53B01C80-C00C-B140-B468-9140EF9584BF}" destId="{669B63B3-9434-B64A-8318-CCF72E0F2386}" srcOrd="0" destOrd="0" presId="urn:microsoft.com/office/officeart/2005/8/layout/cycle2"/>
    <dgm:cxn modelId="{501441CB-7229-D342-B63D-2347E60211DF}" srcId="{093F942D-9D69-D649-9A00-AD11DC48FE86}" destId="{879A0FD5-F356-B14E-A5CB-D0F622644949}" srcOrd="3" destOrd="0" parTransId="{10A39E66-A2C7-B94F-8943-4604981544EA}" sibTransId="{3642D40F-282E-C243-B4CA-16451542964D}"/>
    <dgm:cxn modelId="{CBFF53CD-A0C4-5A4C-A763-071DB675EED5}" srcId="{093F942D-9D69-D649-9A00-AD11DC48FE86}" destId="{1FA4CB2B-F7E2-5E4C-9A02-DC6B28C39680}" srcOrd="2" destOrd="0" parTransId="{743F99D0-481D-FF43-AAB5-35DF0EF0E9B0}" sibTransId="{2BDCFEFE-0034-8C44-835A-E485B60674D7}"/>
    <dgm:cxn modelId="{9E18A9CE-A27E-214E-9E94-EACECBA9DAA1}" type="presOf" srcId="{559CA58C-12EC-6440-95F3-EA44784FC2BB}" destId="{952D1D4F-FDC1-A045-9302-8F36C0DE24FE}" srcOrd="1" destOrd="0" presId="urn:microsoft.com/office/officeart/2005/8/layout/cycle2"/>
    <dgm:cxn modelId="{FD83ADD0-7BB5-C146-B447-FD993AC059BA}" type="presOf" srcId="{879A0FD5-F356-B14E-A5CB-D0F622644949}" destId="{8238BC49-25D3-4B45-9F63-FB01132AEADC}" srcOrd="0" destOrd="0" presId="urn:microsoft.com/office/officeart/2005/8/layout/cycle2"/>
    <dgm:cxn modelId="{F88EA2E3-C505-E145-BFA2-A13803E995C1}" type="presOf" srcId="{3642D40F-282E-C243-B4CA-16451542964D}" destId="{F4F08512-BF54-7243-ABC8-42D0837884C6}" srcOrd="0" destOrd="0" presId="urn:microsoft.com/office/officeart/2005/8/layout/cycle2"/>
    <dgm:cxn modelId="{B57B24EF-4A73-D64D-A5CE-EC85E3647806}" type="presOf" srcId="{2BDCFEFE-0034-8C44-835A-E485B60674D7}" destId="{D9FBC515-A703-FD41-B28A-8B215FE94A62}" srcOrd="1" destOrd="0" presId="urn:microsoft.com/office/officeart/2005/8/layout/cycle2"/>
    <dgm:cxn modelId="{278D98FE-44A3-9A43-A9A4-4C57CB192ED4}" type="presOf" srcId="{093F942D-9D69-D649-9A00-AD11DC48FE86}" destId="{A5FAF8AC-90DF-FC47-8DE9-B7AD9BD8909A}" srcOrd="0" destOrd="0" presId="urn:microsoft.com/office/officeart/2005/8/layout/cycle2"/>
    <dgm:cxn modelId="{002C5666-FAF1-2249-B44A-5C7D1361E10B}" type="presParOf" srcId="{A5FAF8AC-90DF-FC47-8DE9-B7AD9BD8909A}" destId="{0DCEE84B-D3D2-404E-8A54-E42346D68788}" srcOrd="0" destOrd="0" presId="urn:microsoft.com/office/officeart/2005/8/layout/cycle2"/>
    <dgm:cxn modelId="{2A98662F-E76D-3B4C-BF46-1619056EDBB2}" type="presParOf" srcId="{A5FAF8AC-90DF-FC47-8DE9-B7AD9BD8909A}" destId="{B5FC4C2E-DF2F-D548-BEAE-5DDD3B0A5C0E}" srcOrd="1" destOrd="0" presId="urn:microsoft.com/office/officeart/2005/8/layout/cycle2"/>
    <dgm:cxn modelId="{4932E71F-1B81-6240-BB19-A4B18CEBC70A}" type="presParOf" srcId="{B5FC4C2E-DF2F-D548-BEAE-5DDD3B0A5C0E}" destId="{952D1D4F-FDC1-A045-9302-8F36C0DE24FE}" srcOrd="0" destOrd="0" presId="urn:microsoft.com/office/officeart/2005/8/layout/cycle2"/>
    <dgm:cxn modelId="{9A5D67DB-C494-9E4E-B6B7-271C04A1EC1D}" type="presParOf" srcId="{A5FAF8AC-90DF-FC47-8DE9-B7AD9BD8909A}" destId="{688219AD-4572-9F41-A568-969DE06FB29B}" srcOrd="2" destOrd="0" presId="urn:microsoft.com/office/officeart/2005/8/layout/cycle2"/>
    <dgm:cxn modelId="{CBA2F0F0-B2D5-EF49-96A3-B46FAE8A9CE0}" type="presParOf" srcId="{A5FAF8AC-90DF-FC47-8DE9-B7AD9BD8909A}" destId="{AB8175D8-A968-2E4F-A8F6-B2A21FF2D157}" srcOrd="3" destOrd="0" presId="urn:microsoft.com/office/officeart/2005/8/layout/cycle2"/>
    <dgm:cxn modelId="{2943541A-1C4F-1D42-9B2C-7D5B14D7658E}" type="presParOf" srcId="{AB8175D8-A968-2E4F-A8F6-B2A21FF2D157}" destId="{1E3C60CF-459E-634A-B817-9183430C59E6}" srcOrd="0" destOrd="0" presId="urn:microsoft.com/office/officeart/2005/8/layout/cycle2"/>
    <dgm:cxn modelId="{568953AF-26D1-5740-A70F-995835768BDB}" type="presParOf" srcId="{A5FAF8AC-90DF-FC47-8DE9-B7AD9BD8909A}" destId="{F12A7721-DC0D-6F46-B9F2-FDE0F430C287}" srcOrd="4" destOrd="0" presId="urn:microsoft.com/office/officeart/2005/8/layout/cycle2"/>
    <dgm:cxn modelId="{0ACF8DC0-8658-1C45-977D-0A79E504436B}" type="presParOf" srcId="{A5FAF8AC-90DF-FC47-8DE9-B7AD9BD8909A}" destId="{BD507344-3033-7046-8E49-7E184B985E8B}" srcOrd="5" destOrd="0" presId="urn:microsoft.com/office/officeart/2005/8/layout/cycle2"/>
    <dgm:cxn modelId="{D8405340-A85A-2548-908F-0B0C8ADB7023}" type="presParOf" srcId="{BD507344-3033-7046-8E49-7E184B985E8B}" destId="{D9FBC515-A703-FD41-B28A-8B215FE94A62}" srcOrd="0" destOrd="0" presId="urn:microsoft.com/office/officeart/2005/8/layout/cycle2"/>
    <dgm:cxn modelId="{B032C519-DCDB-0442-B2DC-7112B926854C}" type="presParOf" srcId="{A5FAF8AC-90DF-FC47-8DE9-B7AD9BD8909A}" destId="{8238BC49-25D3-4B45-9F63-FB01132AEADC}" srcOrd="6" destOrd="0" presId="urn:microsoft.com/office/officeart/2005/8/layout/cycle2"/>
    <dgm:cxn modelId="{71B51E77-8047-7547-92F7-076222A314B5}" type="presParOf" srcId="{A5FAF8AC-90DF-FC47-8DE9-B7AD9BD8909A}" destId="{F4F08512-BF54-7243-ABC8-42D0837884C6}" srcOrd="7" destOrd="0" presId="urn:microsoft.com/office/officeart/2005/8/layout/cycle2"/>
    <dgm:cxn modelId="{4D922695-604C-CC48-8B23-ECB9C60A8B22}" type="presParOf" srcId="{F4F08512-BF54-7243-ABC8-42D0837884C6}" destId="{39E3785A-82CA-1A4A-9FFB-F453E15B4723}" srcOrd="0" destOrd="0" presId="urn:microsoft.com/office/officeart/2005/8/layout/cycle2"/>
    <dgm:cxn modelId="{C81108F6-B75C-2F47-999C-448088821716}" type="presParOf" srcId="{A5FAF8AC-90DF-FC47-8DE9-B7AD9BD8909A}" destId="{669B63B3-9434-B64A-8318-CCF72E0F2386}" srcOrd="8" destOrd="0" presId="urn:microsoft.com/office/officeart/2005/8/layout/cycle2"/>
    <dgm:cxn modelId="{E42D98F5-1B99-7D4A-8121-E15AE7BA6E0A}" type="presParOf" srcId="{A5FAF8AC-90DF-FC47-8DE9-B7AD9BD8909A}" destId="{96B976C7-E92A-564B-980E-02E0E91FD964}" srcOrd="9" destOrd="0" presId="urn:microsoft.com/office/officeart/2005/8/layout/cycle2"/>
    <dgm:cxn modelId="{A302A915-EB70-1E49-B318-9DA3113647E9}" type="presParOf" srcId="{96B976C7-E92A-564B-980E-02E0E91FD964}" destId="{D7300271-00AF-6346-8047-931B7551217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3F942D-9D69-D649-9A00-AD11DC48FE86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48832E-097B-3244-A2E9-371D808BE4D3}">
      <dgm:prSet phldrT="[Text]" custT="1"/>
      <dgm:spPr>
        <a:blipFill>
          <a:blip xmlns:r="http://schemas.openxmlformats.org/officeDocument/2006/relationships" r:embed="rId1"/>
          <a:stretch>
            <a:fillRect l="-76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3063573-67E9-2743-A9A3-B0E036926BED}" type="parTrans" cxnId="{AC2FC70E-3C19-F24C-87F2-7BE33C928AFE}">
      <dgm:prSet/>
      <dgm:spPr/>
      <dgm:t>
        <a:bodyPr/>
        <a:lstStyle/>
        <a:p>
          <a:endParaRPr lang="en-US" sz="1050"/>
        </a:p>
      </dgm:t>
    </dgm:pt>
    <dgm:pt modelId="{559CA58C-12EC-6440-95F3-EA44784FC2BB}" type="sibTrans" cxnId="{AC2FC70E-3C19-F24C-87F2-7BE33C928AFE}">
      <dgm:prSet custT="1"/>
      <dgm:spPr/>
      <dgm:t>
        <a:bodyPr/>
        <a:lstStyle/>
        <a:p>
          <a:endParaRPr lang="en-US" sz="1200"/>
        </a:p>
      </dgm:t>
    </dgm:pt>
    <dgm:pt modelId="{A04E6214-A6A9-4A42-883F-3ECB46D91DAE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8ADA9A2-6E71-7744-9A58-000AC2A317FF}" type="parTrans" cxnId="{7E93FFB6-9E99-6A4D-9668-2531D97B6DC7}">
      <dgm:prSet/>
      <dgm:spPr/>
      <dgm:t>
        <a:bodyPr/>
        <a:lstStyle/>
        <a:p>
          <a:endParaRPr lang="en-US" sz="1050"/>
        </a:p>
      </dgm:t>
    </dgm:pt>
    <dgm:pt modelId="{F5638716-4F16-674D-940E-5B75E92DEA52}" type="sibTrans" cxnId="{7E93FFB6-9E99-6A4D-9668-2531D97B6DC7}">
      <dgm:prSet custT="1"/>
      <dgm:spPr/>
      <dgm:t>
        <a:bodyPr/>
        <a:lstStyle/>
        <a:p>
          <a:endParaRPr lang="en-US" sz="1200"/>
        </a:p>
      </dgm:t>
    </dgm:pt>
    <dgm:pt modelId="{1FA4CB2B-F7E2-5E4C-9A02-DC6B28C39680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43F99D0-481D-FF43-AAB5-35DF0EF0E9B0}" type="parTrans" cxnId="{CBFF53CD-A0C4-5A4C-A763-071DB675EED5}">
      <dgm:prSet/>
      <dgm:spPr/>
      <dgm:t>
        <a:bodyPr/>
        <a:lstStyle/>
        <a:p>
          <a:endParaRPr lang="en-US" sz="1050"/>
        </a:p>
      </dgm:t>
    </dgm:pt>
    <dgm:pt modelId="{2BDCFEFE-0034-8C44-835A-E485B60674D7}" type="sibTrans" cxnId="{CBFF53CD-A0C4-5A4C-A763-071DB675EED5}">
      <dgm:prSet custT="1"/>
      <dgm:spPr/>
      <dgm:t>
        <a:bodyPr/>
        <a:lstStyle/>
        <a:p>
          <a:endParaRPr lang="en-US" sz="1200"/>
        </a:p>
      </dgm:t>
    </dgm:pt>
    <dgm:pt modelId="{879A0FD5-F356-B14E-A5CB-D0F622644949}">
      <dgm:prSet phldrT="[Text]" custT="1"/>
      <dgm:spPr>
        <a:blipFill>
          <a:blip xmlns:r="http://schemas.openxmlformats.org/officeDocument/2006/relationships" r:embed="rId4"/>
          <a:stretch>
            <a:fillRect l="-152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0A39E66-A2C7-B94F-8943-4604981544EA}" type="parTrans" cxnId="{501441CB-7229-D342-B63D-2347E60211DF}">
      <dgm:prSet/>
      <dgm:spPr/>
      <dgm:t>
        <a:bodyPr/>
        <a:lstStyle/>
        <a:p>
          <a:endParaRPr lang="en-US" sz="1050"/>
        </a:p>
      </dgm:t>
    </dgm:pt>
    <dgm:pt modelId="{3642D40F-282E-C243-B4CA-16451542964D}" type="sibTrans" cxnId="{501441CB-7229-D342-B63D-2347E60211DF}">
      <dgm:prSet custT="1"/>
      <dgm:spPr/>
      <dgm:t>
        <a:bodyPr/>
        <a:lstStyle/>
        <a:p>
          <a:endParaRPr lang="en-US" sz="1200"/>
        </a:p>
      </dgm:t>
    </dgm:pt>
    <dgm:pt modelId="{53B01C80-C00C-B140-B468-9140EF9584BF}">
      <dgm:prSet phldrT="[Text]" custT="1"/>
      <dgm:spPr>
        <a:blipFill>
          <a:blip xmlns:r="http://schemas.openxmlformats.org/officeDocument/2006/relationships" r:embed="rId5"/>
          <a:stretch>
            <a:fillRect l="-76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F6A38A7-C197-8F4E-B4F1-6CF83D184551}" type="parTrans" cxnId="{09DBE44D-9BFD-7042-833D-710174615475}">
      <dgm:prSet/>
      <dgm:spPr/>
      <dgm:t>
        <a:bodyPr/>
        <a:lstStyle/>
        <a:p>
          <a:endParaRPr lang="en-US" sz="1050"/>
        </a:p>
      </dgm:t>
    </dgm:pt>
    <dgm:pt modelId="{C4E363DA-FCE1-A543-8CFB-869B8B723A6C}" type="sibTrans" cxnId="{09DBE44D-9BFD-7042-833D-710174615475}">
      <dgm:prSet custT="1"/>
      <dgm:spPr/>
      <dgm:t>
        <a:bodyPr/>
        <a:lstStyle/>
        <a:p>
          <a:endParaRPr lang="en-US" sz="1200"/>
        </a:p>
      </dgm:t>
    </dgm:pt>
    <dgm:pt modelId="{A5FAF8AC-90DF-FC47-8DE9-B7AD9BD8909A}" type="pres">
      <dgm:prSet presAssocID="{093F942D-9D69-D649-9A00-AD11DC48FE86}" presName="cycle" presStyleCnt="0">
        <dgm:presLayoutVars>
          <dgm:dir/>
          <dgm:resizeHandles val="exact"/>
        </dgm:presLayoutVars>
      </dgm:prSet>
      <dgm:spPr/>
    </dgm:pt>
    <dgm:pt modelId="{0DCEE84B-D3D2-404E-8A54-E42346D68788}" type="pres">
      <dgm:prSet presAssocID="{9348832E-097B-3244-A2E9-371D808BE4D3}" presName="node" presStyleLbl="node1" presStyleIdx="0" presStyleCnt="5">
        <dgm:presLayoutVars>
          <dgm:bulletEnabled val="1"/>
        </dgm:presLayoutVars>
      </dgm:prSet>
      <dgm:spPr/>
    </dgm:pt>
    <dgm:pt modelId="{B5FC4C2E-DF2F-D548-BEAE-5DDD3B0A5C0E}" type="pres">
      <dgm:prSet presAssocID="{559CA58C-12EC-6440-95F3-EA44784FC2BB}" presName="sibTrans" presStyleLbl="sibTrans2D1" presStyleIdx="0" presStyleCnt="5"/>
      <dgm:spPr/>
    </dgm:pt>
    <dgm:pt modelId="{952D1D4F-FDC1-A045-9302-8F36C0DE24FE}" type="pres">
      <dgm:prSet presAssocID="{559CA58C-12EC-6440-95F3-EA44784FC2BB}" presName="connectorText" presStyleLbl="sibTrans2D1" presStyleIdx="0" presStyleCnt="5"/>
      <dgm:spPr/>
    </dgm:pt>
    <dgm:pt modelId="{688219AD-4572-9F41-A568-969DE06FB29B}" type="pres">
      <dgm:prSet presAssocID="{A04E6214-A6A9-4A42-883F-3ECB46D91DAE}" presName="node" presStyleLbl="node1" presStyleIdx="1" presStyleCnt="5">
        <dgm:presLayoutVars>
          <dgm:bulletEnabled val="1"/>
        </dgm:presLayoutVars>
      </dgm:prSet>
      <dgm:spPr/>
    </dgm:pt>
    <dgm:pt modelId="{AB8175D8-A968-2E4F-A8F6-B2A21FF2D157}" type="pres">
      <dgm:prSet presAssocID="{F5638716-4F16-674D-940E-5B75E92DEA52}" presName="sibTrans" presStyleLbl="sibTrans2D1" presStyleIdx="1" presStyleCnt="5"/>
      <dgm:spPr/>
    </dgm:pt>
    <dgm:pt modelId="{1E3C60CF-459E-634A-B817-9183430C59E6}" type="pres">
      <dgm:prSet presAssocID="{F5638716-4F16-674D-940E-5B75E92DEA52}" presName="connectorText" presStyleLbl="sibTrans2D1" presStyleIdx="1" presStyleCnt="5"/>
      <dgm:spPr/>
    </dgm:pt>
    <dgm:pt modelId="{F12A7721-DC0D-6F46-B9F2-FDE0F430C287}" type="pres">
      <dgm:prSet presAssocID="{1FA4CB2B-F7E2-5E4C-9A02-DC6B28C39680}" presName="node" presStyleLbl="node1" presStyleIdx="2" presStyleCnt="5">
        <dgm:presLayoutVars>
          <dgm:bulletEnabled val="1"/>
        </dgm:presLayoutVars>
      </dgm:prSet>
      <dgm:spPr/>
    </dgm:pt>
    <dgm:pt modelId="{BD507344-3033-7046-8E49-7E184B985E8B}" type="pres">
      <dgm:prSet presAssocID="{2BDCFEFE-0034-8C44-835A-E485B60674D7}" presName="sibTrans" presStyleLbl="sibTrans2D1" presStyleIdx="2" presStyleCnt="5"/>
      <dgm:spPr/>
    </dgm:pt>
    <dgm:pt modelId="{D9FBC515-A703-FD41-B28A-8B215FE94A62}" type="pres">
      <dgm:prSet presAssocID="{2BDCFEFE-0034-8C44-835A-E485B60674D7}" presName="connectorText" presStyleLbl="sibTrans2D1" presStyleIdx="2" presStyleCnt="5"/>
      <dgm:spPr/>
    </dgm:pt>
    <dgm:pt modelId="{8238BC49-25D3-4B45-9F63-FB01132AEADC}" type="pres">
      <dgm:prSet presAssocID="{879A0FD5-F356-B14E-A5CB-D0F622644949}" presName="node" presStyleLbl="node1" presStyleIdx="3" presStyleCnt="5">
        <dgm:presLayoutVars>
          <dgm:bulletEnabled val="1"/>
        </dgm:presLayoutVars>
      </dgm:prSet>
      <dgm:spPr/>
    </dgm:pt>
    <dgm:pt modelId="{F4F08512-BF54-7243-ABC8-42D0837884C6}" type="pres">
      <dgm:prSet presAssocID="{3642D40F-282E-C243-B4CA-16451542964D}" presName="sibTrans" presStyleLbl="sibTrans2D1" presStyleIdx="3" presStyleCnt="5"/>
      <dgm:spPr/>
    </dgm:pt>
    <dgm:pt modelId="{39E3785A-82CA-1A4A-9FFB-F453E15B4723}" type="pres">
      <dgm:prSet presAssocID="{3642D40F-282E-C243-B4CA-16451542964D}" presName="connectorText" presStyleLbl="sibTrans2D1" presStyleIdx="3" presStyleCnt="5"/>
      <dgm:spPr/>
    </dgm:pt>
    <dgm:pt modelId="{669B63B3-9434-B64A-8318-CCF72E0F2386}" type="pres">
      <dgm:prSet presAssocID="{53B01C80-C00C-B140-B468-9140EF9584BF}" presName="node" presStyleLbl="node1" presStyleIdx="4" presStyleCnt="5">
        <dgm:presLayoutVars>
          <dgm:bulletEnabled val="1"/>
        </dgm:presLayoutVars>
      </dgm:prSet>
      <dgm:spPr/>
    </dgm:pt>
    <dgm:pt modelId="{96B976C7-E92A-564B-980E-02E0E91FD964}" type="pres">
      <dgm:prSet presAssocID="{C4E363DA-FCE1-A543-8CFB-869B8B723A6C}" presName="sibTrans" presStyleLbl="sibTrans2D1" presStyleIdx="4" presStyleCnt="5"/>
      <dgm:spPr/>
    </dgm:pt>
    <dgm:pt modelId="{D7300271-00AF-6346-8047-931B7551217F}" type="pres">
      <dgm:prSet presAssocID="{C4E363DA-FCE1-A543-8CFB-869B8B723A6C}" presName="connectorText" presStyleLbl="sibTrans2D1" presStyleIdx="4" presStyleCnt="5"/>
      <dgm:spPr/>
    </dgm:pt>
  </dgm:ptLst>
  <dgm:cxnLst>
    <dgm:cxn modelId="{022F7E0E-70B3-9945-AF49-22E6D36711B1}" type="presOf" srcId="{A04E6214-A6A9-4A42-883F-3ECB46D91DAE}" destId="{688219AD-4572-9F41-A568-969DE06FB29B}" srcOrd="0" destOrd="0" presId="urn:microsoft.com/office/officeart/2005/8/layout/cycle2"/>
    <dgm:cxn modelId="{AC2FC70E-3C19-F24C-87F2-7BE33C928AFE}" srcId="{093F942D-9D69-D649-9A00-AD11DC48FE86}" destId="{9348832E-097B-3244-A2E9-371D808BE4D3}" srcOrd="0" destOrd="0" parTransId="{03063573-67E9-2743-A9A3-B0E036926BED}" sibTransId="{559CA58C-12EC-6440-95F3-EA44784FC2BB}"/>
    <dgm:cxn modelId="{35ACAA13-23CD-304B-8063-047E5447EBA7}" type="presOf" srcId="{2BDCFEFE-0034-8C44-835A-E485B60674D7}" destId="{BD507344-3033-7046-8E49-7E184B985E8B}" srcOrd="0" destOrd="0" presId="urn:microsoft.com/office/officeart/2005/8/layout/cycle2"/>
    <dgm:cxn modelId="{E8358D29-7BB7-8541-9BD9-E337DAC2DB06}" type="presOf" srcId="{F5638716-4F16-674D-940E-5B75E92DEA52}" destId="{AB8175D8-A968-2E4F-A8F6-B2A21FF2D157}" srcOrd="0" destOrd="0" presId="urn:microsoft.com/office/officeart/2005/8/layout/cycle2"/>
    <dgm:cxn modelId="{45EA062E-6FFC-3D4F-A225-1D4E48D453BF}" type="presOf" srcId="{3642D40F-282E-C243-B4CA-16451542964D}" destId="{39E3785A-82CA-1A4A-9FFB-F453E15B4723}" srcOrd="1" destOrd="0" presId="urn:microsoft.com/office/officeart/2005/8/layout/cycle2"/>
    <dgm:cxn modelId="{1C7AA23C-D65C-D047-89C0-72BC9AA8C0A6}" type="presOf" srcId="{C4E363DA-FCE1-A543-8CFB-869B8B723A6C}" destId="{96B976C7-E92A-564B-980E-02E0E91FD964}" srcOrd="0" destOrd="0" presId="urn:microsoft.com/office/officeart/2005/8/layout/cycle2"/>
    <dgm:cxn modelId="{09DBE44D-9BFD-7042-833D-710174615475}" srcId="{093F942D-9D69-D649-9A00-AD11DC48FE86}" destId="{53B01C80-C00C-B140-B468-9140EF9584BF}" srcOrd="4" destOrd="0" parTransId="{7F6A38A7-C197-8F4E-B4F1-6CF83D184551}" sibTransId="{C4E363DA-FCE1-A543-8CFB-869B8B723A6C}"/>
    <dgm:cxn modelId="{E2790E4E-2714-D249-B1CA-35BB10FBA16D}" type="presOf" srcId="{F5638716-4F16-674D-940E-5B75E92DEA52}" destId="{1E3C60CF-459E-634A-B817-9183430C59E6}" srcOrd="1" destOrd="0" presId="urn:microsoft.com/office/officeart/2005/8/layout/cycle2"/>
    <dgm:cxn modelId="{DB12EF7A-646F-D245-A5E1-464AECCB2506}" type="presOf" srcId="{C4E363DA-FCE1-A543-8CFB-869B8B723A6C}" destId="{D7300271-00AF-6346-8047-931B7551217F}" srcOrd="1" destOrd="0" presId="urn:microsoft.com/office/officeart/2005/8/layout/cycle2"/>
    <dgm:cxn modelId="{CB83A07D-CA89-4F4A-8CCB-70CFFFC90C35}" type="presOf" srcId="{1FA4CB2B-F7E2-5E4C-9A02-DC6B28C39680}" destId="{F12A7721-DC0D-6F46-B9F2-FDE0F430C287}" srcOrd="0" destOrd="0" presId="urn:microsoft.com/office/officeart/2005/8/layout/cycle2"/>
    <dgm:cxn modelId="{4981D986-AD40-ED4A-8166-61F23BED4A8C}" type="presOf" srcId="{9348832E-097B-3244-A2E9-371D808BE4D3}" destId="{0DCEE84B-D3D2-404E-8A54-E42346D68788}" srcOrd="0" destOrd="0" presId="urn:microsoft.com/office/officeart/2005/8/layout/cycle2"/>
    <dgm:cxn modelId="{7E93FFB6-9E99-6A4D-9668-2531D97B6DC7}" srcId="{093F942D-9D69-D649-9A00-AD11DC48FE86}" destId="{A04E6214-A6A9-4A42-883F-3ECB46D91DAE}" srcOrd="1" destOrd="0" parTransId="{D8ADA9A2-6E71-7744-9A58-000AC2A317FF}" sibTransId="{F5638716-4F16-674D-940E-5B75E92DEA52}"/>
    <dgm:cxn modelId="{4BE83DC4-4319-CC45-986E-21D0E841A8A3}" type="presOf" srcId="{559CA58C-12EC-6440-95F3-EA44784FC2BB}" destId="{B5FC4C2E-DF2F-D548-BEAE-5DDD3B0A5C0E}" srcOrd="0" destOrd="0" presId="urn:microsoft.com/office/officeart/2005/8/layout/cycle2"/>
    <dgm:cxn modelId="{D92769C9-D0E3-E347-B9AC-C54E5B254C4F}" type="presOf" srcId="{53B01C80-C00C-B140-B468-9140EF9584BF}" destId="{669B63B3-9434-B64A-8318-CCF72E0F2386}" srcOrd="0" destOrd="0" presId="urn:microsoft.com/office/officeart/2005/8/layout/cycle2"/>
    <dgm:cxn modelId="{501441CB-7229-D342-B63D-2347E60211DF}" srcId="{093F942D-9D69-D649-9A00-AD11DC48FE86}" destId="{879A0FD5-F356-B14E-A5CB-D0F622644949}" srcOrd="3" destOrd="0" parTransId="{10A39E66-A2C7-B94F-8943-4604981544EA}" sibTransId="{3642D40F-282E-C243-B4CA-16451542964D}"/>
    <dgm:cxn modelId="{CBFF53CD-A0C4-5A4C-A763-071DB675EED5}" srcId="{093F942D-9D69-D649-9A00-AD11DC48FE86}" destId="{1FA4CB2B-F7E2-5E4C-9A02-DC6B28C39680}" srcOrd="2" destOrd="0" parTransId="{743F99D0-481D-FF43-AAB5-35DF0EF0E9B0}" sibTransId="{2BDCFEFE-0034-8C44-835A-E485B60674D7}"/>
    <dgm:cxn modelId="{9E18A9CE-A27E-214E-9E94-EACECBA9DAA1}" type="presOf" srcId="{559CA58C-12EC-6440-95F3-EA44784FC2BB}" destId="{952D1D4F-FDC1-A045-9302-8F36C0DE24FE}" srcOrd="1" destOrd="0" presId="urn:microsoft.com/office/officeart/2005/8/layout/cycle2"/>
    <dgm:cxn modelId="{FD83ADD0-7BB5-C146-B447-FD993AC059BA}" type="presOf" srcId="{879A0FD5-F356-B14E-A5CB-D0F622644949}" destId="{8238BC49-25D3-4B45-9F63-FB01132AEADC}" srcOrd="0" destOrd="0" presId="urn:microsoft.com/office/officeart/2005/8/layout/cycle2"/>
    <dgm:cxn modelId="{F88EA2E3-C505-E145-BFA2-A13803E995C1}" type="presOf" srcId="{3642D40F-282E-C243-B4CA-16451542964D}" destId="{F4F08512-BF54-7243-ABC8-42D0837884C6}" srcOrd="0" destOrd="0" presId="urn:microsoft.com/office/officeart/2005/8/layout/cycle2"/>
    <dgm:cxn modelId="{B57B24EF-4A73-D64D-A5CE-EC85E3647806}" type="presOf" srcId="{2BDCFEFE-0034-8C44-835A-E485B60674D7}" destId="{D9FBC515-A703-FD41-B28A-8B215FE94A62}" srcOrd="1" destOrd="0" presId="urn:microsoft.com/office/officeart/2005/8/layout/cycle2"/>
    <dgm:cxn modelId="{278D98FE-44A3-9A43-A9A4-4C57CB192ED4}" type="presOf" srcId="{093F942D-9D69-D649-9A00-AD11DC48FE86}" destId="{A5FAF8AC-90DF-FC47-8DE9-B7AD9BD8909A}" srcOrd="0" destOrd="0" presId="urn:microsoft.com/office/officeart/2005/8/layout/cycle2"/>
    <dgm:cxn modelId="{002C5666-FAF1-2249-B44A-5C7D1361E10B}" type="presParOf" srcId="{A5FAF8AC-90DF-FC47-8DE9-B7AD9BD8909A}" destId="{0DCEE84B-D3D2-404E-8A54-E42346D68788}" srcOrd="0" destOrd="0" presId="urn:microsoft.com/office/officeart/2005/8/layout/cycle2"/>
    <dgm:cxn modelId="{2A98662F-E76D-3B4C-BF46-1619056EDBB2}" type="presParOf" srcId="{A5FAF8AC-90DF-FC47-8DE9-B7AD9BD8909A}" destId="{B5FC4C2E-DF2F-D548-BEAE-5DDD3B0A5C0E}" srcOrd="1" destOrd="0" presId="urn:microsoft.com/office/officeart/2005/8/layout/cycle2"/>
    <dgm:cxn modelId="{4932E71F-1B81-6240-BB19-A4B18CEBC70A}" type="presParOf" srcId="{B5FC4C2E-DF2F-D548-BEAE-5DDD3B0A5C0E}" destId="{952D1D4F-FDC1-A045-9302-8F36C0DE24FE}" srcOrd="0" destOrd="0" presId="urn:microsoft.com/office/officeart/2005/8/layout/cycle2"/>
    <dgm:cxn modelId="{9A5D67DB-C494-9E4E-B6B7-271C04A1EC1D}" type="presParOf" srcId="{A5FAF8AC-90DF-FC47-8DE9-B7AD9BD8909A}" destId="{688219AD-4572-9F41-A568-969DE06FB29B}" srcOrd="2" destOrd="0" presId="urn:microsoft.com/office/officeart/2005/8/layout/cycle2"/>
    <dgm:cxn modelId="{CBA2F0F0-B2D5-EF49-96A3-B46FAE8A9CE0}" type="presParOf" srcId="{A5FAF8AC-90DF-FC47-8DE9-B7AD9BD8909A}" destId="{AB8175D8-A968-2E4F-A8F6-B2A21FF2D157}" srcOrd="3" destOrd="0" presId="urn:microsoft.com/office/officeart/2005/8/layout/cycle2"/>
    <dgm:cxn modelId="{2943541A-1C4F-1D42-9B2C-7D5B14D7658E}" type="presParOf" srcId="{AB8175D8-A968-2E4F-A8F6-B2A21FF2D157}" destId="{1E3C60CF-459E-634A-B817-9183430C59E6}" srcOrd="0" destOrd="0" presId="urn:microsoft.com/office/officeart/2005/8/layout/cycle2"/>
    <dgm:cxn modelId="{568953AF-26D1-5740-A70F-995835768BDB}" type="presParOf" srcId="{A5FAF8AC-90DF-FC47-8DE9-B7AD9BD8909A}" destId="{F12A7721-DC0D-6F46-B9F2-FDE0F430C287}" srcOrd="4" destOrd="0" presId="urn:microsoft.com/office/officeart/2005/8/layout/cycle2"/>
    <dgm:cxn modelId="{0ACF8DC0-8658-1C45-977D-0A79E504436B}" type="presParOf" srcId="{A5FAF8AC-90DF-FC47-8DE9-B7AD9BD8909A}" destId="{BD507344-3033-7046-8E49-7E184B985E8B}" srcOrd="5" destOrd="0" presId="urn:microsoft.com/office/officeart/2005/8/layout/cycle2"/>
    <dgm:cxn modelId="{D8405340-A85A-2548-908F-0B0C8ADB7023}" type="presParOf" srcId="{BD507344-3033-7046-8E49-7E184B985E8B}" destId="{D9FBC515-A703-FD41-B28A-8B215FE94A62}" srcOrd="0" destOrd="0" presId="urn:microsoft.com/office/officeart/2005/8/layout/cycle2"/>
    <dgm:cxn modelId="{B032C519-DCDB-0442-B2DC-7112B926854C}" type="presParOf" srcId="{A5FAF8AC-90DF-FC47-8DE9-B7AD9BD8909A}" destId="{8238BC49-25D3-4B45-9F63-FB01132AEADC}" srcOrd="6" destOrd="0" presId="urn:microsoft.com/office/officeart/2005/8/layout/cycle2"/>
    <dgm:cxn modelId="{71B51E77-8047-7547-92F7-076222A314B5}" type="presParOf" srcId="{A5FAF8AC-90DF-FC47-8DE9-B7AD9BD8909A}" destId="{F4F08512-BF54-7243-ABC8-42D0837884C6}" srcOrd="7" destOrd="0" presId="urn:microsoft.com/office/officeart/2005/8/layout/cycle2"/>
    <dgm:cxn modelId="{4D922695-604C-CC48-8B23-ECB9C60A8B22}" type="presParOf" srcId="{F4F08512-BF54-7243-ABC8-42D0837884C6}" destId="{39E3785A-82CA-1A4A-9FFB-F453E15B4723}" srcOrd="0" destOrd="0" presId="urn:microsoft.com/office/officeart/2005/8/layout/cycle2"/>
    <dgm:cxn modelId="{C81108F6-B75C-2F47-999C-448088821716}" type="presParOf" srcId="{A5FAF8AC-90DF-FC47-8DE9-B7AD9BD8909A}" destId="{669B63B3-9434-B64A-8318-CCF72E0F2386}" srcOrd="8" destOrd="0" presId="urn:microsoft.com/office/officeart/2005/8/layout/cycle2"/>
    <dgm:cxn modelId="{E42D98F5-1B99-7D4A-8121-E15AE7BA6E0A}" type="presParOf" srcId="{A5FAF8AC-90DF-FC47-8DE9-B7AD9BD8909A}" destId="{96B976C7-E92A-564B-980E-02E0E91FD964}" srcOrd="9" destOrd="0" presId="urn:microsoft.com/office/officeart/2005/8/layout/cycle2"/>
    <dgm:cxn modelId="{A302A915-EB70-1E49-B318-9DA3113647E9}" type="presParOf" srcId="{96B976C7-E92A-564B-980E-02E0E91FD964}" destId="{D7300271-00AF-6346-8047-931B7551217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3CF5E0-0EC2-3640-8E63-69131ADC54C0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F5DA7-C410-334B-983A-6A230D8A4F3F}">
      <dgm:prSet phldrT="[Text]"/>
      <dgm:spPr/>
      <dgm:t>
        <a:bodyPr/>
        <a:lstStyle/>
        <a:p>
          <a:r>
            <a:rPr lang="en-US" dirty="0"/>
            <a:t>China</a:t>
          </a:r>
        </a:p>
      </dgm:t>
    </dgm:pt>
    <dgm:pt modelId="{C6B820B3-36C8-D345-88CB-BE1DC7B8EA04}" type="parTrans" cxnId="{13882845-9CE9-4B45-B65F-93102F06C1D1}">
      <dgm:prSet/>
      <dgm:spPr/>
      <dgm:t>
        <a:bodyPr/>
        <a:lstStyle/>
        <a:p>
          <a:endParaRPr lang="en-US"/>
        </a:p>
      </dgm:t>
    </dgm:pt>
    <dgm:pt modelId="{75ECC7D3-4FEB-4147-9F7B-F63BB592DE6D}" type="sibTrans" cxnId="{13882845-9CE9-4B45-B65F-93102F06C1D1}">
      <dgm:prSet/>
      <dgm:spPr/>
      <dgm:t>
        <a:bodyPr/>
        <a:lstStyle/>
        <a:p>
          <a:endParaRPr lang="en-US"/>
        </a:p>
      </dgm:t>
    </dgm:pt>
    <dgm:pt modelId="{0BC2DEB2-1961-9942-A17E-9C8B0A290B69}">
      <dgm:prSet phldrT="[Text]"/>
      <dgm:spPr/>
      <dgm:t>
        <a:bodyPr/>
        <a:lstStyle/>
        <a:p>
          <a:r>
            <a:rPr lang="en-US" dirty="0"/>
            <a:t>Illegal</a:t>
          </a:r>
        </a:p>
      </dgm:t>
    </dgm:pt>
    <dgm:pt modelId="{13EA399F-2C89-1A4B-AB65-FCF0684CCFFE}" type="parTrans" cxnId="{4E6096D6-6CC2-9346-8E14-1E45A8F1AF5F}">
      <dgm:prSet/>
      <dgm:spPr/>
      <dgm:t>
        <a:bodyPr/>
        <a:lstStyle/>
        <a:p>
          <a:endParaRPr lang="en-US"/>
        </a:p>
      </dgm:t>
    </dgm:pt>
    <dgm:pt modelId="{4FF1364D-4DC4-A145-B602-54600DEB54AB}" type="sibTrans" cxnId="{4E6096D6-6CC2-9346-8E14-1E45A8F1AF5F}">
      <dgm:prSet/>
      <dgm:spPr/>
      <dgm:t>
        <a:bodyPr/>
        <a:lstStyle/>
        <a:p>
          <a:endParaRPr lang="en-US"/>
        </a:p>
      </dgm:t>
    </dgm:pt>
    <dgm:pt modelId="{8703A932-A7BE-D04F-8B7E-47C9DE60A5BF}">
      <dgm:prSet phldrT="[Text]"/>
      <dgm:spPr/>
      <dgm:t>
        <a:bodyPr/>
        <a:lstStyle/>
        <a:p>
          <a:r>
            <a:rPr lang="en-US" dirty="0"/>
            <a:t>Australia</a:t>
          </a:r>
        </a:p>
      </dgm:t>
    </dgm:pt>
    <dgm:pt modelId="{A744E97A-A386-214A-A06B-47805E368CED}" type="parTrans" cxnId="{D5DA71DA-3933-FA48-986A-A786F796EC58}">
      <dgm:prSet/>
      <dgm:spPr/>
      <dgm:t>
        <a:bodyPr/>
        <a:lstStyle/>
        <a:p>
          <a:endParaRPr lang="en-US"/>
        </a:p>
      </dgm:t>
    </dgm:pt>
    <dgm:pt modelId="{AE64AFB4-401C-224E-A6EF-AD19698F3532}" type="sibTrans" cxnId="{D5DA71DA-3933-FA48-986A-A786F796EC58}">
      <dgm:prSet/>
      <dgm:spPr/>
      <dgm:t>
        <a:bodyPr/>
        <a:lstStyle/>
        <a:p>
          <a:endParaRPr lang="en-US"/>
        </a:p>
      </dgm:t>
    </dgm:pt>
    <dgm:pt modelId="{910CA442-1D13-154C-965C-3209F5958D72}" type="pres">
      <dgm:prSet presAssocID="{463CF5E0-0EC2-3640-8E63-69131ADC54C0}" presName="cycle" presStyleCnt="0">
        <dgm:presLayoutVars>
          <dgm:dir/>
          <dgm:resizeHandles val="exact"/>
        </dgm:presLayoutVars>
      </dgm:prSet>
      <dgm:spPr/>
    </dgm:pt>
    <dgm:pt modelId="{C8BC85B6-0CB8-6546-BEC4-C5BF6E601062}" type="pres">
      <dgm:prSet presAssocID="{FBFF5DA7-C410-334B-983A-6A230D8A4F3F}" presName="node" presStyleLbl="node1" presStyleIdx="0" presStyleCnt="3">
        <dgm:presLayoutVars>
          <dgm:bulletEnabled val="1"/>
        </dgm:presLayoutVars>
      </dgm:prSet>
      <dgm:spPr/>
    </dgm:pt>
    <dgm:pt modelId="{88E64643-3AF5-0D43-ABFC-A893EB2E90BD}" type="pres">
      <dgm:prSet presAssocID="{75ECC7D3-4FEB-4147-9F7B-F63BB592DE6D}" presName="sibTrans" presStyleLbl="sibTrans2D1" presStyleIdx="0" presStyleCnt="3"/>
      <dgm:spPr/>
    </dgm:pt>
    <dgm:pt modelId="{E5E2C89D-A8B3-5945-AED9-3219AF7FA0E5}" type="pres">
      <dgm:prSet presAssocID="{75ECC7D3-4FEB-4147-9F7B-F63BB592DE6D}" presName="connectorText" presStyleLbl="sibTrans2D1" presStyleIdx="0" presStyleCnt="3"/>
      <dgm:spPr/>
    </dgm:pt>
    <dgm:pt modelId="{A10D6A81-C3D9-1A45-975D-0EDE93B9D9C3}" type="pres">
      <dgm:prSet presAssocID="{0BC2DEB2-1961-9942-A17E-9C8B0A290B69}" presName="node" presStyleLbl="node1" presStyleIdx="1" presStyleCnt="3">
        <dgm:presLayoutVars>
          <dgm:bulletEnabled val="1"/>
        </dgm:presLayoutVars>
      </dgm:prSet>
      <dgm:spPr/>
    </dgm:pt>
    <dgm:pt modelId="{A3E474AD-FA8A-8940-BE5C-B14E1630995D}" type="pres">
      <dgm:prSet presAssocID="{4FF1364D-4DC4-A145-B602-54600DEB54AB}" presName="sibTrans" presStyleLbl="sibTrans2D1" presStyleIdx="1" presStyleCnt="3"/>
      <dgm:spPr/>
    </dgm:pt>
    <dgm:pt modelId="{AD1FC999-E8CD-094F-A7B1-B7062748A90B}" type="pres">
      <dgm:prSet presAssocID="{4FF1364D-4DC4-A145-B602-54600DEB54AB}" presName="connectorText" presStyleLbl="sibTrans2D1" presStyleIdx="1" presStyleCnt="3"/>
      <dgm:spPr/>
    </dgm:pt>
    <dgm:pt modelId="{2F5F83D6-42EE-7741-9445-99C618FEF656}" type="pres">
      <dgm:prSet presAssocID="{8703A932-A7BE-D04F-8B7E-47C9DE60A5BF}" presName="node" presStyleLbl="node1" presStyleIdx="2" presStyleCnt="3">
        <dgm:presLayoutVars>
          <dgm:bulletEnabled val="1"/>
        </dgm:presLayoutVars>
      </dgm:prSet>
      <dgm:spPr/>
    </dgm:pt>
    <dgm:pt modelId="{0F28C441-80E5-2544-8143-1FF65735D0B7}" type="pres">
      <dgm:prSet presAssocID="{AE64AFB4-401C-224E-A6EF-AD19698F3532}" presName="sibTrans" presStyleLbl="sibTrans2D1" presStyleIdx="2" presStyleCnt="3"/>
      <dgm:spPr/>
    </dgm:pt>
    <dgm:pt modelId="{1C506D2F-7FE0-374C-859F-9728F6CDB041}" type="pres">
      <dgm:prSet presAssocID="{AE64AFB4-401C-224E-A6EF-AD19698F3532}" presName="connectorText" presStyleLbl="sibTrans2D1" presStyleIdx="2" presStyleCnt="3"/>
      <dgm:spPr/>
    </dgm:pt>
  </dgm:ptLst>
  <dgm:cxnLst>
    <dgm:cxn modelId="{DFEAAB03-2A6F-7F4F-B2AE-9DDF138B6059}" type="presOf" srcId="{75ECC7D3-4FEB-4147-9F7B-F63BB592DE6D}" destId="{88E64643-3AF5-0D43-ABFC-A893EB2E90BD}" srcOrd="0" destOrd="0" presId="urn:microsoft.com/office/officeart/2005/8/layout/cycle2"/>
    <dgm:cxn modelId="{271D100E-DD5A-D242-9A6E-5631264901A7}" type="presOf" srcId="{FBFF5DA7-C410-334B-983A-6A230D8A4F3F}" destId="{C8BC85B6-0CB8-6546-BEC4-C5BF6E601062}" srcOrd="0" destOrd="0" presId="urn:microsoft.com/office/officeart/2005/8/layout/cycle2"/>
    <dgm:cxn modelId="{B4A23130-A3E9-FA41-A029-00D8B14262F4}" type="presOf" srcId="{8703A932-A7BE-D04F-8B7E-47C9DE60A5BF}" destId="{2F5F83D6-42EE-7741-9445-99C618FEF656}" srcOrd="0" destOrd="0" presId="urn:microsoft.com/office/officeart/2005/8/layout/cycle2"/>
    <dgm:cxn modelId="{4E72ED3D-3C3F-2F41-89AD-54DFA592518D}" type="presOf" srcId="{0BC2DEB2-1961-9942-A17E-9C8B0A290B69}" destId="{A10D6A81-C3D9-1A45-975D-0EDE93B9D9C3}" srcOrd="0" destOrd="0" presId="urn:microsoft.com/office/officeart/2005/8/layout/cycle2"/>
    <dgm:cxn modelId="{13882845-9CE9-4B45-B65F-93102F06C1D1}" srcId="{463CF5E0-0EC2-3640-8E63-69131ADC54C0}" destId="{FBFF5DA7-C410-334B-983A-6A230D8A4F3F}" srcOrd="0" destOrd="0" parTransId="{C6B820B3-36C8-D345-88CB-BE1DC7B8EA04}" sibTransId="{75ECC7D3-4FEB-4147-9F7B-F63BB592DE6D}"/>
    <dgm:cxn modelId="{56943B45-18B6-6F45-AA8E-CE4FE0DBABEB}" type="presOf" srcId="{4FF1364D-4DC4-A145-B602-54600DEB54AB}" destId="{AD1FC999-E8CD-094F-A7B1-B7062748A90B}" srcOrd="1" destOrd="0" presId="urn:microsoft.com/office/officeart/2005/8/layout/cycle2"/>
    <dgm:cxn modelId="{B3F74647-D962-8949-8CD0-1DFD0FBFBF3D}" type="presOf" srcId="{AE64AFB4-401C-224E-A6EF-AD19698F3532}" destId="{0F28C441-80E5-2544-8143-1FF65735D0B7}" srcOrd="0" destOrd="0" presId="urn:microsoft.com/office/officeart/2005/8/layout/cycle2"/>
    <dgm:cxn modelId="{59A4E249-1E84-1A47-8B7A-4E7D65398ADB}" type="presOf" srcId="{4FF1364D-4DC4-A145-B602-54600DEB54AB}" destId="{A3E474AD-FA8A-8940-BE5C-B14E1630995D}" srcOrd="0" destOrd="0" presId="urn:microsoft.com/office/officeart/2005/8/layout/cycle2"/>
    <dgm:cxn modelId="{D4289468-DE59-D04A-B160-CA4696AFB167}" type="presOf" srcId="{463CF5E0-0EC2-3640-8E63-69131ADC54C0}" destId="{910CA442-1D13-154C-965C-3209F5958D72}" srcOrd="0" destOrd="0" presId="urn:microsoft.com/office/officeart/2005/8/layout/cycle2"/>
    <dgm:cxn modelId="{2452EE7F-3B14-7247-939D-1C090C59E6EC}" type="presOf" srcId="{75ECC7D3-4FEB-4147-9F7B-F63BB592DE6D}" destId="{E5E2C89D-A8B3-5945-AED9-3219AF7FA0E5}" srcOrd="1" destOrd="0" presId="urn:microsoft.com/office/officeart/2005/8/layout/cycle2"/>
    <dgm:cxn modelId="{E3005FBF-50CC-D749-8A4B-61E32A3FAEB7}" type="presOf" srcId="{AE64AFB4-401C-224E-A6EF-AD19698F3532}" destId="{1C506D2F-7FE0-374C-859F-9728F6CDB041}" srcOrd="1" destOrd="0" presId="urn:microsoft.com/office/officeart/2005/8/layout/cycle2"/>
    <dgm:cxn modelId="{4E6096D6-6CC2-9346-8E14-1E45A8F1AF5F}" srcId="{463CF5E0-0EC2-3640-8E63-69131ADC54C0}" destId="{0BC2DEB2-1961-9942-A17E-9C8B0A290B69}" srcOrd="1" destOrd="0" parTransId="{13EA399F-2C89-1A4B-AB65-FCF0684CCFFE}" sibTransId="{4FF1364D-4DC4-A145-B602-54600DEB54AB}"/>
    <dgm:cxn modelId="{D5DA71DA-3933-FA48-986A-A786F796EC58}" srcId="{463CF5E0-0EC2-3640-8E63-69131ADC54C0}" destId="{8703A932-A7BE-D04F-8B7E-47C9DE60A5BF}" srcOrd="2" destOrd="0" parTransId="{A744E97A-A386-214A-A06B-47805E368CED}" sibTransId="{AE64AFB4-401C-224E-A6EF-AD19698F3532}"/>
    <dgm:cxn modelId="{4CCE9B7E-FEDE-174B-B9FF-D6DD79831CC0}" type="presParOf" srcId="{910CA442-1D13-154C-965C-3209F5958D72}" destId="{C8BC85B6-0CB8-6546-BEC4-C5BF6E601062}" srcOrd="0" destOrd="0" presId="urn:microsoft.com/office/officeart/2005/8/layout/cycle2"/>
    <dgm:cxn modelId="{9A196CCA-C250-C949-89C4-DC44BC3585C0}" type="presParOf" srcId="{910CA442-1D13-154C-965C-3209F5958D72}" destId="{88E64643-3AF5-0D43-ABFC-A893EB2E90BD}" srcOrd="1" destOrd="0" presId="urn:microsoft.com/office/officeart/2005/8/layout/cycle2"/>
    <dgm:cxn modelId="{3D5A15F7-997C-A44B-9E5B-C0573BE9D8F4}" type="presParOf" srcId="{88E64643-3AF5-0D43-ABFC-A893EB2E90BD}" destId="{E5E2C89D-A8B3-5945-AED9-3219AF7FA0E5}" srcOrd="0" destOrd="0" presId="urn:microsoft.com/office/officeart/2005/8/layout/cycle2"/>
    <dgm:cxn modelId="{5AFA8401-EBEA-C84F-810D-215F28DAFDE0}" type="presParOf" srcId="{910CA442-1D13-154C-965C-3209F5958D72}" destId="{A10D6A81-C3D9-1A45-975D-0EDE93B9D9C3}" srcOrd="2" destOrd="0" presId="urn:microsoft.com/office/officeart/2005/8/layout/cycle2"/>
    <dgm:cxn modelId="{F8F9FFAC-7F93-314A-84DA-1FB628F3A991}" type="presParOf" srcId="{910CA442-1D13-154C-965C-3209F5958D72}" destId="{A3E474AD-FA8A-8940-BE5C-B14E1630995D}" srcOrd="3" destOrd="0" presId="urn:microsoft.com/office/officeart/2005/8/layout/cycle2"/>
    <dgm:cxn modelId="{A629557D-94AA-3C46-AFC1-DB37ACA41B5F}" type="presParOf" srcId="{A3E474AD-FA8A-8940-BE5C-B14E1630995D}" destId="{AD1FC999-E8CD-094F-A7B1-B7062748A90B}" srcOrd="0" destOrd="0" presId="urn:microsoft.com/office/officeart/2005/8/layout/cycle2"/>
    <dgm:cxn modelId="{F50208A7-FB6F-774C-BFED-214A3937FCED}" type="presParOf" srcId="{910CA442-1D13-154C-965C-3209F5958D72}" destId="{2F5F83D6-42EE-7741-9445-99C618FEF656}" srcOrd="4" destOrd="0" presId="urn:microsoft.com/office/officeart/2005/8/layout/cycle2"/>
    <dgm:cxn modelId="{E3430570-239A-2B4E-88E1-FE0AF2C65BFB}" type="presParOf" srcId="{910CA442-1D13-154C-965C-3209F5958D72}" destId="{0F28C441-80E5-2544-8143-1FF65735D0B7}" srcOrd="5" destOrd="0" presId="urn:microsoft.com/office/officeart/2005/8/layout/cycle2"/>
    <dgm:cxn modelId="{C758887E-E679-8649-9A15-C84AC5CC77B2}" type="presParOf" srcId="{0F28C441-80E5-2544-8143-1FF65735D0B7}" destId="{1C506D2F-7FE0-374C-859F-9728F6CDB04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AC77F5-5AA3-4159-B22F-4F8E8F02498E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34B73FD-7067-4F37-B35D-502B244AD5C6}">
      <dgm:prSet/>
      <dgm:spPr/>
      <dgm:t>
        <a:bodyPr/>
        <a:lstStyle/>
        <a:p>
          <a:r>
            <a:rPr lang="en-US"/>
            <a:t>Always measuring as a deviation from a benchmark</a:t>
          </a:r>
        </a:p>
      </dgm:t>
    </dgm:pt>
    <dgm:pt modelId="{6780C4C5-7B14-4369-AD57-9B323BFF6B47}" type="parTrans" cxnId="{C4C70480-479C-4AA8-BF80-A130E6EF3405}">
      <dgm:prSet/>
      <dgm:spPr/>
      <dgm:t>
        <a:bodyPr/>
        <a:lstStyle/>
        <a:p>
          <a:endParaRPr lang="en-US"/>
        </a:p>
      </dgm:t>
    </dgm:pt>
    <dgm:pt modelId="{D3D96692-E68D-43F1-B592-420E9D82FEF2}" type="sibTrans" cxnId="{C4C70480-479C-4AA8-BF80-A130E6EF3405}">
      <dgm:prSet/>
      <dgm:spPr/>
      <dgm:t>
        <a:bodyPr/>
        <a:lstStyle/>
        <a:p>
          <a:endParaRPr lang="en-US"/>
        </a:p>
      </dgm:t>
    </dgm:pt>
    <dgm:pt modelId="{6C12CF56-B08C-4BD2-B2F7-C5FBA92FCC74}">
      <dgm:prSet/>
      <dgm:spPr/>
      <dgm:t>
        <a:bodyPr/>
        <a:lstStyle/>
        <a:p>
          <a:r>
            <a:rPr lang="en-US" dirty="0"/>
            <a:t>Stuck in today’s world with ad hoc projections</a:t>
          </a:r>
        </a:p>
      </dgm:t>
    </dgm:pt>
    <dgm:pt modelId="{783B8210-A078-44C9-BD3C-94C1D30BDAAF}" type="parTrans" cxnId="{65D4BF8B-F36B-4EA3-93F2-9D7F79D28B9A}">
      <dgm:prSet/>
      <dgm:spPr/>
      <dgm:t>
        <a:bodyPr/>
        <a:lstStyle/>
        <a:p>
          <a:endParaRPr lang="en-US"/>
        </a:p>
      </dgm:t>
    </dgm:pt>
    <dgm:pt modelId="{DF7C2299-A913-4377-BD1A-1AE006B0AD7E}" type="sibTrans" cxnId="{65D4BF8B-F36B-4EA3-93F2-9D7F79D28B9A}">
      <dgm:prSet/>
      <dgm:spPr/>
      <dgm:t>
        <a:bodyPr/>
        <a:lstStyle/>
        <a:p>
          <a:endParaRPr lang="en-US"/>
        </a:p>
      </dgm:t>
    </dgm:pt>
    <dgm:pt modelId="{061985EB-E9AE-46A8-8015-BE34D2CB8C60}">
      <dgm:prSet custT="1"/>
      <dgm:spPr/>
      <dgm:t>
        <a:bodyPr/>
        <a:lstStyle/>
        <a:p>
          <a:r>
            <a:rPr lang="en-US" sz="2000" dirty="0"/>
            <a:t>“Black boxes”</a:t>
          </a:r>
        </a:p>
      </dgm:t>
    </dgm:pt>
    <dgm:pt modelId="{EB8A5B08-1306-4C29-8797-42543A07FE1A}" type="parTrans" cxnId="{4DAC76E5-2074-421D-B013-D7EEBDD9821B}">
      <dgm:prSet/>
      <dgm:spPr/>
      <dgm:t>
        <a:bodyPr/>
        <a:lstStyle/>
        <a:p>
          <a:endParaRPr lang="en-US"/>
        </a:p>
      </dgm:t>
    </dgm:pt>
    <dgm:pt modelId="{0B5445B3-E0D0-46A2-BB38-0744B668E54C}" type="sibTrans" cxnId="{4DAC76E5-2074-421D-B013-D7EEBDD9821B}">
      <dgm:prSet/>
      <dgm:spPr/>
      <dgm:t>
        <a:bodyPr/>
        <a:lstStyle/>
        <a:p>
          <a:endParaRPr lang="en-US"/>
        </a:p>
      </dgm:t>
    </dgm:pt>
    <dgm:pt modelId="{D9B6EDF8-435C-4B4C-82B7-5D584381DFA4}">
      <dgm:prSet/>
      <dgm:spPr/>
      <dgm:t>
        <a:bodyPr/>
        <a:lstStyle/>
        <a:p>
          <a:r>
            <a:rPr lang="en-US" i="1"/>
            <a:t>Many</a:t>
          </a:r>
          <a:r>
            <a:rPr lang="en-US"/>
            <a:t> assumptions</a:t>
          </a:r>
        </a:p>
      </dgm:t>
    </dgm:pt>
    <dgm:pt modelId="{720F4334-AA3D-49D8-9D7B-3FCE738620F3}" type="parTrans" cxnId="{6788201F-4180-493E-9B2D-FFFFF9552982}">
      <dgm:prSet/>
      <dgm:spPr/>
      <dgm:t>
        <a:bodyPr/>
        <a:lstStyle/>
        <a:p>
          <a:endParaRPr lang="en-US"/>
        </a:p>
      </dgm:t>
    </dgm:pt>
    <dgm:pt modelId="{119577D7-57AF-47BA-B5ED-F1F1FC34D064}" type="sibTrans" cxnId="{6788201F-4180-493E-9B2D-FFFFF9552982}">
      <dgm:prSet/>
      <dgm:spPr/>
      <dgm:t>
        <a:bodyPr/>
        <a:lstStyle/>
        <a:p>
          <a:endParaRPr lang="en-US"/>
        </a:p>
      </dgm:t>
    </dgm:pt>
    <dgm:pt modelId="{7A1D1E82-1F3E-4C4E-9A20-95E1DB49A512}" type="pres">
      <dgm:prSet presAssocID="{D8AC77F5-5AA3-4159-B22F-4F8E8F02498E}" presName="matrix" presStyleCnt="0">
        <dgm:presLayoutVars>
          <dgm:chMax val="1"/>
          <dgm:dir/>
          <dgm:resizeHandles val="exact"/>
        </dgm:presLayoutVars>
      </dgm:prSet>
      <dgm:spPr/>
    </dgm:pt>
    <dgm:pt modelId="{9C444D6B-0058-1E43-92EE-831FEAEBE16F}" type="pres">
      <dgm:prSet presAssocID="{D8AC77F5-5AA3-4159-B22F-4F8E8F02498E}" presName="diamond" presStyleLbl="bgShp" presStyleIdx="0" presStyleCnt="1"/>
      <dgm:spPr/>
    </dgm:pt>
    <dgm:pt modelId="{E0AFD5AC-BC07-7C4D-9D03-6A76E3BBB435}" type="pres">
      <dgm:prSet presAssocID="{D8AC77F5-5AA3-4159-B22F-4F8E8F0249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1248C44-8A7C-024A-B6C2-AD9F0B3AED58}" type="pres">
      <dgm:prSet presAssocID="{D8AC77F5-5AA3-4159-B22F-4F8E8F0249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791F3CC-706F-D042-AEED-9D3849E35ACD}" type="pres">
      <dgm:prSet presAssocID="{D8AC77F5-5AA3-4159-B22F-4F8E8F0249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0E527C-B771-AC49-AC05-F49C86535A9A}" type="pres">
      <dgm:prSet presAssocID="{D8AC77F5-5AA3-4159-B22F-4F8E8F0249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788201F-4180-493E-9B2D-FFFFF9552982}" srcId="{D8AC77F5-5AA3-4159-B22F-4F8E8F02498E}" destId="{D9B6EDF8-435C-4B4C-82B7-5D584381DFA4}" srcOrd="3" destOrd="0" parTransId="{720F4334-AA3D-49D8-9D7B-3FCE738620F3}" sibTransId="{119577D7-57AF-47BA-B5ED-F1F1FC34D064}"/>
    <dgm:cxn modelId="{9DA9B069-01DD-2349-BB05-3BC279B3AB89}" type="presOf" srcId="{061985EB-E9AE-46A8-8015-BE34D2CB8C60}" destId="{9791F3CC-706F-D042-AEED-9D3849E35ACD}" srcOrd="0" destOrd="0" presId="urn:microsoft.com/office/officeart/2005/8/layout/matrix3"/>
    <dgm:cxn modelId="{1602AA73-09CF-5843-88D9-0F887C834745}" type="presOf" srcId="{C34B73FD-7067-4F37-B35D-502B244AD5C6}" destId="{E0AFD5AC-BC07-7C4D-9D03-6A76E3BBB435}" srcOrd="0" destOrd="0" presId="urn:microsoft.com/office/officeart/2005/8/layout/matrix3"/>
    <dgm:cxn modelId="{C4C70480-479C-4AA8-BF80-A130E6EF3405}" srcId="{D8AC77F5-5AA3-4159-B22F-4F8E8F02498E}" destId="{C34B73FD-7067-4F37-B35D-502B244AD5C6}" srcOrd="0" destOrd="0" parTransId="{6780C4C5-7B14-4369-AD57-9B323BFF6B47}" sibTransId="{D3D96692-E68D-43F1-B592-420E9D82FEF2}"/>
    <dgm:cxn modelId="{38594E85-114A-A945-8CF6-08F6645DC11B}" type="presOf" srcId="{D8AC77F5-5AA3-4159-B22F-4F8E8F02498E}" destId="{7A1D1E82-1F3E-4C4E-9A20-95E1DB49A512}" srcOrd="0" destOrd="0" presId="urn:microsoft.com/office/officeart/2005/8/layout/matrix3"/>
    <dgm:cxn modelId="{65D4BF8B-F36B-4EA3-93F2-9D7F79D28B9A}" srcId="{D8AC77F5-5AA3-4159-B22F-4F8E8F02498E}" destId="{6C12CF56-B08C-4BD2-B2F7-C5FBA92FCC74}" srcOrd="1" destOrd="0" parTransId="{783B8210-A078-44C9-BD3C-94C1D30BDAAF}" sibTransId="{DF7C2299-A913-4377-BD1A-1AE006B0AD7E}"/>
    <dgm:cxn modelId="{83D9E3B9-65CE-6348-9417-248E348F765C}" type="presOf" srcId="{6C12CF56-B08C-4BD2-B2F7-C5FBA92FCC74}" destId="{11248C44-8A7C-024A-B6C2-AD9F0B3AED58}" srcOrd="0" destOrd="0" presId="urn:microsoft.com/office/officeart/2005/8/layout/matrix3"/>
    <dgm:cxn modelId="{4DAC76E5-2074-421D-B013-D7EEBDD9821B}" srcId="{D8AC77F5-5AA3-4159-B22F-4F8E8F02498E}" destId="{061985EB-E9AE-46A8-8015-BE34D2CB8C60}" srcOrd="2" destOrd="0" parTransId="{EB8A5B08-1306-4C29-8797-42543A07FE1A}" sibTransId="{0B5445B3-E0D0-46A2-BB38-0744B668E54C}"/>
    <dgm:cxn modelId="{969488EE-7C4A-7C49-B8FE-AE73D317D520}" type="presOf" srcId="{D9B6EDF8-435C-4B4C-82B7-5D584381DFA4}" destId="{DE0E527C-B771-AC49-AC05-F49C86535A9A}" srcOrd="0" destOrd="0" presId="urn:microsoft.com/office/officeart/2005/8/layout/matrix3"/>
    <dgm:cxn modelId="{19605C1F-8476-9B4A-B27C-6878DDBBE9D2}" type="presParOf" srcId="{7A1D1E82-1F3E-4C4E-9A20-95E1DB49A512}" destId="{9C444D6B-0058-1E43-92EE-831FEAEBE16F}" srcOrd="0" destOrd="0" presId="urn:microsoft.com/office/officeart/2005/8/layout/matrix3"/>
    <dgm:cxn modelId="{43BDACC0-EA45-CE4E-872C-F5E38528AF48}" type="presParOf" srcId="{7A1D1E82-1F3E-4C4E-9A20-95E1DB49A512}" destId="{E0AFD5AC-BC07-7C4D-9D03-6A76E3BBB435}" srcOrd="1" destOrd="0" presId="urn:microsoft.com/office/officeart/2005/8/layout/matrix3"/>
    <dgm:cxn modelId="{900643EB-C23C-B740-9915-7309D6A96504}" type="presParOf" srcId="{7A1D1E82-1F3E-4C4E-9A20-95E1DB49A512}" destId="{11248C44-8A7C-024A-B6C2-AD9F0B3AED58}" srcOrd="2" destOrd="0" presId="urn:microsoft.com/office/officeart/2005/8/layout/matrix3"/>
    <dgm:cxn modelId="{F60EFA14-4526-1641-9028-A19CD9FA761F}" type="presParOf" srcId="{7A1D1E82-1F3E-4C4E-9A20-95E1DB49A512}" destId="{9791F3CC-706F-D042-AEED-9D3849E35ACD}" srcOrd="3" destOrd="0" presId="urn:microsoft.com/office/officeart/2005/8/layout/matrix3"/>
    <dgm:cxn modelId="{AA93A4B1-E4CF-F94B-A647-18A7EAE25025}" type="presParOf" srcId="{7A1D1E82-1F3E-4C4E-9A20-95E1DB49A512}" destId="{DE0E527C-B771-AC49-AC05-F49C86535A9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68C9E-93AD-144E-BC8E-A2CD3C53AF41}">
      <dsp:nvSpPr>
        <dsp:cNvPr id="0" name=""/>
        <dsp:cNvSpPr/>
      </dsp:nvSpPr>
      <dsp:spPr>
        <a:xfrm>
          <a:off x="0" y="60046"/>
          <a:ext cx="6666833" cy="261363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Project due date: 12/15</a:t>
          </a:r>
        </a:p>
      </dsp:txBody>
      <dsp:txXfrm>
        <a:off x="127587" y="187633"/>
        <a:ext cx="6411659" cy="2358459"/>
      </dsp:txXfrm>
    </dsp:sp>
    <dsp:sp modelId="{419960CF-74DA-5244-BD7C-D7E9B675BE5D}">
      <dsp:nvSpPr>
        <dsp:cNvPr id="0" name=""/>
        <dsp:cNvSpPr/>
      </dsp:nvSpPr>
      <dsp:spPr>
        <a:xfrm>
          <a:off x="0" y="2780239"/>
          <a:ext cx="6666833" cy="2613633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Could re-organize presentations and have cancelled/hangout class 12/10 </a:t>
          </a:r>
        </a:p>
      </dsp:txBody>
      <dsp:txXfrm>
        <a:off x="127587" y="2907826"/>
        <a:ext cx="6411659" cy="2358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EE84B-D3D2-404E-8A54-E42346D68788}">
      <dsp:nvSpPr>
        <dsp:cNvPr id="0" name=""/>
        <dsp:cNvSpPr/>
      </dsp:nvSpPr>
      <dsp:spPr>
        <a:xfrm>
          <a:off x="3246437" y="534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200" b="0" i="1" kern="1200" smtClean="0">
                    <a:latin typeface="Cambria Math" panose="02040503050406030204" pitchFamily="18" charset="0"/>
                  </a:rPr>
                  <m:t>𝑀𝑎𝑥</m:t>
                </m:r>
                <m:r>
                  <a:rPr lang="en-US" sz="3200" b="0" i="1" kern="1200" smtClean="0">
                    <a:latin typeface="Cambria Math" panose="02040503050406030204" pitchFamily="18" charset="0"/>
                  </a:rPr>
                  <m:t> </m:t>
                </m:r>
                <m:sSub>
                  <m:sSubPr>
                    <m:ctrlPr>
                      <a:rPr lang="en-US" sz="32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𝜋</m:t>
                    </m:r>
                  </m:e>
                  <m:sub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𝑟</m:t>
                    </m:r>
                  </m:sub>
                </m:sSub>
              </m:oMath>
            </m:oMathPara>
          </a14:m>
          <a:endParaRPr lang="en-US" sz="3200" kern="1200" dirty="0"/>
        </a:p>
      </dsp:txBody>
      <dsp:txXfrm>
        <a:off x="3485895" y="239992"/>
        <a:ext cx="1156208" cy="1156208"/>
      </dsp:txXfrm>
    </dsp:sp>
    <dsp:sp modelId="{B5FC4C2E-DF2F-D548-BEAE-5DDD3B0A5C0E}">
      <dsp:nvSpPr>
        <dsp:cNvPr id="0" name=""/>
        <dsp:cNvSpPr/>
      </dsp:nvSpPr>
      <dsp:spPr>
        <a:xfrm rot="2160000">
          <a:off x="4830234" y="125730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842728" y="1329221"/>
        <a:ext cx="305286" cy="331112"/>
      </dsp:txXfrm>
    </dsp:sp>
    <dsp:sp modelId="{688219AD-4572-9F41-A568-969DE06FB29B}">
      <dsp:nvSpPr>
        <dsp:cNvPr id="0" name=""/>
        <dsp:cNvSpPr/>
      </dsp:nvSpPr>
      <dsp:spPr>
        <a:xfrm>
          <a:off x="5235001" y="1445310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200" b="0" i="1" kern="1200" smtClean="0">
                    <a:latin typeface="Cambria Math" panose="02040503050406030204" pitchFamily="18" charset="0"/>
                  </a:rPr>
                  <m:t>𝑀𝑎𝑥</m:t>
                </m:r>
                <m:r>
                  <a:rPr lang="en-US" sz="3200" b="0" i="1" kern="1200" smtClean="0">
                    <a:latin typeface="Cambria Math" panose="02040503050406030204" pitchFamily="18" charset="0"/>
                  </a:rPr>
                  <m:t> </m:t>
                </m:r>
                <m:sSub>
                  <m:sSubPr>
                    <m:ctrlPr>
                      <a:rPr lang="en-US" sz="32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𝜋</m:t>
                    </m:r>
                  </m:e>
                  <m:sub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𝑠</m:t>
                    </m:r>
                  </m:sub>
                </m:sSub>
              </m:oMath>
            </m:oMathPara>
          </a14:m>
          <a:endParaRPr lang="en-US" sz="3200" kern="1200" dirty="0"/>
        </a:p>
      </dsp:txBody>
      <dsp:txXfrm>
        <a:off x="5474459" y="1684768"/>
        <a:ext cx="1156208" cy="1156208"/>
      </dsp:txXfrm>
    </dsp:sp>
    <dsp:sp modelId="{AB8175D8-A968-2E4F-A8F6-B2A21FF2D157}">
      <dsp:nvSpPr>
        <dsp:cNvPr id="0" name=""/>
        <dsp:cNvSpPr/>
      </dsp:nvSpPr>
      <dsp:spPr>
        <a:xfrm rot="6480000">
          <a:off x="5458534" y="3144055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5544168" y="3192209"/>
        <a:ext cx="305286" cy="331112"/>
      </dsp:txXfrm>
    </dsp:sp>
    <dsp:sp modelId="{F12A7721-DC0D-6F46-B9F2-FDE0F430C287}">
      <dsp:nvSpPr>
        <dsp:cNvPr id="0" name=""/>
        <dsp:cNvSpPr/>
      </dsp:nvSpPr>
      <dsp:spPr>
        <a:xfrm>
          <a:off x="4475437" y="3783007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200" b="0" i="1" kern="1200" smtClean="0">
                    <a:latin typeface="Cambria Math" panose="02040503050406030204" pitchFamily="18" charset="0"/>
                  </a:rPr>
                  <m:t>𝑀𝑎𝑥</m:t>
                </m:r>
                <m:r>
                  <a:rPr lang="en-US" sz="3200" b="0" i="1" kern="1200" smtClean="0">
                    <a:latin typeface="Cambria Math" panose="02040503050406030204" pitchFamily="18" charset="0"/>
                  </a:rPr>
                  <m:t> </m:t>
                </m:r>
                <m:sSub>
                  <m:sSubPr>
                    <m:ctrlPr>
                      <a:rPr lang="en-US" sz="32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𝜋</m:t>
                    </m:r>
                  </m:e>
                  <m:sub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m:oMathPara>
          </a14:m>
          <a:endParaRPr lang="en-US" sz="3200" kern="1200" dirty="0"/>
        </a:p>
      </dsp:txBody>
      <dsp:txXfrm>
        <a:off x="4714895" y="4022465"/>
        <a:ext cx="1156208" cy="1156208"/>
      </dsp:txXfrm>
    </dsp:sp>
    <dsp:sp modelId="{BD507344-3033-7046-8E49-7E184B985E8B}">
      <dsp:nvSpPr>
        <dsp:cNvPr id="0" name=""/>
        <dsp:cNvSpPr/>
      </dsp:nvSpPr>
      <dsp:spPr>
        <a:xfrm rot="10800000">
          <a:off x="3858281" y="432464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989118" y="4435013"/>
        <a:ext cx="305286" cy="331112"/>
      </dsp:txXfrm>
    </dsp:sp>
    <dsp:sp modelId="{8238BC49-25D3-4B45-9F63-FB01132AEADC}">
      <dsp:nvSpPr>
        <dsp:cNvPr id="0" name=""/>
        <dsp:cNvSpPr/>
      </dsp:nvSpPr>
      <dsp:spPr>
        <a:xfrm>
          <a:off x="2017437" y="3783007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200" b="0" i="1" kern="1200" smtClean="0">
                    <a:latin typeface="Cambria Math" panose="02040503050406030204" pitchFamily="18" charset="0"/>
                  </a:rPr>
                  <m:t>𝑀𝑎𝑥</m:t>
                </m:r>
                <m:r>
                  <a:rPr lang="en-US" sz="3200" b="0" i="1" kern="1200" smtClean="0">
                    <a:latin typeface="Cambria Math" panose="02040503050406030204" pitchFamily="18" charset="0"/>
                  </a:rPr>
                  <m:t> </m:t>
                </m:r>
                <m:sSub>
                  <m:sSubPr>
                    <m:ctrlPr>
                      <a:rPr lang="en-US" sz="32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𝜋</m:t>
                    </m:r>
                  </m:e>
                  <m:sub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𝑢</m:t>
                    </m:r>
                  </m:sub>
                </m:sSub>
              </m:oMath>
            </m:oMathPara>
          </a14:m>
          <a:endParaRPr lang="en-US" sz="3200" kern="1200" dirty="0"/>
        </a:p>
      </dsp:txBody>
      <dsp:txXfrm>
        <a:off x="2256895" y="4022465"/>
        <a:ext cx="1156208" cy="1156208"/>
      </dsp:txXfrm>
    </dsp:sp>
    <dsp:sp modelId="{F4F08512-BF54-7243-ABC8-42D0837884C6}">
      <dsp:nvSpPr>
        <dsp:cNvPr id="0" name=""/>
        <dsp:cNvSpPr/>
      </dsp:nvSpPr>
      <dsp:spPr>
        <a:xfrm rot="15120000">
          <a:off x="2240970" y="3167533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326604" y="3340121"/>
        <a:ext cx="305286" cy="331112"/>
      </dsp:txXfrm>
    </dsp:sp>
    <dsp:sp modelId="{669B63B3-9434-B64A-8318-CCF72E0F2386}">
      <dsp:nvSpPr>
        <dsp:cNvPr id="0" name=""/>
        <dsp:cNvSpPr/>
      </dsp:nvSpPr>
      <dsp:spPr>
        <a:xfrm>
          <a:off x="1257873" y="1445310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200" b="0" i="1" kern="1200" smtClean="0">
                    <a:latin typeface="Cambria Math" panose="02040503050406030204" pitchFamily="18" charset="0"/>
                  </a:rPr>
                  <m:t>𝑀𝑎𝑥</m:t>
                </m:r>
                <m:r>
                  <a:rPr lang="en-US" sz="3200" b="0" i="1" kern="1200" smtClean="0">
                    <a:latin typeface="Cambria Math" panose="02040503050406030204" pitchFamily="18" charset="0"/>
                  </a:rPr>
                  <m:t> </m:t>
                </m:r>
                <m:sSub>
                  <m:sSubPr>
                    <m:ctrlPr>
                      <a:rPr lang="en-US" sz="32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𝜋</m:t>
                    </m:r>
                  </m:e>
                  <m:sub>
                    <m:r>
                      <a:rPr lang="en-US" sz="3200" b="0" i="1" kern="1200" smtClean="0">
                        <a:latin typeface="Cambria Math" panose="02040503050406030204" pitchFamily="18" charset="0"/>
                      </a:rPr>
                      <m:t>𝑣</m:t>
                    </m:r>
                  </m:sub>
                </m:sSub>
              </m:oMath>
            </m:oMathPara>
          </a14:m>
          <a:endParaRPr lang="en-US" sz="3200" kern="1200" dirty="0"/>
        </a:p>
      </dsp:txBody>
      <dsp:txXfrm>
        <a:off x="1497331" y="1684768"/>
        <a:ext cx="1156208" cy="1156208"/>
      </dsp:txXfrm>
    </dsp:sp>
    <dsp:sp modelId="{96B976C7-E92A-564B-980E-02E0E91FD964}">
      <dsp:nvSpPr>
        <dsp:cNvPr id="0" name=""/>
        <dsp:cNvSpPr/>
      </dsp:nvSpPr>
      <dsp:spPr>
        <a:xfrm rot="19440000">
          <a:off x="2841670" y="127181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54164" y="1420635"/>
        <a:ext cx="305286" cy="3311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C85B6-0CB8-6546-BEC4-C5BF6E601062}">
      <dsp:nvSpPr>
        <dsp:cNvPr id="0" name=""/>
        <dsp:cNvSpPr/>
      </dsp:nvSpPr>
      <dsp:spPr>
        <a:xfrm>
          <a:off x="2077229" y="154"/>
          <a:ext cx="1313620" cy="13136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China</a:t>
          </a:r>
        </a:p>
      </dsp:txBody>
      <dsp:txXfrm>
        <a:off x="2269604" y="192529"/>
        <a:ext cx="928870" cy="928870"/>
      </dsp:txXfrm>
    </dsp:sp>
    <dsp:sp modelId="{88E64643-3AF5-0D43-ABFC-A893EB2E90BD}">
      <dsp:nvSpPr>
        <dsp:cNvPr id="0" name=""/>
        <dsp:cNvSpPr/>
      </dsp:nvSpPr>
      <dsp:spPr>
        <a:xfrm rot="3600000">
          <a:off x="3047666" y="1279983"/>
          <a:ext cx="348113" cy="443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073775" y="1323431"/>
        <a:ext cx="243679" cy="266008"/>
      </dsp:txXfrm>
    </dsp:sp>
    <dsp:sp modelId="{A10D6A81-C3D9-1A45-975D-0EDE93B9D9C3}">
      <dsp:nvSpPr>
        <dsp:cNvPr id="0" name=""/>
        <dsp:cNvSpPr/>
      </dsp:nvSpPr>
      <dsp:spPr>
        <a:xfrm>
          <a:off x="3062448" y="1706604"/>
          <a:ext cx="1313620" cy="13136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Illegal</a:t>
          </a:r>
        </a:p>
      </dsp:txBody>
      <dsp:txXfrm>
        <a:off x="3254823" y="1898979"/>
        <a:ext cx="928870" cy="928870"/>
      </dsp:txXfrm>
    </dsp:sp>
    <dsp:sp modelId="{A3E474AD-FA8A-8940-BE5C-B14E1630995D}">
      <dsp:nvSpPr>
        <dsp:cNvPr id="0" name=""/>
        <dsp:cNvSpPr/>
      </dsp:nvSpPr>
      <dsp:spPr>
        <a:xfrm rot="10800000">
          <a:off x="2569835" y="2141740"/>
          <a:ext cx="348113" cy="443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74269" y="2230409"/>
        <a:ext cx="243679" cy="266008"/>
      </dsp:txXfrm>
    </dsp:sp>
    <dsp:sp modelId="{2F5F83D6-42EE-7741-9445-99C618FEF656}">
      <dsp:nvSpPr>
        <dsp:cNvPr id="0" name=""/>
        <dsp:cNvSpPr/>
      </dsp:nvSpPr>
      <dsp:spPr>
        <a:xfrm>
          <a:off x="1092010" y="1706604"/>
          <a:ext cx="1313620" cy="13136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Australia</a:t>
          </a:r>
        </a:p>
      </dsp:txBody>
      <dsp:txXfrm>
        <a:off x="1284385" y="1898979"/>
        <a:ext cx="928870" cy="928870"/>
      </dsp:txXfrm>
    </dsp:sp>
    <dsp:sp modelId="{0F28C441-80E5-2544-8143-1FF65735D0B7}">
      <dsp:nvSpPr>
        <dsp:cNvPr id="0" name=""/>
        <dsp:cNvSpPr/>
      </dsp:nvSpPr>
      <dsp:spPr>
        <a:xfrm rot="18000000">
          <a:off x="2062447" y="1297048"/>
          <a:ext cx="348113" cy="443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88556" y="1430938"/>
        <a:ext cx="243679" cy="2660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44D6B-0058-1E43-92EE-831FEAEBE16F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AFD5AC-BC07-7C4D-9D03-6A76E3BBB435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Always measuring as a deviation from a benchmark</a:t>
          </a:r>
        </a:p>
      </dsp:txBody>
      <dsp:txXfrm>
        <a:off x="1228411" y="621955"/>
        <a:ext cx="1919362" cy="1919362"/>
      </dsp:txXfrm>
    </dsp:sp>
    <dsp:sp modelId="{11248C44-8A7C-024A-B6C2-AD9F0B3AED58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Stuck in today’s world with ad hoc projections</a:t>
          </a:r>
        </a:p>
      </dsp:txBody>
      <dsp:txXfrm>
        <a:off x="3519058" y="621955"/>
        <a:ext cx="1919362" cy="1919362"/>
      </dsp:txXfrm>
    </dsp:sp>
    <dsp:sp modelId="{9791F3CC-706F-D042-AEED-9D3849E35ACD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“Black boxes”</a:t>
          </a:r>
        </a:p>
      </dsp:txBody>
      <dsp:txXfrm>
        <a:off x="1228411" y="2912601"/>
        <a:ext cx="1919362" cy="1919362"/>
      </dsp:txXfrm>
    </dsp:sp>
    <dsp:sp modelId="{DE0E527C-B771-AC49-AC05-F49C86535A9A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1" kern="1200"/>
            <a:t>Many</a:t>
          </a:r>
          <a:r>
            <a:rPr lang="en-US" sz="2300" kern="1200"/>
            <a:t> assumptions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88CEC-4D82-3F47-91BB-0B78145C2C2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8A2AB-04B4-4044-BFE1-C42BA47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4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neco.2007.03.004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1142/S2010007818400158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DF72-9EF3-BC9A-C167-7FA90D0B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4B7AB-9106-EA71-850A-574BD6C61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81880-892A-35D9-1A9E-15C50B5B6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64958-7315-5D91-89DE-F1D2E8786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8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hucval</a:t>
            </a:r>
            <a:r>
              <a:rPr lang="en-US"/>
              <a:t>	"unemployment compensation"</a:t>
            </a:r>
          </a:p>
          <a:p>
            <a:r>
              <a:rPr lang="en-US" err="1"/>
              <a:t>hwcval</a:t>
            </a:r>
            <a:r>
              <a:rPr lang="en-US"/>
              <a:t>	"workers compensation"</a:t>
            </a:r>
          </a:p>
          <a:p>
            <a:r>
              <a:rPr lang="en-US" err="1"/>
              <a:t>hssval</a:t>
            </a:r>
            <a:r>
              <a:rPr lang="en-US"/>
              <a:t>	"social security"</a:t>
            </a:r>
          </a:p>
          <a:p>
            <a:r>
              <a:rPr lang="en-US" err="1"/>
              <a:t>hssival</a:t>
            </a:r>
            <a:r>
              <a:rPr lang="en-US"/>
              <a:t>	"supplemental security"</a:t>
            </a:r>
          </a:p>
          <a:p>
            <a:r>
              <a:rPr lang="en-US" err="1"/>
              <a:t>hpawval</a:t>
            </a:r>
            <a:r>
              <a:rPr lang="en-US"/>
              <a:t>	"public assistance or welfare"</a:t>
            </a:r>
          </a:p>
          <a:p>
            <a:r>
              <a:rPr lang="en-US" err="1"/>
              <a:t>hvetval</a:t>
            </a:r>
            <a:r>
              <a:rPr lang="en-US"/>
              <a:t>	"veterans benefits"</a:t>
            </a:r>
          </a:p>
          <a:p>
            <a:r>
              <a:rPr lang="en-US" err="1"/>
              <a:t>hsurval</a:t>
            </a:r>
            <a:r>
              <a:rPr lang="en-US"/>
              <a:t>	"survivors income"</a:t>
            </a:r>
          </a:p>
          <a:p>
            <a:r>
              <a:rPr lang="en-US" err="1"/>
              <a:t>hdisval</a:t>
            </a:r>
            <a:r>
              <a:rPr lang="en-US"/>
              <a:t>	"disability"</a:t>
            </a:r>
          </a:p>
          <a:p>
            <a:r>
              <a:rPr lang="en-US" err="1"/>
              <a:t>hedval</a:t>
            </a:r>
            <a:r>
              <a:rPr lang="en-US"/>
              <a:t>	"educational assistance"</a:t>
            </a:r>
          </a:p>
          <a:p>
            <a:r>
              <a:rPr lang="en-US" err="1"/>
              <a:t>hcspval</a:t>
            </a:r>
            <a:r>
              <a:rPr lang="en-US"/>
              <a:t>	"child support"</a:t>
            </a:r>
          </a:p>
          <a:p>
            <a:r>
              <a:rPr lang="en-US" err="1"/>
              <a:t>hfinval</a:t>
            </a:r>
            <a:r>
              <a:rPr lang="en-US"/>
              <a:t>	"financial assistance"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F68F6-B62C-402E-BD2B-B54203F997A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0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 function that shows how much of a good a consumer will demand at different prices, while keeping their utility level constant, meaning their overall satisfaction remains the same regardless of price changes</a:t>
            </a:r>
          </a:p>
          <a:p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quantity demanded as part of the solution to minimizing expenditure on all goods while delivering a fixed level of utility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04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“represents the relationship between the quantity demanded of a single unit of a factor of production (like labor or capital) and the price of that factor, while holding the level of output constant”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87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Unit cost function -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cost of producing a single unit of a product, essentially the average cost per unit, by dividing the total production cost</a:t>
            </a:r>
          </a:p>
          <a:p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Factor demand functions: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the amount of a single unit of a factor of production (like labor or capital) required to produce one unit of output</a:t>
            </a:r>
          </a:p>
          <a:p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Unit expenditure functions: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amount of money a consumer needs to spend to achieve a desired level of utility</a:t>
            </a:r>
          </a:p>
          <a:p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Hicksian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demand functions:</a:t>
            </a: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Quantity demanded as part of the solution to minimizing their expenditure on all goods while delivering a fixed level of utility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2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5F82A-3483-4482-9F29-E97693134E0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03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5F82A-3483-4482-9F29-E97693134E0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85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people know USREP-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ReEDS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/>
              <a:t>C. </a:t>
            </a:r>
            <a:r>
              <a:rPr lang="en-US" err="1"/>
              <a:t>Böhringer</a:t>
            </a:r>
            <a:r>
              <a:rPr lang="en-US"/>
              <a:t> and T. F. Rutherford, “Combining bottom-up and top-down,” </a:t>
            </a:r>
            <a:r>
              <a:rPr lang="en-US" i="1">
                <a:hlinkClick r:id="rId3"/>
              </a:rPr>
              <a:t>Energy Econ</a:t>
            </a:r>
            <a:r>
              <a:rPr lang="en-US">
                <a:hlinkClick r:id="rId3"/>
              </a:rPr>
              <a:t>, 30(2):574–596, Mar. 2008</a:t>
            </a:r>
            <a:r>
              <a:rPr lang="en-US"/>
              <a:t>.</a:t>
            </a:r>
          </a:p>
          <a:p>
            <a:r>
              <a:rPr lang="en-US"/>
              <a:t>J. Caron, S. M. Cohen, M. Brown, and J. M. Reilly, “Exploring the impacts of a national U.S. CO2 tax and revenue recycling options with a coupled electricity-economy model,” </a:t>
            </a:r>
            <a:r>
              <a:rPr lang="en-US" i="1">
                <a:hlinkClick r:id="rId4"/>
              </a:rPr>
              <a:t>Clim Chang Econ</a:t>
            </a:r>
            <a:r>
              <a:rPr lang="en-US">
                <a:hlinkClick r:id="rId4"/>
              </a:rPr>
              <a:t>, 9(1):1840015, Mar. 2018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46811-17DA-9941-B072-0FDD734050A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7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6080-D4E6-2421-2924-9BC303539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31422-967D-BEFF-4074-B141F98CE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E97E-6A45-DF66-B2D3-29990291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CA56E-6A79-EBD2-2F2C-C59CFE6D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D257-294B-48D4-3CC4-CF7C310B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1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CC1-CBD2-3E50-D711-1CA29452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EEC4-89FA-30CC-FAFB-9CC8F54E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BAB65-793F-93D6-8C83-61C13DBF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6511-A5D4-14B0-9F96-75A04B4F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2CA79-B665-85ED-14BE-C667C82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5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9950-1848-4B41-A47F-C1F64E6D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5D71F-2E15-3271-730A-AFA10688D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AC44A-B35D-FCB7-4D38-CCDA78EC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C93C7-B71A-30E8-9748-582CEBF3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1BA9D-EDAE-5223-314A-B1C3F869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942B-7D08-E1FD-746F-86564A48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F5DB9-3756-B51A-12E4-4DF6AD74F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88D52-F325-DBEE-E453-3C545F2E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6F9E0-4115-818B-DC6C-76578683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6E36C-37C0-BBBF-546C-1822BD26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CEC3B-E164-F2E8-CDE8-9ECD6443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0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C310-05FB-4DA1-57DD-C0FA5AAA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0985B-8F2E-DB9B-825A-D4F7D89DE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20F1C-8E05-925D-3114-38EE8D0D4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A0A5D-DCC4-A971-5A2E-1AF1C7F33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88A34-B167-B40E-3D85-53E399047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742EC-C717-69C6-2332-440B43FF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2BD3F-9F3F-6B2C-49D6-01601675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82D59-12C3-B037-1FAB-51E32A29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7959-2C89-6DE3-D3C8-17F94CD8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9877C-EA22-F9CA-28CD-35C4A550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3983B-B795-F640-E9CB-9B430C35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D6102-908F-EEF6-339F-8729A189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3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3C183-F8E0-65DF-8004-A3A9931A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F51D6-3CA9-C701-0279-407EE68E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492A3-D5AC-7B47-D35C-8941066F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9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D0FC-7068-2062-E09C-D33CE755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F828-967E-242E-77A6-AFCDD1FEE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9A395-E562-2CED-A91B-7E6E83EF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82BDF-E589-5259-D09D-7081FF66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BEF19-3B20-844A-1EE6-AD30664E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EFC82-38F2-D916-0EF5-34F18E4B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8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F987-0B17-4883-013C-F55974CB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6304-3B49-1774-F83F-52FC76C79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6867A-87CD-16AB-8D1E-DB34F6C00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4CE4-D63E-5CFC-DC94-69D91BF5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6DE9E-F169-4398-A753-9F29913B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F5A40-923E-FCB5-4636-FA1116FB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4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EBD9-0419-D704-05AB-9E2A8D4D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DEBD1-5F56-A5E1-1A66-EA5E48218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D239-0068-7265-7B6D-5950EDEF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D6B0F-EAAD-849F-4A2C-21DBF5E0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CF1E-9E46-C29D-DC42-6F790FD5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4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B743A-C128-578D-C355-79E0F3BBA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0DCBE-DDC4-D248-A2F6-FF937C15D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1A2FE-E769-C63C-F57D-0514D4F6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819A-98E4-E2B6-F951-D25366DF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19686-553D-C4C2-5524-1E0326C9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83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mple Slid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09601" y="1828801"/>
            <a:ext cx="10826751" cy="45000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44290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01AFE-E49C-A952-307D-7CE02720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3F4FF-E957-EEB1-A27F-E27AA102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6618F-6B6F-F698-1026-3A2E35E56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BDCCC-1CBB-FA4E-9CF2-2901E22410E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8B21-5674-95CB-AE9D-4E249E127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4D03B-56B1-3246-FA08-F7935A387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openxmlformats.org/officeDocument/2006/relationships/image" Target="../media/image22.png"/><Relationship Id="rId10" Type="http://schemas.microsoft.com/office/2007/relationships/diagramDrawing" Target="../diagrams/drawing3.xml"/><Relationship Id="rId4" Type="http://schemas.openxmlformats.org/officeDocument/2006/relationships/image" Target="../media/image60.png"/><Relationship Id="rId9" Type="http://schemas.openxmlformats.org/officeDocument/2006/relationships/diagramColors" Target="../diagrams/colors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tap.agecon.purdue.edu/models/current.asp" TargetMode="External"/><Relationship Id="rId2" Type="http://schemas.openxmlformats.org/officeDocument/2006/relationships/hyperlink" Target="https://windc.wisc.edu/model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lobalchange.mit.edu/publication/17331" TargetMode="External"/><Relationship Id="rId5" Type="http://schemas.openxmlformats.org/officeDocument/2006/relationships/hyperlink" Target="https://www.newyorkfed.org/research/policy/dsge#/overview" TargetMode="External"/><Relationship Id="rId4" Type="http://schemas.openxmlformats.org/officeDocument/2006/relationships/hyperlink" Target="https://www.epa.gov/environmental-economics/cge-modeling-regulatory-analysi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indc.wisc.edu/downloads/summercourse_2021/thursday/ces.pdf" TargetMode="External"/><Relationship Id="rId2" Type="http://schemas.openxmlformats.org/officeDocument/2006/relationships/hyperlink" Target="https://www.jamelsaadaoui.com/visualizing-ces-production-functions-with-wolfram-alph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znOL753eiQ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F797-41A3-4290-4808-540E0ADA3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AD1C3-35EE-F38D-4024-E6F66A065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Calibrated market models</a:t>
            </a:r>
          </a:p>
          <a:p>
            <a:r>
              <a:rPr lang="en-US" dirty="0"/>
              <a:t>MPECs for leader/follower games</a:t>
            </a:r>
          </a:p>
          <a:p>
            <a:r>
              <a:rPr lang="en-US" dirty="0"/>
              <a:t>CGE models</a:t>
            </a:r>
          </a:p>
        </p:txBody>
      </p:sp>
    </p:spTree>
    <p:extLst>
      <p:ext uri="{BB962C8B-B14F-4D97-AF65-F5344CB8AC3E}">
        <p14:creationId xmlns:p14="http://schemas.microsoft.com/office/powerpoint/2010/main" val="31423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FD054-0979-60A9-711C-2EA73652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Upcoming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4146A0-F4F8-A8BE-917E-189FAB8E0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6931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048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03CBA-E9F5-EC36-BA52-971963D3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A1D91-C64C-3688-8DA7-5DF256E16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7308" y="591344"/>
                <a:ext cx="7358869" cy="5585619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Why convert a model to an MCP if it’s just going to be the exact same as the LP/NLP it was derived from?</a:t>
                </a:r>
              </a:p>
              <a:p>
                <a:pPr lvl="1"/>
                <a:r>
                  <a:rPr lang="en-US" dirty="0"/>
                  <a:t>If you want price control</a:t>
                </a:r>
              </a:p>
              <a:p>
                <a:pPr lvl="1"/>
                <a:r>
                  <a:rPr lang="en-US" dirty="0"/>
                  <a:t>If you want self-interested actors, disequilibrium</a:t>
                </a:r>
              </a:p>
              <a:p>
                <a:pPr lvl="1"/>
                <a:r>
                  <a:rPr lang="en-US" dirty="0"/>
                  <a:t>If you want to add another level (MPEC) 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Also– MCPs can be very intuitive for equilibrium problems: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A1D91-C64C-3688-8DA7-5DF256E16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7308" y="591344"/>
                <a:ext cx="7358869" cy="5585619"/>
              </a:xfrm>
              <a:blipFill>
                <a:blip r:embed="rId2"/>
                <a:stretch>
                  <a:fillRect l="-1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68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A519-5950-473D-3E2A-8F80E70A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507"/>
            <a:ext cx="10515600" cy="1325563"/>
          </a:xfrm>
        </p:spPr>
        <p:txBody>
          <a:bodyPr/>
          <a:lstStyle/>
          <a:p>
            <a:r>
              <a:rPr lang="en-US" dirty="0"/>
              <a:t>Discussion: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21690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22E-1D14-F4A0-35EA-890B7BEE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Current Job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E4D38-9DA0-810B-2FA8-D3D3A318C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easy out there</a:t>
            </a:r>
          </a:p>
          <a:p>
            <a:r>
              <a:rPr lang="en-US" dirty="0"/>
              <a:t>Many senior researcher friends of mine are having trouble</a:t>
            </a:r>
          </a:p>
          <a:p>
            <a:r>
              <a:rPr lang="en-US" dirty="0"/>
              <a:t>Not you and not just you</a:t>
            </a:r>
          </a:p>
          <a:p>
            <a:r>
              <a:rPr lang="en-US" dirty="0"/>
              <a:t>“It is hell out there”</a:t>
            </a:r>
          </a:p>
        </p:txBody>
      </p:sp>
    </p:spTree>
    <p:extLst>
      <p:ext uri="{BB962C8B-B14F-4D97-AF65-F5344CB8AC3E}">
        <p14:creationId xmlns:p14="http://schemas.microsoft.com/office/powerpoint/2010/main" val="380247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6782-977E-DF19-5377-AF639866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DCA19-BB13-35FF-8E2C-D0D6FDF60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0855"/>
            <a:ext cx="10515600" cy="3496108"/>
          </a:xfrm>
        </p:spPr>
        <p:txBody>
          <a:bodyPr/>
          <a:lstStyle/>
          <a:p>
            <a:r>
              <a:rPr lang="en-US" dirty="0"/>
              <a:t>MCPs for calibrated market models</a:t>
            </a:r>
          </a:p>
          <a:p>
            <a:r>
              <a:rPr lang="en-US" dirty="0"/>
              <a:t>MPECs for leader-follower games (or individual actors)</a:t>
            </a:r>
          </a:p>
          <a:p>
            <a:r>
              <a:rPr lang="en-US" dirty="0"/>
              <a:t>EPECs for Stackelberg games</a:t>
            </a:r>
          </a:p>
          <a:p>
            <a:r>
              <a:rPr lang="en-US" dirty="0"/>
              <a:t>CGE models – intro/discussion</a:t>
            </a:r>
          </a:p>
        </p:txBody>
      </p:sp>
    </p:spTree>
    <p:extLst>
      <p:ext uri="{BB962C8B-B14F-4D97-AF65-F5344CB8AC3E}">
        <p14:creationId xmlns:p14="http://schemas.microsoft.com/office/powerpoint/2010/main" val="119592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732ED-4609-8E88-209F-9B22CDCE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/>
              <a:t>Equilibrium problems (Calibrated market models)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82C1FD-DECB-D68D-9C8D-EAA35A6D5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 fontScale="92500" lnSpcReduction="10000"/>
              </a:bodyPr>
              <a:lstStyle/>
              <a:p>
                <a:r>
                  <a:rPr lang="en-US" sz="2200" dirty="0"/>
                  <a:t>Let’s create a simple model of the global crude oil market: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≥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400" dirty="0"/>
                  <a:t>Let’s say: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=$62.56/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𝑏𝑏𝑙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82C1FD-DECB-D68D-9C8D-EAA35A6D5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2"/>
                <a:stretch>
                  <a:fillRect l="-1575" t="-6762" r="-2362" b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A023D2-9C1B-4FC5-E4D0-64CCA576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305942"/>
              </p:ext>
            </p:extLst>
          </p:nvPr>
        </p:nvGraphicFramePr>
        <p:xfrm>
          <a:off x="6099048" y="641570"/>
          <a:ext cx="5458969" cy="559136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1496533">
                  <a:extLst>
                    <a:ext uri="{9D8B030D-6E8A-4147-A177-3AD203B41FA5}">
                      <a16:colId xmlns:a16="http://schemas.microsoft.com/office/drawing/2014/main" val="796824243"/>
                    </a:ext>
                  </a:extLst>
                </a:gridCol>
                <a:gridCol w="1904411">
                  <a:extLst>
                    <a:ext uri="{9D8B030D-6E8A-4147-A177-3AD203B41FA5}">
                      <a16:colId xmlns:a16="http://schemas.microsoft.com/office/drawing/2014/main" val="2884948836"/>
                    </a:ext>
                  </a:extLst>
                </a:gridCol>
                <a:gridCol w="2058025">
                  <a:extLst>
                    <a:ext uri="{9D8B030D-6E8A-4147-A177-3AD203B41FA5}">
                      <a16:colId xmlns:a16="http://schemas.microsoft.com/office/drawing/2014/main" val="966981764"/>
                    </a:ext>
                  </a:extLst>
                </a:gridCol>
              </a:tblGrid>
              <a:tr h="4429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043" marR="123043" marT="123043" marB="1230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 cap="all" spc="60" dirty="0">
                          <a:solidFill>
                            <a:schemeClr val="bg1"/>
                          </a:solidFill>
                          <a:effectLst/>
                        </a:rPr>
                        <a:t>Production</a:t>
                      </a:r>
                      <a:endParaRPr lang="en-US" sz="1400" b="1" i="0" u="none" strike="noStrike" cap="all" spc="6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043" marR="123043" marT="123043" marB="1230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 cap="all" spc="60" dirty="0">
                          <a:solidFill>
                            <a:schemeClr val="bg1"/>
                          </a:solidFill>
                          <a:effectLst/>
                        </a:rPr>
                        <a:t>Consumption</a:t>
                      </a:r>
                      <a:endParaRPr lang="en-US" sz="1400" b="1" i="0" u="none" strike="noStrike" cap="all" spc="6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043" marR="123043" marT="123043" marB="1230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37625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UnitedStates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21.91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20.01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651789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SaudiArabia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11.13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3.65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385424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Russia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10.75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3.68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77590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Canada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5.76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2.41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468717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China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5.26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15.15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68876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Iraq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4.42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0.77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10980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Brazil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4.28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3.03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50192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UAE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4.16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1.13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02739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Iran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3.99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1.80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224430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Kuwait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2.91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0.44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44585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1.35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5.05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76618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Japan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0.123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3.38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605320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SouthKorea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0.09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2.55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48550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Germany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0.75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  2.18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085905"/>
                  </a:ext>
                </a:extLst>
              </a:tr>
              <a:tr h="342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ROW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25.69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32.49</a:t>
                      </a:r>
                      <a:endParaRPr lang="en-US" sz="1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45" marR="8545" marT="8545" marB="820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84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49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D20C-0FB1-72DD-0AEA-8E8D2863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neat-o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9670D8-3DE2-3BD6-E852-3AF74EC6BB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Now: </a:t>
                </a:r>
              </a:p>
              <a:p>
                <a:pPr lvl="1"/>
                <a:r>
                  <a:rPr lang="en-US" dirty="0"/>
                  <a:t>what if Russia is limited to half its reference production?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𝑟𝑢𝑠𝑠𝑖𝑎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𝑟𝑢𝑠𝑠𝑖𝑎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Zpc</a:t>
                </a:r>
                <a:r>
                  <a:rPr lang="en-US" dirty="0"/>
                  <a:t> becomes: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𝑟𝑢𝑠𝑠𝑖𝑎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𝑟𝑢𝑠𝑠𝑖𝑎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9670D8-3DE2-3BD6-E852-3AF74EC6B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587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5473-D6DF-8306-B2F5-4832BDEA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Now.. Let’s make a greedy producer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62F0E-606B-A8FF-A318-674897F67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just an example.. and not even a very good one</a:t>
                </a:r>
              </a:p>
              <a:p>
                <a:r>
                  <a:rPr lang="en-US" dirty="0"/>
                  <a:t>Many models on OPEC </a:t>
                </a:r>
                <a:r>
                  <a:rPr lang="en-US" dirty="0" err="1"/>
                  <a:t>etc</a:t>
                </a:r>
                <a:endParaRPr lang="en-US" dirty="0"/>
              </a:p>
              <a:p>
                <a:r>
                  <a:rPr lang="en-US" dirty="0"/>
                  <a:t>Using this as an example of converting an MCP to an MPEC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– US </a:t>
                </a:r>
                <a:r>
                  <a:rPr lang="en-US" i="1" dirty="0"/>
                  <a:t>producers </a:t>
                </a:r>
                <a:r>
                  <a:rPr lang="en-US" dirty="0"/>
                  <a:t>sees this and wants to maximize their profit: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s.t.: [our original MCP]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62F0E-606B-A8FF-A318-674897F67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41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 want to play a game! : r/vinyl">
            <a:extLst>
              <a:ext uri="{FF2B5EF4-FFF2-40B4-BE49-F238E27FC236}">
                <a16:creationId xmlns:a16="http://schemas.microsoft.com/office/drawing/2014/main" id="{5B2C3CB7-CCC4-6ADC-16FC-06A1478D9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00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4799B-2D44-5F3B-A05F-9D89E120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Let’s play a game</a:t>
            </a:r>
          </a:p>
        </p:txBody>
      </p: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99CE-04E0-4A20-0754-B9F518C9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EPECs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029E-C513-7AD4-2C2C-B27F94DCA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7" y="1887970"/>
            <a:ext cx="5053445" cy="4351338"/>
          </a:xfrm>
        </p:spPr>
        <p:txBody>
          <a:bodyPr/>
          <a:lstStyle/>
          <a:p>
            <a:r>
              <a:rPr lang="en-US" dirty="0"/>
              <a:t>Equilibrium Programs with Equilibrium Constraints (EPECs)</a:t>
            </a:r>
          </a:p>
          <a:p>
            <a:endParaRPr lang="en-US" dirty="0"/>
          </a:p>
          <a:p>
            <a:r>
              <a:rPr lang="en-US" dirty="0"/>
              <a:t>Essentially a ‘round-robin’ of an MPEC</a:t>
            </a:r>
          </a:p>
          <a:p>
            <a:endParaRPr lang="en-US" dirty="0"/>
          </a:p>
          <a:p>
            <a:r>
              <a:rPr lang="en-US" dirty="0"/>
              <a:t>Problem: order matters.. Many different equilibria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C84841D-5CEB-4F0D-8950-1C5B9006084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20759480"/>
                  </p:ext>
                </p:extLst>
              </p:nvPr>
            </p:nvGraphicFramePr>
            <p:xfrm>
              <a:off x="4494645" y="449502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C84841D-5CEB-4F0D-8950-1C5B9006084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20759480"/>
                  </p:ext>
                </p:extLst>
              </p:nvPr>
            </p:nvGraphicFramePr>
            <p:xfrm>
              <a:off x="4494645" y="449502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349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D286-A07C-671A-E003-61600AC4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Stackelberg Games</a:t>
            </a:r>
          </a:p>
        </p:txBody>
      </p:sp>
      <p:pic>
        <p:nvPicPr>
          <p:cNvPr id="1026" name="Picture 2" descr="Solved Above is a game tree showing a Stackelberg model of | Chegg.com">
            <a:extLst>
              <a:ext uri="{FF2B5EF4-FFF2-40B4-BE49-F238E27FC236}">
                <a16:creationId xmlns:a16="http://schemas.microsoft.com/office/drawing/2014/main" id="{D277FD0B-4876-B883-392F-94D4FABD7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" t="9250" r="12388" b="28918"/>
          <a:stretch/>
        </p:blipFill>
        <p:spPr bwMode="auto">
          <a:xfrm>
            <a:off x="1004340" y="1843790"/>
            <a:ext cx="10515601" cy="317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C843D1-B590-8511-34FC-4EB3F28E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1508"/>
            <a:ext cx="10515600" cy="855454"/>
          </a:xfrm>
        </p:spPr>
        <p:txBody>
          <a:bodyPr>
            <a:normAutofit/>
          </a:bodyPr>
          <a:lstStyle/>
          <a:p>
            <a:r>
              <a:rPr lang="en-US" dirty="0"/>
              <a:t>Leader acts knowing the responses of the followers</a:t>
            </a:r>
          </a:p>
        </p:txBody>
      </p:sp>
    </p:spTree>
    <p:extLst>
      <p:ext uri="{BB962C8B-B14F-4D97-AF65-F5344CB8AC3E}">
        <p14:creationId xmlns:p14="http://schemas.microsoft.com/office/powerpoint/2010/main" val="170134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AA41-BD01-3025-1C14-ABC96AC0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put this in our simple oil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FD825-C7FF-7358-5D90-D152825D9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s.t.: [our original MCP]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… but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Loop(</a:t>
                </a:r>
                <a:r>
                  <a:rPr lang="en-US" dirty="0" err="1"/>
                  <a:t>rr</a:t>
                </a:r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r>
                  <a:rPr lang="en-US" dirty="0"/>
                  <a:t>	Leader(r) = no ; </a:t>
                </a:r>
              </a:p>
              <a:p>
                <a:pPr marL="0" indent="0">
                  <a:buNone/>
                </a:pPr>
                <a:r>
                  <a:rPr lang="en-US" dirty="0"/>
                  <a:t>	Leader(</a:t>
                </a:r>
                <a:r>
                  <a:rPr lang="en-US" dirty="0" err="1"/>
                  <a:t>rr</a:t>
                </a:r>
                <a:r>
                  <a:rPr lang="en-US" dirty="0"/>
                  <a:t>) = yes ; </a:t>
                </a:r>
              </a:p>
              <a:p>
                <a:pPr marL="0" indent="0">
                  <a:buNone/>
                </a:pPr>
                <a:r>
                  <a:rPr lang="en-US" dirty="0"/>
                  <a:t>	Solve ..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X.fx</a:t>
                </a:r>
                <a:r>
                  <a:rPr lang="en-US" dirty="0"/>
                  <a:t>(</a:t>
                </a:r>
                <a:r>
                  <a:rPr lang="en-US" dirty="0" err="1"/>
                  <a:t>rr</a:t>
                </a:r>
                <a:r>
                  <a:rPr lang="en-US" dirty="0"/>
                  <a:t>) = </a:t>
                </a:r>
                <a:r>
                  <a:rPr lang="en-US" dirty="0" err="1"/>
                  <a:t>X.l</a:t>
                </a:r>
                <a:r>
                  <a:rPr lang="en-US" dirty="0"/>
                  <a:t>(</a:t>
                </a:r>
                <a:r>
                  <a:rPr lang="en-US" dirty="0" err="1"/>
                  <a:t>rr</a:t>
                </a:r>
                <a:r>
                  <a:rPr lang="en-US" dirty="0"/>
                  <a:t>) ; </a:t>
                </a:r>
              </a:p>
              <a:p>
                <a:pPr marL="0" indent="0">
                  <a:buNone/>
                </a:pPr>
                <a:r>
                  <a:rPr lang="en-US" dirty="0"/>
                  <a:t>) ;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FD825-C7FF-7358-5D90-D152825D9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16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389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D72C-EBC5-FC80-7A54-C49FE5D9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34DC-395C-D109-686C-0E83DD0A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EPECs for Stackelberg Models</a:t>
            </a:r>
            <a:br>
              <a:rPr lang="en-US" dirty="0"/>
            </a:br>
            <a:r>
              <a:rPr lang="en-US" dirty="0"/>
              <a:t>Rare earths example </a:t>
            </a:r>
            <a:br>
              <a:rPr lang="en-US" dirty="0"/>
            </a:br>
            <a:r>
              <a:rPr lang="en-US" dirty="0"/>
              <a:t>(Brown and Eggert,2017)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242C-A7F8-5C56-FCB8-5B11195B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4F9D7DE-A1D8-A20E-1E1F-500C03D75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01294"/>
                <a:ext cx="479648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Market clearing: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4F9D7DE-A1D8-A20E-1E1F-500C03D75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4796481" cy="4351338"/>
              </a:xfrm>
              <a:prstGeom prst="rect">
                <a:avLst/>
              </a:prstGeom>
              <a:blipFill>
                <a:blip r:embed="rId3"/>
                <a:stretch>
                  <a:fillRect l="-2646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4BD170A-A6D7-E731-B2F6-D9EF8800B8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3940" y="4001294"/>
                <a:ext cx="609805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Zero profit: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4BD170A-A6D7-E731-B2F6-D9EF8800B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40" y="4001294"/>
                <a:ext cx="6098059" cy="4351338"/>
              </a:xfrm>
              <a:prstGeom prst="rect">
                <a:avLst/>
              </a:prstGeom>
              <a:blipFill>
                <a:blip r:embed="rId4"/>
                <a:stretch>
                  <a:fillRect l="-2287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A59D82D-7ADB-41D7-64EB-438021FD0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A59D82D-7ADB-41D7-64EB-438021FD0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9493BF0-7E09-2720-F5B4-A093D4ACC150}"/>
              </a:ext>
            </a:extLst>
          </p:cNvPr>
          <p:cNvGraphicFramePr/>
          <p:nvPr/>
        </p:nvGraphicFramePr>
        <p:xfrm>
          <a:off x="7405139" y="828515"/>
          <a:ext cx="5468079" cy="3020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95FD2A2-E2B1-D08C-428B-CDC40538E0EA}"/>
              </a:ext>
            </a:extLst>
          </p:cNvPr>
          <p:cNvSpPr/>
          <p:nvPr/>
        </p:nvSpPr>
        <p:spPr>
          <a:xfrm rot="2651900">
            <a:off x="9417233" y="2138540"/>
            <a:ext cx="407375" cy="43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07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D2F7-2DC6-7796-D41F-1FE92356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497EF-2FDF-8F99-20E0-639BAA15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45"/>
            <a:ext cx="10515600" cy="48128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Three actors</a:t>
            </a:r>
          </a:p>
          <a:p>
            <a:r>
              <a:rPr lang="en-US" dirty="0"/>
              <a:t>China (leader)</a:t>
            </a:r>
          </a:p>
          <a:p>
            <a:r>
              <a:rPr lang="en-US" dirty="0"/>
              <a:t>Illegal Chinese Producers (1</a:t>
            </a:r>
            <a:r>
              <a:rPr lang="en-US" baseline="30000" dirty="0"/>
              <a:t>st</a:t>
            </a:r>
            <a:r>
              <a:rPr lang="en-US" dirty="0"/>
              <a:t> follower)</a:t>
            </a:r>
          </a:p>
          <a:p>
            <a:r>
              <a:rPr lang="en-US" dirty="0"/>
              <a:t>Australia (2</a:t>
            </a:r>
            <a:r>
              <a:rPr lang="en-US" baseline="30000" dirty="0"/>
              <a:t>nd</a:t>
            </a:r>
            <a:r>
              <a:rPr lang="en-US" dirty="0"/>
              <a:t> follower)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Several Policies:</a:t>
            </a:r>
          </a:p>
          <a:p>
            <a:r>
              <a:rPr lang="en-US" dirty="0"/>
              <a:t>Production quotas </a:t>
            </a:r>
          </a:p>
          <a:p>
            <a:r>
              <a:rPr lang="en-US" dirty="0"/>
              <a:t>Environmental taxes</a:t>
            </a:r>
          </a:p>
          <a:p>
            <a:r>
              <a:rPr lang="en-US" dirty="0"/>
              <a:t>Stockpiling (Nd, Dy)</a:t>
            </a:r>
          </a:p>
          <a:p>
            <a:r>
              <a:rPr lang="en-US" dirty="0"/>
              <a:t>Increased recovery rates (Nd, Dy)</a:t>
            </a:r>
          </a:p>
        </p:txBody>
      </p:sp>
    </p:spTree>
    <p:extLst>
      <p:ext uri="{BB962C8B-B14F-4D97-AF65-F5344CB8AC3E}">
        <p14:creationId xmlns:p14="http://schemas.microsoft.com/office/powerpoint/2010/main" val="97663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0E8F-D713-DF3B-17E7-3A8FCC1C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Rare Earth Stackelberg Game Dimensions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EC92D-5AB1-F7EB-EF88-8ACB943F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51" y="1690688"/>
            <a:ext cx="9249298" cy="43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6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ACD8-BEF6-229A-8EEB-39FA6100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Rare Earth Stackelberg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CE4C3-9243-FEC5-4437-BDB893853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567" y="1487028"/>
            <a:ext cx="6288290" cy="1941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B012A9-C77D-9245-C6E2-EA3612B53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767" y="3371269"/>
            <a:ext cx="4370465" cy="34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3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3E84-BF9D-1B31-C6CC-6A926BA3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Shares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390A5-FFCF-7BCD-7EBF-D92AF0A5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724" y="1484026"/>
            <a:ext cx="7860552" cy="488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3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CE78-35A3-27B5-94FA-F2AC4662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Results – To the paper!</a:t>
            </a:r>
          </a:p>
        </p:txBody>
      </p:sp>
    </p:spTree>
    <p:extLst>
      <p:ext uri="{BB962C8B-B14F-4D97-AF65-F5344CB8AC3E}">
        <p14:creationId xmlns:p14="http://schemas.microsoft.com/office/powerpoint/2010/main" val="1790500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FA8C-A03A-0DEC-1C35-E469C207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813CD-F5C5-32DB-7D6B-843B00EA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3" y="1459149"/>
            <a:ext cx="6418586" cy="50337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Computable General Equilibrium (CGE)</a:t>
            </a:r>
          </a:p>
          <a:p>
            <a:endParaRPr lang="en-US" dirty="0"/>
          </a:p>
          <a:p>
            <a:r>
              <a:rPr lang="en-US" dirty="0"/>
              <a:t>“Everything depends on everything else”</a:t>
            </a:r>
          </a:p>
          <a:p>
            <a:endParaRPr lang="en-US" dirty="0"/>
          </a:p>
          <a:p>
            <a:r>
              <a:rPr lang="en-US" dirty="0"/>
              <a:t>Three main actors:</a:t>
            </a:r>
          </a:p>
          <a:p>
            <a:pPr lvl="1"/>
            <a:r>
              <a:rPr lang="en-US" dirty="0"/>
              <a:t>Households</a:t>
            </a:r>
          </a:p>
          <a:p>
            <a:pPr lvl="1"/>
            <a:r>
              <a:rPr lang="en-US" dirty="0"/>
              <a:t>Firms</a:t>
            </a:r>
          </a:p>
          <a:p>
            <a:pPr lvl="1"/>
            <a:r>
              <a:rPr lang="en-US" dirty="0"/>
              <a:t>Government</a:t>
            </a:r>
          </a:p>
          <a:p>
            <a:endParaRPr lang="en-US" dirty="0"/>
          </a:p>
          <a:p>
            <a:r>
              <a:rPr lang="en-US" dirty="0"/>
              <a:t>These lectures will serve as an introduction – we could have entire course on them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E8456D-E089-B8A6-B3FB-1EA0992C2830}"/>
              </a:ext>
            </a:extLst>
          </p:cNvPr>
          <p:cNvGraphicFramePr>
            <a:graphicFrameLocks noGrp="1"/>
          </p:cNvGraphicFramePr>
          <p:nvPr/>
        </p:nvGraphicFramePr>
        <p:xfrm>
          <a:off x="6143165" y="4695712"/>
          <a:ext cx="5587280" cy="95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697">
                  <a:extLst>
                    <a:ext uri="{9D8B030D-6E8A-4147-A177-3AD203B41FA5}">
                      <a16:colId xmlns:a16="http://schemas.microsoft.com/office/drawing/2014/main" val="155996410"/>
                    </a:ext>
                  </a:extLst>
                </a:gridCol>
                <a:gridCol w="1572751">
                  <a:extLst>
                    <a:ext uri="{9D8B030D-6E8A-4147-A177-3AD203B41FA5}">
                      <a16:colId xmlns:a16="http://schemas.microsoft.com/office/drawing/2014/main" val="481115079"/>
                    </a:ext>
                  </a:extLst>
                </a:gridCol>
                <a:gridCol w="1549135">
                  <a:extLst>
                    <a:ext uri="{9D8B030D-6E8A-4147-A177-3AD203B41FA5}">
                      <a16:colId xmlns:a16="http://schemas.microsoft.com/office/drawing/2014/main" val="1452273322"/>
                    </a:ext>
                  </a:extLst>
                </a:gridCol>
                <a:gridCol w="1232697">
                  <a:extLst>
                    <a:ext uri="{9D8B030D-6E8A-4147-A177-3AD203B41FA5}">
                      <a16:colId xmlns:a16="http://schemas.microsoft.com/office/drawing/2014/main" val="4286124820"/>
                    </a:ext>
                  </a:extLst>
                </a:gridCol>
              </a:tblGrid>
              <a:tr h="31835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Buy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Sell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Goal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624078"/>
                  </a:ext>
                </a:extLst>
              </a:tr>
              <a:tr h="3183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Households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Goods/Services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Capital/labor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Utility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812673"/>
                  </a:ext>
                </a:extLst>
              </a:tr>
              <a:tr h="3183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Firms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Capital/Labor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Goods/services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Profit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7630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DE20D30-659D-42D9-1B37-3B011DB1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249" y="981986"/>
            <a:ext cx="4606196" cy="3096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41F95-525D-305C-1934-063C2DE6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249" y="4078851"/>
            <a:ext cx="45212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36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E9B9-4088-B522-2E9F-0B22A6EA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CGE models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89B4D-26B8-9BB7-0CA1-6FA1ED3FD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6914"/>
                <a:ext cx="10515600" cy="5277395"/>
              </a:xfrm>
            </p:spPr>
            <p:txBody>
              <a:bodyPr/>
              <a:lstStyle/>
              <a:p>
                <a:r>
                  <a:rPr lang="en-US" dirty="0"/>
                  <a:t>“General”: </a:t>
                </a:r>
              </a:p>
              <a:p>
                <a:pPr lvl="1"/>
                <a:r>
                  <a:rPr lang="en-US" dirty="0"/>
                  <a:t>Technically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represents more than one sector</a:t>
                </a:r>
              </a:p>
              <a:p>
                <a:pPr lvl="1"/>
                <a:r>
                  <a:rPr lang="en-US" dirty="0"/>
                  <a:t>In practice, usually represents entire economy via ‘all other goods’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Factors of production:</a:t>
                </a:r>
              </a:p>
              <a:p>
                <a:pPr lvl="1"/>
                <a:r>
                  <a:rPr lang="en-US" dirty="0"/>
                  <a:t>Primary: capital, labor, land, </a:t>
                </a:r>
              </a:p>
              <a:p>
                <a:pPr lvl="1"/>
                <a:r>
                  <a:rPr lang="en-US" dirty="0"/>
                  <a:t>Intermediate: output from other firms/sectors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Trade</a:t>
                </a:r>
              </a:p>
              <a:p>
                <a:pPr lvl="1"/>
                <a:r>
                  <a:rPr lang="en-US" dirty="0"/>
                  <a:t>Armington </a:t>
                </a:r>
              </a:p>
              <a:p>
                <a:pPr lvl="1"/>
                <a:r>
                  <a:rPr lang="en-US" dirty="0"/>
                  <a:t>Gravity models</a:t>
                </a:r>
              </a:p>
              <a:p>
                <a:pPr lvl="1"/>
                <a:r>
                  <a:rPr lang="en-US" dirty="0"/>
                  <a:t>Explicit country-level representation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89B4D-26B8-9BB7-0CA1-6FA1ED3FD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6914"/>
                <a:ext cx="10515600" cy="5277395"/>
              </a:xfrm>
              <a:blipFill>
                <a:blip r:embed="rId2"/>
                <a:stretch>
                  <a:fillRect l="-1086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0C65A2D-1874-47F3-DCEC-F59E5C82F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02" y="2762477"/>
            <a:ext cx="4116598" cy="409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06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996E-EF1C-E2CC-16D8-0E6EBFE1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When should you use a CGE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4D98-D81A-4731-348A-2D0BF5C0A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299"/>
            <a:ext cx="10515600" cy="5411198"/>
          </a:xfrm>
        </p:spPr>
        <p:txBody>
          <a:bodyPr/>
          <a:lstStyle/>
          <a:p>
            <a:r>
              <a:rPr lang="en-US" dirty="0"/>
              <a:t>Useful for…</a:t>
            </a:r>
          </a:p>
          <a:p>
            <a:pPr lvl="1"/>
            <a:r>
              <a:rPr lang="en-US" dirty="0"/>
              <a:t>Policy analysis </a:t>
            </a:r>
          </a:p>
          <a:p>
            <a:pPr lvl="1"/>
            <a:r>
              <a:rPr lang="en-US" dirty="0"/>
              <a:t>Government planning</a:t>
            </a:r>
          </a:p>
          <a:p>
            <a:pPr lvl="1"/>
            <a:r>
              <a:rPr lang="en-US" dirty="0"/>
              <a:t>Development planning</a:t>
            </a:r>
          </a:p>
          <a:p>
            <a:pPr lvl="1"/>
            <a:r>
              <a:rPr lang="en-US" dirty="0"/>
              <a:t>Welfare/utility analysis	</a:t>
            </a:r>
          </a:p>
          <a:p>
            <a:pPr lvl="1"/>
            <a:r>
              <a:rPr lang="en-US" dirty="0"/>
              <a:t>Trade analysis</a:t>
            </a:r>
          </a:p>
          <a:p>
            <a:endParaRPr lang="en-US" dirty="0"/>
          </a:p>
          <a:p>
            <a:r>
              <a:rPr lang="en-US" dirty="0"/>
              <a:t>Extensions:</a:t>
            </a:r>
          </a:p>
          <a:p>
            <a:pPr lvl="1"/>
            <a:r>
              <a:rPr lang="en-US" dirty="0"/>
              <a:t>Interest rate and debt</a:t>
            </a:r>
          </a:p>
          <a:p>
            <a:pPr lvl="1"/>
            <a:r>
              <a:rPr lang="en-US" dirty="0"/>
              <a:t>Detailed backstop representation</a:t>
            </a:r>
          </a:p>
          <a:p>
            <a:pPr lvl="1"/>
            <a:r>
              <a:rPr lang="en-US" dirty="0"/>
              <a:t>Dynamic/stochastic/…</a:t>
            </a:r>
          </a:p>
        </p:txBody>
      </p:sp>
      <p:pic>
        <p:nvPicPr>
          <p:cNvPr id="2050" name="Picture 2" descr="Amazon.com: Victorinox Super Tinker Swiss Army Knife, 14 Function Swiss  Made Pocket Knife with Large Blade, 2 Screwdrivers and Multipurpose Hook -  Red : Victorinox Swiss Army: Tools &amp; Home Improvement">
            <a:extLst>
              <a:ext uri="{FF2B5EF4-FFF2-40B4-BE49-F238E27FC236}">
                <a16:creationId xmlns:a16="http://schemas.microsoft.com/office/drawing/2014/main" id="{3BA2C214-9169-1CCC-2140-E23B76DAF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137" y="2198450"/>
            <a:ext cx="3068644" cy="310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65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72CB-704E-5414-0E62-BFB0D80B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/>
              <a:t>Shortcomings of CGE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916078-F22B-5B1F-3090-D49319F4F5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7070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9633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6A9C-6F14-EACA-BEF1-46E81687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9207"/>
            <a:ext cx="10515600" cy="1325563"/>
          </a:xfrm>
        </p:spPr>
        <p:txBody>
          <a:bodyPr/>
          <a:lstStyle/>
          <a:p>
            <a:r>
              <a:rPr lang="en-US" dirty="0"/>
              <a:t>Examples of (good) CGE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23E2-B7A8-883C-A5B0-2CC180A3F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397"/>
            <a:ext cx="10737715" cy="57726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Wisconsin National Data Consortium’s canonical models: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https://windc.wisc.edu/models.html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Global Trade Analysis Project</a:t>
            </a:r>
            <a:r>
              <a:rPr lang="en-US" dirty="0">
                <a:sym typeface="Wingdings" pitchFamily="2" charset="2"/>
              </a:rPr>
              <a:t> (GTAP):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https://www.gtap.agecon.purdue.edu/models/current.asp</a:t>
            </a:r>
            <a:endParaRPr lang="en-US" dirty="0"/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EPA’s SAGE Model (great documentation):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  <a:hlinkClick r:id="rId4"/>
              </a:rPr>
              <a:t>https://www.epa.gov/environmental-economics/cge-modeling-regulatory-analysis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b="0" i="0" dirty="0">
                <a:solidFill>
                  <a:srgbClr val="001F33"/>
                </a:solidFill>
                <a:effectLst/>
                <a:latin typeface="RobotoCondensedBold"/>
              </a:rPr>
              <a:t>The New York Fed DSGE Model: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  <a:hlinkClick r:id="rId5"/>
              </a:rPr>
              <a:t>https://www.newyorkfed.org/research/policy/dsge#/overview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US Regional Energy Planning (USREP) Model: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  <a:hlinkClick r:id="rId6"/>
              </a:rPr>
              <a:t>https://globalchange.mit.edu/publication/17331</a:t>
            </a:r>
            <a:r>
              <a:rPr lang="en-US" dirty="0"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51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24">
            <a:extLst>
              <a:ext uri="{FF2B5EF4-FFF2-40B4-BE49-F238E27FC236}">
                <a16:creationId xmlns:a16="http://schemas.microsoft.com/office/drawing/2014/main" id="{4638766A-6A8A-40C4-8A2B-0B16D45C6240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340" y="585199"/>
            <a:ext cx="8580824" cy="58993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DEFB9D-D267-E465-0A60-83D566DB72EE}"/>
              </a:ext>
            </a:extLst>
          </p:cNvPr>
          <p:cNvSpPr/>
          <p:nvPr/>
        </p:nvSpPr>
        <p:spPr>
          <a:xfrm>
            <a:off x="11087597" y="5919850"/>
            <a:ext cx="973777" cy="938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B808B-B9A6-41A0-BD50-4DF85A4D65CA}"/>
              </a:ext>
            </a:extLst>
          </p:cNvPr>
          <p:cNvSpPr/>
          <p:nvPr/>
        </p:nvSpPr>
        <p:spPr>
          <a:xfrm>
            <a:off x="8286749" y="1"/>
            <a:ext cx="3905251" cy="6185087"/>
          </a:xfrm>
          <a:prstGeom prst="rect">
            <a:avLst/>
          </a:prstGeom>
          <a:solidFill>
            <a:schemeClr val="tx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684EE0-1309-450A-8F93-AE5EC55CE752}"/>
              </a:ext>
            </a:extLst>
          </p:cNvPr>
          <p:cNvCxnSpPr>
            <a:cxnSpLocks/>
          </p:cNvCxnSpPr>
          <p:nvPr/>
        </p:nvCxnSpPr>
        <p:spPr>
          <a:xfrm>
            <a:off x="6742072" y="672912"/>
            <a:ext cx="4572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0195CF8-6B5E-4EF2-BE4D-C21F138AAF83}"/>
              </a:ext>
            </a:extLst>
          </p:cNvPr>
          <p:cNvSpPr txBox="1"/>
          <p:nvPr/>
        </p:nvSpPr>
        <p:spPr>
          <a:xfrm>
            <a:off x="8421151" y="1770128"/>
            <a:ext cx="33207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The highest income group (Over 150K) makes over half of the total income of all groups.  Specifically, the group earns over 80% of total capital income and 40% of total labor income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2/3 of the savings comes from the highest income group, and 1/4 from the mid income group (75K-150K)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Share of expenditure on energy increases as the income level decreases, growing from less than 2% for the highest income group to 14% for the lowest income group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9BAD0-A034-4981-AB43-EA6D77EE3215}"/>
              </a:ext>
            </a:extLst>
          </p:cNvPr>
          <p:cNvSpPr txBox="1"/>
          <p:nvPr/>
        </p:nvSpPr>
        <p:spPr>
          <a:xfrm>
            <a:off x="8428109" y="1107473"/>
            <a:ext cx="3099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Highlights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0E721-D21A-4FCB-8471-8F5EB28CC8C9}"/>
              </a:ext>
            </a:extLst>
          </p:cNvPr>
          <p:cNvSpPr txBox="1"/>
          <p:nvPr/>
        </p:nvSpPr>
        <p:spPr>
          <a:xfrm>
            <a:off x="4433635" y="2470550"/>
            <a:ext cx="605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0070C0"/>
                </a:solidFill>
              </a:rPr>
              <a:t>15%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DCC3C-ADBF-4E3E-9480-11B2FD78AC53}"/>
              </a:ext>
            </a:extLst>
          </p:cNvPr>
          <p:cNvSpPr txBox="1"/>
          <p:nvPr/>
        </p:nvSpPr>
        <p:spPr>
          <a:xfrm>
            <a:off x="4465719" y="5625901"/>
            <a:ext cx="573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21%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2CB5A0-CE87-4301-814A-89C33F41E566}"/>
              </a:ext>
            </a:extLst>
          </p:cNvPr>
          <p:cNvSpPr txBox="1"/>
          <p:nvPr/>
        </p:nvSpPr>
        <p:spPr>
          <a:xfrm>
            <a:off x="4315324" y="5209738"/>
            <a:ext cx="589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22%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D90FF-505E-474F-815F-086475CC0A33}"/>
              </a:ext>
            </a:extLst>
          </p:cNvPr>
          <p:cNvSpPr txBox="1"/>
          <p:nvPr/>
        </p:nvSpPr>
        <p:spPr>
          <a:xfrm>
            <a:off x="4299237" y="4806050"/>
            <a:ext cx="605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16%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86134-F094-433F-995E-E532D985D9B5}"/>
              </a:ext>
            </a:extLst>
          </p:cNvPr>
          <p:cNvSpPr txBox="1"/>
          <p:nvPr/>
        </p:nvSpPr>
        <p:spPr>
          <a:xfrm>
            <a:off x="4372215" y="4054708"/>
            <a:ext cx="6057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27%</a:t>
            </a:r>
          </a:p>
        </p:txBody>
      </p:sp>
    </p:spTree>
    <p:extLst>
      <p:ext uri="{BB962C8B-B14F-4D97-AF65-F5344CB8AC3E}">
        <p14:creationId xmlns:p14="http://schemas.microsoft.com/office/powerpoint/2010/main" val="4281306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A3D51-94ED-4094-BC81-01013A9B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CEFF-F0AE-4C6B-8695-8BC3EC5C18C6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D9D2E-C2F9-450E-BA35-C4F5501A7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285750"/>
            <a:ext cx="104775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75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542F-5419-1346-EE07-0ADC394C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“computable”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9F3C-9EF3-8717-EA64-250729FD6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103"/>
            <a:ext cx="10515600" cy="5016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find a single, concrete answer..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me, combination of three things…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Walras’ law – we’ll get to this</a:t>
            </a:r>
          </a:p>
          <a:p>
            <a:endParaRPr lang="en-US" dirty="0"/>
          </a:p>
          <a:p>
            <a:r>
              <a:rPr lang="en-US" dirty="0"/>
              <a:t>Use of (usually high-level) data and assumed functional forms allow for representation of the entire economic system</a:t>
            </a:r>
          </a:p>
          <a:p>
            <a:endParaRPr lang="en-US" dirty="0"/>
          </a:p>
          <a:p>
            <a:r>
              <a:rPr lang="en-US" dirty="0"/>
              <a:t>Unable to solve by hand – need a computer</a:t>
            </a:r>
          </a:p>
        </p:txBody>
      </p:sp>
    </p:spTree>
    <p:extLst>
      <p:ext uri="{BB962C8B-B14F-4D97-AF65-F5344CB8AC3E}">
        <p14:creationId xmlns:p14="http://schemas.microsoft.com/office/powerpoint/2010/main" val="118556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E698-7A6F-7803-734A-1D5C831D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Next few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153F-E17A-CED5-2A38-FE394C69A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2743200"/>
            <a:ext cx="5183855" cy="3613149"/>
          </a:xfrm>
        </p:spPr>
        <p:txBody>
          <a:bodyPr anchor="ctr">
            <a:normAutofit/>
          </a:bodyPr>
          <a:lstStyle/>
          <a:p>
            <a:r>
              <a:rPr lang="en-US" dirty="0"/>
              <a:t>Consumer utility problem</a:t>
            </a:r>
          </a:p>
          <a:p>
            <a:r>
              <a:rPr lang="en-US" dirty="0"/>
              <a:t>Firm cost problem</a:t>
            </a:r>
          </a:p>
          <a:p>
            <a:r>
              <a:rPr lang="en-US" dirty="0"/>
              <a:t>Complementarity conditions</a:t>
            </a:r>
          </a:p>
          <a:p>
            <a:r>
              <a:rPr lang="en-US" dirty="0"/>
              <a:t>Calibrated share form of the constant elasticity of substitute function</a:t>
            </a:r>
          </a:p>
          <a:p>
            <a:pPr lvl="1"/>
            <a:endParaRPr lang="en-US" sz="2800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14C58018-3B3D-2462-4B7D-CFC24BFBE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3" r="21080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40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F442-A691-02AC-59FA-28B0543D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Consumer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EB0EE-C65E-295B-7A82-764093E51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0"/>
                <a:ext cx="10515600" cy="545591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s.t.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: utility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Consumption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Income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Price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solve for compensated demand function via: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EB0EE-C65E-295B-7A82-764093E51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0"/>
                <a:ext cx="10515600" cy="5455919"/>
              </a:xfrm>
              <a:blipFill>
                <a:blip r:embed="rId3"/>
                <a:stretch>
                  <a:fillRect l="-1086" t="-1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557F63-E664-76AE-C706-D462ABEB3B80}"/>
              </a:ext>
            </a:extLst>
          </p:cNvPr>
          <p:cNvSpPr txBox="1"/>
          <p:nvPr/>
        </p:nvSpPr>
        <p:spPr>
          <a:xfrm>
            <a:off x="8442960" y="3947159"/>
            <a:ext cx="1893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i</a:t>
            </a:r>
            <a:r>
              <a:rPr lang="en-US" sz="2800" dirty="0"/>
              <a:t> equations</a:t>
            </a:r>
          </a:p>
        </p:txBody>
      </p:sp>
    </p:spTree>
    <p:extLst>
      <p:ext uri="{BB962C8B-B14F-4D97-AF65-F5344CB8AC3E}">
        <p14:creationId xmlns:p14="http://schemas.microsoft.com/office/powerpoint/2010/main" val="3754523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5C61-5415-EB77-110E-99FBD364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132E0-5F90-7F6E-81F6-B67C0211D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s.t.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132E0-5F90-7F6E-81F6-B67C0211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2410" t="-36047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D3D888A-9836-3169-9B56-D3CEAE8AE7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27520" y="1825625"/>
                <a:ext cx="452628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: firm (alias to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factor of production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output of firm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demand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unit factor demand </a:t>
                </a:r>
                <a:r>
                  <a:rPr lang="en-US" dirty="0" err="1"/>
                  <a:t>fn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D3D888A-9836-3169-9B56-D3CEAE8AE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20" y="1825625"/>
                <a:ext cx="4526280" cy="4351338"/>
              </a:xfrm>
              <a:prstGeom prst="rect">
                <a:avLst/>
              </a:prstGeom>
              <a:blipFill>
                <a:blip r:embed="rId4"/>
                <a:stretch>
                  <a:fillRect l="-167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808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F84E-45A7-0787-F1BC-93DA1BB2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BEFC37-478B-05EE-9013-FEC14676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4137"/>
            <a:ext cx="10515600" cy="1325563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91482A5-6AD1-19D5-9C90-077F9AE38D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4927444"/>
                  </p:ext>
                </p:extLst>
              </p:nvPr>
            </p:nvGraphicFramePr>
            <p:xfrm>
              <a:off x="838200" y="654714"/>
              <a:ext cx="10246113" cy="5874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371">
                      <a:extLst>
                        <a:ext uri="{9D8B030D-6E8A-4147-A177-3AD203B41FA5}">
                          <a16:colId xmlns:a16="http://schemas.microsoft.com/office/drawing/2014/main" val="2759246208"/>
                        </a:ext>
                      </a:extLst>
                    </a:gridCol>
                    <a:gridCol w="3415371">
                      <a:extLst>
                        <a:ext uri="{9D8B030D-6E8A-4147-A177-3AD203B41FA5}">
                          <a16:colId xmlns:a16="http://schemas.microsoft.com/office/drawing/2014/main" val="2928404939"/>
                        </a:ext>
                      </a:extLst>
                    </a:gridCol>
                    <a:gridCol w="3415371">
                      <a:extLst>
                        <a:ext uri="{9D8B030D-6E8A-4147-A177-3AD203B41FA5}">
                          <a16:colId xmlns:a16="http://schemas.microsoft.com/office/drawing/2014/main" val="2258972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Commodity Markets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(# equations)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149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9976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Zero Profit Condition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04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Market Clearing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0874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Factor Markets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0147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34238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Unit 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9838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Market clearing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817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Consumer Income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5835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149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Variables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𝐹𝑖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3352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91482A5-6AD1-19D5-9C90-077F9AE38D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4927444"/>
                  </p:ext>
                </p:extLst>
              </p:nvPr>
            </p:nvGraphicFramePr>
            <p:xfrm>
              <a:off x="838200" y="654714"/>
              <a:ext cx="10246113" cy="5874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371">
                      <a:extLst>
                        <a:ext uri="{9D8B030D-6E8A-4147-A177-3AD203B41FA5}">
                          <a16:colId xmlns:a16="http://schemas.microsoft.com/office/drawing/2014/main" val="2759246208"/>
                        </a:ext>
                      </a:extLst>
                    </a:gridCol>
                    <a:gridCol w="3415371">
                      <a:extLst>
                        <a:ext uri="{9D8B030D-6E8A-4147-A177-3AD203B41FA5}">
                          <a16:colId xmlns:a16="http://schemas.microsoft.com/office/drawing/2014/main" val="2928404939"/>
                        </a:ext>
                      </a:extLst>
                    </a:gridCol>
                    <a:gridCol w="3415371">
                      <a:extLst>
                        <a:ext uri="{9D8B030D-6E8A-4147-A177-3AD203B41FA5}">
                          <a16:colId xmlns:a16="http://schemas.microsoft.com/office/drawing/2014/main" val="2258972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Commodity Markets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(# equations)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149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150000" r="-101115" b="-1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150000" r="-1115" b="-15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9976128"/>
                      </a:ext>
                    </a:extLst>
                  </a:tr>
                  <a:tr h="78809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Zero Profit Condition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120968" r="-101115" b="-6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120968" r="-1115" b="-6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004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Market Clearing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472414" r="-101115" b="-12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472414" r="-1115" b="-12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0874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Factor Markets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0147043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629032" r="-101115" b="-983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629032" r="-1115" b="-983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423885"/>
                      </a:ext>
                    </a:extLst>
                  </a:tr>
                  <a:tr h="659194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Unit demand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434615" r="-101115" b="-48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434615" r="-1115" b="-4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9838125"/>
                      </a:ext>
                    </a:extLst>
                  </a:tr>
                  <a:tr h="757174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Market clearing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2" t="-463333" r="-101115" b="-32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372" t="-463333" r="-1115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2817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Consumer Income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5835878"/>
                      </a:ext>
                    </a:extLst>
                  </a:tr>
                  <a:tr h="788099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72" t="-591935" r="-101115" b="-16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149882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Variables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72" t="-841176" r="-10111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841176" r="-111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33528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6613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13A2-52DB-640D-C3E2-8DBCF58F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43"/>
            <a:ext cx="10515600" cy="1325563"/>
          </a:xfrm>
        </p:spPr>
        <p:txBody>
          <a:bodyPr/>
          <a:lstStyle/>
          <a:p>
            <a:r>
              <a:rPr lang="en-US" dirty="0"/>
              <a:t>Walras’ Law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CC4DE-7EE7-9169-5163-360A13428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4706"/>
                <a:ext cx="10515600" cy="483225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# equations: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# variables: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Walras’ law states that for a set of prices, the sum of excess demand over all markets must be equal to zero, basically: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Proofs show that if you have </a:t>
                </a:r>
                <a:r>
                  <a:rPr lang="en-US" i="1" dirty="0"/>
                  <a:t>m </a:t>
                </a:r>
                <a:r>
                  <a:rPr lang="en-US" dirty="0"/>
                  <a:t>agents and </a:t>
                </a:r>
                <a:r>
                  <a:rPr lang="en-US" i="1" dirty="0"/>
                  <a:t>n </a:t>
                </a:r>
                <a:r>
                  <a:rPr lang="en-US" dirty="0"/>
                  <a:t>commodities, you may drop the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market clearing condition as imposing the budget constraint for all agents makes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constraint redundant (linearly or non-linearly dependent)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CC4DE-7EE7-9169-5163-360A13428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4706"/>
                <a:ext cx="10515600" cy="4832257"/>
              </a:xfrm>
              <a:blipFill>
                <a:blip r:embed="rId2"/>
                <a:stretch>
                  <a:fillRect l="-1206" t="-3150" b="-5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544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4B6D-16FC-4CA1-5F25-BC7607A7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393D-A2CA-0EAC-BC37-23468FA6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43"/>
            <a:ext cx="10515600" cy="1325563"/>
          </a:xfrm>
        </p:spPr>
        <p:txBody>
          <a:bodyPr/>
          <a:lstStyle/>
          <a:p>
            <a:r>
              <a:rPr lang="en-US" dirty="0"/>
              <a:t>Walras’ Law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194B51-FAE9-9D19-B75D-80241A910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175" y="1344706"/>
                <a:ext cx="11096625" cy="483225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Problem is then: </a:t>
                </a:r>
              </a:p>
              <a:p>
                <a:pPr lvl="1"/>
                <a:r>
                  <a:rPr lang="en-US" dirty="0"/>
                  <a:t># </a:t>
                </a:r>
                <a:r>
                  <a:rPr lang="en-US" b="1" i="1" dirty="0"/>
                  <a:t>independent </a:t>
                </a:r>
                <a:r>
                  <a:rPr lang="en-US" dirty="0"/>
                  <a:t>equations: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/>
                  <a:t># variables: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Need to establish a </a:t>
                </a:r>
                <a:r>
                  <a:rPr lang="en-US" i="1" dirty="0"/>
                  <a:t>numeraire</a:t>
                </a:r>
              </a:p>
              <a:p>
                <a:r>
                  <a:rPr lang="en-US" dirty="0"/>
                  <a:t>Numeraire: a commodity that serves as the reference unit of exchange</a:t>
                </a:r>
              </a:p>
              <a:p>
                <a:r>
                  <a:rPr lang="en-US" dirty="0"/>
                  <a:t>Think of the USD in oil markets, relative to gold, …</a:t>
                </a:r>
              </a:p>
              <a:p>
                <a:endParaRPr lang="en-US" dirty="0"/>
              </a:p>
              <a:p>
                <a:r>
                  <a:rPr lang="en-US" dirty="0"/>
                  <a:t>In practice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fix</a:t>
                </a:r>
                <a:r>
                  <a:rPr lang="en-US" dirty="0"/>
                  <a:t> the price of a good to one and make all other prices relative to that good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194B51-FAE9-9D19-B75D-80241A910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175" y="1344706"/>
                <a:ext cx="11096625" cy="4832257"/>
              </a:xfrm>
              <a:blipFill>
                <a:blip r:embed="rId2"/>
                <a:stretch>
                  <a:fillRect l="-1029" t="-2362" r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107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97C8-F703-A6B1-C4D7-DC795A0A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accounting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2F5B-BBD6-7D8C-0266-CC142EFC3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/>
          <a:lstStyle/>
          <a:p>
            <a:r>
              <a:rPr lang="en-US" dirty="0"/>
              <a:t>Data for a CGE model are organized using a social accounting matrix (SAM) </a:t>
            </a:r>
          </a:p>
          <a:p>
            <a:r>
              <a:rPr lang="en-US" dirty="0"/>
              <a:t>A SAM represents data on all economic transactions that take place within an economy </a:t>
            </a:r>
          </a:p>
          <a:p>
            <a:r>
              <a:rPr lang="en-US" dirty="0"/>
              <a:t>Numbers in a SAM represent the values (price times quantity) of economic transactions at a point in time (e.g., within a year) </a:t>
            </a:r>
          </a:p>
          <a:p>
            <a:r>
              <a:rPr lang="en-US" dirty="0"/>
              <a:t>A SAM provides a matrix representation of the national accounts </a:t>
            </a:r>
          </a:p>
          <a:p>
            <a:r>
              <a:rPr lang="en-US" dirty="0"/>
              <a:t>When calibrating a CGE model, all prices are normalized to one </a:t>
            </a:r>
          </a:p>
          <a:p>
            <a:r>
              <a:rPr lang="en-US" dirty="0"/>
              <a:t>Choose quantity units so that all prices equal one (e.g., gasoline is measured in ¼ gallon units) </a:t>
            </a:r>
          </a:p>
        </p:txBody>
      </p:sp>
    </p:spTree>
    <p:extLst>
      <p:ext uri="{BB962C8B-B14F-4D97-AF65-F5344CB8AC3E}">
        <p14:creationId xmlns:p14="http://schemas.microsoft.com/office/powerpoint/2010/main" val="545581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B20E-B12D-A9C1-0262-B39675C6154F}"/>
              </a:ext>
            </a:extLst>
          </p:cNvPr>
          <p:cNvGraphicFramePr>
            <a:graphicFrameLocks noGrp="1"/>
          </p:cNvGraphicFramePr>
          <p:nvPr/>
        </p:nvGraphicFramePr>
        <p:xfrm>
          <a:off x="1700784" y="1027906"/>
          <a:ext cx="8446007" cy="3996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264179820"/>
                    </a:ext>
                  </a:extLst>
                </a:gridCol>
                <a:gridCol w="598381">
                  <a:extLst>
                    <a:ext uri="{9D8B030D-6E8A-4147-A177-3AD203B41FA5}">
                      <a16:colId xmlns:a16="http://schemas.microsoft.com/office/drawing/2014/main" val="3400285988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2743471945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24096194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48803527"/>
                    </a:ext>
                  </a:extLst>
                </a:gridCol>
                <a:gridCol w="1933246">
                  <a:extLst>
                    <a:ext uri="{9D8B030D-6E8A-4147-A177-3AD203B41FA5}">
                      <a16:colId xmlns:a16="http://schemas.microsoft.com/office/drawing/2014/main" val="4158835213"/>
                    </a:ext>
                  </a:extLst>
                </a:gridCol>
              </a:tblGrid>
              <a:tr h="940722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Commodities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Consumption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651119"/>
                  </a:ext>
                </a:extLst>
              </a:tr>
              <a:tr h="509359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X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37061"/>
                  </a:ext>
                </a:extLst>
              </a:tr>
              <a:tr h="50935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Markets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PX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6925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31711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PW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-200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93897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6345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7167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1DE4E-E35C-3FA8-4A03-DF593444ABA5}"/>
                  </a:ext>
                </a:extLst>
              </p:cNvPr>
              <p:cNvSpPr txBox="1"/>
              <p:nvPr/>
            </p:nvSpPr>
            <p:spPr>
              <a:xfrm>
                <a:off x="1865376" y="5687563"/>
                <a:ext cx="93499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Rows and columns </a:t>
                </a:r>
                <a:r>
                  <a:rPr lang="en-US" sz="2800" i="1" dirty="0"/>
                  <a:t>always</a:t>
                </a:r>
                <a:r>
                  <a:rPr lang="en-US" sz="2800" dirty="0"/>
                  <a:t> sum to zero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a “Balanced” SAM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1DE4E-E35C-3FA8-4A03-DF593444A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376" y="5687563"/>
                <a:ext cx="9349932" cy="523220"/>
              </a:xfrm>
              <a:prstGeom prst="rect">
                <a:avLst/>
              </a:prstGeom>
              <a:blipFill>
                <a:blip r:embed="rId2"/>
                <a:stretch>
                  <a:fillRect l="-1355" t="-11628" r="-678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46E6E6C-C650-48D6-011E-6ECCCDC6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SAM</a:t>
            </a:r>
          </a:p>
        </p:txBody>
      </p:sp>
    </p:spTree>
    <p:extLst>
      <p:ext uri="{BB962C8B-B14F-4D97-AF65-F5344CB8AC3E}">
        <p14:creationId xmlns:p14="http://schemas.microsoft.com/office/powerpoint/2010/main" val="2867888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E479-9903-7FDD-A0C4-443FA4C5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DEF3-BBC8-ADAB-1FE7-BBF7B806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balanced SAM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3A84A-E710-BEC5-1411-FBB59C49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641350"/>
            <a:ext cx="36957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08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6208-0D1A-AAA7-6313-437DA23A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197B19-627A-5983-8CA2-EC79779F8DBA}"/>
              </a:ext>
            </a:extLst>
          </p:cNvPr>
          <p:cNvGraphicFramePr>
            <a:graphicFrameLocks noGrp="1"/>
          </p:cNvGraphicFramePr>
          <p:nvPr/>
        </p:nvGraphicFramePr>
        <p:xfrm>
          <a:off x="1700784" y="1027906"/>
          <a:ext cx="8446007" cy="3996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264179820"/>
                    </a:ext>
                  </a:extLst>
                </a:gridCol>
                <a:gridCol w="598381">
                  <a:extLst>
                    <a:ext uri="{9D8B030D-6E8A-4147-A177-3AD203B41FA5}">
                      <a16:colId xmlns:a16="http://schemas.microsoft.com/office/drawing/2014/main" val="3400285988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2743471945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24096194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48803527"/>
                    </a:ext>
                  </a:extLst>
                </a:gridCol>
                <a:gridCol w="1933246">
                  <a:extLst>
                    <a:ext uri="{9D8B030D-6E8A-4147-A177-3AD203B41FA5}">
                      <a16:colId xmlns:a16="http://schemas.microsoft.com/office/drawing/2014/main" val="4158835213"/>
                    </a:ext>
                  </a:extLst>
                </a:gridCol>
              </a:tblGrid>
              <a:tr h="940722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Commodities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Consumption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651119"/>
                  </a:ext>
                </a:extLst>
              </a:tr>
              <a:tr h="509359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X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37061"/>
                  </a:ext>
                </a:extLst>
              </a:tr>
              <a:tr h="50935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Markets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PX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6925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31711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PW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-200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93897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6345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7167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B24FBD-E38F-72CE-F688-FD6D1D2EA0AB}"/>
              </a:ext>
            </a:extLst>
          </p:cNvPr>
          <p:cNvSpPr txBox="1"/>
          <p:nvPr/>
        </p:nvSpPr>
        <p:spPr>
          <a:xfrm>
            <a:off x="159191" y="5756937"/>
            <a:ext cx="11910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Welfare (W) is produced through consuming 100 units of X and 100 units of 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E15F54-BF3F-44E0-2DE3-E163146C0456}"/>
              </a:ext>
            </a:extLst>
          </p:cNvPr>
          <p:cNvCxnSpPr/>
          <p:nvPr/>
        </p:nvCxnSpPr>
        <p:spPr>
          <a:xfrm flipV="1">
            <a:off x="7406640" y="5175504"/>
            <a:ext cx="0" cy="493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5DF4ABC-112A-663A-0DFB-CB79E293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SAM</a:t>
            </a:r>
          </a:p>
        </p:txBody>
      </p:sp>
    </p:spTree>
    <p:extLst>
      <p:ext uri="{BB962C8B-B14F-4D97-AF65-F5344CB8AC3E}">
        <p14:creationId xmlns:p14="http://schemas.microsoft.com/office/powerpoint/2010/main" val="3954128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2C19-0823-139D-3C7A-24D2AB56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83145-7D4B-AA33-FC83-D783CB56D1AB}"/>
              </a:ext>
            </a:extLst>
          </p:cNvPr>
          <p:cNvGraphicFramePr>
            <a:graphicFrameLocks noGrp="1"/>
          </p:cNvGraphicFramePr>
          <p:nvPr/>
        </p:nvGraphicFramePr>
        <p:xfrm>
          <a:off x="1700784" y="1027906"/>
          <a:ext cx="8446007" cy="3996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264179820"/>
                    </a:ext>
                  </a:extLst>
                </a:gridCol>
                <a:gridCol w="598381">
                  <a:extLst>
                    <a:ext uri="{9D8B030D-6E8A-4147-A177-3AD203B41FA5}">
                      <a16:colId xmlns:a16="http://schemas.microsoft.com/office/drawing/2014/main" val="3400285988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2743471945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24096194"/>
                    </a:ext>
                  </a:extLst>
                </a:gridCol>
                <a:gridCol w="1752004">
                  <a:extLst>
                    <a:ext uri="{9D8B030D-6E8A-4147-A177-3AD203B41FA5}">
                      <a16:colId xmlns:a16="http://schemas.microsoft.com/office/drawing/2014/main" val="1048803527"/>
                    </a:ext>
                  </a:extLst>
                </a:gridCol>
                <a:gridCol w="1933246">
                  <a:extLst>
                    <a:ext uri="{9D8B030D-6E8A-4147-A177-3AD203B41FA5}">
                      <a16:colId xmlns:a16="http://schemas.microsoft.com/office/drawing/2014/main" val="4158835213"/>
                    </a:ext>
                  </a:extLst>
                </a:gridCol>
              </a:tblGrid>
              <a:tr h="940722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Commodities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Consumption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651119"/>
                  </a:ext>
                </a:extLst>
              </a:tr>
              <a:tr h="509359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X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37061"/>
                  </a:ext>
                </a:extLst>
              </a:tr>
              <a:tr h="50935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Markets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PX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6925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317114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PW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-200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93897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6345"/>
                  </a:ext>
                </a:extLst>
              </a:tr>
              <a:tr h="509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-60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7167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8E87AB-EA64-6F94-8AFB-CC66413C8DBC}"/>
              </a:ext>
            </a:extLst>
          </p:cNvPr>
          <p:cNvSpPr txBox="1"/>
          <p:nvPr/>
        </p:nvSpPr>
        <p:spPr>
          <a:xfrm>
            <a:off x="4578792" y="5830094"/>
            <a:ext cx="7613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Total consumption (200) is limited by the income of labor (100) and sale of capital (100)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89BAD2-5A68-538F-9E8E-046721D17DF7}"/>
              </a:ext>
            </a:extLst>
          </p:cNvPr>
          <p:cNvCxnSpPr/>
          <p:nvPr/>
        </p:nvCxnSpPr>
        <p:spPr>
          <a:xfrm flipV="1">
            <a:off x="9162288" y="5263166"/>
            <a:ext cx="0" cy="493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0CAB4BE-2CFB-A569-8945-46A974C4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SAM</a:t>
            </a:r>
          </a:p>
        </p:txBody>
      </p:sp>
    </p:spTree>
    <p:extLst>
      <p:ext uri="{BB962C8B-B14F-4D97-AF65-F5344CB8AC3E}">
        <p14:creationId xmlns:p14="http://schemas.microsoft.com/office/powerpoint/2010/main" val="2994984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B5B5-EEFA-C689-1B91-F6BEDBFE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 on the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87D31-8D14-DF7F-CB8C-EE7EBBD58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5807"/>
            <a:ext cx="10515600" cy="3141155"/>
          </a:xfrm>
        </p:spPr>
        <p:txBody>
          <a:bodyPr/>
          <a:lstStyle/>
          <a:p>
            <a:r>
              <a:rPr lang="en-US" dirty="0"/>
              <a:t>The next few slides will present functional forms that are, by definition, calibrated to the SAM – that is, all equations are locally “true” at the reference data points included in the SAM</a:t>
            </a:r>
          </a:p>
        </p:txBody>
      </p:sp>
    </p:spTree>
    <p:extLst>
      <p:ext uri="{BB962C8B-B14F-4D97-AF65-F5344CB8AC3E}">
        <p14:creationId xmlns:p14="http://schemas.microsoft.com/office/powerpoint/2010/main" val="2638940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1F36-3A9F-2114-0571-B2659C04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elasticity of substitution (CES) functions and calibrated the share form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7B63C-602B-D353-9734-5356317BE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825625"/>
                <a:ext cx="1191768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CES 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Perfect complements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Perfect substitutes (linear function)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Cobb-Douglas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Useful references:</a:t>
                </a:r>
              </a:p>
              <a:p>
                <a:pPr marL="0" indent="0">
                  <a:buNone/>
                </a:pPr>
                <a:r>
                  <a:rPr lang="en-US" sz="2200" dirty="0">
                    <a:hlinkClick r:id="rId2"/>
                  </a:rPr>
                  <a:t>https://www.jamelsaadaoui.com/visualizing-ces-production-functions-with-wolfram-alpha/</a:t>
                </a:r>
                <a:r>
                  <a:rPr lang="en-US" sz="2200" dirty="0"/>
                  <a:t> </a:t>
                </a:r>
              </a:p>
              <a:p>
                <a:pPr marL="0" indent="0">
                  <a:buNone/>
                </a:pPr>
                <a:r>
                  <a:rPr lang="en-US" sz="2200" dirty="0">
                    <a:hlinkClick r:id="rId3"/>
                  </a:rPr>
                  <a:t>https://windc.wisc.edu/downloads/summercourse_2021/thursday/ces.pdf</a:t>
                </a:r>
                <a:endParaRPr lang="en-US" sz="2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7B63C-602B-D353-9734-5356317BE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825625"/>
                <a:ext cx="11917680" cy="4351338"/>
              </a:xfrm>
              <a:blipFill>
                <a:blip r:embed="rId4"/>
                <a:stretch>
                  <a:fillRect l="-851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3C84F-095A-04A8-C316-CA637A6E5D5F}"/>
                  </a:ext>
                </a:extLst>
              </p:cNvPr>
              <p:cNvSpPr txBox="1"/>
              <p:nvPr/>
            </p:nvSpPr>
            <p:spPr>
              <a:xfrm>
                <a:off x="7270610" y="4253023"/>
                <a:ext cx="1767984" cy="659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Important later: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3C84F-095A-04A8-C316-CA637A6E5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610" y="4253023"/>
                <a:ext cx="1767984" cy="659283"/>
              </a:xfrm>
              <a:prstGeom prst="rect">
                <a:avLst/>
              </a:prstGeom>
              <a:blipFill>
                <a:blip r:embed="rId5"/>
                <a:stretch>
                  <a:fillRect l="-2857" t="-5769" r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349E1A-421D-7895-A88B-FBC9C2A91912}"/>
              </a:ext>
            </a:extLst>
          </p:cNvPr>
          <p:cNvCxnSpPr>
            <a:endCxn id="4" idx="1"/>
          </p:cNvCxnSpPr>
          <p:nvPr/>
        </p:nvCxnSpPr>
        <p:spPr>
          <a:xfrm>
            <a:off x="4572000" y="4189228"/>
            <a:ext cx="2698610" cy="393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51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95A5-CE1E-B0CE-F4B8-D45EB2A1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6940-AEB0-6F75-6F72-9FF56979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elasticity of substitution (CES) functions and calibrated the share form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8C8F-47C2-E201-19E4-2C340E0CF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6260" y="1932062"/>
                <a:ext cx="11079480" cy="48303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Calibrated share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Reference value share: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i="1" dirty="0"/>
                  <a:t>Importantly: user assumes/estimates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US" b="1" i="1" dirty="0"/>
                  <a:t> and reference value shares and reference levels are computed via values in the SAM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8C8F-47C2-E201-19E4-2C340E0CF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6260" y="1932062"/>
                <a:ext cx="11079480" cy="4830356"/>
              </a:xfrm>
              <a:blipFill>
                <a:blip r:embed="rId2"/>
                <a:stretch>
                  <a:fillRect l="-915" t="-2100" b="-3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209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E71D-41EF-4261-C450-1CE6B89B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19" y="-6095"/>
            <a:ext cx="10515600" cy="1325563"/>
          </a:xfrm>
        </p:spPr>
        <p:txBody>
          <a:bodyPr/>
          <a:lstStyle/>
          <a:p>
            <a:r>
              <a:rPr lang="en-US" dirty="0"/>
              <a:t>CGE as an MCP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23D03-7D0B-2D7B-34FB-8AA1E2A65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518" y="4735634"/>
                <a:ext cx="1074183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Denoting: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as the unit cost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are the unit factor demand 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is the unit expenditure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are the unit compensated </a:t>
                </a:r>
                <a:r>
                  <a:rPr lang="en-US" sz="1800" dirty="0" err="1"/>
                  <a:t>Hicksian</a:t>
                </a:r>
                <a:r>
                  <a:rPr lang="en-US" sz="1800" dirty="0"/>
                  <a:t> demand functions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23D03-7D0B-2D7B-34FB-8AA1E2A65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518" y="4735634"/>
                <a:ext cx="10741837" cy="4351338"/>
              </a:xfrm>
              <a:blipFill>
                <a:blip r:embed="rId3"/>
                <a:stretch>
                  <a:fillRect l="-472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45E3C5-7272-AD17-47C6-5AAF249E7B67}"/>
                  </a:ext>
                </a:extLst>
              </p:cNvPr>
              <p:cNvSpPr txBox="1"/>
              <p:nvPr/>
            </p:nvSpPr>
            <p:spPr>
              <a:xfrm>
                <a:off x="5890436" y="983806"/>
                <a:ext cx="6960282" cy="4526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Market clearance for welfare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Factor market clearing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Income accounting: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45E3C5-7272-AD17-47C6-5AAF249E7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436" y="983806"/>
                <a:ext cx="6960282" cy="4526752"/>
              </a:xfrm>
              <a:prstGeom prst="rect">
                <a:avLst/>
              </a:prstGeom>
              <a:blipFill>
                <a:blip r:embed="rId4"/>
                <a:stretch>
                  <a:fillRect t="-1120" b="-38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01C6A3-8786-6EE5-72F8-C4355F623071}"/>
                  </a:ext>
                </a:extLst>
              </p:cNvPr>
              <p:cNvSpPr txBox="1"/>
              <p:nvPr/>
            </p:nvSpPr>
            <p:spPr>
              <a:xfrm>
                <a:off x="519518" y="1347442"/>
                <a:ext cx="6578600" cy="3472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b="0" dirty="0">
                    <a:latin typeface="Cambria Math" panose="02040503050406030204" pitchFamily="18" charset="0"/>
                  </a:rPr>
                  <a:t>Zero profit condition for production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Utility value balance (ZPC for welfare)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Market clear condition for commodities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01C6A3-8786-6EE5-72F8-C4355F623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18" y="1347442"/>
                <a:ext cx="6578600" cy="3472361"/>
              </a:xfrm>
              <a:prstGeom prst="rect">
                <a:avLst/>
              </a:prstGeom>
              <a:blipFill>
                <a:blip r:embed="rId5"/>
                <a:stretch>
                  <a:fillRect t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061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B364-C90F-F1A1-0826-49A5E1DE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Let’s work out a simple Cobb-Douglas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0E38C-7014-2348-D554-C0C1B87FC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Zero profit condition for production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Translates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0E38C-7014-2348-D554-C0C1B87FC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4587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7803-3E5D-52F1-BD7B-35623508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A152-9174-BF33-8A9B-67868461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Let’s work out a simple Cobb-Douglas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EEFF8-34CB-CDC6-36BD-9D1A55EE26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Utility value balance (ZPC for welfare)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Translates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EEFF8-34CB-CDC6-36BD-9D1A55EE2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144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FD4A-00D1-0C6B-52E5-2FE303E2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4CC5-EBF8-2215-1B63-7185731A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Let’s work out a simple Cobb-Douglas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3ECBC-C3B1-A393-B6D7-7DA8DBC30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Market clear condition for commodities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Translates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3ECBC-C3B1-A393-B6D7-7DA8DBC30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372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24FC-F8DC-4912-F836-F5A01F624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EB69-6029-44F5-757B-447D05E0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Let’s work out a simple Cobb-Douglas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214A0-BE37-09C6-BA30-36EB7D427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Market clearance for welfare</a:t>
                </a: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Translates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𝑊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214A0-BE37-09C6-BA30-36EB7D427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118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6252-BB49-BFF1-7EE5-ECDF8912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FB9A-8217-301B-4E6B-D2812A76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Let’s work out a simple Cobb-Douglas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DECFD-8B38-7737-0642-1418D3764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Factor market clearing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Translates to (noting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DECFD-8B38-7737-0642-1418D3764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2"/>
                <a:stretch>
                  <a:fillRect l="-1206" t="-27035" b="-28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1093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27ED-5C8B-D463-8B82-CE9EAD3D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put this into GAMS..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680E-A81C-8F81-E593-8E56261E8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9999"/>
            <a:ext cx="10515600" cy="2747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See file:</a:t>
            </a:r>
          </a:p>
          <a:p>
            <a:pPr marL="0" indent="0">
              <a:buNone/>
            </a:pPr>
            <a:r>
              <a:rPr lang="en-US" dirty="0"/>
              <a:t>	[repo]/CGE/2x2_MCP.gms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 added taxes to X and endowment modifications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Note – still seeking zero residual with no iterations</a:t>
            </a:r>
          </a:p>
        </p:txBody>
      </p:sp>
    </p:spTree>
    <p:extLst>
      <p:ext uri="{BB962C8B-B14F-4D97-AF65-F5344CB8AC3E}">
        <p14:creationId xmlns:p14="http://schemas.microsoft.com/office/powerpoint/2010/main" val="177822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3714-4BFD-A0C4-69BE-5469126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was </a:t>
            </a:r>
            <a:r>
              <a:rPr lang="en-US" dirty="0" err="1"/>
              <a:t>kinda</a:t>
            </a:r>
            <a:r>
              <a:rPr lang="en-US" dirty="0"/>
              <a:t> clunky…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810E-6A02-A867-043C-7B0906EA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was designed to make this much more automated</a:t>
            </a:r>
          </a:p>
          <a:p>
            <a:r>
              <a:rPr lang="en-US" dirty="0"/>
              <a:t>Note all these forms are general and calibrated from SAM</a:t>
            </a:r>
          </a:p>
          <a:p>
            <a:r>
              <a:rPr lang="en-US" dirty="0"/>
              <a:t>Aside from variables, all we needed to compute assign..</a:t>
            </a:r>
          </a:p>
          <a:p>
            <a:pPr lvl="1"/>
            <a:r>
              <a:rPr lang="en-US" dirty="0"/>
              <a:t>Reference value shares</a:t>
            </a:r>
          </a:p>
          <a:p>
            <a:pPr lvl="1"/>
            <a:r>
              <a:rPr lang="en-US" dirty="0"/>
              <a:t>Elasticities of substitution</a:t>
            </a:r>
          </a:p>
          <a:p>
            <a:pPr lvl="1"/>
            <a:endParaRPr lang="en-US" dirty="0"/>
          </a:p>
          <a:p>
            <a:r>
              <a:rPr lang="en-US" dirty="0"/>
              <a:t>Realizing this, the Mathematical Program for Solving General Equilibrium (MPSGE) system was created by Thomas Rutherford</a:t>
            </a:r>
          </a:p>
        </p:txBody>
      </p:sp>
    </p:spTree>
    <p:extLst>
      <p:ext uri="{BB962C8B-B14F-4D97-AF65-F5344CB8AC3E}">
        <p14:creationId xmlns:p14="http://schemas.microsoft.com/office/powerpoint/2010/main" val="3890253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8330-FF37-8A7A-6ECF-0418F93C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MPSGE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3422-4FC1-FCCE-399F-C1912DF67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Replicated example of the 2x2 MCP model version saved as:</a:t>
            </a:r>
          </a:p>
          <a:p>
            <a:pPr marL="0" indent="0">
              <a:buNone/>
            </a:pPr>
            <a:r>
              <a:rPr lang="en-US" dirty="0"/>
              <a:t>	[repo]/CGE/2x2_mpsge.gms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 well:</a:t>
            </a:r>
          </a:p>
          <a:p>
            <a:pPr lvl="1"/>
            <a:r>
              <a:rPr lang="en-US" dirty="0"/>
              <a:t>$SECTORS</a:t>
            </a:r>
          </a:p>
          <a:p>
            <a:pPr lvl="1"/>
            <a:r>
              <a:rPr lang="en-US" dirty="0"/>
              <a:t>$COMMODITIES</a:t>
            </a:r>
          </a:p>
          <a:p>
            <a:pPr lvl="1"/>
            <a:r>
              <a:rPr lang="en-US" dirty="0"/>
              <a:t>$CONSUMERS</a:t>
            </a:r>
          </a:p>
          <a:p>
            <a:pPr lvl="1"/>
            <a:r>
              <a:rPr lang="en-US" dirty="0"/>
              <a:t>$PROD</a:t>
            </a:r>
          </a:p>
          <a:p>
            <a:pPr lvl="1"/>
            <a:r>
              <a:rPr lang="en-US" dirty="0"/>
              <a:t>$DEMAND</a:t>
            </a:r>
          </a:p>
        </p:txBody>
      </p:sp>
    </p:spTree>
    <p:extLst>
      <p:ext uri="{BB962C8B-B14F-4D97-AF65-F5344CB8AC3E}">
        <p14:creationId xmlns:p14="http://schemas.microsoft.com/office/powerpoint/2010/main" val="1793556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67525-154B-456D-AA61-FD97CF9B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742" y="6335477"/>
            <a:ext cx="3017520" cy="365125"/>
          </a:xfrm>
        </p:spPr>
        <p:txBody>
          <a:bodyPr/>
          <a:lstStyle/>
          <a:p>
            <a:fld id="{026BACCA-2C97-4A79-954B-1FA62064F245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02BB69A-BACD-447C-ABAE-F230FC33EDFD}"/>
              </a:ext>
            </a:extLst>
          </p:cNvPr>
          <p:cNvSpPr/>
          <p:nvPr/>
        </p:nvSpPr>
        <p:spPr>
          <a:xfrm>
            <a:off x="1669977" y="748837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Regions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32399F-56A7-42F1-BB1D-AF2B47F00F50}"/>
              </a:ext>
            </a:extLst>
          </p:cNvPr>
          <p:cNvSpPr/>
          <p:nvPr/>
        </p:nvSpPr>
        <p:spPr>
          <a:xfrm>
            <a:off x="1868349" y="1365843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Sectors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6C69E2F-EE7F-42D2-97F6-9F643AD7329A}"/>
              </a:ext>
            </a:extLst>
          </p:cNvPr>
          <p:cNvSpPr/>
          <p:nvPr/>
        </p:nvSpPr>
        <p:spPr>
          <a:xfrm>
            <a:off x="2066721" y="2007077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Income Groups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6756C95-A412-4C19-84C1-5DD71702C575}"/>
              </a:ext>
            </a:extLst>
          </p:cNvPr>
          <p:cNvSpPr/>
          <p:nvPr/>
        </p:nvSpPr>
        <p:spPr>
          <a:xfrm>
            <a:off x="2265093" y="2648311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Technology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6917639-28F5-443D-BFFF-3BA4367A494E}"/>
              </a:ext>
            </a:extLst>
          </p:cNvPr>
          <p:cNvSpPr/>
          <p:nvPr/>
        </p:nvSpPr>
        <p:spPr>
          <a:xfrm>
            <a:off x="2364282" y="3309338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Vintages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9DC7B06-5F33-45E6-B88B-551157789662}"/>
              </a:ext>
            </a:extLst>
          </p:cNvPr>
          <p:cNvSpPr/>
          <p:nvPr/>
        </p:nvSpPr>
        <p:spPr>
          <a:xfrm>
            <a:off x="2265093" y="3985303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Trade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F511596-41F1-4A38-BD1C-AA7668A63D50}"/>
              </a:ext>
            </a:extLst>
          </p:cNvPr>
          <p:cNvSpPr/>
          <p:nvPr/>
        </p:nvSpPr>
        <p:spPr>
          <a:xfrm>
            <a:off x="2066721" y="4643658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Fuel Depletion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3DC6B4A-FDBD-42FA-8E8B-8E21AAED4275}"/>
              </a:ext>
            </a:extLst>
          </p:cNvPr>
          <p:cNvSpPr/>
          <p:nvPr/>
        </p:nvSpPr>
        <p:spPr>
          <a:xfrm>
            <a:off x="1868349" y="5295952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Government &amp; Tax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5E52AF8-FE35-402F-B2CF-A38C916EF687}"/>
              </a:ext>
            </a:extLst>
          </p:cNvPr>
          <p:cNvSpPr/>
          <p:nvPr/>
        </p:nvSpPr>
        <p:spPr>
          <a:xfrm>
            <a:off x="1570791" y="5949099"/>
            <a:ext cx="2350451" cy="38286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tIns="91440" bIns="45720" rtlCol="0" anchor="ctr"/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GHG Emissions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255642-A840-46F5-9E64-3B0C3DB32DD3}"/>
              </a:ext>
            </a:extLst>
          </p:cNvPr>
          <p:cNvSpPr txBox="1"/>
          <p:nvPr/>
        </p:nvSpPr>
        <p:spPr>
          <a:xfrm>
            <a:off x="4172820" y="686354"/>
            <a:ext cx="723215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Flexibility in 50 states aggregation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The current version represents 7 regions consistent with the existing </a:t>
            </a:r>
            <a:r>
              <a:rPr lang="en-US" sz="110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FrEDI</a:t>
            </a:r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 study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FC6D1F-29D6-4750-A885-C81633FCEBC3}"/>
              </a:ext>
            </a:extLst>
          </p:cNvPr>
          <p:cNvSpPr txBox="1"/>
          <p:nvPr/>
        </p:nvSpPr>
        <p:spPr>
          <a:xfrm>
            <a:off x="4437718" y="1259787"/>
            <a:ext cx="723215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Flexibility in sector aggregation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The standard version represents 5 energy sectors and 6 non-energy sectors including personal transport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0364B9-6B26-43D3-98B6-C06EFEE2506B}"/>
              </a:ext>
            </a:extLst>
          </p:cNvPr>
          <p:cNvSpPr txBox="1"/>
          <p:nvPr/>
        </p:nvSpPr>
        <p:spPr>
          <a:xfrm>
            <a:off x="4597342" y="1860729"/>
            <a:ext cx="72321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Multiple household earned-income groups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The disaggregated household allows to explore distributional impact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Labor-leisure choice affects the supply curve of labor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DB890B-09FF-497D-955E-466E616FB701}"/>
              </a:ext>
            </a:extLst>
          </p:cNvPr>
          <p:cNvSpPr txBox="1"/>
          <p:nvPr/>
        </p:nvSpPr>
        <p:spPr>
          <a:xfrm>
            <a:off x="4844992" y="2584948"/>
            <a:ext cx="723215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Advanced energy supply technologies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Options are available for electricity generation, fuel production, transport, and carbon removal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8C6C26-C2EA-4233-95CE-3796E31DBF24}"/>
              </a:ext>
            </a:extLst>
          </p:cNvPr>
          <p:cNvSpPr txBox="1"/>
          <p:nvPr/>
        </p:nvSpPr>
        <p:spPr>
          <a:xfrm>
            <a:off x="4866081" y="3166047"/>
            <a:ext cx="72321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Production distinguished by generations of technologies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Vintaging capital capturing inertia of technology transition in the short run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Coal and nuclear retirement schedule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65BAD6-32D9-42EF-8185-DEEFD40318EC}"/>
              </a:ext>
            </a:extLst>
          </p:cNvPr>
          <p:cNvSpPr txBox="1"/>
          <p:nvPr/>
        </p:nvSpPr>
        <p:spPr>
          <a:xfrm>
            <a:off x="4844992" y="3825471"/>
            <a:ext cx="72321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Domestic and foreign goods are imperfect substitutes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National market for domestic trade;  national fuel market; pooled electricity markets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Foreign trade characterized by elasticity for export demand and import supply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7FBB2A-6418-4199-B28A-469E7919D94B}"/>
              </a:ext>
            </a:extLst>
          </p:cNvPr>
          <p:cNvSpPr txBox="1"/>
          <p:nvPr/>
        </p:nvSpPr>
        <p:spPr>
          <a:xfrm>
            <a:off x="4638283" y="4597662"/>
            <a:ext cx="723215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Fossil energy resource depletes based on production of fuel in the previous period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This specification captures the major long-run dynamics of resource prices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DFDEE7-529B-42B4-8A53-B92AFF69520B}"/>
              </a:ext>
            </a:extLst>
          </p:cNvPr>
          <p:cNvSpPr txBox="1"/>
          <p:nvPr/>
        </p:nvSpPr>
        <p:spPr>
          <a:xfrm>
            <a:off x="4437718" y="5232176"/>
            <a:ext cx="74327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Government collects tax revenue and maintains neutrality in revenue and expenditure</a:t>
            </a:r>
          </a:p>
          <a:p>
            <a:r>
              <a:rPr lang="en-US" sz="1100">
                <a:solidFill>
                  <a:schemeClr val="accent1">
                    <a:lumMod val="60000"/>
                    <a:lumOff val="40000"/>
                  </a:schemeClr>
                </a:solidFill>
              </a:rPr>
              <a:t>Tax applies to sector output, corporate income, payroll, personal income (based on NBER TAXSIM)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E2F29D-9995-4574-9E80-6C6F1C0CA6A4}"/>
              </a:ext>
            </a:extLst>
          </p:cNvPr>
          <p:cNvSpPr txBox="1"/>
          <p:nvPr/>
        </p:nvSpPr>
        <p:spPr>
          <a:xfrm>
            <a:off x="4159173" y="5960945"/>
            <a:ext cx="7232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CO</a:t>
            </a:r>
            <a:r>
              <a:rPr lang="en-US" sz="1600" baseline="-2500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 and non-CO</a:t>
            </a:r>
            <a:r>
              <a:rPr lang="en-US" sz="1600" baseline="-2500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 GHG emissions (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CH</a:t>
            </a:r>
            <a:r>
              <a:rPr lang="pt-BR" sz="1600" baseline="-2500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, N</a:t>
            </a:r>
            <a:r>
              <a:rPr lang="pt-BR" sz="1600" baseline="-2500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O, HFC</a:t>
            </a:r>
            <a:r>
              <a:rPr lang="pt-BR" sz="1600" baseline="-2500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, PFC</a:t>
            </a:r>
            <a:r>
              <a:rPr lang="pt-BR" sz="1600" baseline="-2500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, SF</a:t>
            </a:r>
            <a:r>
              <a:rPr lang="pt-BR" sz="1600" baseline="-2500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1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85DF31-4927-4D30-9FB3-216B7FBE70A6}"/>
              </a:ext>
            </a:extLst>
          </p:cNvPr>
          <p:cNvSpPr txBox="1"/>
          <p:nvPr/>
        </p:nvSpPr>
        <p:spPr>
          <a:xfrm rot="16200000">
            <a:off x="-1130915" y="3194996"/>
            <a:ext cx="5162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2">
                    <a:lumMod val="40000"/>
                    <a:lumOff val="60000"/>
                  </a:schemeClr>
                </a:solidFill>
              </a:rPr>
              <a:t>Recursive Dynamic Energy-Economic Model </a:t>
            </a:r>
          </a:p>
          <a:p>
            <a:pPr algn="ctr"/>
            <a:r>
              <a:rPr lang="en-US" sz="1600">
                <a:solidFill>
                  <a:schemeClr val="tx2">
                    <a:lumMod val="40000"/>
                    <a:lumOff val="60000"/>
                  </a:schemeClr>
                </a:solidFill>
              </a:rPr>
              <a:t>of the U.S. Economy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E1C093-7E76-417D-9102-F32CE5716ACB}"/>
              </a:ext>
            </a:extLst>
          </p:cNvPr>
          <p:cNvSpPr txBox="1"/>
          <p:nvPr/>
        </p:nvSpPr>
        <p:spPr>
          <a:xfrm rot="16200000">
            <a:off x="-2215787" y="2948200"/>
            <a:ext cx="5696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U.S. Regional Energy Policy Model</a:t>
            </a:r>
          </a:p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(USREP)</a:t>
            </a:r>
          </a:p>
        </p:txBody>
      </p:sp>
    </p:spTree>
    <p:extLst>
      <p:ext uri="{BB962C8B-B14F-4D97-AF65-F5344CB8AC3E}">
        <p14:creationId xmlns:p14="http://schemas.microsoft.com/office/powerpoint/2010/main" val="10400973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8C839-69A0-4FAE-B651-23E448B1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7509" y="6350286"/>
            <a:ext cx="2743200" cy="365125"/>
          </a:xfrm>
        </p:spPr>
        <p:txBody>
          <a:bodyPr/>
          <a:lstStyle/>
          <a:p>
            <a:fld id="{026BACCA-2C97-4A79-954B-1FA62064F245}" type="slidenum">
              <a:rPr lang="en-US" smtClean="0">
                <a:solidFill>
                  <a:schemeClr val="tx2"/>
                </a:solidFill>
              </a:rPr>
              <a:pPr/>
              <a:t>52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084D1-F565-412F-AAB3-FFD3295C6D95}"/>
              </a:ext>
            </a:extLst>
          </p:cNvPr>
          <p:cNvSpPr txBox="1"/>
          <p:nvPr/>
        </p:nvSpPr>
        <p:spPr>
          <a:xfrm>
            <a:off x="408431" y="1794994"/>
            <a:ext cx="291576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2"/>
                </a:solidFill>
              </a:rPr>
              <a:t>Caron, Cohen, Brown, and Reilly (2018)*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 and Reilly (2015)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 and Karplus (2014)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 and Mowers (2012)*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 (2012)</a:t>
            </a:r>
          </a:p>
          <a:p>
            <a:r>
              <a:rPr lang="en-US" sz="900" dirty="0">
                <a:solidFill>
                  <a:schemeClr val="tx2"/>
                </a:solidFill>
              </a:rPr>
              <a:t>Lanz and Rausch (2011)*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Rausch, Metcalf, and Reilly (2011a)*</a:t>
            </a:r>
          </a:p>
          <a:p>
            <a:r>
              <a:rPr lang="en-US" sz="900" dirty="0">
                <a:solidFill>
                  <a:schemeClr val="tx2"/>
                </a:solidFill>
              </a:rPr>
              <a:t>Rausch, Metcalf, Reilly, and </a:t>
            </a:r>
            <a:r>
              <a:rPr lang="en-US" sz="900" dirty="0" err="1">
                <a:solidFill>
                  <a:schemeClr val="tx2"/>
                </a:solidFill>
              </a:rPr>
              <a:t>Paltsev</a:t>
            </a:r>
            <a:r>
              <a:rPr lang="en-US" sz="900" dirty="0">
                <a:solidFill>
                  <a:schemeClr val="tx2"/>
                </a:solidFill>
              </a:rPr>
              <a:t> (2011b, 2010, 2009)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FD2D51-C018-4E7B-8A4B-B341D174888C}"/>
              </a:ext>
            </a:extLst>
          </p:cNvPr>
          <p:cNvSpPr txBox="1"/>
          <p:nvPr/>
        </p:nvSpPr>
        <p:spPr>
          <a:xfrm>
            <a:off x="3727225" y="5576652"/>
            <a:ext cx="238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Jacoby, Montgomery, and Yuan (2018)</a:t>
            </a:r>
          </a:p>
          <a:p>
            <a:r>
              <a:rPr lang="en-US" sz="900">
                <a:solidFill>
                  <a:schemeClr val="tx2"/>
                </a:solidFill>
              </a:rPr>
              <a:t>Yuan, Metcalf, Reilly, Paltsev (2017)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AA3FB2-B983-4096-9CFB-A9FE232372B0}"/>
              </a:ext>
            </a:extLst>
          </p:cNvPr>
          <p:cNvSpPr txBox="1"/>
          <p:nvPr/>
        </p:nvSpPr>
        <p:spPr>
          <a:xfrm>
            <a:off x="494145" y="4034884"/>
            <a:ext cx="216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Caron, Rausch, and Winchester (2014)</a:t>
            </a:r>
          </a:p>
          <a:p>
            <a:r>
              <a:rPr lang="en-US" sz="900">
                <a:solidFill>
                  <a:schemeClr val="tx2"/>
                </a:solidFill>
              </a:rPr>
              <a:t>Caron and Rausch (2013)*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A5F999-B19B-40DB-95C1-C7C3C4100B34}"/>
              </a:ext>
            </a:extLst>
          </p:cNvPr>
          <p:cNvSpPr txBox="1"/>
          <p:nvPr/>
        </p:nvSpPr>
        <p:spPr>
          <a:xfrm>
            <a:off x="794760" y="5817422"/>
            <a:ext cx="2743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2"/>
                </a:solidFill>
              </a:rPr>
              <a:t>Yuan, Baron, Selin, </a:t>
            </a:r>
            <a:r>
              <a:rPr lang="en-US" sz="900" dirty="0" err="1">
                <a:solidFill>
                  <a:schemeClr val="tx2"/>
                </a:solidFill>
              </a:rPr>
              <a:t>Picciano</a:t>
            </a:r>
            <a:r>
              <a:rPr lang="en-US" sz="900" dirty="0">
                <a:solidFill>
                  <a:schemeClr val="tx2"/>
                </a:solidFill>
              </a:rPr>
              <a:t>, Metz, Reilly, and Jacoby (2021)*</a:t>
            </a:r>
          </a:p>
          <a:p>
            <a:r>
              <a:rPr lang="en-US" sz="900" dirty="0" err="1">
                <a:solidFill>
                  <a:schemeClr val="tx2"/>
                </a:solidFill>
              </a:rPr>
              <a:t>Dimanchev</a:t>
            </a:r>
            <a:r>
              <a:rPr lang="en-US" sz="900" dirty="0">
                <a:solidFill>
                  <a:schemeClr val="tx2"/>
                </a:solidFill>
              </a:rPr>
              <a:t>,, </a:t>
            </a:r>
            <a:r>
              <a:rPr lang="en-US" sz="900" dirty="0" err="1">
                <a:solidFill>
                  <a:schemeClr val="tx2"/>
                </a:solidFill>
              </a:rPr>
              <a:t>Paltsev</a:t>
            </a:r>
            <a:r>
              <a:rPr lang="en-US" sz="900" dirty="0">
                <a:solidFill>
                  <a:schemeClr val="tx2"/>
                </a:solidFill>
              </a:rPr>
              <a:t>, Yuan, Rothenberg, </a:t>
            </a:r>
            <a:r>
              <a:rPr lang="en-US" sz="900" dirty="0" err="1">
                <a:solidFill>
                  <a:schemeClr val="tx2"/>
                </a:solidFill>
              </a:rPr>
              <a:t>Tessum</a:t>
            </a:r>
            <a:r>
              <a:rPr lang="en-US" sz="900" dirty="0">
                <a:solidFill>
                  <a:schemeClr val="tx2"/>
                </a:solidFill>
              </a:rPr>
              <a:t>, Marshall and  Selin (2019)</a:t>
            </a:r>
          </a:p>
          <a:p>
            <a:r>
              <a:rPr lang="en-US" sz="900" dirty="0">
                <a:solidFill>
                  <a:schemeClr val="tx2"/>
                </a:solidFill>
              </a:rPr>
              <a:t>Thompson, Rausch, Saari, and Selin (2016, 2014)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EEC86F-36F6-46F4-A5B5-41539B52E86C}"/>
              </a:ext>
            </a:extLst>
          </p:cNvPr>
          <p:cNvSpPr txBox="1"/>
          <p:nvPr/>
        </p:nvSpPr>
        <p:spPr>
          <a:xfrm>
            <a:off x="9238888" y="2105561"/>
            <a:ext cx="260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Paltsev, Jacoby, Reilly, Ejaz, Morris, O’Sullivan, Rausch, Winchester, and </a:t>
            </a:r>
            <a:r>
              <a:rPr lang="en-US" sz="900" err="1">
                <a:solidFill>
                  <a:schemeClr val="tx2"/>
                </a:solidFill>
              </a:rPr>
              <a:t>Kragha</a:t>
            </a:r>
            <a:r>
              <a:rPr lang="en-US" sz="900">
                <a:solidFill>
                  <a:schemeClr val="tx2"/>
                </a:solidFill>
              </a:rPr>
              <a:t> (2011)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BA375F-D32F-4E28-A4A1-9CA9D4AF56BB}"/>
              </a:ext>
            </a:extLst>
          </p:cNvPr>
          <p:cNvSpPr txBox="1"/>
          <p:nvPr/>
        </p:nvSpPr>
        <p:spPr>
          <a:xfrm>
            <a:off x="8630360" y="5702334"/>
            <a:ext cx="2677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Blanc, Strzepek, Schlosser, Jacoby, </a:t>
            </a:r>
            <a:r>
              <a:rPr lang="en-US" sz="900" err="1">
                <a:solidFill>
                  <a:schemeClr val="tx2"/>
                </a:solidFill>
              </a:rPr>
              <a:t>Gueneau</a:t>
            </a:r>
            <a:r>
              <a:rPr lang="en-US" sz="900">
                <a:solidFill>
                  <a:schemeClr val="tx2"/>
                </a:solidFill>
              </a:rPr>
              <a:t>, </a:t>
            </a:r>
            <a:r>
              <a:rPr lang="en-US" sz="900" err="1">
                <a:solidFill>
                  <a:schemeClr val="tx2"/>
                </a:solidFill>
              </a:rPr>
              <a:t>Fant</a:t>
            </a:r>
            <a:r>
              <a:rPr lang="en-US" sz="900">
                <a:solidFill>
                  <a:schemeClr val="tx2"/>
                </a:solidFill>
              </a:rPr>
              <a:t>, Rausch, and Reilly (2014)*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495DB6-5093-430A-A84E-D0F198C809C6}"/>
              </a:ext>
            </a:extLst>
          </p:cNvPr>
          <p:cNvSpPr txBox="1"/>
          <p:nvPr/>
        </p:nvSpPr>
        <p:spPr>
          <a:xfrm>
            <a:off x="9004316" y="3815422"/>
            <a:ext cx="2671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Yuan, Tapia-Ahumada, Reilly (2021)*</a:t>
            </a:r>
          </a:p>
        </p:txBody>
      </p:sp>
      <p:sp>
        <p:nvSpPr>
          <p:cNvPr id="757" name="Freeform: Shape 756">
            <a:extLst>
              <a:ext uri="{FF2B5EF4-FFF2-40B4-BE49-F238E27FC236}">
                <a16:creationId xmlns:a16="http://schemas.microsoft.com/office/drawing/2014/main" id="{24D6114C-7437-4FE5-A65C-5DF6A4994716}"/>
              </a:ext>
            </a:extLst>
          </p:cNvPr>
          <p:cNvSpPr/>
          <p:nvPr/>
        </p:nvSpPr>
        <p:spPr>
          <a:xfrm>
            <a:off x="3809646" y="1030462"/>
            <a:ext cx="1005521" cy="855395"/>
          </a:xfrm>
          <a:custGeom>
            <a:avLst/>
            <a:gdLst>
              <a:gd name="connsiteX0" fmla="*/ 0 w 1005521"/>
              <a:gd name="connsiteY0" fmla="*/ 0 h 855395"/>
              <a:gd name="connsiteX1" fmla="*/ 899480 w 1005521"/>
              <a:gd name="connsiteY1" fmla="*/ 1750 h 855395"/>
              <a:gd name="connsiteX2" fmla="*/ 904756 w 1005521"/>
              <a:gd name="connsiteY2" fmla="*/ 106250 h 855395"/>
              <a:gd name="connsiteX3" fmla="*/ 1005462 w 1005521"/>
              <a:gd name="connsiteY3" fmla="*/ 499901 h 855395"/>
              <a:gd name="connsiteX4" fmla="*/ 1005521 w 1005521"/>
              <a:gd name="connsiteY4" fmla="*/ 500024 h 855395"/>
              <a:gd name="connsiteX5" fmla="*/ 168319 w 1005521"/>
              <a:gd name="connsiteY5" fmla="*/ 855395 h 855395"/>
              <a:gd name="connsiteX6" fmla="*/ 102571 w 1005521"/>
              <a:gd name="connsiteY6" fmla="*/ 675759 h 855395"/>
              <a:gd name="connsiteX7" fmla="*/ 11599 w 1005521"/>
              <a:gd name="connsiteY7" fmla="*/ 229703 h 855395"/>
              <a:gd name="connsiteX8" fmla="*/ 0 w 1005521"/>
              <a:gd name="connsiteY8" fmla="*/ 0 h 85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5521" h="855395">
                <a:moveTo>
                  <a:pt x="0" y="0"/>
                </a:moveTo>
                <a:lnTo>
                  <a:pt x="899480" y="1750"/>
                </a:lnTo>
                <a:lnTo>
                  <a:pt x="904756" y="106250"/>
                </a:lnTo>
                <a:cubicBezTo>
                  <a:pt x="918805" y="244578"/>
                  <a:pt x="953407" y="376829"/>
                  <a:pt x="1005462" y="499901"/>
                </a:cubicBezTo>
                <a:lnTo>
                  <a:pt x="1005521" y="500024"/>
                </a:lnTo>
                <a:lnTo>
                  <a:pt x="168319" y="855395"/>
                </a:lnTo>
                <a:lnTo>
                  <a:pt x="102571" y="675759"/>
                </a:lnTo>
                <a:cubicBezTo>
                  <a:pt x="58043" y="532597"/>
                  <a:pt x="27208" y="383401"/>
                  <a:pt x="11599" y="22970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6" name="Freeform: Shape 755">
            <a:extLst>
              <a:ext uri="{FF2B5EF4-FFF2-40B4-BE49-F238E27FC236}">
                <a16:creationId xmlns:a16="http://schemas.microsoft.com/office/drawing/2014/main" id="{3B57EE56-7CD4-407B-A9BA-B969F7542015}"/>
              </a:ext>
            </a:extLst>
          </p:cNvPr>
          <p:cNvSpPr/>
          <p:nvPr/>
        </p:nvSpPr>
        <p:spPr>
          <a:xfrm>
            <a:off x="7353585" y="1034923"/>
            <a:ext cx="1027429" cy="817876"/>
          </a:xfrm>
          <a:custGeom>
            <a:avLst/>
            <a:gdLst>
              <a:gd name="connsiteX0" fmla="*/ 94995 w 1027429"/>
              <a:gd name="connsiteY0" fmla="*/ 0 h 817876"/>
              <a:gd name="connsiteX1" fmla="*/ 1027429 w 1027429"/>
              <a:gd name="connsiteY1" fmla="*/ 0 h 817876"/>
              <a:gd name="connsiteX2" fmla="*/ 1016055 w 1027429"/>
              <a:gd name="connsiteY2" fmla="*/ 225241 h 817876"/>
              <a:gd name="connsiteX3" fmla="*/ 925083 w 1027429"/>
              <a:gd name="connsiteY3" fmla="*/ 671297 h 817876"/>
              <a:gd name="connsiteX4" fmla="*/ 871435 w 1027429"/>
              <a:gd name="connsiteY4" fmla="*/ 817876 h 817876"/>
              <a:gd name="connsiteX5" fmla="*/ 0 w 1027429"/>
              <a:gd name="connsiteY5" fmla="*/ 465793 h 817876"/>
              <a:gd name="connsiteX6" fmla="*/ 35272 w 1027429"/>
              <a:gd name="connsiteY6" fmla="*/ 369423 h 817876"/>
              <a:gd name="connsiteX7" fmla="*/ 89855 w 1027429"/>
              <a:gd name="connsiteY7" fmla="*/ 101789 h 817876"/>
              <a:gd name="connsiteX8" fmla="*/ 94995 w 1027429"/>
              <a:gd name="connsiteY8" fmla="*/ 0 h 81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7429" h="817876">
                <a:moveTo>
                  <a:pt x="94995" y="0"/>
                </a:moveTo>
                <a:lnTo>
                  <a:pt x="1027429" y="0"/>
                </a:lnTo>
                <a:lnTo>
                  <a:pt x="1016055" y="225241"/>
                </a:lnTo>
                <a:cubicBezTo>
                  <a:pt x="1000446" y="378939"/>
                  <a:pt x="969611" y="528135"/>
                  <a:pt x="925083" y="671297"/>
                </a:cubicBezTo>
                <a:lnTo>
                  <a:pt x="871435" y="817876"/>
                </a:lnTo>
                <a:lnTo>
                  <a:pt x="0" y="465793"/>
                </a:lnTo>
                <a:lnTo>
                  <a:pt x="35272" y="369423"/>
                </a:lnTo>
                <a:cubicBezTo>
                  <a:pt x="61989" y="283525"/>
                  <a:pt x="80490" y="194008"/>
                  <a:pt x="89855" y="101789"/>
                </a:cubicBezTo>
                <a:lnTo>
                  <a:pt x="94995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5" name="Freeform: Shape 754">
            <a:extLst>
              <a:ext uri="{FF2B5EF4-FFF2-40B4-BE49-F238E27FC236}">
                <a16:creationId xmlns:a16="http://schemas.microsoft.com/office/drawing/2014/main" id="{FCE79004-39E5-47C0-8739-BF6D217C04B6}"/>
              </a:ext>
            </a:extLst>
          </p:cNvPr>
          <p:cNvSpPr/>
          <p:nvPr/>
        </p:nvSpPr>
        <p:spPr>
          <a:xfrm>
            <a:off x="7064429" y="1576059"/>
            <a:ext cx="1131001" cy="1042573"/>
          </a:xfrm>
          <a:custGeom>
            <a:avLst/>
            <a:gdLst>
              <a:gd name="connsiteX0" fmla="*/ 256292 w 1131001"/>
              <a:gd name="connsiteY0" fmla="*/ 0 h 1042573"/>
              <a:gd name="connsiteX1" fmla="*/ 1131001 w 1131001"/>
              <a:gd name="connsiteY1" fmla="*/ 353406 h 1042573"/>
              <a:gd name="connsiteX2" fmla="*/ 1041105 w 1131001"/>
              <a:gd name="connsiteY2" fmla="*/ 540018 h 1042573"/>
              <a:gd name="connsiteX3" fmla="*/ 795002 w 1131001"/>
              <a:gd name="connsiteY3" fmla="*/ 904483 h 1042573"/>
              <a:gd name="connsiteX4" fmla="*/ 669498 w 1131001"/>
              <a:gd name="connsiteY4" fmla="*/ 1042573 h 1042573"/>
              <a:gd name="connsiteX5" fmla="*/ 0 w 1131001"/>
              <a:gd name="connsiteY5" fmla="*/ 373075 h 1042573"/>
              <a:gd name="connsiteX6" fmla="*/ 72885 w 1131001"/>
              <a:gd name="connsiteY6" fmla="*/ 292880 h 1042573"/>
              <a:gd name="connsiteX7" fmla="*/ 220547 w 1131001"/>
              <a:gd name="connsiteY7" fmla="*/ 74201 h 1042573"/>
              <a:gd name="connsiteX8" fmla="*/ 256292 w 1131001"/>
              <a:gd name="connsiteY8" fmla="*/ 0 h 1042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001" h="1042573">
                <a:moveTo>
                  <a:pt x="256292" y="0"/>
                </a:moveTo>
                <a:lnTo>
                  <a:pt x="1131001" y="353406"/>
                </a:lnTo>
                <a:lnTo>
                  <a:pt x="1041105" y="540018"/>
                </a:lnTo>
                <a:cubicBezTo>
                  <a:pt x="970722" y="669583"/>
                  <a:pt x="888177" y="791582"/>
                  <a:pt x="795002" y="904483"/>
                </a:cubicBezTo>
                <a:lnTo>
                  <a:pt x="669498" y="1042573"/>
                </a:lnTo>
                <a:lnTo>
                  <a:pt x="0" y="373075"/>
                </a:lnTo>
                <a:lnTo>
                  <a:pt x="72885" y="292880"/>
                </a:lnTo>
                <a:cubicBezTo>
                  <a:pt x="128790" y="225139"/>
                  <a:pt x="178317" y="151940"/>
                  <a:pt x="220547" y="74201"/>
                </a:cubicBezTo>
                <a:lnTo>
                  <a:pt x="256292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4" name="Freeform: Shape 753">
            <a:extLst>
              <a:ext uri="{FF2B5EF4-FFF2-40B4-BE49-F238E27FC236}">
                <a16:creationId xmlns:a16="http://schemas.microsoft.com/office/drawing/2014/main" id="{AB8CEFEF-65A4-4E92-B66F-2E3167C17B38}"/>
              </a:ext>
            </a:extLst>
          </p:cNvPr>
          <p:cNvSpPr/>
          <p:nvPr/>
        </p:nvSpPr>
        <p:spPr>
          <a:xfrm>
            <a:off x="4010745" y="1604593"/>
            <a:ext cx="1094786" cy="1010060"/>
          </a:xfrm>
          <a:custGeom>
            <a:avLst/>
            <a:gdLst>
              <a:gd name="connsiteX0" fmla="*/ 840123 w 1094786"/>
              <a:gd name="connsiteY0" fmla="*/ 0 h 1010060"/>
              <a:gd name="connsiteX1" fmla="*/ 862121 w 1094786"/>
              <a:gd name="connsiteY1" fmla="*/ 45666 h 1010060"/>
              <a:gd name="connsiteX2" fmla="*/ 1009783 w 1094786"/>
              <a:gd name="connsiteY2" fmla="*/ 264345 h 1010060"/>
              <a:gd name="connsiteX3" fmla="*/ 1094786 w 1094786"/>
              <a:gd name="connsiteY3" fmla="*/ 357872 h 1010060"/>
              <a:gd name="connsiteX4" fmla="*/ 442598 w 1094786"/>
              <a:gd name="connsiteY4" fmla="*/ 1010060 h 1010060"/>
              <a:gd name="connsiteX5" fmla="*/ 320709 w 1094786"/>
              <a:gd name="connsiteY5" fmla="*/ 875949 h 1010060"/>
              <a:gd name="connsiteX6" fmla="*/ 74606 w 1094786"/>
              <a:gd name="connsiteY6" fmla="*/ 511484 h 1010060"/>
              <a:gd name="connsiteX7" fmla="*/ 0 w 1094786"/>
              <a:gd name="connsiteY7" fmla="*/ 356611 h 1010060"/>
              <a:gd name="connsiteX8" fmla="*/ 840123 w 1094786"/>
              <a:gd name="connsiteY8" fmla="*/ 0 h 101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4786" h="1010060">
                <a:moveTo>
                  <a:pt x="840123" y="0"/>
                </a:moveTo>
                <a:lnTo>
                  <a:pt x="862121" y="45666"/>
                </a:lnTo>
                <a:cubicBezTo>
                  <a:pt x="904351" y="123405"/>
                  <a:pt x="953878" y="196604"/>
                  <a:pt x="1009783" y="264345"/>
                </a:cubicBezTo>
                <a:lnTo>
                  <a:pt x="1094786" y="357872"/>
                </a:lnTo>
                <a:lnTo>
                  <a:pt x="442598" y="1010060"/>
                </a:lnTo>
                <a:lnTo>
                  <a:pt x="320709" y="875949"/>
                </a:lnTo>
                <a:cubicBezTo>
                  <a:pt x="227535" y="763048"/>
                  <a:pt x="144990" y="641049"/>
                  <a:pt x="74606" y="511484"/>
                </a:cubicBezTo>
                <a:lnTo>
                  <a:pt x="0" y="356611"/>
                </a:lnTo>
                <a:lnTo>
                  <a:pt x="840123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3" name="Freeform: Shape 752">
            <a:extLst>
              <a:ext uri="{FF2B5EF4-FFF2-40B4-BE49-F238E27FC236}">
                <a16:creationId xmlns:a16="http://schemas.microsoft.com/office/drawing/2014/main" id="{68503D1C-0F0A-4DCB-A76F-D90E983FB916}"/>
              </a:ext>
            </a:extLst>
          </p:cNvPr>
          <p:cNvSpPr/>
          <p:nvPr/>
        </p:nvSpPr>
        <p:spPr>
          <a:xfrm>
            <a:off x="6644077" y="2006027"/>
            <a:ext cx="1031186" cy="1112536"/>
          </a:xfrm>
          <a:custGeom>
            <a:avLst/>
            <a:gdLst>
              <a:gd name="connsiteX0" fmla="*/ 361046 w 1031186"/>
              <a:gd name="connsiteY0" fmla="*/ 0 h 1112536"/>
              <a:gd name="connsiteX1" fmla="*/ 1031186 w 1031186"/>
              <a:gd name="connsiteY1" fmla="*/ 670140 h 1112536"/>
              <a:gd name="connsiteX2" fmla="*/ 905474 w 1031186"/>
              <a:gd name="connsiteY2" fmla="*/ 784395 h 1112536"/>
              <a:gd name="connsiteX3" fmla="*/ 541009 w 1031186"/>
              <a:gd name="connsiteY3" fmla="*/ 1030498 h 1112536"/>
              <a:gd name="connsiteX4" fmla="*/ 370710 w 1031186"/>
              <a:gd name="connsiteY4" fmla="*/ 1112536 h 1112536"/>
              <a:gd name="connsiteX5" fmla="*/ 0 w 1031186"/>
              <a:gd name="connsiteY5" fmla="*/ 239197 h 1112536"/>
              <a:gd name="connsiteX6" fmla="*/ 88630 w 1031186"/>
              <a:gd name="connsiteY6" fmla="*/ 196501 h 1112536"/>
              <a:gd name="connsiteX7" fmla="*/ 307309 w 1031186"/>
              <a:gd name="connsiteY7" fmla="*/ 48839 h 1112536"/>
              <a:gd name="connsiteX8" fmla="*/ 361046 w 1031186"/>
              <a:gd name="connsiteY8" fmla="*/ 0 h 1112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1186" h="1112536">
                <a:moveTo>
                  <a:pt x="361046" y="0"/>
                </a:moveTo>
                <a:lnTo>
                  <a:pt x="1031186" y="670140"/>
                </a:lnTo>
                <a:lnTo>
                  <a:pt x="905474" y="784395"/>
                </a:lnTo>
                <a:cubicBezTo>
                  <a:pt x="792573" y="877570"/>
                  <a:pt x="670574" y="960115"/>
                  <a:pt x="541009" y="1030498"/>
                </a:cubicBezTo>
                <a:lnTo>
                  <a:pt x="370710" y="1112536"/>
                </a:lnTo>
                <a:lnTo>
                  <a:pt x="0" y="239197"/>
                </a:lnTo>
                <a:lnTo>
                  <a:pt x="88630" y="196501"/>
                </a:lnTo>
                <a:cubicBezTo>
                  <a:pt x="166369" y="154271"/>
                  <a:pt x="239568" y="104744"/>
                  <a:pt x="307309" y="48839"/>
                </a:cubicBezTo>
                <a:lnTo>
                  <a:pt x="36104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2" name="Freeform: Shape 751">
            <a:extLst>
              <a:ext uri="{FF2B5EF4-FFF2-40B4-BE49-F238E27FC236}">
                <a16:creationId xmlns:a16="http://schemas.microsoft.com/office/drawing/2014/main" id="{0C6EF204-FAC2-4995-A995-18DF6B9E8A1C}"/>
              </a:ext>
            </a:extLst>
          </p:cNvPr>
          <p:cNvSpPr/>
          <p:nvPr/>
        </p:nvSpPr>
        <p:spPr>
          <a:xfrm>
            <a:off x="4511643" y="2018144"/>
            <a:ext cx="1039999" cy="1112418"/>
          </a:xfrm>
          <a:custGeom>
            <a:avLst/>
            <a:gdLst>
              <a:gd name="connsiteX0" fmla="*/ 654408 w 1039999"/>
              <a:gd name="connsiteY0" fmla="*/ 0 h 1112418"/>
              <a:gd name="connsiteX1" fmla="*/ 694813 w 1039999"/>
              <a:gd name="connsiteY1" fmla="*/ 36722 h 1112418"/>
              <a:gd name="connsiteX2" fmla="*/ 1033389 w 1039999"/>
              <a:gd name="connsiteY2" fmla="*/ 242142 h 1112418"/>
              <a:gd name="connsiteX3" fmla="*/ 1039999 w 1039999"/>
              <a:gd name="connsiteY3" fmla="*/ 244561 h 1112418"/>
              <a:gd name="connsiteX4" fmla="*/ 689362 w 1039999"/>
              <a:gd name="connsiteY4" fmla="*/ 1112418 h 1112418"/>
              <a:gd name="connsiteX5" fmla="*/ 494156 w 1039999"/>
              <a:gd name="connsiteY5" fmla="*/ 1018382 h 1112418"/>
              <a:gd name="connsiteX6" fmla="*/ 129691 w 1039999"/>
              <a:gd name="connsiteY6" fmla="*/ 772279 h 1112418"/>
              <a:gd name="connsiteX7" fmla="*/ 0 w 1039999"/>
              <a:gd name="connsiteY7" fmla="*/ 654408 h 1112418"/>
              <a:gd name="connsiteX8" fmla="*/ 654408 w 1039999"/>
              <a:gd name="connsiteY8" fmla="*/ 0 h 111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999" h="1112418">
                <a:moveTo>
                  <a:pt x="654408" y="0"/>
                </a:moveTo>
                <a:lnTo>
                  <a:pt x="694813" y="36722"/>
                </a:lnTo>
                <a:cubicBezTo>
                  <a:pt x="796425" y="120580"/>
                  <a:pt x="910318" y="190087"/>
                  <a:pt x="1033389" y="242142"/>
                </a:cubicBezTo>
                <a:lnTo>
                  <a:pt x="1039999" y="244561"/>
                </a:lnTo>
                <a:lnTo>
                  <a:pt x="689362" y="1112418"/>
                </a:lnTo>
                <a:lnTo>
                  <a:pt x="494156" y="1018382"/>
                </a:lnTo>
                <a:cubicBezTo>
                  <a:pt x="364592" y="947999"/>
                  <a:pt x="242593" y="865454"/>
                  <a:pt x="129691" y="772279"/>
                </a:cubicBezTo>
                <a:lnTo>
                  <a:pt x="0" y="654408"/>
                </a:lnTo>
                <a:lnTo>
                  <a:pt x="65440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1" name="Freeform: Shape 750">
            <a:extLst>
              <a:ext uri="{FF2B5EF4-FFF2-40B4-BE49-F238E27FC236}">
                <a16:creationId xmlns:a16="http://schemas.microsoft.com/office/drawing/2014/main" id="{6DD885CD-606D-47AD-8EB4-AD74FD15B0B3}"/>
              </a:ext>
            </a:extLst>
          </p:cNvPr>
          <p:cNvSpPr/>
          <p:nvPr/>
        </p:nvSpPr>
        <p:spPr>
          <a:xfrm>
            <a:off x="6131915" y="2276633"/>
            <a:ext cx="806868" cy="1033958"/>
          </a:xfrm>
          <a:custGeom>
            <a:avLst/>
            <a:gdLst>
              <a:gd name="connsiteX0" fmla="*/ 436232 w 806868"/>
              <a:gd name="connsiteY0" fmla="*/ 0 h 1033958"/>
              <a:gd name="connsiteX1" fmla="*/ 806868 w 806868"/>
              <a:gd name="connsiteY1" fmla="*/ 873164 h 1033958"/>
              <a:gd name="connsiteX2" fmla="*/ 643313 w 806868"/>
              <a:gd name="connsiteY2" fmla="*/ 933026 h 1033958"/>
              <a:gd name="connsiteX3" fmla="*/ 197257 w 806868"/>
              <a:gd name="connsiteY3" fmla="*/ 1023998 h 1033958"/>
              <a:gd name="connsiteX4" fmla="*/ 0 w 806868"/>
              <a:gd name="connsiteY4" fmla="*/ 1033958 h 1033958"/>
              <a:gd name="connsiteX5" fmla="*/ 0 w 806868"/>
              <a:gd name="connsiteY5" fmla="*/ 88764 h 1033958"/>
              <a:gd name="connsiteX6" fmla="*/ 87244 w 806868"/>
              <a:gd name="connsiteY6" fmla="*/ 84359 h 1033958"/>
              <a:gd name="connsiteX7" fmla="*/ 354878 w 806868"/>
              <a:gd name="connsiteY7" fmla="*/ 29776 h 1033958"/>
              <a:gd name="connsiteX8" fmla="*/ 436232 w 806868"/>
              <a:gd name="connsiteY8" fmla="*/ 0 h 103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6868" h="1033958">
                <a:moveTo>
                  <a:pt x="436232" y="0"/>
                </a:moveTo>
                <a:lnTo>
                  <a:pt x="806868" y="873164"/>
                </a:lnTo>
                <a:lnTo>
                  <a:pt x="643313" y="933026"/>
                </a:lnTo>
                <a:cubicBezTo>
                  <a:pt x="500151" y="977554"/>
                  <a:pt x="350955" y="1008389"/>
                  <a:pt x="197257" y="1023998"/>
                </a:cubicBezTo>
                <a:lnTo>
                  <a:pt x="0" y="1033958"/>
                </a:lnTo>
                <a:lnTo>
                  <a:pt x="0" y="88764"/>
                </a:lnTo>
                <a:lnTo>
                  <a:pt x="87244" y="84359"/>
                </a:lnTo>
                <a:cubicBezTo>
                  <a:pt x="179463" y="74993"/>
                  <a:pt x="268980" y="56493"/>
                  <a:pt x="354878" y="29776"/>
                </a:cubicBezTo>
                <a:lnTo>
                  <a:pt x="436232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50" name="Freeform: Shape 749">
            <a:extLst>
              <a:ext uri="{FF2B5EF4-FFF2-40B4-BE49-F238E27FC236}">
                <a16:creationId xmlns:a16="http://schemas.microsoft.com/office/drawing/2014/main" id="{A6D3DEED-7BE4-420E-9183-2E34FBDE8F0D}"/>
              </a:ext>
            </a:extLst>
          </p:cNvPr>
          <p:cNvSpPr/>
          <p:nvPr/>
        </p:nvSpPr>
        <p:spPr>
          <a:xfrm>
            <a:off x="5278019" y="2290962"/>
            <a:ext cx="771731" cy="1019165"/>
          </a:xfrm>
          <a:custGeom>
            <a:avLst/>
            <a:gdLst>
              <a:gd name="connsiteX0" fmla="*/ 350824 w 771731"/>
              <a:gd name="connsiteY0" fmla="*/ 0 h 1019165"/>
              <a:gd name="connsiteX1" fmla="*/ 393030 w 771731"/>
              <a:gd name="connsiteY1" fmla="*/ 15448 h 1019165"/>
              <a:gd name="connsiteX2" fmla="*/ 660664 w 771731"/>
              <a:gd name="connsiteY2" fmla="*/ 70031 h 1019165"/>
              <a:gd name="connsiteX3" fmla="*/ 771731 w 771731"/>
              <a:gd name="connsiteY3" fmla="*/ 75639 h 1019165"/>
              <a:gd name="connsiteX4" fmla="*/ 771731 w 771731"/>
              <a:gd name="connsiteY4" fmla="*/ 1019165 h 1019165"/>
              <a:gd name="connsiteX5" fmla="*/ 583694 w 771731"/>
              <a:gd name="connsiteY5" fmla="*/ 1009670 h 1019165"/>
              <a:gd name="connsiteX6" fmla="*/ 137638 w 771731"/>
              <a:gd name="connsiteY6" fmla="*/ 918698 h 1019165"/>
              <a:gd name="connsiteX7" fmla="*/ 0 w 771731"/>
              <a:gd name="connsiteY7" fmla="*/ 868322 h 1019165"/>
              <a:gd name="connsiteX8" fmla="*/ 350824 w 771731"/>
              <a:gd name="connsiteY8" fmla="*/ 0 h 101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1731" h="1019165">
                <a:moveTo>
                  <a:pt x="350824" y="0"/>
                </a:moveTo>
                <a:lnTo>
                  <a:pt x="393030" y="15448"/>
                </a:lnTo>
                <a:cubicBezTo>
                  <a:pt x="478928" y="42165"/>
                  <a:pt x="568446" y="60665"/>
                  <a:pt x="660664" y="70031"/>
                </a:cubicBezTo>
                <a:lnTo>
                  <a:pt x="771731" y="75639"/>
                </a:lnTo>
                <a:lnTo>
                  <a:pt x="771731" y="1019165"/>
                </a:lnTo>
                <a:lnTo>
                  <a:pt x="583694" y="1009670"/>
                </a:lnTo>
                <a:cubicBezTo>
                  <a:pt x="429997" y="994061"/>
                  <a:pt x="280801" y="963226"/>
                  <a:pt x="137638" y="918698"/>
                </a:cubicBezTo>
                <a:lnTo>
                  <a:pt x="0" y="868322"/>
                </a:lnTo>
                <a:lnTo>
                  <a:pt x="35082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52" name="Freeform: Shape 651">
            <a:extLst>
              <a:ext uri="{FF2B5EF4-FFF2-40B4-BE49-F238E27FC236}">
                <a16:creationId xmlns:a16="http://schemas.microsoft.com/office/drawing/2014/main" id="{7D23C169-A842-40E1-99B0-C757E452EF72}"/>
              </a:ext>
            </a:extLst>
          </p:cNvPr>
          <p:cNvSpPr>
            <a:spLocks noChangeAspect="1"/>
          </p:cNvSpPr>
          <p:nvPr/>
        </p:nvSpPr>
        <p:spPr>
          <a:xfrm>
            <a:off x="3364040" y="1029595"/>
            <a:ext cx="613925" cy="1031557"/>
          </a:xfrm>
          <a:custGeom>
            <a:avLst/>
            <a:gdLst>
              <a:gd name="connsiteX0" fmla="*/ 5 w 613925"/>
              <a:gd name="connsiteY0" fmla="*/ 0 h 1031557"/>
              <a:gd name="connsiteX1" fmla="*/ 445606 w 613925"/>
              <a:gd name="connsiteY1" fmla="*/ 867 h 1031557"/>
              <a:gd name="connsiteX2" fmla="*/ 457205 w 613925"/>
              <a:gd name="connsiteY2" fmla="*/ 230570 h 1031557"/>
              <a:gd name="connsiteX3" fmla="*/ 548177 w 613925"/>
              <a:gd name="connsiteY3" fmla="*/ 676626 h 1031557"/>
              <a:gd name="connsiteX4" fmla="*/ 613925 w 613925"/>
              <a:gd name="connsiteY4" fmla="*/ 856262 h 1031557"/>
              <a:gd name="connsiteX5" fmla="*/ 200955 w 613925"/>
              <a:gd name="connsiteY5" fmla="*/ 1031557 h 1031557"/>
              <a:gd name="connsiteX6" fmla="*/ 93539 w 613925"/>
              <a:gd name="connsiteY6" fmla="*/ 715241 h 1031557"/>
              <a:gd name="connsiteX7" fmla="*/ 5 w 613925"/>
              <a:gd name="connsiteY7" fmla="*/ 0 h 103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3925" h="1031557">
                <a:moveTo>
                  <a:pt x="5" y="0"/>
                </a:moveTo>
                <a:lnTo>
                  <a:pt x="445606" y="867"/>
                </a:lnTo>
                <a:lnTo>
                  <a:pt x="457205" y="230570"/>
                </a:lnTo>
                <a:cubicBezTo>
                  <a:pt x="472814" y="384268"/>
                  <a:pt x="503649" y="533464"/>
                  <a:pt x="548177" y="676626"/>
                </a:cubicBezTo>
                <a:lnTo>
                  <a:pt x="613925" y="856262"/>
                </a:lnTo>
                <a:lnTo>
                  <a:pt x="200955" y="1031557"/>
                </a:lnTo>
                <a:lnTo>
                  <a:pt x="93539" y="715241"/>
                </a:lnTo>
                <a:cubicBezTo>
                  <a:pt x="31730" y="484976"/>
                  <a:pt x="-472" y="244785"/>
                  <a:pt x="5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51" name="Freeform: Shape 650">
            <a:extLst>
              <a:ext uri="{FF2B5EF4-FFF2-40B4-BE49-F238E27FC236}">
                <a16:creationId xmlns:a16="http://schemas.microsoft.com/office/drawing/2014/main" id="{C649F2E2-741E-4D79-AA6E-6F22851D4A40}"/>
              </a:ext>
            </a:extLst>
          </p:cNvPr>
          <p:cNvSpPr/>
          <p:nvPr/>
        </p:nvSpPr>
        <p:spPr>
          <a:xfrm>
            <a:off x="8225020" y="1034923"/>
            <a:ext cx="616746" cy="990652"/>
          </a:xfrm>
          <a:custGeom>
            <a:avLst/>
            <a:gdLst>
              <a:gd name="connsiteX0" fmla="*/ 155994 w 616746"/>
              <a:gd name="connsiteY0" fmla="*/ 0 h 990652"/>
              <a:gd name="connsiteX1" fmla="*/ 616746 w 616746"/>
              <a:gd name="connsiteY1" fmla="*/ 0 h 990652"/>
              <a:gd name="connsiteX2" fmla="*/ 521820 w 616746"/>
              <a:gd name="connsiteY2" fmla="*/ 715057 h 990652"/>
              <a:gd name="connsiteX3" fmla="*/ 427635 w 616746"/>
              <a:gd name="connsiteY3" fmla="*/ 990652 h 990652"/>
              <a:gd name="connsiteX4" fmla="*/ 0 w 616746"/>
              <a:gd name="connsiteY4" fmla="*/ 817876 h 990652"/>
              <a:gd name="connsiteX5" fmla="*/ 53648 w 616746"/>
              <a:gd name="connsiteY5" fmla="*/ 671297 h 990652"/>
              <a:gd name="connsiteX6" fmla="*/ 144620 w 616746"/>
              <a:gd name="connsiteY6" fmla="*/ 225241 h 990652"/>
              <a:gd name="connsiteX7" fmla="*/ 155994 w 616746"/>
              <a:gd name="connsiteY7" fmla="*/ 0 h 9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6746" h="990652">
                <a:moveTo>
                  <a:pt x="155994" y="0"/>
                </a:moveTo>
                <a:lnTo>
                  <a:pt x="616746" y="0"/>
                </a:lnTo>
                <a:cubicBezTo>
                  <a:pt x="616746" y="244785"/>
                  <a:pt x="584078" y="484913"/>
                  <a:pt x="521820" y="715057"/>
                </a:cubicBezTo>
                <a:lnTo>
                  <a:pt x="427635" y="990652"/>
                </a:lnTo>
                <a:lnTo>
                  <a:pt x="0" y="817876"/>
                </a:lnTo>
                <a:lnTo>
                  <a:pt x="53648" y="671297"/>
                </a:lnTo>
                <a:cubicBezTo>
                  <a:pt x="98176" y="528135"/>
                  <a:pt x="129011" y="378939"/>
                  <a:pt x="144620" y="225241"/>
                </a:cubicBezTo>
                <a:lnTo>
                  <a:pt x="155994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50" name="Freeform: Shape 649">
            <a:extLst>
              <a:ext uri="{FF2B5EF4-FFF2-40B4-BE49-F238E27FC236}">
                <a16:creationId xmlns:a16="http://schemas.microsoft.com/office/drawing/2014/main" id="{4B1ED172-E389-46DF-8344-3D61B549BC30}"/>
              </a:ext>
            </a:extLst>
          </p:cNvPr>
          <p:cNvSpPr/>
          <p:nvPr/>
        </p:nvSpPr>
        <p:spPr>
          <a:xfrm>
            <a:off x="7733927" y="1929465"/>
            <a:ext cx="890030" cy="1017146"/>
          </a:xfrm>
          <a:custGeom>
            <a:avLst/>
            <a:gdLst>
              <a:gd name="connsiteX0" fmla="*/ 461503 w 890030"/>
              <a:gd name="connsiteY0" fmla="*/ 0 h 1017146"/>
              <a:gd name="connsiteX1" fmla="*/ 890030 w 890030"/>
              <a:gd name="connsiteY1" fmla="*/ 173136 h 1017146"/>
              <a:gd name="connsiteX2" fmla="*/ 740457 w 890030"/>
              <a:gd name="connsiteY2" fmla="*/ 475662 h 1017146"/>
              <a:gd name="connsiteX3" fmla="*/ 543429 w 890030"/>
              <a:gd name="connsiteY3" fmla="*/ 770771 h 1017146"/>
              <a:gd name="connsiteX4" fmla="*/ 327979 w 890030"/>
              <a:gd name="connsiteY4" fmla="*/ 1017146 h 1017146"/>
              <a:gd name="connsiteX5" fmla="*/ 0 w 890030"/>
              <a:gd name="connsiteY5" fmla="*/ 689167 h 1017146"/>
              <a:gd name="connsiteX6" fmla="*/ 125504 w 890030"/>
              <a:gd name="connsiteY6" fmla="*/ 551077 h 1017146"/>
              <a:gd name="connsiteX7" fmla="*/ 371607 w 890030"/>
              <a:gd name="connsiteY7" fmla="*/ 186612 h 1017146"/>
              <a:gd name="connsiteX8" fmla="*/ 461503 w 890030"/>
              <a:gd name="connsiteY8" fmla="*/ 0 h 101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0030" h="1017146">
                <a:moveTo>
                  <a:pt x="461503" y="0"/>
                </a:moveTo>
                <a:lnTo>
                  <a:pt x="890030" y="173136"/>
                </a:lnTo>
                <a:lnTo>
                  <a:pt x="740457" y="475662"/>
                </a:lnTo>
                <a:cubicBezTo>
                  <a:pt x="681280" y="578083"/>
                  <a:pt x="615476" y="676675"/>
                  <a:pt x="543429" y="770771"/>
                </a:cubicBezTo>
                <a:lnTo>
                  <a:pt x="327979" y="1017146"/>
                </a:lnTo>
                <a:lnTo>
                  <a:pt x="0" y="689167"/>
                </a:lnTo>
                <a:lnTo>
                  <a:pt x="125504" y="551077"/>
                </a:lnTo>
                <a:cubicBezTo>
                  <a:pt x="218679" y="438176"/>
                  <a:pt x="301224" y="316177"/>
                  <a:pt x="371607" y="186612"/>
                </a:cubicBezTo>
                <a:lnTo>
                  <a:pt x="4615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49" name="Freeform: Shape 648">
            <a:extLst>
              <a:ext uri="{FF2B5EF4-FFF2-40B4-BE49-F238E27FC236}">
                <a16:creationId xmlns:a16="http://schemas.microsoft.com/office/drawing/2014/main" id="{DABF5542-A0B5-41BD-9F56-336E2747CF0F}"/>
              </a:ext>
            </a:extLst>
          </p:cNvPr>
          <p:cNvSpPr/>
          <p:nvPr/>
        </p:nvSpPr>
        <p:spPr>
          <a:xfrm>
            <a:off x="3598680" y="1961204"/>
            <a:ext cx="854663" cy="973584"/>
          </a:xfrm>
          <a:custGeom>
            <a:avLst/>
            <a:gdLst>
              <a:gd name="connsiteX0" fmla="*/ 412065 w 854663"/>
              <a:gd name="connsiteY0" fmla="*/ 0 h 973584"/>
              <a:gd name="connsiteX1" fmla="*/ 486671 w 854663"/>
              <a:gd name="connsiteY1" fmla="*/ 154873 h 973584"/>
              <a:gd name="connsiteX2" fmla="*/ 732774 w 854663"/>
              <a:gd name="connsiteY2" fmla="*/ 519338 h 973584"/>
              <a:gd name="connsiteX3" fmla="*/ 854663 w 854663"/>
              <a:gd name="connsiteY3" fmla="*/ 653449 h 973584"/>
              <a:gd name="connsiteX4" fmla="*/ 534528 w 854663"/>
              <a:gd name="connsiteY4" fmla="*/ 973584 h 973584"/>
              <a:gd name="connsiteX5" fmla="*/ 326533 w 854663"/>
              <a:gd name="connsiteY5" fmla="*/ 734798 h 973584"/>
              <a:gd name="connsiteX6" fmla="*/ 130080 w 854663"/>
              <a:gd name="connsiteY6" fmla="*/ 439306 h 973584"/>
              <a:gd name="connsiteX7" fmla="*/ 0 w 854663"/>
              <a:gd name="connsiteY7" fmla="*/ 174911 h 973584"/>
              <a:gd name="connsiteX8" fmla="*/ 412065 w 854663"/>
              <a:gd name="connsiteY8" fmla="*/ 0 h 97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4663" h="973584">
                <a:moveTo>
                  <a:pt x="412065" y="0"/>
                </a:moveTo>
                <a:lnTo>
                  <a:pt x="486671" y="154873"/>
                </a:lnTo>
                <a:cubicBezTo>
                  <a:pt x="557055" y="284438"/>
                  <a:pt x="639600" y="406437"/>
                  <a:pt x="732774" y="519338"/>
                </a:cubicBezTo>
                <a:lnTo>
                  <a:pt x="854663" y="653449"/>
                </a:lnTo>
                <a:lnTo>
                  <a:pt x="534528" y="973584"/>
                </a:lnTo>
                <a:lnTo>
                  <a:pt x="326533" y="734798"/>
                </a:lnTo>
                <a:cubicBezTo>
                  <a:pt x="254670" y="640562"/>
                  <a:pt x="189058" y="541841"/>
                  <a:pt x="130080" y="439306"/>
                </a:cubicBezTo>
                <a:lnTo>
                  <a:pt x="0" y="174911"/>
                </a:lnTo>
                <a:lnTo>
                  <a:pt x="41206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48" name="Freeform: Shape 647">
            <a:extLst>
              <a:ext uri="{FF2B5EF4-FFF2-40B4-BE49-F238E27FC236}">
                <a16:creationId xmlns:a16="http://schemas.microsoft.com/office/drawing/2014/main" id="{298A4029-7291-4ACB-80E4-2F05897CDFCE}"/>
              </a:ext>
            </a:extLst>
          </p:cNvPr>
          <p:cNvSpPr/>
          <p:nvPr/>
        </p:nvSpPr>
        <p:spPr>
          <a:xfrm>
            <a:off x="4191263" y="2672553"/>
            <a:ext cx="1009743" cy="881471"/>
          </a:xfrm>
          <a:custGeom>
            <a:avLst/>
            <a:gdLst>
              <a:gd name="connsiteX0" fmla="*/ 320381 w 1009743"/>
              <a:gd name="connsiteY0" fmla="*/ 0 h 881471"/>
              <a:gd name="connsiteX1" fmla="*/ 450072 w 1009743"/>
              <a:gd name="connsiteY1" fmla="*/ 117871 h 881471"/>
              <a:gd name="connsiteX2" fmla="*/ 814537 w 1009743"/>
              <a:gd name="connsiteY2" fmla="*/ 363974 h 881471"/>
              <a:gd name="connsiteX3" fmla="*/ 1009743 w 1009743"/>
              <a:gd name="connsiteY3" fmla="*/ 458010 h 881471"/>
              <a:gd name="connsiteX4" fmla="*/ 838653 w 1009743"/>
              <a:gd name="connsiteY4" fmla="*/ 881471 h 881471"/>
              <a:gd name="connsiteX5" fmla="*/ 700224 w 1009743"/>
              <a:gd name="connsiteY5" fmla="*/ 818783 h 881471"/>
              <a:gd name="connsiteX6" fmla="*/ 539133 w 1009743"/>
              <a:gd name="connsiteY6" fmla="*/ 732521 h 881471"/>
              <a:gd name="connsiteX7" fmla="*/ 237070 w 1009743"/>
              <a:gd name="connsiteY7" fmla="*/ 529735 h 881471"/>
              <a:gd name="connsiteX8" fmla="*/ 0 w 1009743"/>
              <a:gd name="connsiteY8" fmla="*/ 320381 h 881471"/>
              <a:gd name="connsiteX9" fmla="*/ 320381 w 1009743"/>
              <a:gd name="connsiteY9" fmla="*/ 0 h 88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9743" h="881471">
                <a:moveTo>
                  <a:pt x="320381" y="0"/>
                </a:moveTo>
                <a:lnTo>
                  <a:pt x="450072" y="117871"/>
                </a:lnTo>
                <a:cubicBezTo>
                  <a:pt x="562974" y="211046"/>
                  <a:pt x="684973" y="293591"/>
                  <a:pt x="814537" y="363974"/>
                </a:cubicBezTo>
                <a:lnTo>
                  <a:pt x="1009743" y="458010"/>
                </a:lnTo>
                <a:lnTo>
                  <a:pt x="838653" y="881471"/>
                </a:lnTo>
                <a:lnTo>
                  <a:pt x="700224" y="818783"/>
                </a:lnTo>
                <a:cubicBezTo>
                  <a:pt x="645820" y="791943"/>
                  <a:pt x="592091" y="763188"/>
                  <a:pt x="539133" y="732521"/>
                </a:cubicBezTo>
                <a:cubicBezTo>
                  <a:pt x="433218" y="671187"/>
                  <a:pt x="332404" y="603370"/>
                  <a:pt x="237070" y="529735"/>
                </a:cubicBezTo>
                <a:lnTo>
                  <a:pt x="0" y="320381"/>
                </a:lnTo>
                <a:lnTo>
                  <a:pt x="320381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47" name="Freeform: Shape 646">
            <a:extLst>
              <a:ext uri="{FF2B5EF4-FFF2-40B4-BE49-F238E27FC236}">
                <a16:creationId xmlns:a16="http://schemas.microsoft.com/office/drawing/2014/main" id="{255B8FE9-C2D0-4273-BC69-3570482C5022}"/>
              </a:ext>
            </a:extLst>
          </p:cNvPr>
          <p:cNvSpPr/>
          <p:nvPr/>
        </p:nvSpPr>
        <p:spPr>
          <a:xfrm>
            <a:off x="7014786" y="2676169"/>
            <a:ext cx="987970" cy="868771"/>
          </a:xfrm>
          <a:custGeom>
            <a:avLst/>
            <a:gdLst>
              <a:gd name="connsiteX0" fmla="*/ 660476 w 987970"/>
              <a:gd name="connsiteY0" fmla="*/ 0 h 868771"/>
              <a:gd name="connsiteX1" fmla="*/ 987970 w 987970"/>
              <a:gd name="connsiteY1" fmla="*/ 327495 h 868771"/>
              <a:gd name="connsiteX2" fmla="*/ 758465 w 987970"/>
              <a:gd name="connsiteY2" fmla="*/ 529372 h 868771"/>
              <a:gd name="connsiteX3" fmla="*/ 456008 w 987970"/>
              <a:gd name="connsiteY3" fmla="*/ 731570 h 868771"/>
              <a:gd name="connsiteX4" fmla="*/ 294749 w 987970"/>
              <a:gd name="connsiteY4" fmla="*/ 817519 h 868771"/>
              <a:gd name="connsiteX5" fmla="*/ 180985 w 987970"/>
              <a:gd name="connsiteY5" fmla="*/ 868771 h 868771"/>
              <a:gd name="connsiteX6" fmla="*/ 0 w 987970"/>
              <a:gd name="connsiteY6" fmla="*/ 442396 h 868771"/>
              <a:gd name="connsiteX7" fmla="*/ 170299 w 987970"/>
              <a:gd name="connsiteY7" fmla="*/ 360358 h 868771"/>
              <a:gd name="connsiteX8" fmla="*/ 534764 w 987970"/>
              <a:gd name="connsiteY8" fmla="*/ 114255 h 868771"/>
              <a:gd name="connsiteX9" fmla="*/ 660476 w 987970"/>
              <a:gd name="connsiteY9" fmla="*/ 0 h 86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7970" h="868771">
                <a:moveTo>
                  <a:pt x="660476" y="0"/>
                </a:moveTo>
                <a:lnTo>
                  <a:pt x="987970" y="327495"/>
                </a:lnTo>
                <a:lnTo>
                  <a:pt x="758465" y="529372"/>
                </a:lnTo>
                <a:cubicBezTo>
                  <a:pt x="662989" y="602822"/>
                  <a:pt x="562043" y="670443"/>
                  <a:pt x="456008" y="731570"/>
                </a:cubicBezTo>
                <a:cubicBezTo>
                  <a:pt x="402990" y="762134"/>
                  <a:pt x="349206" y="790784"/>
                  <a:pt x="294749" y="817519"/>
                </a:cubicBezTo>
                <a:lnTo>
                  <a:pt x="180985" y="868771"/>
                </a:lnTo>
                <a:lnTo>
                  <a:pt x="0" y="442396"/>
                </a:lnTo>
                <a:lnTo>
                  <a:pt x="170299" y="360358"/>
                </a:lnTo>
                <a:cubicBezTo>
                  <a:pt x="299864" y="289975"/>
                  <a:pt x="421863" y="207430"/>
                  <a:pt x="534764" y="114255"/>
                </a:cubicBezTo>
                <a:lnTo>
                  <a:pt x="660476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46" name="Freeform: Shape 645">
            <a:extLst>
              <a:ext uri="{FF2B5EF4-FFF2-40B4-BE49-F238E27FC236}">
                <a16:creationId xmlns:a16="http://schemas.microsoft.com/office/drawing/2014/main" id="{F07C813C-0D28-4424-A0E8-39B75742C6EB}"/>
              </a:ext>
            </a:extLst>
          </p:cNvPr>
          <p:cNvSpPr/>
          <p:nvPr/>
        </p:nvSpPr>
        <p:spPr>
          <a:xfrm>
            <a:off x="6131915" y="3149798"/>
            <a:ext cx="988262" cy="622996"/>
          </a:xfrm>
          <a:custGeom>
            <a:avLst/>
            <a:gdLst>
              <a:gd name="connsiteX0" fmla="*/ 806868 w 988262"/>
              <a:gd name="connsiteY0" fmla="*/ 0 h 622996"/>
              <a:gd name="connsiteX1" fmla="*/ 988262 w 988262"/>
              <a:gd name="connsiteY1" fmla="*/ 427338 h 622996"/>
              <a:gd name="connsiteX2" fmla="*/ 843594 w 988262"/>
              <a:gd name="connsiteY2" fmla="*/ 481334 h 622996"/>
              <a:gd name="connsiteX3" fmla="*/ 145663 w 988262"/>
              <a:gd name="connsiteY3" fmla="*/ 618422 h 622996"/>
              <a:gd name="connsiteX4" fmla="*/ 0 w 988262"/>
              <a:gd name="connsiteY4" fmla="*/ 622996 h 622996"/>
              <a:gd name="connsiteX5" fmla="*/ 0 w 988262"/>
              <a:gd name="connsiteY5" fmla="*/ 160794 h 622996"/>
              <a:gd name="connsiteX6" fmla="*/ 197257 w 988262"/>
              <a:gd name="connsiteY6" fmla="*/ 150834 h 622996"/>
              <a:gd name="connsiteX7" fmla="*/ 643313 w 988262"/>
              <a:gd name="connsiteY7" fmla="*/ 59862 h 622996"/>
              <a:gd name="connsiteX8" fmla="*/ 806868 w 988262"/>
              <a:gd name="connsiteY8" fmla="*/ 0 h 62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8262" h="622996">
                <a:moveTo>
                  <a:pt x="806868" y="0"/>
                </a:moveTo>
                <a:lnTo>
                  <a:pt x="988262" y="427338"/>
                </a:lnTo>
                <a:lnTo>
                  <a:pt x="843594" y="481334"/>
                </a:lnTo>
                <a:cubicBezTo>
                  <a:pt x="616564" y="557650"/>
                  <a:pt x="381867" y="603344"/>
                  <a:pt x="145663" y="618422"/>
                </a:cubicBezTo>
                <a:lnTo>
                  <a:pt x="0" y="622996"/>
                </a:lnTo>
                <a:lnTo>
                  <a:pt x="0" y="160794"/>
                </a:lnTo>
                <a:lnTo>
                  <a:pt x="197257" y="150834"/>
                </a:lnTo>
                <a:cubicBezTo>
                  <a:pt x="350955" y="135225"/>
                  <a:pt x="500151" y="104390"/>
                  <a:pt x="643313" y="59862"/>
                </a:cubicBezTo>
                <a:lnTo>
                  <a:pt x="806868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45" name="Freeform: Shape 644">
            <a:extLst>
              <a:ext uri="{FF2B5EF4-FFF2-40B4-BE49-F238E27FC236}">
                <a16:creationId xmlns:a16="http://schemas.microsoft.com/office/drawing/2014/main" id="{E680653C-5460-4655-A1CF-240C3F7A79E4}"/>
              </a:ext>
            </a:extLst>
          </p:cNvPr>
          <p:cNvSpPr/>
          <p:nvPr/>
        </p:nvSpPr>
        <p:spPr>
          <a:xfrm>
            <a:off x="5106135" y="3159284"/>
            <a:ext cx="943614" cy="612820"/>
          </a:xfrm>
          <a:custGeom>
            <a:avLst/>
            <a:gdLst>
              <a:gd name="connsiteX0" fmla="*/ 171883 w 943614"/>
              <a:gd name="connsiteY0" fmla="*/ 0 h 612820"/>
              <a:gd name="connsiteX1" fmla="*/ 309521 w 943614"/>
              <a:gd name="connsiteY1" fmla="*/ 50376 h 612820"/>
              <a:gd name="connsiteX2" fmla="*/ 755577 w 943614"/>
              <a:gd name="connsiteY2" fmla="*/ 141348 h 612820"/>
              <a:gd name="connsiteX3" fmla="*/ 943614 w 943614"/>
              <a:gd name="connsiteY3" fmla="*/ 150843 h 612820"/>
              <a:gd name="connsiteX4" fmla="*/ 943614 w 943614"/>
              <a:gd name="connsiteY4" fmla="*/ 612820 h 612820"/>
              <a:gd name="connsiteX5" fmla="*/ 816771 w 943614"/>
              <a:gd name="connsiteY5" fmla="*/ 608591 h 612820"/>
              <a:gd name="connsiteX6" fmla="*/ 119108 w 943614"/>
              <a:gd name="connsiteY6" fmla="*/ 470144 h 612820"/>
              <a:gd name="connsiteX7" fmla="*/ 0 w 943614"/>
              <a:gd name="connsiteY7" fmla="*/ 425425 h 612820"/>
              <a:gd name="connsiteX8" fmla="*/ 171883 w 943614"/>
              <a:gd name="connsiteY8" fmla="*/ 0 h 61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3614" h="612820">
                <a:moveTo>
                  <a:pt x="171883" y="0"/>
                </a:moveTo>
                <a:lnTo>
                  <a:pt x="309521" y="50376"/>
                </a:lnTo>
                <a:cubicBezTo>
                  <a:pt x="452684" y="94904"/>
                  <a:pt x="601880" y="125739"/>
                  <a:pt x="755577" y="141348"/>
                </a:cubicBezTo>
                <a:lnTo>
                  <a:pt x="943614" y="150843"/>
                </a:lnTo>
                <a:lnTo>
                  <a:pt x="943614" y="612820"/>
                </a:lnTo>
                <a:lnTo>
                  <a:pt x="816771" y="608591"/>
                </a:lnTo>
                <a:cubicBezTo>
                  <a:pt x="580596" y="593053"/>
                  <a:pt x="345990" y="546902"/>
                  <a:pt x="119108" y="470144"/>
                </a:cubicBezTo>
                <a:lnTo>
                  <a:pt x="0" y="425425"/>
                </a:lnTo>
                <a:lnTo>
                  <a:pt x="17188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028F4-7CCA-4A6C-B015-B34E59BB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861" y="335135"/>
            <a:ext cx="5943600" cy="602816"/>
          </a:xfrm>
        </p:spPr>
        <p:txBody>
          <a:bodyPr>
            <a:noAutofit/>
          </a:bodyPr>
          <a:lstStyle/>
          <a:p>
            <a:pPr algn="ctr"/>
            <a:r>
              <a:rPr lang="en-US" sz="3400">
                <a:solidFill>
                  <a:schemeClr val="tx2"/>
                </a:solidFill>
              </a:rPr>
              <a:t>USREP Research Activities</a:t>
            </a:r>
          </a:p>
        </p:txBody>
      </p:sp>
      <p:sp>
        <p:nvSpPr>
          <p:cNvPr id="771" name="Rectangle: Rounded Corners 770">
            <a:extLst>
              <a:ext uri="{FF2B5EF4-FFF2-40B4-BE49-F238E27FC236}">
                <a16:creationId xmlns:a16="http://schemas.microsoft.com/office/drawing/2014/main" id="{0A764E14-7677-4C31-9A2E-A701A3C82351}"/>
              </a:ext>
            </a:extLst>
          </p:cNvPr>
          <p:cNvSpPr/>
          <p:nvPr/>
        </p:nvSpPr>
        <p:spPr>
          <a:xfrm rot="4568673">
            <a:off x="3232668" y="1355374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Efficiency</a:t>
            </a:r>
          </a:p>
        </p:txBody>
      </p:sp>
      <p:sp>
        <p:nvSpPr>
          <p:cNvPr id="773" name="Rectangle: Rounded Corners 772">
            <a:extLst>
              <a:ext uri="{FF2B5EF4-FFF2-40B4-BE49-F238E27FC236}">
                <a16:creationId xmlns:a16="http://schemas.microsoft.com/office/drawing/2014/main" id="{C8F786B2-7FD5-46D8-814A-73CA4123CDBE}"/>
              </a:ext>
            </a:extLst>
          </p:cNvPr>
          <p:cNvSpPr/>
          <p:nvPr/>
        </p:nvSpPr>
        <p:spPr>
          <a:xfrm rot="4568673">
            <a:off x="3055241" y="1390419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&amp; Equity</a:t>
            </a:r>
          </a:p>
        </p:txBody>
      </p:sp>
      <p:sp>
        <p:nvSpPr>
          <p:cNvPr id="774" name="Rectangle: Rounded Corners 773">
            <a:extLst>
              <a:ext uri="{FF2B5EF4-FFF2-40B4-BE49-F238E27FC236}">
                <a16:creationId xmlns:a16="http://schemas.microsoft.com/office/drawing/2014/main" id="{0E936D42-28BC-482B-860D-08FABD3DB127}"/>
              </a:ext>
            </a:extLst>
          </p:cNvPr>
          <p:cNvSpPr/>
          <p:nvPr/>
        </p:nvSpPr>
        <p:spPr>
          <a:xfrm rot="3180284">
            <a:off x="3591350" y="2221759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Carbon</a:t>
            </a:r>
          </a:p>
        </p:txBody>
      </p:sp>
      <p:sp>
        <p:nvSpPr>
          <p:cNvPr id="775" name="Rectangle: Rounded Corners 774">
            <a:extLst>
              <a:ext uri="{FF2B5EF4-FFF2-40B4-BE49-F238E27FC236}">
                <a16:creationId xmlns:a16="http://schemas.microsoft.com/office/drawing/2014/main" id="{8BAA06A5-6A26-412A-A1D8-BBEA6938673E}"/>
              </a:ext>
            </a:extLst>
          </p:cNvPr>
          <p:cNvSpPr/>
          <p:nvPr/>
        </p:nvSpPr>
        <p:spPr>
          <a:xfrm rot="3180284">
            <a:off x="3446631" y="2323387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013935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Leakage</a:t>
            </a:r>
          </a:p>
        </p:txBody>
      </p:sp>
      <p:sp>
        <p:nvSpPr>
          <p:cNvPr id="776" name="Rectangle: Rounded Corners 775">
            <a:extLst>
              <a:ext uri="{FF2B5EF4-FFF2-40B4-BE49-F238E27FC236}">
                <a16:creationId xmlns:a16="http://schemas.microsoft.com/office/drawing/2014/main" id="{372F1E88-1CA6-4134-9C69-96E25218052F}"/>
              </a:ext>
            </a:extLst>
          </p:cNvPr>
          <p:cNvSpPr/>
          <p:nvPr/>
        </p:nvSpPr>
        <p:spPr>
          <a:xfrm rot="1972575">
            <a:off x="4255779" y="2895258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Air Pollution</a:t>
            </a:r>
          </a:p>
        </p:txBody>
      </p:sp>
      <p:sp>
        <p:nvSpPr>
          <p:cNvPr id="777" name="Rectangle: Rounded Corners 776">
            <a:extLst>
              <a:ext uri="{FF2B5EF4-FFF2-40B4-BE49-F238E27FC236}">
                <a16:creationId xmlns:a16="http://schemas.microsoft.com/office/drawing/2014/main" id="{8BFB7FE7-DD9F-4BB4-831F-077DC80CEF6C}"/>
              </a:ext>
            </a:extLst>
          </p:cNvPr>
          <p:cNvSpPr/>
          <p:nvPr/>
        </p:nvSpPr>
        <p:spPr>
          <a:xfrm rot="1996060">
            <a:off x="4141483" y="3030292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Co-Benefits</a:t>
            </a:r>
          </a:p>
        </p:txBody>
      </p:sp>
      <p:sp>
        <p:nvSpPr>
          <p:cNvPr id="778" name="Rectangle: Rounded Corners 777">
            <a:extLst>
              <a:ext uri="{FF2B5EF4-FFF2-40B4-BE49-F238E27FC236}">
                <a16:creationId xmlns:a16="http://schemas.microsoft.com/office/drawing/2014/main" id="{D8EDCD40-7EF3-4CE5-9F7A-57E2E37CD09B}"/>
              </a:ext>
            </a:extLst>
          </p:cNvPr>
          <p:cNvSpPr/>
          <p:nvPr/>
        </p:nvSpPr>
        <p:spPr>
          <a:xfrm rot="612520">
            <a:off x="5102231" y="3231203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Fiscal</a:t>
            </a:r>
          </a:p>
        </p:txBody>
      </p:sp>
      <p:sp>
        <p:nvSpPr>
          <p:cNvPr id="779" name="Rectangle: Rounded Corners 778">
            <a:extLst>
              <a:ext uri="{FF2B5EF4-FFF2-40B4-BE49-F238E27FC236}">
                <a16:creationId xmlns:a16="http://schemas.microsoft.com/office/drawing/2014/main" id="{39E28AB0-C583-476C-A0FE-6AA91E4DACA2}"/>
              </a:ext>
            </a:extLst>
          </p:cNvPr>
          <p:cNvSpPr/>
          <p:nvPr/>
        </p:nvSpPr>
        <p:spPr>
          <a:xfrm rot="645062">
            <a:off x="5050059" y="3397038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Issues</a:t>
            </a:r>
          </a:p>
        </p:txBody>
      </p:sp>
      <p:sp>
        <p:nvSpPr>
          <p:cNvPr id="780" name="Rectangle: Rounded Corners 779">
            <a:extLst>
              <a:ext uri="{FF2B5EF4-FFF2-40B4-BE49-F238E27FC236}">
                <a16:creationId xmlns:a16="http://schemas.microsoft.com/office/drawing/2014/main" id="{88ABEC4B-2C29-44AF-84C6-AC2EAC815238}"/>
              </a:ext>
            </a:extLst>
          </p:cNvPr>
          <p:cNvSpPr/>
          <p:nvPr/>
        </p:nvSpPr>
        <p:spPr>
          <a:xfrm rot="19285337">
            <a:off x="6912269" y="2929099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Water</a:t>
            </a:r>
          </a:p>
        </p:txBody>
      </p:sp>
      <p:sp>
        <p:nvSpPr>
          <p:cNvPr id="781" name="Rectangle: Rounded Corners 780">
            <a:extLst>
              <a:ext uri="{FF2B5EF4-FFF2-40B4-BE49-F238E27FC236}">
                <a16:creationId xmlns:a16="http://schemas.microsoft.com/office/drawing/2014/main" id="{984D070A-7F6A-4C42-91B2-41021FAD9229}"/>
              </a:ext>
            </a:extLst>
          </p:cNvPr>
          <p:cNvSpPr/>
          <p:nvPr/>
        </p:nvSpPr>
        <p:spPr>
          <a:xfrm rot="16769566">
            <a:off x="7955155" y="1353847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Natural Gas</a:t>
            </a:r>
          </a:p>
        </p:txBody>
      </p:sp>
      <p:sp>
        <p:nvSpPr>
          <p:cNvPr id="782" name="Rectangle: Rounded Corners 781">
            <a:extLst>
              <a:ext uri="{FF2B5EF4-FFF2-40B4-BE49-F238E27FC236}">
                <a16:creationId xmlns:a16="http://schemas.microsoft.com/office/drawing/2014/main" id="{9ADC337D-8197-4965-8531-D47E280811C3}"/>
              </a:ext>
            </a:extLst>
          </p:cNvPr>
          <p:cNvSpPr/>
          <p:nvPr/>
        </p:nvSpPr>
        <p:spPr>
          <a:xfrm rot="18144002">
            <a:off x="7586233" y="2264055"/>
            <a:ext cx="1122987" cy="24936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Infrastructure</a:t>
            </a:r>
          </a:p>
        </p:txBody>
      </p:sp>
      <p:sp>
        <p:nvSpPr>
          <p:cNvPr id="783" name="Rectangle: Rounded Corners 782">
            <a:extLst>
              <a:ext uri="{FF2B5EF4-FFF2-40B4-BE49-F238E27FC236}">
                <a16:creationId xmlns:a16="http://schemas.microsoft.com/office/drawing/2014/main" id="{56607CF7-4434-4395-85DB-2150B982CB76}"/>
              </a:ext>
            </a:extLst>
          </p:cNvPr>
          <p:cNvSpPr/>
          <p:nvPr/>
        </p:nvSpPr>
        <p:spPr>
          <a:xfrm rot="20936661">
            <a:off x="6008175" y="3218959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Allowance</a:t>
            </a:r>
          </a:p>
        </p:txBody>
      </p:sp>
      <p:sp>
        <p:nvSpPr>
          <p:cNvPr id="784" name="Rectangle: Rounded Corners 783">
            <a:extLst>
              <a:ext uri="{FF2B5EF4-FFF2-40B4-BE49-F238E27FC236}">
                <a16:creationId xmlns:a16="http://schemas.microsoft.com/office/drawing/2014/main" id="{D7B3A3F9-7952-404D-86A9-711A216D1030}"/>
              </a:ext>
            </a:extLst>
          </p:cNvPr>
          <p:cNvSpPr/>
          <p:nvPr/>
        </p:nvSpPr>
        <p:spPr>
          <a:xfrm rot="20910393">
            <a:off x="6033339" y="3388822"/>
            <a:ext cx="1122987" cy="266461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Down">
              <a:avLst>
                <a:gd name="adj" fmla="val 19120678"/>
              </a:avLst>
            </a:prstTxWarp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</a:rPr>
              <a:t>Allocation</a:t>
            </a:r>
          </a:p>
        </p:txBody>
      </p:sp>
      <p:sp>
        <p:nvSpPr>
          <p:cNvPr id="785" name="TextBox 784">
            <a:extLst>
              <a:ext uri="{FF2B5EF4-FFF2-40B4-BE49-F238E27FC236}">
                <a16:creationId xmlns:a16="http://schemas.microsoft.com/office/drawing/2014/main" id="{93D40869-8C24-4AD6-A67D-E2223C311856}"/>
              </a:ext>
            </a:extLst>
          </p:cNvPr>
          <p:cNvSpPr txBox="1"/>
          <p:nvPr/>
        </p:nvSpPr>
        <p:spPr>
          <a:xfrm>
            <a:off x="6081038" y="6119415"/>
            <a:ext cx="23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Yuan, Barron, Selin, Picciano, Metz, Reilly, Jacoby (2022)*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24A41-649A-4CE8-BDE5-D12DE745D763}"/>
              </a:ext>
            </a:extLst>
          </p:cNvPr>
          <p:cNvSpPr txBox="1"/>
          <p:nvPr/>
        </p:nvSpPr>
        <p:spPr>
          <a:xfrm>
            <a:off x="243442" y="340647"/>
            <a:ext cx="2679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tx2"/>
                </a:solidFill>
              </a:rPr>
              <a:t>Cost of regulatory policies and cost disparities across regions and income groups resulting from a wide range of carbon policies and revenue distribution methods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7210026-E2C6-4B4F-AE20-0322EC79D7ED}"/>
              </a:ext>
            </a:extLst>
          </p:cNvPr>
          <p:cNvCxnSpPr>
            <a:cxnSpLocks/>
          </p:cNvCxnSpPr>
          <p:nvPr/>
        </p:nvCxnSpPr>
        <p:spPr>
          <a:xfrm rot="10800000">
            <a:off x="2196196" y="575584"/>
            <a:ext cx="1139629" cy="971602"/>
          </a:xfrm>
          <a:prstGeom prst="bentConnector3">
            <a:avLst>
              <a:gd name="adj1" fmla="val 26924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8E96BAF-170E-4BE4-B205-8D2D6913F00E}"/>
              </a:ext>
            </a:extLst>
          </p:cNvPr>
          <p:cNvSpPr txBox="1"/>
          <p:nvPr/>
        </p:nvSpPr>
        <p:spPr>
          <a:xfrm>
            <a:off x="494145" y="3114432"/>
            <a:ext cx="30417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Carbon leakage through electricity trade and the associated energy markets affect the effectiveness of  a regional carbon policy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80E758-A54D-4669-95B6-E7BD71B22CD7}"/>
              </a:ext>
            </a:extLst>
          </p:cNvPr>
          <p:cNvSpPr txBox="1"/>
          <p:nvPr/>
        </p:nvSpPr>
        <p:spPr>
          <a:xfrm>
            <a:off x="798785" y="4417493"/>
            <a:ext cx="25830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The monetized health benefits of reduced particulate air pollution and climate benefits using the social costs of carbon outweigh the mitigation cost, yield positive net benefit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4886574E-DB77-4B4D-A5FC-1B522A5776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56603" y="3335559"/>
            <a:ext cx="1849487" cy="1034376"/>
          </a:xfrm>
          <a:prstGeom prst="bentConnector3">
            <a:avLst>
              <a:gd name="adj1" fmla="val 39486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81F3978-E3F2-42EC-9B20-87C44A81AC46}"/>
              </a:ext>
            </a:extLst>
          </p:cNvPr>
          <p:cNvCxnSpPr>
            <a:cxnSpLocks/>
          </p:cNvCxnSpPr>
          <p:nvPr/>
        </p:nvCxnSpPr>
        <p:spPr>
          <a:xfrm flipV="1">
            <a:off x="2418907" y="2574354"/>
            <a:ext cx="1330952" cy="540078"/>
          </a:xfrm>
          <a:prstGeom prst="bentConnector3">
            <a:avLst>
              <a:gd name="adj1" fmla="val 63581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09E2D074-2E3F-4C81-96A4-989657EC2DC1}"/>
              </a:ext>
            </a:extLst>
          </p:cNvPr>
          <p:cNvSpPr txBox="1"/>
          <p:nvPr/>
        </p:nvSpPr>
        <p:spPr>
          <a:xfrm>
            <a:off x="3730071" y="4801034"/>
            <a:ext cx="2253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Carbon tax provides a source of revenue to finance federal fiscal initiatives</a:t>
            </a:r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46F455C1-64AD-4522-A768-5410288A958B}"/>
              </a:ext>
            </a:extLst>
          </p:cNvPr>
          <p:cNvCxnSpPr>
            <a:cxnSpLocks/>
            <a:stCxn id="121" idx="0"/>
          </p:cNvCxnSpPr>
          <p:nvPr/>
        </p:nvCxnSpPr>
        <p:spPr>
          <a:xfrm rot="5400000" flipH="1" flipV="1">
            <a:off x="4688422" y="3976595"/>
            <a:ext cx="992634" cy="6562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AE95BD4-3045-4F29-AE3D-764FF014F3F0}"/>
              </a:ext>
            </a:extLst>
          </p:cNvPr>
          <p:cNvSpPr txBox="1"/>
          <p:nvPr/>
        </p:nvSpPr>
        <p:spPr>
          <a:xfrm>
            <a:off x="6081038" y="4758977"/>
            <a:ext cx="2481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Emissions outcomes remain regardless of the allowance allocation to states, and the welfare results reflect income effects of allowance trading among states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13C87590-DD5A-4292-8924-52F27B5504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92624" y="3967854"/>
            <a:ext cx="967046" cy="6152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D6E3BDC-5C76-4478-829C-0E92019F8618}"/>
              </a:ext>
            </a:extLst>
          </p:cNvPr>
          <p:cNvSpPr txBox="1"/>
          <p:nvPr/>
        </p:nvSpPr>
        <p:spPr>
          <a:xfrm>
            <a:off x="8630360" y="4320031"/>
            <a:ext cx="2743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An integrated assessments of water resources and water stress with consideration of climate change uncertainty, population and economic dynamics, assisting water resource planning</a:t>
            </a:r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C8C9E457-10A2-4787-A905-8CC17C365F8C}"/>
              </a:ext>
            </a:extLst>
          </p:cNvPr>
          <p:cNvCxnSpPr>
            <a:cxnSpLocks/>
          </p:cNvCxnSpPr>
          <p:nvPr/>
        </p:nvCxnSpPr>
        <p:spPr>
          <a:xfrm rot="10800000">
            <a:off x="7552350" y="3429009"/>
            <a:ext cx="1853008" cy="846445"/>
          </a:xfrm>
          <a:prstGeom prst="bentConnector3">
            <a:avLst>
              <a:gd name="adj1" fmla="val 40641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6C53964-397B-44BD-961C-C460EF149BC3}"/>
              </a:ext>
            </a:extLst>
          </p:cNvPr>
          <p:cNvSpPr txBox="1"/>
          <p:nvPr/>
        </p:nvSpPr>
        <p:spPr>
          <a:xfrm>
            <a:off x="9004316" y="2858061"/>
            <a:ext cx="26098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The economic value of expanding transmission capacity for hydro power imports along the regional decarbonization strategy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CA496BD7-D807-49BC-8BE6-99C9631BB29A}"/>
              </a:ext>
            </a:extLst>
          </p:cNvPr>
          <p:cNvCxnSpPr>
            <a:cxnSpLocks/>
          </p:cNvCxnSpPr>
          <p:nvPr/>
        </p:nvCxnSpPr>
        <p:spPr>
          <a:xfrm rot="10800000">
            <a:off x="8460828" y="2527836"/>
            <a:ext cx="1211047" cy="28327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A61E7179-ACE5-4314-BF24-B65648871FF0}"/>
              </a:ext>
            </a:extLst>
          </p:cNvPr>
          <p:cNvSpPr txBox="1"/>
          <p:nvPr/>
        </p:nvSpPr>
        <p:spPr>
          <a:xfrm>
            <a:off x="9238888" y="687702"/>
            <a:ext cx="25098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Uncertainties of the scale and cost of gas resources, the costs of competing technologies, the pattern of GHG mitigation, and the evolution of global natural gas markets</a:t>
            </a:r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DEFCE031-2341-41B0-B720-D8C663D9CF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08278" y="648163"/>
            <a:ext cx="1018894" cy="961062"/>
          </a:xfrm>
          <a:prstGeom prst="bentConnector3">
            <a:avLst>
              <a:gd name="adj1" fmla="val 61347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10937080-DFA1-4AF6-8637-90E1A42FC97E}"/>
              </a:ext>
            </a:extLst>
          </p:cNvPr>
          <p:cNvSpPr txBox="1"/>
          <p:nvPr/>
        </p:nvSpPr>
        <p:spPr>
          <a:xfrm>
            <a:off x="3088142" y="6597142"/>
            <a:ext cx="60157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2"/>
                </a:solidFill>
              </a:rPr>
              <a:t>* Study conducted based on an integrated model that links USREP with a detailed sector model</a:t>
            </a:r>
          </a:p>
        </p:txBody>
      </p:sp>
    </p:spTree>
    <p:extLst>
      <p:ext uri="{BB962C8B-B14F-4D97-AF65-F5344CB8AC3E}">
        <p14:creationId xmlns:p14="http://schemas.microsoft.com/office/powerpoint/2010/main" val="601331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ircular Arrow Glyph Icon Graphic by Mahi Icons · Creative Fabrica">
            <a:extLst>
              <a:ext uri="{FF2B5EF4-FFF2-40B4-BE49-F238E27FC236}">
                <a16:creationId xmlns:a16="http://schemas.microsoft.com/office/drawing/2014/main" id="{D5F9CA43-7BA5-C84B-E67C-8BC210757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433" y="3198885"/>
            <a:ext cx="540465" cy="36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B1A9F-53E6-D33F-FDFB-B87D6178F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67399" y="4717861"/>
            <a:ext cx="3168952" cy="1225559"/>
          </a:xfrm>
          <a:ln w="28575"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000"/>
              <a:t>Fuel quantities</a:t>
            </a:r>
          </a:p>
          <a:p>
            <a:pPr marL="0" indent="0" algn="ctr">
              <a:buNone/>
            </a:pPr>
            <a:r>
              <a:rPr lang="en-US" sz="2000"/>
              <a:t>Labor and capital quantities</a:t>
            </a:r>
          </a:p>
          <a:p>
            <a:pPr marL="0" indent="0" algn="ctr">
              <a:buNone/>
            </a:pPr>
            <a:r>
              <a:rPr lang="en-US" sz="2000"/>
              <a:t>Electricity quantity and price</a:t>
            </a:r>
          </a:p>
        </p:txBody>
      </p:sp>
      <p:pic>
        <p:nvPicPr>
          <p:cNvPr id="4" name="Picture Placeholder 30" descr="A picture containing object&#10;&#10;Description automatically generated">
            <a:extLst>
              <a:ext uri="{FF2B5EF4-FFF2-40B4-BE49-F238E27FC236}">
                <a16:creationId xmlns:a16="http://schemas.microsoft.com/office/drawing/2014/main" id="{81CC277F-1C7C-2D4A-29F7-FE6B58CBEC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5" b="455"/>
          <a:stretch>
            <a:fillRect/>
          </a:stretch>
        </p:blipFill>
        <p:spPr>
          <a:xfrm>
            <a:off x="5395340" y="2685558"/>
            <a:ext cx="1412453" cy="141245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</p:pic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B4682834-F90F-3E27-FE39-999391F87690}"/>
              </a:ext>
            </a:extLst>
          </p:cNvPr>
          <p:cNvSpPr txBox="1">
            <a:spLocks/>
          </p:cNvSpPr>
          <p:nvPr/>
        </p:nvSpPr>
        <p:spPr>
          <a:xfrm>
            <a:off x="5501142" y="2729126"/>
            <a:ext cx="1226249" cy="3157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457189" rtl="0" eaLnBrk="1" latinLnBrk="0" hangingPunct="1">
              <a:spcBef>
                <a:spcPct val="20000"/>
              </a:spcBef>
              <a:buFont typeface="Arial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8DC63F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8DC63F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8DC63F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8DC63F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USREP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CF25D-85D1-D256-F5E7-5E2F799CF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958" y="2685558"/>
            <a:ext cx="1412453" cy="141245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6AF8F0-4635-E5D4-3E9C-8F61585CD25A}"/>
              </a:ext>
            </a:extLst>
          </p:cNvPr>
          <p:cNvSpPr txBox="1">
            <a:spLocks/>
          </p:cNvSpPr>
          <p:nvPr/>
        </p:nvSpPr>
        <p:spPr>
          <a:xfrm>
            <a:off x="6775690" y="849835"/>
            <a:ext cx="3352367" cy="1225559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Fuel prices</a:t>
            </a:r>
          </a:p>
          <a:p>
            <a:pPr marL="0" indent="0" algn="ctr">
              <a:buNone/>
            </a:pPr>
            <a:r>
              <a:rPr lang="en-US" sz="2000" dirty="0"/>
              <a:t>Labor and capital price indices</a:t>
            </a:r>
          </a:p>
          <a:p>
            <a:pPr marL="0" indent="0" algn="ctr">
              <a:buNone/>
            </a:pPr>
            <a:r>
              <a:rPr lang="en-US" sz="2000" dirty="0"/>
              <a:t>Demand curve specification</a:t>
            </a:r>
          </a:p>
          <a:p>
            <a:endParaRPr lang="en-US" sz="2000" dirty="0"/>
          </a:p>
        </p:txBody>
      </p:sp>
      <p:pic>
        <p:nvPicPr>
          <p:cNvPr id="4098" name="Picture 2" descr="Supply and Demand Curve | Download Scientific Diagram">
            <a:extLst>
              <a:ext uri="{FF2B5EF4-FFF2-40B4-BE49-F238E27FC236}">
                <a16:creationId xmlns:a16="http://schemas.microsoft.com/office/drawing/2014/main" id="{F020AF5F-9F11-C102-A51A-90DB13A45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225" y="2312740"/>
            <a:ext cx="2527300" cy="215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7B52EE-DB79-1DA9-B002-3664AD4BC078}"/>
              </a:ext>
            </a:extLst>
          </p:cNvPr>
          <p:cNvCxnSpPr>
            <a:cxnSpLocks/>
            <a:stCxn id="4" idx="6"/>
            <a:endCxn id="4098" idx="1"/>
          </p:cNvCxnSpPr>
          <p:nvPr/>
        </p:nvCxnSpPr>
        <p:spPr>
          <a:xfrm flipV="1">
            <a:off x="6807792" y="3391785"/>
            <a:ext cx="380432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7BD33C-5286-C401-BF5B-B4B95137165C}"/>
              </a:ext>
            </a:extLst>
          </p:cNvPr>
          <p:cNvCxnSpPr>
            <a:cxnSpLocks/>
            <a:stCxn id="6" idx="1"/>
            <a:endCxn id="4098" idx="3"/>
          </p:cNvCxnSpPr>
          <p:nvPr/>
        </p:nvCxnSpPr>
        <p:spPr>
          <a:xfrm flipH="1" flipV="1">
            <a:off x="9715525" y="3391785"/>
            <a:ext cx="38043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5B8639-F439-9844-A395-A638FEC471A7}"/>
              </a:ext>
            </a:extLst>
          </p:cNvPr>
          <p:cNvSpPr txBox="1">
            <a:spLocks/>
          </p:cNvSpPr>
          <p:nvPr/>
        </p:nvSpPr>
        <p:spPr>
          <a:xfrm>
            <a:off x="0" y="5772144"/>
            <a:ext cx="3057677" cy="1085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007A1B63-5784-8071-343E-E3352DEE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89" y="53590"/>
            <a:ext cx="7188224" cy="724413"/>
          </a:xfrm>
        </p:spPr>
        <p:txBody>
          <a:bodyPr>
            <a:normAutofit/>
          </a:bodyPr>
          <a:lstStyle/>
          <a:p>
            <a:r>
              <a:rPr lang="en-US" sz="3733" dirty="0"/>
              <a:t>ReEDS-USREP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E5B0A4C7-DB12-5F0E-9D83-50501AB7FB5D}"/>
              </a:ext>
            </a:extLst>
          </p:cNvPr>
          <p:cNvCxnSpPr>
            <a:cxnSpLocks/>
            <a:stCxn id="4" idx="0"/>
            <a:endCxn id="7" idx="1"/>
          </p:cNvCxnSpPr>
          <p:nvPr/>
        </p:nvCxnSpPr>
        <p:spPr>
          <a:xfrm rot="5400000" flipH="1" flipV="1">
            <a:off x="5827158" y="1737025"/>
            <a:ext cx="1222943" cy="67412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5199648-CDAB-98BA-1BDA-758B4631081D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>
            <a:off x="10128056" y="1462615"/>
            <a:ext cx="674128" cy="122294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8E53C9A-F28B-A7DB-36A1-0FA6C693AC48}"/>
              </a:ext>
            </a:extLst>
          </p:cNvPr>
          <p:cNvCxnSpPr>
            <a:cxnSpLocks/>
            <a:stCxn id="6" idx="2"/>
            <a:endCxn id="3" idx="3"/>
          </p:cNvCxnSpPr>
          <p:nvPr/>
        </p:nvCxnSpPr>
        <p:spPr>
          <a:xfrm rot="5400000">
            <a:off x="9802954" y="4331407"/>
            <a:ext cx="1232629" cy="76583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70D26A2-EF35-0B08-1779-E316A35D80ED}"/>
              </a:ext>
            </a:extLst>
          </p:cNvPr>
          <p:cNvCxnSpPr>
            <a:cxnSpLocks/>
            <a:stCxn id="3" idx="1"/>
            <a:endCxn id="4" idx="4"/>
          </p:cNvCxnSpPr>
          <p:nvPr/>
        </p:nvCxnSpPr>
        <p:spPr>
          <a:xfrm rot="10800000">
            <a:off x="6101567" y="4098012"/>
            <a:ext cx="765832" cy="123262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A8DC5C6-62B1-ACBE-1DDF-F4100941B21D}"/>
              </a:ext>
            </a:extLst>
          </p:cNvPr>
          <p:cNvSpPr txBox="1"/>
          <p:nvPr/>
        </p:nvSpPr>
        <p:spPr>
          <a:xfrm>
            <a:off x="1650" y="1269950"/>
            <a:ext cx="541908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ReEDS converted from LP to QCP to maximize social surplus (instead of minimizing cost)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USREP benchmark social accounting matrix calibrated to ReEDS electricity supply/prices, fuel demands, and capex/</a:t>
            </a:r>
            <a:r>
              <a:rPr lang="en-US" sz="2400" dirty="0" err="1">
                <a:solidFill>
                  <a:srgbClr val="212121"/>
                </a:solidFill>
                <a:latin typeface="Calibri" panose="020F0502020204030204" pitchFamily="34" charset="0"/>
              </a:rPr>
              <a:t>opex</a:t>
            </a:r>
            <a:endParaRPr lang="en-US" sz="24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Currently being used for United Nation’s Biennial Transparency Report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Method developed by </a:t>
            </a:r>
            <a:r>
              <a:rPr lang="en-US" sz="2400" dirty="0" err="1">
                <a:solidFill>
                  <a:srgbClr val="212121"/>
                </a:solidFill>
                <a:latin typeface="Calibri" panose="020F0502020204030204" pitchFamily="34" charset="0"/>
              </a:rPr>
              <a:t>Bohringer</a:t>
            </a:r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 and Rutherford (2008); demonstrated in Caron et al. (2018a), Caron et al. (2018b), and Brown et al. (2024)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endParaRPr lang="en-US" sz="2400" b="1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914377"/>
            <a:r>
              <a:rPr lang="en-US" sz="2400" dirty="0">
                <a:solidFill>
                  <a:srgbClr val="212121"/>
                </a:solidFill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69BF3-7211-3B1E-C759-16DFC7CEE203}"/>
              </a:ext>
            </a:extLst>
          </p:cNvPr>
          <p:cNvSpPr/>
          <p:nvPr/>
        </p:nvSpPr>
        <p:spPr>
          <a:xfrm>
            <a:off x="11087597" y="5919850"/>
            <a:ext cx="973777" cy="938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87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FDBD-0524-56C7-0511-B771CEDE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final 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E55ED-B86F-6CFB-C6F0-41D39B364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Preview of USREP code</a:t>
            </a:r>
          </a:p>
          <a:p>
            <a:endParaRPr lang="en-US" dirty="0"/>
          </a:p>
          <a:p>
            <a:r>
              <a:rPr lang="en-US" dirty="0"/>
              <a:t>Co-optimization as a means for top-down/bottom-up linking</a:t>
            </a:r>
          </a:p>
        </p:txBody>
      </p:sp>
    </p:spTree>
    <p:extLst>
      <p:ext uri="{BB962C8B-B14F-4D97-AF65-F5344CB8AC3E}">
        <p14:creationId xmlns:p14="http://schemas.microsoft.com/office/powerpoint/2010/main" val="38127372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83FF-431C-F25D-07EB-14D73FB9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video…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044D8-2D09-5552-C725-4E378EFBB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3213463"/>
            <a:ext cx="10826751" cy="311537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https://www.youtube.com/watch?v=aznOL753eiQ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8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3439</Words>
  <Application>Microsoft Macintosh PowerPoint</Application>
  <PresentationFormat>Widescreen</PresentationFormat>
  <Paragraphs>672</Paragraphs>
  <Slides>55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Aptos</vt:lpstr>
      <vt:lpstr>Aptos Display</vt:lpstr>
      <vt:lpstr>Aptos Narrow</vt:lpstr>
      <vt:lpstr>Arial</vt:lpstr>
      <vt:lpstr>Arial Rounded MT Bold</vt:lpstr>
      <vt:lpstr>Calibri</vt:lpstr>
      <vt:lpstr>Cambria Math</vt:lpstr>
      <vt:lpstr>Google Sans</vt:lpstr>
      <vt:lpstr>RobotoCondensedBold</vt:lpstr>
      <vt:lpstr>Wingdings</vt:lpstr>
      <vt:lpstr>Office Theme</vt:lpstr>
      <vt:lpstr>EBGN645</vt:lpstr>
      <vt:lpstr>Upcoming Classes</vt:lpstr>
      <vt:lpstr>Question</vt:lpstr>
      <vt:lpstr>Discussion: final project</vt:lpstr>
      <vt:lpstr>Discussion: Current Job Market</vt:lpstr>
      <vt:lpstr>Agenda</vt:lpstr>
      <vt:lpstr>Equilibrium problems (Calibrated market models)</vt:lpstr>
      <vt:lpstr>Ok, neat-o</vt:lpstr>
      <vt:lpstr>Now.. Let’s make a greedy producer</vt:lpstr>
      <vt:lpstr>Let’s play a game</vt:lpstr>
      <vt:lpstr>EPECs</vt:lpstr>
      <vt:lpstr>Stackelberg Games</vt:lpstr>
      <vt:lpstr>Let’s put this in our simple oil model</vt:lpstr>
      <vt:lpstr>EPECs for Stackelberg Models Rare earths example  (Brown and Eggert,2017)</vt:lpstr>
      <vt:lpstr>Setup</vt:lpstr>
      <vt:lpstr>Rare Earth Stackelberg Game Dimensions</vt:lpstr>
      <vt:lpstr>Rare Earth Stackelberg Game</vt:lpstr>
      <vt:lpstr>Production Shares</vt:lpstr>
      <vt:lpstr>Results – To the paper!</vt:lpstr>
      <vt:lpstr>What is a CGE model?</vt:lpstr>
      <vt:lpstr>Features of CGE models </vt:lpstr>
      <vt:lpstr>When should you use a CGE model?</vt:lpstr>
      <vt:lpstr>Shortcomings of CGE models</vt:lpstr>
      <vt:lpstr>Examples of (good) CGE models</vt:lpstr>
      <vt:lpstr>PowerPoint Presentation</vt:lpstr>
      <vt:lpstr>PowerPoint Presentation</vt:lpstr>
      <vt:lpstr>Why “computable” ?</vt:lpstr>
      <vt:lpstr>Next few slides</vt:lpstr>
      <vt:lpstr>Consumer problem</vt:lpstr>
      <vt:lpstr>Firm problem</vt:lpstr>
      <vt:lpstr>Setup</vt:lpstr>
      <vt:lpstr>Walras’ Law [I]</vt:lpstr>
      <vt:lpstr>Walras’ Law [II]</vt:lpstr>
      <vt:lpstr>Social accounting matrices</vt:lpstr>
      <vt:lpstr>Example SAM</vt:lpstr>
      <vt:lpstr>A balanced SAM</vt:lpstr>
      <vt:lpstr>Example SAM</vt:lpstr>
      <vt:lpstr>Example SAM</vt:lpstr>
      <vt:lpstr>Important note on the SAM</vt:lpstr>
      <vt:lpstr>Constant elasticity of substitution (CES) functions and calibrated the share form [I]</vt:lpstr>
      <vt:lpstr>Constant elasticity of substitution (CES) functions and calibrated the share form [II]</vt:lpstr>
      <vt:lpstr>CGE as an MCP</vt:lpstr>
      <vt:lpstr>Let’s work out a simple Cobb-Douglas example…</vt:lpstr>
      <vt:lpstr>Let’s work out a simple Cobb-Douglas example…</vt:lpstr>
      <vt:lpstr>Let’s work out a simple Cobb-Douglas example…</vt:lpstr>
      <vt:lpstr>Let’s work out a simple Cobb-Douglas example…</vt:lpstr>
      <vt:lpstr>Let’s work out a simple Cobb-Douglas example…</vt:lpstr>
      <vt:lpstr>Let’s put this into GAMS..</vt:lpstr>
      <vt:lpstr>That was kinda clunky…</vt:lpstr>
      <vt:lpstr>MPSGE</vt:lpstr>
      <vt:lpstr>PowerPoint Presentation</vt:lpstr>
      <vt:lpstr>USREP Research Activities</vt:lpstr>
      <vt:lpstr>ReEDS-USREP</vt:lpstr>
      <vt:lpstr>Some final thoughts</vt:lpstr>
      <vt:lpstr>A video…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81</cp:revision>
  <dcterms:created xsi:type="dcterms:W3CDTF">2024-10-02T15:36:01Z</dcterms:created>
  <dcterms:modified xsi:type="dcterms:W3CDTF">2025-11-24T20:08:22Z</dcterms:modified>
</cp:coreProperties>
</file>