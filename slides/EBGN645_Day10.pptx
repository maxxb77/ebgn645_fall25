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01"/>
  </p:notesMasterIdLst>
  <p:sldIdLst>
    <p:sldId id="256" r:id="rId2"/>
    <p:sldId id="276" r:id="rId3"/>
    <p:sldId id="2147378245" r:id="rId4"/>
    <p:sldId id="2147378240" r:id="rId5"/>
    <p:sldId id="257" r:id="rId6"/>
    <p:sldId id="2147377671" r:id="rId7"/>
    <p:sldId id="2147377672" r:id="rId8"/>
    <p:sldId id="2147377673" r:id="rId9"/>
    <p:sldId id="2147377674" r:id="rId10"/>
    <p:sldId id="2147377675" r:id="rId11"/>
    <p:sldId id="2147377676" r:id="rId12"/>
    <p:sldId id="2147377677" r:id="rId13"/>
    <p:sldId id="2147377684" r:id="rId14"/>
    <p:sldId id="2147377678" r:id="rId15"/>
    <p:sldId id="2147377679" r:id="rId16"/>
    <p:sldId id="2147377680" r:id="rId17"/>
    <p:sldId id="2147377681" r:id="rId18"/>
    <p:sldId id="2147377682" r:id="rId19"/>
    <p:sldId id="2147377683" r:id="rId20"/>
    <p:sldId id="2147378093" r:id="rId21"/>
    <p:sldId id="2147378047" r:id="rId22"/>
    <p:sldId id="2147378048" r:id="rId23"/>
    <p:sldId id="2147378042" r:id="rId24"/>
    <p:sldId id="2147378039" r:id="rId25"/>
    <p:sldId id="2147378087" r:id="rId26"/>
    <p:sldId id="2147378054" r:id="rId27"/>
    <p:sldId id="2147378089" r:id="rId28"/>
    <p:sldId id="2147378090" r:id="rId29"/>
    <p:sldId id="2147378076" r:id="rId30"/>
    <p:sldId id="2147378088" r:id="rId31"/>
    <p:sldId id="2147378052" r:id="rId32"/>
    <p:sldId id="2147378243" r:id="rId33"/>
    <p:sldId id="2147378053" r:id="rId34"/>
    <p:sldId id="2147378092" r:id="rId35"/>
    <p:sldId id="2147378095" r:id="rId36"/>
    <p:sldId id="2147378244" r:id="rId37"/>
    <p:sldId id="2147378109" r:id="rId38"/>
    <p:sldId id="2147378164" r:id="rId39"/>
    <p:sldId id="2147378129" r:id="rId40"/>
    <p:sldId id="2147378130" r:id="rId41"/>
    <p:sldId id="2147378138" r:id="rId42"/>
    <p:sldId id="2147378139" r:id="rId43"/>
    <p:sldId id="2147378140" r:id="rId44"/>
    <p:sldId id="2147378143" r:id="rId45"/>
    <p:sldId id="2147378142" r:id="rId46"/>
    <p:sldId id="2147378144" r:id="rId47"/>
    <p:sldId id="2147378141" r:id="rId48"/>
    <p:sldId id="2147378147" r:id="rId49"/>
    <p:sldId id="2147378148" r:id="rId50"/>
    <p:sldId id="2147378149" r:id="rId51"/>
    <p:sldId id="2147378150" r:id="rId52"/>
    <p:sldId id="2147378239" r:id="rId53"/>
    <p:sldId id="2147378166" r:id="rId54"/>
    <p:sldId id="2147378131" r:id="rId55"/>
    <p:sldId id="2147378160" r:id="rId56"/>
    <p:sldId id="2147378161" r:id="rId57"/>
    <p:sldId id="2147378176" r:id="rId58"/>
    <p:sldId id="2147378177" r:id="rId59"/>
    <p:sldId id="2147378178" r:id="rId60"/>
    <p:sldId id="2147378162" r:id="rId61"/>
    <p:sldId id="2147378179" r:id="rId62"/>
    <p:sldId id="2147378180" r:id="rId63"/>
    <p:sldId id="2147378181" r:id="rId64"/>
    <p:sldId id="2147378163" r:id="rId65"/>
    <p:sldId id="2147378182" r:id="rId66"/>
    <p:sldId id="2147378183" r:id="rId67"/>
    <p:sldId id="2147378184" r:id="rId68"/>
    <p:sldId id="2147378159" r:id="rId69"/>
    <p:sldId id="2147378198" r:id="rId70"/>
    <p:sldId id="2147378233" r:id="rId71"/>
    <p:sldId id="2147378234" r:id="rId72"/>
    <p:sldId id="2147378172" r:id="rId73"/>
    <p:sldId id="2147378196" r:id="rId74"/>
    <p:sldId id="2147378197" r:id="rId75"/>
    <p:sldId id="2147378210" r:id="rId76"/>
    <p:sldId id="2147378199" r:id="rId77"/>
    <p:sldId id="2147378201" r:id="rId78"/>
    <p:sldId id="2147378202" r:id="rId79"/>
    <p:sldId id="2147378203" r:id="rId80"/>
    <p:sldId id="2147378205" r:id="rId81"/>
    <p:sldId id="2147378218" r:id="rId82"/>
    <p:sldId id="2147378219" r:id="rId83"/>
    <p:sldId id="2147378220" r:id="rId84"/>
    <p:sldId id="2147378211" r:id="rId85"/>
    <p:sldId id="2147378207" r:id="rId86"/>
    <p:sldId id="2147378222" r:id="rId87"/>
    <p:sldId id="2147378223" r:id="rId88"/>
    <p:sldId id="2147378224" r:id="rId89"/>
    <p:sldId id="2147378225" r:id="rId90"/>
    <p:sldId id="2147378227" r:id="rId91"/>
    <p:sldId id="2147378226" r:id="rId92"/>
    <p:sldId id="2147378206" r:id="rId93"/>
    <p:sldId id="2147378209" r:id="rId94"/>
    <p:sldId id="2147378217" r:id="rId95"/>
    <p:sldId id="2147378204" r:id="rId96"/>
    <p:sldId id="2147378208" r:id="rId97"/>
    <p:sldId id="2147378214" r:id="rId98"/>
    <p:sldId id="2147378215" r:id="rId99"/>
    <p:sldId id="2147378216" r:id="rId10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2642"/>
    <p:restoredTop sz="94660"/>
  </p:normalViewPr>
  <p:slideViewPr>
    <p:cSldViewPr snapToGrid="0">
      <p:cViewPr varScale="1">
        <p:scale>
          <a:sx n="209" d="100"/>
          <a:sy n="209" d="100"/>
        </p:scale>
        <p:origin x="832" y="1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presProps" Target="presProps.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theme" Target="theme/theme1.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s>
</file>

<file path=ppt/diagrams/_rels/data2.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45.svg"/><Relationship Id="rId1" Type="http://schemas.openxmlformats.org/officeDocument/2006/relationships/image" Target="../media/image44.png"/><Relationship Id="rId6" Type="http://schemas.openxmlformats.org/officeDocument/2006/relationships/image" Target="../media/image49.svg"/><Relationship Id="rId5" Type="http://schemas.openxmlformats.org/officeDocument/2006/relationships/image" Target="../media/image48.png"/><Relationship Id="rId4" Type="http://schemas.openxmlformats.org/officeDocument/2006/relationships/image" Target="../media/image47.svg"/></Relationships>
</file>

<file path=ppt/diagrams/_rels/drawing2.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45.svg"/><Relationship Id="rId1" Type="http://schemas.openxmlformats.org/officeDocument/2006/relationships/image" Target="../media/image44.png"/><Relationship Id="rId6" Type="http://schemas.openxmlformats.org/officeDocument/2006/relationships/image" Target="../media/image49.svg"/><Relationship Id="rId5" Type="http://schemas.openxmlformats.org/officeDocument/2006/relationships/image" Target="../media/image48.png"/><Relationship Id="rId4" Type="http://schemas.openxmlformats.org/officeDocument/2006/relationships/image" Target="../media/image47.svg"/></Relationships>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97804412-2049-4CC2-A3F0-335FA875BCB7}" type="doc">
      <dgm:prSet loTypeId="urn:microsoft.com/office/officeart/2017/3/layout/DropPinTimeline" loCatId="process" qsTypeId="urn:microsoft.com/office/officeart/2005/8/quickstyle/simple1" qsCatId="simple" csTypeId="urn:microsoft.com/office/officeart/2005/8/colors/colorful1" csCatId="colorful" phldr="1"/>
      <dgm:spPr/>
      <dgm:t>
        <a:bodyPr/>
        <a:lstStyle/>
        <a:p>
          <a:endParaRPr lang="en-US"/>
        </a:p>
      </dgm:t>
    </dgm:pt>
    <dgm:pt modelId="{5CF162E2-E520-4450-A282-3F92328E0CCB}">
      <dgm:prSet/>
      <dgm:spPr/>
      <dgm:t>
        <a:bodyPr/>
        <a:lstStyle/>
        <a:p>
          <a:pPr>
            <a:defRPr b="1"/>
          </a:pPr>
          <a:r>
            <a:rPr lang="en-US"/>
            <a:t>Wednesday</a:t>
          </a:r>
        </a:p>
      </dgm:t>
    </dgm:pt>
    <dgm:pt modelId="{B1431A47-EEA7-4A99-9E98-393BB0476EB4}" type="parTrans" cxnId="{627700C2-C8E6-4153-9E4D-6B18DB4722BF}">
      <dgm:prSet/>
      <dgm:spPr/>
      <dgm:t>
        <a:bodyPr/>
        <a:lstStyle/>
        <a:p>
          <a:endParaRPr lang="en-US"/>
        </a:p>
      </dgm:t>
    </dgm:pt>
    <dgm:pt modelId="{BCC0DFA9-2481-45B6-B33C-99834E517F70}" type="sibTrans" cxnId="{627700C2-C8E6-4153-9E4D-6B18DB4722BF}">
      <dgm:prSet/>
      <dgm:spPr/>
      <dgm:t>
        <a:bodyPr/>
        <a:lstStyle/>
        <a:p>
          <a:endParaRPr lang="en-US"/>
        </a:p>
      </dgm:t>
    </dgm:pt>
    <dgm:pt modelId="{BE2DE924-F4C5-4134-8611-4E4A40DA8D46}">
      <dgm:prSet custT="1"/>
      <dgm:spPr/>
      <dgm:t>
        <a:bodyPr/>
        <a:lstStyle/>
        <a:p>
          <a:r>
            <a:rPr lang="en-US" sz="2400" dirty="0"/>
            <a:t>Presentation from </a:t>
          </a:r>
        </a:p>
        <a:p>
          <a:r>
            <a:rPr lang="en-US" sz="2400" dirty="0"/>
            <a:t>Jared Woollacott</a:t>
          </a:r>
        </a:p>
      </dgm:t>
    </dgm:pt>
    <dgm:pt modelId="{F0BA01FA-5D90-4810-966C-0BC2000C1BE1}" type="parTrans" cxnId="{90CFF434-67BD-4E58-9B37-8541ECC9A5D5}">
      <dgm:prSet/>
      <dgm:spPr/>
      <dgm:t>
        <a:bodyPr/>
        <a:lstStyle/>
        <a:p>
          <a:endParaRPr lang="en-US"/>
        </a:p>
      </dgm:t>
    </dgm:pt>
    <dgm:pt modelId="{26F40BEC-B424-49EA-B176-4A1DDEE432AF}" type="sibTrans" cxnId="{90CFF434-67BD-4E58-9B37-8541ECC9A5D5}">
      <dgm:prSet/>
      <dgm:spPr/>
      <dgm:t>
        <a:bodyPr/>
        <a:lstStyle/>
        <a:p>
          <a:endParaRPr lang="en-US"/>
        </a:p>
      </dgm:t>
    </dgm:pt>
    <dgm:pt modelId="{2F424365-8D43-4FA6-80CB-2B37A4BCEEB7}">
      <dgm:prSet/>
      <dgm:spPr/>
      <dgm:t>
        <a:bodyPr/>
        <a:lstStyle/>
        <a:p>
          <a:pPr>
            <a:defRPr b="1"/>
          </a:pPr>
          <a:r>
            <a:rPr lang="en-US" dirty="0"/>
            <a:t>Tuesday 10am-2pm (with lunch break)</a:t>
          </a:r>
        </a:p>
      </dgm:t>
    </dgm:pt>
    <dgm:pt modelId="{9897491B-05C4-49B0-B41A-8EC5B0CA9F57}" type="parTrans" cxnId="{27C54636-9DFD-4B8C-AF7A-85F78B0BDA48}">
      <dgm:prSet/>
      <dgm:spPr/>
      <dgm:t>
        <a:bodyPr/>
        <a:lstStyle/>
        <a:p>
          <a:endParaRPr lang="en-US"/>
        </a:p>
      </dgm:t>
    </dgm:pt>
    <dgm:pt modelId="{FCD11D45-B70B-4C1F-AFFB-247CAB3EF1A9}" type="sibTrans" cxnId="{27C54636-9DFD-4B8C-AF7A-85F78B0BDA48}">
      <dgm:prSet/>
      <dgm:spPr/>
      <dgm:t>
        <a:bodyPr/>
        <a:lstStyle/>
        <a:p>
          <a:endParaRPr lang="en-US"/>
        </a:p>
      </dgm:t>
    </dgm:pt>
    <dgm:pt modelId="{C852D3A5-30B6-4FFA-AEF1-5EEF907D9D5E}">
      <dgm:prSet custT="1"/>
      <dgm:spPr/>
      <dgm:t>
        <a:bodyPr/>
        <a:lstStyle/>
        <a:p>
          <a:r>
            <a:rPr lang="en-US" sz="2400" dirty="0"/>
            <a:t>Extra office hours next week</a:t>
          </a:r>
        </a:p>
      </dgm:t>
    </dgm:pt>
    <dgm:pt modelId="{C9529EA4-791E-43DD-A02F-766C5DB2EF38}" type="parTrans" cxnId="{4F62F419-08A2-486B-83A8-CF0A0016D56D}">
      <dgm:prSet/>
      <dgm:spPr/>
      <dgm:t>
        <a:bodyPr/>
        <a:lstStyle/>
        <a:p>
          <a:endParaRPr lang="en-US"/>
        </a:p>
      </dgm:t>
    </dgm:pt>
    <dgm:pt modelId="{93A4FFD0-3C19-48F4-9CB2-77A46B7EE3B1}" type="sibTrans" cxnId="{4F62F419-08A2-486B-83A8-CF0A0016D56D}">
      <dgm:prSet/>
      <dgm:spPr/>
      <dgm:t>
        <a:bodyPr/>
        <a:lstStyle/>
        <a:p>
          <a:endParaRPr lang="en-US"/>
        </a:p>
      </dgm:t>
    </dgm:pt>
    <dgm:pt modelId="{A1BED7C6-A5FE-AD43-8B85-190C2BD282B7}">
      <dgm:prSet/>
      <dgm:spPr/>
      <dgm:t>
        <a:bodyPr/>
        <a:lstStyle/>
        <a:p>
          <a:pPr>
            <a:defRPr b="1"/>
          </a:pPr>
          <a:r>
            <a:rPr lang="en-US" dirty="0"/>
            <a:t>Wednesday</a:t>
          </a:r>
        </a:p>
      </dgm:t>
    </dgm:pt>
    <dgm:pt modelId="{54CA9130-6E5C-2049-966F-CEA9F500C270}" type="parTrans" cxnId="{7F9D30B5-2E7C-464F-8B4C-5B4F2FD2DFFC}">
      <dgm:prSet/>
      <dgm:spPr/>
      <dgm:t>
        <a:bodyPr/>
        <a:lstStyle/>
        <a:p>
          <a:endParaRPr lang="en-US"/>
        </a:p>
      </dgm:t>
    </dgm:pt>
    <dgm:pt modelId="{3F843A7D-E792-E549-972B-7AC731D38BE3}" type="sibTrans" cxnId="{7F9D30B5-2E7C-464F-8B4C-5B4F2FD2DFFC}">
      <dgm:prSet/>
      <dgm:spPr/>
      <dgm:t>
        <a:bodyPr/>
        <a:lstStyle/>
        <a:p>
          <a:endParaRPr lang="en-US"/>
        </a:p>
      </dgm:t>
    </dgm:pt>
    <dgm:pt modelId="{B633A0A7-D5FD-4E45-8E5C-5A65DA33A760}">
      <dgm:prSet custT="1"/>
      <dgm:spPr/>
      <dgm:t>
        <a:bodyPr/>
        <a:lstStyle/>
        <a:p>
          <a:r>
            <a:rPr lang="en-US" sz="2400" dirty="0"/>
            <a:t>Homework 1b due</a:t>
          </a:r>
        </a:p>
      </dgm:t>
    </dgm:pt>
    <dgm:pt modelId="{F4497183-36F8-CE48-AC93-D333208FE70B}" type="parTrans" cxnId="{44286450-11D1-D244-AB90-538A021478ED}">
      <dgm:prSet/>
      <dgm:spPr/>
      <dgm:t>
        <a:bodyPr/>
        <a:lstStyle/>
        <a:p>
          <a:endParaRPr lang="en-US"/>
        </a:p>
      </dgm:t>
    </dgm:pt>
    <dgm:pt modelId="{BC464BEE-34F1-AF45-851E-25D0594B7231}" type="sibTrans" cxnId="{44286450-11D1-D244-AB90-538A021478ED}">
      <dgm:prSet/>
      <dgm:spPr/>
      <dgm:t>
        <a:bodyPr/>
        <a:lstStyle/>
        <a:p>
          <a:endParaRPr lang="en-US"/>
        </a:p>
      </dgm:t>
    </dgm:pt>
    <dgm:pt modelId="{5611310B-22B7-2742-BBFA-3CA2A95CFB33}" type="pres">
      <dgm:prSet presAssocID="{97804412-2049-4CC2-A3F0-335FA875BCB7}" presName="root" presStyleCnt="0">
        <dgm:presLayoutVars>
          <dgm:chMax/>
          <dgm:chPref/>
          <dgm:animLvl val="lvl"/>
        </dgm:presLayoutVars>
      </dgm:prSet>
      <dgm:spPr/>
    </dgm:pt>
    <dgm:pt modelId="{4F49EA8E-14B2-3244-AD10-2D4DC80C5BFA}" type="pres">
      <dgm:prSet presAssocID="{97804412-2049-4CC2-A3F0-335FA875BCB7}" presName="divider" presStyleLbl="fgAcc1" presStyleIdx="0" presStyleCnt="4"/>
      <dgm:spPr>
        <a:solidFill>
          <a:schemeClr val="lt1">
            <a:alpha val="90000"/>
            <a:hueOff val="0"/>
            <a:satOff val="0"/>
            <a:lumOff val="0"/>
            <a:alphaOff val="0"/>
          </a:schemeClr>
        </a:solidFill>
        <a:ln w="19050" cap="flat" cmpd="sng" algn="ctr">
          <a:solidFill>
            <a:schemeClr val="accent2">
              <a:hueOff val="0"/>
              <a:satOff val="0"/>
              <a:lumOff val="0"/>
              <a:alphaOff val="0"/>
            </a:schemeClr>
          </a:solidFill>
          <a:prstDash val="solid"/>
          <a:miter lim="800000"/>
          <a:tailEnd type="triangle" w="lg" len="lg"/>
        </a:ln>
        <a:effectLst/>
      </dgm:spPr>
    </dgm:pt>
    <dgm:pt modelId="{A01B0A56-D639-114E-AFD9-D2CA151A167D}" type="pres">
      <dgm:prSet presAssocID="{97804412-2049-4CC2-A3F0-335FA875BCB7}" presName="nodes" presStyleCnt="0">
        <dgm:presLayoutVars>
          <dgm:chMax/>
          <dgm:chPref/>
          <dgm:animLvl val="lvl"/>
        </dgm:presLayoutVars>
      </dgm:prSet>
      <dgm:spPr/>
    </dgm:pt>
    <dgm:pt modelId="{A4B9B4A0-FAA2-F946-A240-87FA83B73F1D}" type="pres">
      <dgm:prSet presAssocID="{5CF162E2-E520-4450-A282-3F92328E0CCB}" presName="composite" presStyleCnt="0"/>
      <dgm:spPr/>
    </dgm:pt>
    <dgm:pt modelId="{61EE7A89-D4BF-3D41-8D1A-68A7E9B5F984}" type="pres">
      <dgm:prSet presAssocID="{5CF162E2-E520-4450-A282-3F92328E0CCB}" presName="ConnectorPoint" presStyleLbl="lnNode1" presStyleIdx="0" presStyleCnt="3"/>
      <dgm:spPr>
        <a:solidFill>
          <a:schemeClr val="accent2">
            <a:hueOff val="0"/>
            <a:satOff val="0"/>
            <a:lumOff val="0"/>
            <a:alphaOff val="0"/>
          </a:schemeClr>
        </a:solidFill>
        <a:ln w="6350" cap="flat" cmpd="sng" algn="ctr">
          <a:solidFill>
            <a:schemeClr val="lt1">
              <a:hueOff val="0"/>
              <a:satOff val="0"/>
              <a:lumOff val="0"/>
              <a:alphaOff val="0"/>
            </a:schemeClr>
          </a:solidFill>
          <a:prstDash val="solid"/>
          <a:miter lim="800000"/>
        </a:ln>
        <a:effectLst/>
      </dgm:spPr>
    </dgm:pt>
    <dgm:pt modelId="{4338DAC2-2C6C-7841-9841-B0538C705781}" type="pres">
      <dgm:prSet presAssocID="{5CF162E2-E520-4450-A282-3F92328E0CCB}" presName="DropPinPlaceHolder" presStyleCnt="0"/>
      <dgm:spPr/>
    </dgm:pt>
    <dgm:pt modelId="{5A5D04E9-ECC5-5D4F-844C-D2C7B0346B1F}" type="pres">
      <dgm:prSet presAssocID="{5CF162E2-E520-4450-A282-3F92328E0CCB}" presName="DropPin" presStyleLbl="alignNode1" presStyleIdx="0" presStyleCnt="3"/>
      <dgm:spPr/>
    </dgm:pt>
    <dgm:pt modelId="{44713054-C65B-6E41-8C6D-526658058D7B}" type="pres">
      <dgm:prSet presAssocID="{5CF162E2-E520-4450-A282-3F92328E0CCB}" presName="Ellipse" presStyleLbl="fgAcc1" presStyleIdx="1" presStyleCnt="4"/>
      <dgm:spPr>
        <a:solidFill>
          <a:schemeClr val="lt1">
            <a:alpha val="90000"/>
            <a:hueOff val="0"/>
            <a:satOff val="0"/>
            <a:lumOff val="0"/>
            <a:alphaOff val="0"/>
          </a:schemeClr>
        </a:solidFill>
        <a:ln w="19050" cap="flat" cmpd="sng" algn="ctr">
          <a:noFill/>
          <a:prstDash val="solid"/>
          <a:miter lim="800000"/>
        </a:ln>
        <a:effectLst/>
      </dgm:spPr>
    </dgm:pt>
    <dgm:pt modelId="{AC4DBCA8-04BC-3545-88F9-2237B2B063D4}" type="pres">
      <dgm:prSet presAssocID="{5CF162E2-E520-4450-A282-3F92328E0CCB}" presName="L2TextContainer" presStyleLbl="revTx" presStyleIdx="0" presStyleCnt="6">
        <dgm:presLayoutVars>
          <dgm:bulletEnabled val="1"/>
        </dgm:presLayoutVars>
      </dgm:prSet>
      <dgm:spPr/>
    </dgm:pt>
    <dgm:pt modelId="{5B4B9DCF-674A-3E4E-9D8A-B3761C8A1255}" type="pres">
      <dgm:prSet presAssocID="{5CF162E2-E520-4450-A282-3F92328E0CCB}" presName="L1TextContainer" presStyleLbl="revTx" presStyleIdx="1" presStyleCnt="6">
        <dgm:presLayoutVars>
          <dgm:chMax val="1"/>
          <dgm:chPref val="1"/>
          <dgm:bulletEnabled val="1"/>
        </dgm:presLayoutVars>
      </dgm:prSet>
      <dgm:spPr/>
    </dgm:pt>
    <dgm:pt modelId="{596D1687-2E84-3A42-A7B7-739D03BB5D95}" type="pres">
      <dgm:prSet presAssocID="{5CF162E2-E520-4450-A282-3F92328E0CCB}" presName="ConnectLine" presStyleLbl="sibTrans1D1" presStyleIdx="0" presStyleCnt="3"/>
      <dgm:spPr>
        <a:noFill/>
        <a:ln w="12700" cap="flat" cmpd="sng" algn="ctr">
          <a:solidFill>
            <a:schemeClr val="accent2">
              <a:hueOff val="0"/>
              <a:satOff val="0"/>
              <a:lumOff val="0"/>
              <a:alphaOff val="0"/>
            </a:schemeClr>
          </a:solidFill>
          <a:prstDash val="dash"/>
          <a:miter lim="800000"/>
        </a:ln>
        <a:effectLst/>
      </dgm:spPr>
    </dgm:pt>
    <dgm:pt modelId="{E0A955B8-7EF7-104B-8F20-D9614D0CD33E}" type="pres">
      <dgm:prSet presAssocID="{5CF162E2-E520-4450-A282-3F92328E0CCB}" presName="EmptyPlaceHolder" presStyleCnt="0"/>
      <dgm:spPr/>
    </dgm:pt>
    <dgm:pt modelId="{8701ACD4-71C7-854C-9C66-B7BD8F1A8796}" type="pres">
      <dgm:prSet presAssocID="{BCC0DFA9-2481-45B6-B33C-99834E517F70}" presName="spaceBetweenRectangles" presStyleCnt="0"/>
      <dgm:spPr/>
    </dgm:pt>
    <dgm:pt modelId="{BAD3F82B-BE35-E041-BED3-1E05522492A9}" type="pres">
      <dgm:prSet presAssocID="{2F424365-8D43-4FA6-80CB-2B37A4BCEEB7}" presName="composite" presStyleCnt="0"/>
      <dgm:spPr/>
    </dgm:pt>
    <dgm:pt modelId="{EE16CA80-7EFE-AF41-B67F-1DF3B9286EA7}" type="pres">
      <dgm:prSet presAssocID="{2F424365-8D43-4FA6-80CB-2B37A4BCEEB7}" presName="ConnectorPoint" presStyleLbl="lnNode1" presStyleIdx="1" presStyleCnt="3"/>
      <dgm:spPr>
        <a:solidFill>
          <a:schemeClr val="accent3">
            <a:hueOff val="0"/>
            <a:satOff val="0"/>
            <a:lumOff val="0"/>
            <a:alphaOff val="0"/>
          </a:schemeClr>
        </a:solidFill>
        <a:ln w="6350" cap="flat" cmpd="sng" algn="ctr">
          <a:solidFill>
            <a:schemeClr val="lt1">
              <a:hueOff val="0"/>
              <a:satOff val="0"/>
              <a:lumOff val="0"/>
              <a:alphaOff val="0"/>
            </a:schemeClr>
          </a:solidFill>
          <a:prstDash val="solid"/>
          <a:miter lim="800000"/>
        </a:ln>
        <a:effectLst/>
      </dgm:spPr>
    </dgm:pt>
    <dgm:pt modelId="{0A805E50-7725-D248-9264-735C3A5D1D84}" type="pres">
      <dgm:prSet presAssocID="{2F424365-8D43-4FA6-80CB-2B37A4BCEEB7}" presName="DropPinPlaceHolder" presStyleCnt="0"/>
      <dgm:spPr/>
    </dgm:pt>
    <dgm:pt modelId="{B3C6DA1E-732D-4440-8780-3F3FB1A41A0B}" type="pres">
      <dgm:prSet presAssocID="{2F424365-8D43-4FA6-80CB-2B37A4BCEEB7}" presName="DropPin" presStyleLbl="alignNode1" presStyleIdx="1" presStyleCnt="3"/>
      <dgm:spPr/>
    </dgm:pt>
    <dgm:pt modelId="{14D3F928-4171-F749-8B4E-5B7F6A900CF6}" type="pres">
      <dgm:prSet presAssocID="{2F424365-8D43-4FA6-80CB-2B37A4BCEEB7}" presName="Ellipse" presStyleLbl="fgAcc1" presStyleIdx="2" presStyleCnt="4"/>
      <dgm:spPr>
        <a:solidFill>
          <a:schemeClr val="lt1">
            <a:alpha val="90000"/>
            <a:hueOff val="0"/>
            <a:satOff val="0"/>
            <a:lumOff val="0"/>
            <a:alphaOff val="0"/>
          </a:schemeClr>
        </a:solidFill>
        <a:ln w="19050" cap="flat" cmpd="sng" algn="ctr">
          <a:noFill/>
          <a:prstDash val="solid"/>
          <a:miter lim="800000"/>
        </a:ln>
        <a:effectLst/>
      </dgm:spPr>
    </dgm:pt>
    <dgm:pt modelId="{28E80D13-D0FD-7D49-BB25-6E0BCD4370B5}" type="pres">
      <dgm:prSet presAssocID="{2F424365-8D43-4FA6-80CB-2B37A4BCEEB7}" presName="L2TextContainer" presStyleLbl="revTx" presStyleIdx="2" presStyleCnt="6">
        <dgm:presLayoutVars>
          <dgm:bulletEnabled val="1"/>
        </dgm:presLayoutVars>
      </dgm:prSet>
      <dgm:spPr/>
    </dgm:pt>
    <dgm:pt modelId="{EC339451-0DBB-9744-8457-5648B7F9CC87}" type="pres">
      <dgm:prSet presAssocID="{2F424365-8D43-4FA6-80CB-2B37A4BCEEB7}" presName="L1TextContainer" presStyleLbl="revTx" presStyleIdx="3" presStyleCnt="6">
        <dgm:presLayoutVars>
          <dgm:chMax val="1"/>
          <dgm:chPref val="1"/>
          <dgm:bulletEnabled val="1"/>
        </dgm:presLayoutVars>
      </dgm:prSet>
      <dgm:spPr/>
    </dgm:pt>
    <dgm:pt modelId="{8B18C6CF-0E38-DE40-8F52-4677203EA459}" type="pres">
      <dgm:prSet presAssocID="{2F424365-8D43-4FA6-80CB-2B37A4BCEEB7}" presName="ConnectLine" presStyleLbl="sibTrans1D1" presStyleIdx="1" presStyleCnt="3"/>
      <dgm:spPr>
        <a:noFill/>
        <a:ln w="12700" cap="flat" cmpd="sng" algn="ctr">
          <a:solidFill>
            <a:schemeClr val="accent3">
              <a:hueOff val="0"/>
              <a:satOff val="0"/>
              <a:lumOff val="0"/>
              <a:alphaOff val="0"/>
            </a:schemeClr>
          </a:solidFill>
          <a:prstDash val="dash"/>
          <a:miter lim="800000"/>
        </a:ln>
        <a:effectLst/>
      </dgm:spPr>
    </dgm:pt>
    <dgm:pt modelId="{F9EA556C-AA43-2A4B-91E6-090C7786B505}" type="pres">
      <dgm:prSet presAssocID="{2F424365-8D43-4FA6-80CB-2B37A4BCEEB7}" presName="EmptyPlaceHolder" presStyleCnt="0"/>
      <dgm:spPr/>
    </dgm:pt>
    <dgm:pt modelId="{5595122C-036B-C248-BB2F-E38D5D1A0349}" type="pres">
      <dgm:prSet presAssocID="{FCD11D45-B70B-4C1F-AFFB-247CAB3EF1A9}" presName="spaceBetweenRectangles" presStyleCnt="0"/>
      <dgm:spPr/>
    </dgm:pt>
    <dgm:pt modelId="{60D7083F-CC54-7B42-A9CD-E60B10798061}" type="pres">
      <dgm:prSet presAssocID="{A1BED7C6-A5FE-AD43-8B85-190C2BD282B7}" presName="composite" presStyleCnt="0"/>
      <dgm:spPr/>
    </dgm:pt>
    <dgm:pt modelId="{64D51680-9CAF-014F-9C8C-143BBE8DDB7D}" type="pres">
      <dgm:prSet presAssocID="{A1BED7C6-A5FE-AD43-8B85-190C2BD282B7}" presName="ConnectorPoint" presStyleLbl="lnNode1" presStyleIdx="2" presStyleCnt="3"/>
      <dgm:spPr>
        <a:solidFill>
          <a:schemeClr val="accent4">
            <a:hueOff val="0"/>
            <a:satOff val="0"/>
            <a:lumOff val="0"/>
            <a:alphaOff val="0"/>
          </a:schemeClr>
        </a:solidFill>
        <a:ln w="6350" cap="flat" cmpd="sng" algn="ctr">
          <a:solidFill>
            <a:schemeClr val="lt1">
              <a:hueOff val="0"/>
              <a:satOff val="0"/>
              <a:lumOff val="0"/>
              <a:alphaOff val="0"/>
            </a:schemeClr>
          </a:solidFill>
          <a:prstDash val="solid"/>
          <a:miter lim="800000"/>
        </a:ln>
        <a:effectLst/>
      </dgm:spPr>
    </dgm:pt>
    <dgm:pt modelId="{D469094B-06AF-2344-ACF0-AC5E247B71E4}" type="pres">
      <dgm:prSet presAssocID="{A1BED7C6-A5FE-AD43-8B85-190C2BD282B7}" presName="DropPinPlaceHolder" presStyleCnt="0"/>
      <dgm:spPr/>
    </dgm:pt>
    <dgm:pt modelId="{EC3FB413-6033-B749-81EC-5AF5C0E16031}" type="pres">
      <dgm:prSet presAssocID="{A1BED7C6-A5FE-AD43-8B85-190C2BD282B7}" presName="DropPin" presStyleLbl="alignNode1" presStyleIdx="2" presStyleCnt="3"/>
      <dgm:spPr/>
    </dgm:pt>
    <dgm:pt modelId="{9F47D4DA-0BC3-EE44-A13C-09D928524D4D}" type="pres">
      <dgm:prSet presAssocID="{A1BED7C6-A5FE-AD43-8B85-190C2BD282B7}" presName="Ellipse" presStyleLbl="fgAcc1" presStyleIdx="3" presStyleCnt="4"/>
      <dgm:spPr>
        <a:solidFill>
          <a:schemeClr val="lt1">
            <a:alpha val="90000"/>
            <a:hueOff val="0"/>
            <a:satOff val="0"/>
            <a:lumOff val="0"/>
            <a:alphaOff val="0"/>
          </a:schemeClr>
        </a:solidFill>
        <a:ln w="19050" cap="flat" cmpd="sng" algn="ctr">
          <a:noFill/>
          <a:prstDash val="solid"/>
          <a:miter lim="800000"/>
        </a:ln>
        <a:effectLst/>
      </dgm:spPr>
    </dgm:pt>
    <dgm:pt modelId="{FFD64710-8BC3-A344-BF77-8F701DBF038F}" type="pres">
      <dgm:prSet presAssocID="{A1BED7C6-A5FE-AD43-8B85-190C2BD282B7}" presName="L2TextContainer" presStyleLbl="revTx" presStyleIdx="4" presStyleCnt="6">
        <dgm:presLayoutVars>
          <dgm:bulletEnabled val="1"/>
        </dgm:presLayoutVars>
      </dgm:prSet>
      <dgm:spPr/>
    </dgm:pt>
    <dgm:pt modelId="{5E71FFEF-3BA8-B041-A040-5777A4E4C33F}" type="pres">
      <dgm:prSet presAssocID="{A1BED7C6-A5FE-AD43-8B85-190C2BD282B7}" presName="L1TextContainer" presStyleLbl="revTx" presStyleIdx="5" presStyleCnt="6">
        <dgm:presLayoutVars>
          <dgm:chMax val="1"/>
          <dgm:chPref val="1"/>
          <dgm:bulletEnabled val="1"/>
        </dgm:presLayoutVars>
      </dgm:prSet>
      <dgm:spPr/>
    </dgm:pt>
    <dgm:pt modelId="{2DD9E714-B010-3546-9909-CE608427AC93}" type="pres">
      <dgm:prSet presAssocID="{A1BED7C6-A5FE-AD43-8B85-190C2BD282B7}" presName="ConnectLine" presStyleLbl="sibTrans1D1" presStyleIdx="2" presStyleCnt="3"/>
      <dgm:spPr>
        <a:noFill/>
        <a:ln w="12700" cap="flat" cmpd="sng" algn="ctr">
          <a:solidFill>
            <a:schemeClr val="accent4">
              <a:hueOff val="0"/>
              <a:satOff val="0"/>
              <a:lumOff val="0"/>
              <a:alphaOff val="0"/>
            </a:schemeClr>
          </a:solidFill>
          <a:prstDash val="dash"/>
          <a:miter lim="800000"/>
        </a:ln>
        <a:effectLst/>
      </dgm:spPr>
    </dgm:pt>
    <dgm:pt modelId="{309CD487-5F3B-2B48-B1FD-C04CEF569E24}" type="pres">
      <dgm:prSet presAssocID="{A1BED7C6-A5FE-AD43-8B85-190C2BD282B7}" presName="EmptyPlaceHolder" presStyleCnt="0"/>
      <dgm:spPr/>
    </dgm:pt>
  </dgm:ptLst>
  <dgm:cxnLst>
    <dgm:cxn modelId="{695E3801-0760-D84D-8759-4F2C8D13FAD7}" type="presOf" srcId="{5CF162E2-E520-4450-A282-3F92328E0CCB}" destId="{5B4B9DCF-674A-3E4E-9D8A-B3761C8A1255}" srcOrd="0" destOrd="0" presId="urn:microsoft.com/office/officeart/2017/3/layout/DropPinTimeline"/>
    <dgm:cxn modelId="{9031F607-1EE7-404E-A641-71EC6AADDD14}" type="presOf" srcId="{2F424365-8D43-4FA6-80CB-2B37A4BCEEB7}" destId="{EC339451-0DBB-9744-8457-5648B7F9CC87}" srcOrd="0" destOrd="0" presId="urn:microsoft.com/office/officeart/2017/3/layout/DropPinTimeline"/>
    <dgm:cxn modelId="{4F62F419-08A2-486B-83A8-CF0A0016D56D}" srcId="{2F424365-8D43-4FA6-80CB-2B37A4BCEEB7}" destId="{C852D3A5-30B6-4FFA-AEF1-5EEF907D9D5E}" srcOrd="0" destOrd="0" parTransId="{C9529EA4-791E-43DD-A02F-766C5DB2EF38}" sibTransId="{93A4FFD0-3C19-48F4-9CB2-77A46B7EE3B1}"/>
    <dgm:cxn modelId="{90CFF434-67BD-4E58-9B37-8541ECC9A5D5}" srcId="{5CF162E2-E520-4450-A282-3F92328E0CCB}" destId="{BE2DE924-F4C5-4134-8611-4E4A40DA8D46}" srcOrd="0" destOrd="0" parTransId="{F0BA01FA-5D90-4810-966C-0BC2000C1BE1}" sibTransId="{26F40BEC-B424-49EA-B176-4A1DDEE432AF}"/>
    <dgm:cxn modelId="{27C54636-9DFD-4B8C-AF7A-85F78B0BDA48}" srcId="{97804412-2049-4CC2-A3F0-335FA875BCB7}" destId="{2F424365-8D43-4FA6-80CB-2B37A4BCEEB7}" srcOrd="1" destOrd="0" parTransId="{9897491B-05C4-49B0-B41A-8EC5B0CA9F57}" sibTransId="{FCD11D45-B70B-4C1F-AFFB-247CAB3EF1A9}"/>
    <dgm:cxn modelId="{44286450-11D1-D244-AB90-538A021478ED}" srcId="{A1BED7C6-A5FE-AD43-8B85-190C2BD282B7}" destId="{B633A0A7-D5FD-4E45-8E5C-5A65DA33A760}" srcOrd="0" destOrd="0" parTransId="{F4497183-36F8-CE48-AC93-D333208FE70B}" sibTransId="{BC464BEE-34F1-AF45-851E-25D0594B7231}"/>
    <dgm:cxn modelId="{4C5EA164-2107-DD4E-8567-02B9C5AD3A01}" type="presOf" srcId="{B633A0A7-D5FD-4E45-8E5C-5A65DA33A760}" destId="{FFD64710-8BC3-A344-BF77-8F701DBF038F}" srcOrd="0" destOrd="0" presId="urn:microsoft.com/office/officeart/2017/3/layout/DropPinTimeline"/>
    <dgm:cxn modelId="{1036F873-AEC9-6046-B907-B5CDF12E6F74}" type="presOf" srcId="{A1BED7C6-A5FE-AD43-8B85-190C2BD282B7}" destId="{5E71FFEF-3BA8-B041-A040-5777A4E4C33F}" srcOrd="0" destOrd="0" presId="urn:microsoft.com/office/officeart/2017/3/layout/DropPinTimeline"/>
    <dgm:cxn modelId="{C19B79A3-8BAF-D74D-8187-739A1BF2F8CB}" type="presOf" srcId="{BE2DE924-F4C5-4134-8611-4E4A40DA8D46}" destId="{AC4DBCA8-04BC-3545-88F9-2237B2B063D4}" srcOrd="0" destOrd="0" presId="urn:microsoft.com/office/officeart/2017/3/layout/DropPinTimeline"/>
    <dgm:cxn modelId="{7F9D30B5-2E7C-464F-8B4C-5B4F2FD2DFFC}" srcId="{97804412-2049-4CC2-A3F0-335FA875BCB7}" destId="{A1BED7C6-A5FE-AD43-8B85-190C2BD282B7}" srcOrd="2" destOrd="0" parTransId="{54CA9130-6E5C-2049-966F-CEA9F500C270}" sibTransId="{3F843A7D-E792-E549-972B-7AC731D38BE3}"/>
    <dgm:cxn modelId="{627700C2-C8E6-4153-9E4D-6B18DB4722BF}" srcId="{97804412-2049-4CC2-A3F0-335FA875BCB7}" destId="{5CF162E2-E520-4450-A282-3F92328E0CCB}" srcOrd="0" destOrd="0" parTransId="{B1431A47-EEA7-4A99-9E98-393BB0476EB4}" sibTransId="{BCC0DFA9-2481-45B6-B33C-99834E517F70}"/>
    <dgm:cxn modelId="{AF1977D8-8FE3-E348-9BCF-7C81273AE88A}" type="presOf" srcId="{97804412-2049-4CC2-A3F0-335FA875BCB7}" destId="{5611310B-22B7-2742-BBFA-3CA2A95CFB33}" srcOrd="0" destOrd="0" presId="urn:microsoft.com/office/officeart/2017/3/layout/DropPinTimeline"/>
    <dgm:cxn modelId="{8F4F2AF3-FB6F-9645-9D5A-35333CDB9085}" type="presOf" srcId="{C852D3A5-30B6-4FFA-AEF1-5EEF907D9D5E}" destId="{28E80D13-D0FD-7D49-BB25-6E0BCD4370B5}" srcOrd="0" destOrd="0" presId="urn:microsoft.com/office/officeart/2017/3/layout/DropPinTimeline"/>
    <dgm:cxn modelId="{553F933B-2B27-D042-AAE4-7D772692755F}" type="presParOf" srcId="{5611310B-22B7-2742-BBFA-3CA2A95CFB33}" destId="{4F49EA8E-14B2-3244-AD10-2D4DC80C5BFA}" srcOrd="0" destOrd="0" presId="urn:microsoft.com/office/officeart/2017/3/layout/DropPinTimeline"/>
    <dgm:cxn modelId="{B017C8A2-D7F1-8E44-AF49-F126901BD445}" type="presParOf" srcId="{5611310B-22B7-2742-BBFA-3CA2A95CFB33}" destId="{A01B0A56-D639-114E-AFD9-D2CA151A167D}" srcOrd="1" destOrd="0" presId="urn:microsoft.com/office/officeart/2017/3/layout/DropPinTimeline"/>
    <dgm:cxn modelId="{D5A6E5D0-B3C4-3145-8DD8-E01A3E34ED1B}" type="presParOf" srcId="{A01B0A56-D639-114E-AFD9-D2CA151A167D}" destId="{A4B9B4A0-FAA2-F946-A240-87FA83B73F1D}" srcOrd="0" destOrd="0" presId="urn:microsoft.com/office/officeart/2017/3/layout/DropPinTimeline"/>
    <dgm:cxn modelId="{0D1ED48B-2A2A-634E-AB7F-146F263DC47E}" type="presParOf" srcId="{A4B9B4A0-FAA2-F946-A240-87FA83B73F1D}" destId="{61EE7A89-D4BF-3D41-8D1A-68A7E9B5F984}" srcOrd="0" destOrd="0" presId="urn:microsoft.com/office/officeart/2017/3/layout/DropPinTimeline"/>
    <dgm:cxn modelId="{1F21626A-361B-0B4E-97BE-EF18B6A5B5F8}" type="presParOf" srcId="{A4B9B4A0-FAA2-F946-A240-87FA83B73F1D}" destId="{4338DAC2-2C6C-7841-9841-B0538C705781}" srcOrd="1" destOrd="0" presId="urn:microsoft.com/office/officeart/2017/3/layout/DropPinTimeline"/>
    <dgm:cxn modelId="{6BC8DCBA-DD98-BF41-AD3F-60EC2A1E5CA6}" type="presParOf" srcId="{4338DAC2-2C6C-7841-9841-B0538C705781}" destId="{5A5D04E9-ECC5-5D4F-844C-D2C7B0346B1F}" srcOrd="0" destOrd="0" presId="urn:microsoft.com/office/officeart/2017/3/layout/DropPinTimeline"/>
    <dgm:cxn modelId="{72F112AE-CDCE-F943-9E5D-B5292B7971C2}" type="presParOf" srcId="{4338DAC2-2C6C-7841-9841-B0538C705781}" destId="{44713054-C65B-6E41-8C6D-526658058D7B}" srcOrd="1" destOrd="0" presId="urn:microsoft.com/office/officeart/2017/3/layout/DropPinTimeline"/>
    <dgm:cxn modelId="{4E4663FA-38B1-104C-B455-4C7E3DC700A3}" type="presParOf" srcId="{A4B9B4A0-FAA2-F946-A240-87FA83B73F1D}" destId="{AC4DBCA8-04BC-3545-88F9-2237B2B063D4}" srcOrd="2" destOrd="0" presId="urn:microsoft.com/office/officeart/2017/3/layout/DropPinTimeline"/>
    <dgm:cxn modelId="{91A9F34E-5776-0A47-B326-247DC48B04EA}" type="presParOf" srcId="{A4B9B4A0-FAA2-F946-A240-87FA83B73F1D}" destId="{5B4B9DCF-674A-3E4E-9D8A-B3761C8A1255}" srcOrd="3" destOrd="0" presId="urn:microsoft.com/office/officeart/2017/3/layout/DropPinTimeline"/>
    <dgm:cxn modelId="{547F82D5-B9F9-B04B-B1F6-51E34E7AB38F}" type="presParOf" srcId="{A4B9B4A0-FAA2-F946-A240-87FA83B73F1D}" destId="{596D1687-2E84-3A42-A7B7-739D03BB5D95}" srcOrd="4" destOrd="0" presId="urn:microsoft.com/office/officeart/2017/3/layout/DropPinTimeline"/>
    <dgm:cxn modelId="{5C6F9EB2-0945-8940-92C4-F60C430A1D61}" type="presParOf" srcId="{A4B9B4A0-FAA2-F946-A240-87FA83B73F1D}" destId="{E0A955B8-7EF7-104B-8F20-D9614D0CD33E}" srcOrd="5" destOrd="0" presId="urn:microsoft.com/office/officeart/2017/3/layout/DropPinTimeline"/>
    <dgm:cxn modelId="{01F35DB5-ABDA-BC43-B2E2-219C587F7FB2}" type="presParOf" srcId="{A01B0A56-D639-114E-AFD9-D2CA151A167D}" destId="{8701ACD4-71C7-854C-9C66-B7BD8F1A8796}" srcOrd="1" destOrd="0" presId="urn:microsoft.com/office/officeart/2017/3/layout/DropPinTimeline"/>
    <dgm:cxn modelId="{D9E66153-A0D6-A84B-BE88-8C2DE500A003}" type="presParOf" srcId="{A01B0A56-D639-114E-AFD9-D2CA151A167D}" destId="{BAD3F82B-BE35-E041-BED3-1E05522492A9}" srcOrd="2" destOrd="0" presId="urn:microsoft.com/office/officeart/2017/3/layout/DropPinTimeline"/>
    <dgm:cxn modelId="{ED8D4A12-8B37-6848-8448-C6CBA1B99EE7}" type="presParOf" srcId="{BAD3F82B-BE35-E041-BED3-1E05522492A9}" destId="{EE16CA80-7EFE-AF41-B67F-1DF3B9286EA7}" srcOrd="0" destOrd="0" presId="urn:microsoft.com/office/officeart/2017/3/layout/DropPinTimeline"/>
    <dgm:cxn modelId="{4A46B5EF-7D2E-2F4B-8C83-AC93A0AB3D02}" type="presParOf" srcId="{BAD3F82B-BE35-E041-BED3-1E05522492A9}" destId="{0A805E50-7725-D248-9264-735C3A5D1D84}" srcOrd="1" destOrd="0" presId="urn:microsoft.com/office/officeart/2017/3/layout/DropPinTimeline"/>
    <dgm:cxn modelId="{B232701F-995C-7243-A1F9-5D116277D5A9}" type="presParOf" srcId="{0A805E50-7725-D248-9264-735C3A5D1D84}" destId="{B3C6DA1E-732D-4440-8780-3F3FB1A41A0B}" srcOrd="0" destOrd="0" presId="urn:microsoft.com/office/officeart/2017/3/layout/DropPinTimeline"/>
    <dgm:cxn modelId="{90CCDB39-A6CB-2345-9BCA-79F4BEB27393}" type="presParOf" srcId="{0A805E50-7725-D248-9264-735C3A5D1D84}" destId="{14D3F928-4171-F749-8B4E-5B7F6A900CF6}" srcOrd="1" destOrd="0" presId="urn:microsoft.com/office/officeart/2017/3/layout/DropPinTimeline"/>
    <dgm:cxn modelId="{C449CDD2-E7EE-BF49-B374-369F0F9A9DE1}" type="presParOf" srcId="{BAD3F82B-BE35-E041-BED3-1E05522492A9}" destId="{28E80D13-D0FD-7D49-BB25-6E0BCD4370B5}" srcOrd="2" destOrd="0" presId="urn:microsoft.com/office/officeart/2017/3/layout/DropPinTimeline"/>
    <dgm:cxn modelId="{A4E2A1CD-69D0-0C4F-A34B-1EB2FDCEB774}" type="presParOf" srcId="{BAD3F82B-BE35-E041-BED3-1E05522492A9}" destId="{EC339451-0DBB-9744-8457-5648B7F9CC87}" srcOrd="3" destOrd="0" presId="urn:microsoft.com/office/officeart/2017/3/layout/DropPinTimeline"/>
    <dgm:cxn modelId="{51017497-4AFF-0444-8630-4C4630BB8D44}" type="presParOf" srcId="{BAD3F82B-BE35-E041-BED3-1E05522492A9}" destId="{8B18C6CF-0E38-DE40-8F52-4677203EA459}" srcOrd="4" destOrd="0" presId="urn:microsoft.com/office/officeart/2017/3/layout/DropPinTimeline"/>
    <dgm:cxn modelId="{F0008786-2DB1-FF43-9EB7-3957EA118884}" type="presParOf" srcId="{BAD3F82B-BE35-E041-BED3-1E05522492A9}" destId="{F9EA556C-AA43-2A4B-91E6-090C7786B505}" srcOrd="5" destOrd="0" presId="urn:microsoft.com/office/officeart/2017/3/layout/DropPinTimeline"/>
    <dgm:cxn modelId="{80FC05B6-1971-E144-9A36-B4E42A5988DF}" type="presParOf" srcId="{A01B0A56-D639-114E-AFD9-D2CA151A167D}" destId="{5595122C-036B-C248-BB2F-E38D5D1A0349}" srcOrd="3" destOrd="0" presId="urn:microsoft.com/office/officeart/2017/3/layout/DropPinTimeline"/>
    <dgm:cxn modelId="{98B1B584-EF9E-1E43-A876-25F89A5C3833}" type="presParOf" srcId="{A01B0A56-D639-114E-AFD9-D2CA151A167D}" destId="{60D7083F-CC54-7B42-A9CD-E60B10798061}" srcOrd="4" destOrd="0" presId="urn:microsoft.com/office/officeart/2017/3/layout/DropPinTimeline"/>
    <dgm:cxn modelId="{DE998A4E-634E-5740-A1FC-860944931628}" type="presParOf" srcId="{60D7083F-CC54-7B42-A9CD-E60B10798061}" destId="{64D51680-9CAF-014F-9C8C-143BBE8DDB7D}" srcOrd="0" destOrd="0" presId="urn:microsoft.com/office/officeart/2017/3/layout/DropPinTimeline"/>
    <dgm:cxn modelId="{558812A4-4801-0045-952C-855B2FD4E1C0}" type="presParOf" srcId="{60D7083F-CC54-7B42-A9CD-E60B10798061}" destId="{D469094B-06AF-2344-ACF0-AC5E247B71E4}" srcOrd="1" destOrd="0" presId="urn:microsoft.com/office/officeart/2017/3/layout/DropPinTimeline"/>
    <dgm:cxn modelId="{7A988A04-F838-9C40-892B-FE88A49072D6}" type="presParOf" srcId="{D469094B-06AF-2344-ACF0-AC5E247B71E4}" destId="{EC3FB413-6033-B749-81EC-5AF5C0E16031}" srcOrd="0" destOrd="0" presId="urn:microsoft.com/office/officeart/2017/3/layout/DropPinTimeline"/>
    <dgm:cxn modelId="{18527908-CFAA-C743-A546-9D3BB054D91D}" type="presParOf" srcId="{D469094B-06AF-2344-ACF0-AC5E247B71E4}" destId="{9F47D4DA-0BC3-EE44-A13C-09D928524D4D}" srcOrd="1" destOrd="0" presId="urn:microsoft.com/office/officeart/2017/3/layout/DropPinTimeline"/>
    <dgm:cxn modelId="{37124AED-C9E7-E744-BF8C-9009109B3C95}" type="presParOf" srcId="{60D7083F-CC54-7B42-A9CD-E60B10798061}" destId="{FFD64710-8BC3-A344-BF77-8F701DBF038F}" srcOrd="2" destOrd="0" presId="urn:microsoft.com/office/officeart/2017/3/layout/DropPinTimeline"/>
    <dgm:cxn modelId="{A7A80257-3E64-F048-8244-C4A074972BDB}" type="presParOf" srcId="{60D7083F-CC54-7B42-A9CD-E60B10798061}" destId="{5E71FFEF-3BA8-B041-A040-5777A4E4C33F}" srcOrd="3" destOrd="0" presId="urn:microsoft.com/office/officeart/2017/3/layout/DropPinTimeline"/>
    <dgm:cxn modelId="{642FD32C-A62A-7B43-AF93-1EF56E851567}" type="presParOf" srcId="{60D7083F-CC54-7B42-A9CD-E60B10798061}" destId="{2DD9E714-B010-3546-9909-CE608427AC93}" srcOrd="4" destOrd="0" presId="urn:microsoft.com/office/officeart/2017/3/layout/DropPinTimeline"/>
    <dgm:cxn modelId="{E2DABE4B-7804-C744-81CD-CAA37415FDBF}" type="presParOf" srcId="{60D7083F-CC54-7B42-A9CD-E60B10798061}" destId="{309CD487-5F3B-2B48-B1FD-C04CEF569E24}" srcOrd="5" destOrd="0" presId="urn:microsoft.com/office/officeart/2017/3/layout/DropPinTimeline"/>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D8DE7622-130A-4600-96B0-A4D4F3A9BB42}" type="doc">
      <dgm:prSet loTypeId="urn:microsoft.com/office/officeart/2018/5/layout/CenteredIconLabelDescriptionList" loCatId="icon" qsTypeId="urn:microsoft.com/office/officeart/2005/8/quickstyle/simple1" qsCatId="simple" csTypeId="urn:microsoft.com/office/officeart/2005/8/colors/accent1_2" csCatId="accent1" phldr="1"/>
      <dgm:spPr/>
      <dgm:t>
        <a:bodyPr/>
        <a:lstStyle/>
        <a:p>
          <a:endParaRPr lang="en-US"/>
        </a:p>
      </dgm:t>
    </dgm:pt>
    <dgm:pt modelId="{5C6D4AD7-C95F-4247-85FD-04E27409028B}">
      <dgm:prSet/>
      <dgm:spPr/>
      <dgm:t>
        <a:bodyPr/>
        <a:lstStyle/>
        <a:p>
          <a:pPr>
            <a:lnSpc>
              <a:spcPct val="100000"/>
            </a:lnSpc>
            <a:defRPr b="1"/>
          </a:pPr>
          <a:r>
            <a:rPr lang="en-US"/>
            <a:t>(In US and Canada) Need to assign value to land for..</a:t>
          </a:r>
        </a:p>
      </dgm:t>
    </dgm:pt>
    <dgm:pt modelId="{9DCB351B-AD15-4102-B732-3756F0AA7418}" type="parTrans" cxnId="{6FDE764E-97F0-4D0A-9F9A-911E694F6528}">
      <dgm:prSet/>
      <dgm:spPr/>
      <dgm:t>
        <a:bodyPr/>
        <a:lstStyle/>
        <a:p>
          <a:endParaRPr lang="en-US"/>
        </a:p>
      </dgm:t>
    </dgm:pt>
    <dgm:pt modelId="{6BDA3B9F-7C8E-46A1-B81D-4A19485EE6ED}" type="sibTrans" cxnId="{6FDE764E-97F0-4D0A-9F9A-911E694F6528}">
      <dgm:prSet/>
      <dgm:spPr/>
      <dgm:t>
        <a:bodyPr/>
        <a:lstStyle/>
        <a:p>
          <a:endParaRPr lang="en-US"/>
        </a:p>
      </dgm:t>
    </dgm:pt>
    <dgm:pt modelId="{6FBC42F2-29C7-49A2-9DCC-11451E44EFD5}">
      <dgm:prSet custT="1"/>
      <dgm:spPr/>
      <dgm:t>
        <a:bodyPr/>
        <a:lstStyle/>
        <a:p>
          <a:pPr>
            <a:lnSpc>
              <a:spcPct val="100000"/>
            </a:lnSpc>
          </a:pPr>
          <a:r>
            <a:rPr lang="en-US" sz="2000"/>
            <a:t>Property taxes</a:t>
          </a:r>
        </a:p>
      </dgm:t>
    </dgm:pt>
    <dgm:pt modelId="{0041F5C3-7068-4E57-AE95-1F70BFE96933}" type="parTrans" cxnId="{1EF5633A-68D3-4FCE-BCEB-FC296C353882}">
      <dgm:prSet/>
      <dgm:spPr/>
      <dgm:t>
        <a:bodyPr/>
        <a:lstStyle/>
        <a:p>
          <a:endParaRPr lang="en-US"/>
        </a:p>
      </dgm:t>
    </dgm:pt>
    <dgm:pt modelId="{BBC60E1D-F74E-47B7-9A90-A8B1BBE2CC18}" type="sibTrans" cxnId="{1EF5633A-68D3-4FCE-BCEB-FC296C353882}">
      <dgm:prSet/>
      <dgm:spPr/>
      <dgm:t>
        <a:bodyPr/>
        <a:lstStyle/>
        <a:p>
          <a:endParaRPr lang="en-US"/>
        </a:p>
      </dgm:t>
    </dgm:pt>
    <dgm:pt modelId="{B7BCCB02-CB5F-4A43-B813-3E55D27A28AA}">
      <dgm:prSet custT="1"/>
      <dgm:spPr/>
      <dgm:t>
        <a:bodyPr/>
        <a:lstStyle/>
        <a:p>
          <a:pPr>
            <a:lnSpc>
              <a:spcPct val="100000"/>
            </a:lnSpc>
          </a:pPr>
          <a:r>
            <a:rPr lang="en-US" sz="2000" dirty="0"/>
            <a:t>Sales</a:t>
          </a:r>
        </a:p>
      </dgm:t>
    </dgm:pt>
    <dgm:pt modelId="{CE31C9B0-F4C5-4C03-84D0-44C32252B963}" type="parTrans" cxnId="{4DE0BD28-C856-43FD-9DA4-E220F29BCCF2}">
      <dgm:prSet/>
      <dgm:spPr/>
      <dgm:t>
        <a:bodyPr/>
        <a:lstStyle/>
        <a:p>
          <a:endParaRPr lang="en-US"/>
        </a:p>
      </dgm:t>
    </dgm:pt>
    <dgm:pt modelId="{BD3658EA-A700-4E66-B0D8-2090796C5422}" type="sibTrans" cxnId="{4DE0BD28-C856-43FD-9DA4-E220F29BCCF2}">
      <dgm:prSet/>
      <dgm:spPr/>
      <dgm:t>
        <a:bodyPr/>
        <a:lstStyle/>
        <a:p>
          <a:endParaRPr lang="en-US"/>
        </a:p>
      </dgm:t>
    </dgm:pt>
    <dgm:pt modelId="{98009D66-CCCC-440C-9C75-F0A6AFE95029}">
      <dgm:prSet custT="1"/>
      <dgm:spPr/>
      <dgm:t>
        <a:bodyPr/>
        <a:lstStyle/>
        <a:p>
          <a:pPr>
            <a:lnSpc>
              <a:spcPct val="100000"/>
            </a:lnSpc>
          </a:pPr>
          <a:r>
            <a:rPr lang="en-US" sz="2000"/>
            <a:t>Resource investments</a:t>
          </a:r>
        </a:p>
      </dgm:t>
    </dgm:pt>
    <dgm:pt modelId="{0DF5EF1D-A08E-4429-9032-FB2388D38EB7}" type="parTrans" cxnId="{38427D71-3FDE-47A7-A23C-45C1ABFD818E}">
      <dgm:prSet/>
      <dgm:spPr/>
      <dgm:t>
        <a:bodyPr/>
        <a:lstStyle/>
        <a:p>
          <a:endParaRPr lang="en-US"/>
        </a:p>
      </dgm:t>
    </dgm:pt>
    <dgm:pt modelId="{A73CAB68-E6B5-4D75-AF74-1433F6F29A77}" type="sibTrans" cxnId="{38427D71-3FDE-47A7-A23C-45C1ABFD818E}">
      <dgm:prSet/>
      <dgm:spPr/>
      <dgm:t>
        <a:bodyPr/>
        <a:lstStyle/>
        <a:p>
          <a:endParaRPr lang="en-US"/>
        </a:p>
      </dgm:t>
    </dgm:pt>
    <dgm:pt modelId="{78BE2F0E-3374-4E81-87FA-84AA45F83050}">
      <dgm:prSet/>
      <dgm:spPr/>
      <dgm:t>
        <a:bodyPr/>
        <a:lstStyle/>
        <a:p>
          <a:pPr>
            <a:lnSpc>
              <a:spcPct val="100000"/>
            </a:lnSpc>
            <a:defRPr b="1"/>
          </a:pPr>
          <a:r>
            <a:rPr lang="en-US" dirty="0"/>
            <a:t>Faustmann answers: what is the value of this land today given the potential to harvest in X years?</a:t>
          </a:r>
        </a:p>
      </dgm:t>
    </dgm:pt>
    <dgm:pt modelId="{8305E92D-8816-4F7C-A39B-FC9E94C3DA80}" type="parTrans" cxnId="{4327576B-C8DB-466C-AE7E-84EF18A75B90}">
      <dgm:prSet/>
      <dgm:spPr/>
      <dgm:t>
        <a:bodyPr/>
        <a:lstStyle/>
        <a:p>
          <a:endParaRPr lang="en-US"/>
        </a:p>
      </dgm:t>
    </dgm:pt>
    <dgm:pt modelId="{2EA2B397-346C-487D-B429-3874B9C9E8F5}" type="sibTrans" cxnId="{4327576B-C8DB-466C-AE7E-84EF18A75B90}">
      <dgm:prSet/>
      <dgm:spPr/>
      <dgm:t>
        <a:bodyPr/>
        <a:lstStyle/>
        <a:p>
          <a:endParaRPr lang="en-US"/>
        </a:p>
      </dgm:t>
    </dgm:pt>
    <dgm:pt modelId="{A8BC3030-1119-4108-A20D-E99AC5F0C068}">
      <dgm:prSet/>
      <dgm:spPr/>
      <dgm:t>
        <a:bodyPr/>
        <a:lstStyle/>
        <a:p>
          <a:pPr>
            <a:lnSpc>
              <a:spcPct val="100000"/>
            </a:lnSpc>
            <a:defRPr b="1"/>
          </a:pPr>
          <a:r>
            <a:rPr lang="en-US"/>
            <a:t>When considering.. </a:t>
          </a:r>
        </a:p>
      </dgm:t>
    </dgm:pt>
    <dgm:pt modelId="{C5028CE0-BE83-49F1-BC67-A9A1E0DDF663}" type="parTrans" cxnId="{3535AC9E-BF21-4EDE-8252-D06E4E1BF6F0}">
      <dgm:prSet/>
      <dgm:spPr/>
      <dgm:t>
        <a:bodyPr/>
        <a:lstStyle/>
        <a:p>
          <a:endParaRPr lang="en-US"/>
        </a:p>
      </dgm:t>
    </dgm:pt>
    <dgm:pt modelId="{7EFD134A-C077-468B-A7D4-515796D49E0F}" type="sibTrans" cxnId="{3535AC9E-BF21-4EDE-8252-D06E4E1BF6F0}">
      <dgm:prSet/>
      <dgm:spPr/>
      <dgm:t>
        <a:bodyPr/>
        <a:lstStyle/>
        <a:p>
          <a:endParaRPr lang="en-US"/>
        </a:p>
      </dgm:t>
    </dgm:pt>
    <dgm:pt modelId="{A5300371-C1E4-4803-A0F9-E6074C9AC4EF}">
      <dgm:prSet custT="1"/>
      <dgm:spPr/>
      <dgm:t>
        <a:bodyPr/>
        <a:lstStyle/>
        <a:p>
          <a:pPr>
            <a:lnSpc>
              <a:spcPct val="100000"/>
            </a:lnSpc>
          </a:pPr>
          <a:r>
            <a:rPr lang="en-US" sz="2000" dirty="0"/>
            <a:t>Timber prices</a:t>
          </a:r>
        </a:p>
      </dgm:t>
    </dgm:pt>
    <dgm:pt modelId="{8D39D6A7-0BA9-43D9-AEF4-8DBA239C2C19}" type="parTrans" cxnId="{C2F87CEC-D918-4ABC-8DA7-643FAA59B5F9}">
      <dgm:prSet/>
      <dgm:spPr/>
      <dgm:t>
        <a:bodyPr/>
        <a:lstStyle/>
        <a:p>
          <a:endParaRPr lang="en-US"/>
        </a:p>
      </dgm:t>
    </dgm:pt>
    <dgm:pt modelId="{5591A537-1D75-450A-9BE8-E9F7CA59EA6E}" type="sibTrans" cxnId="{C2F87CEC-D918-4ABC-8DA7-643FAA59B5F9}">
      <dgm:prSet/>
      <dgm:spPr/>
      <dgm:t>
        <a:bodyPr/>
        <a:lstStyle/>
        <a:p>
          <a:endParaRPr lang="en-US"/>
        </a:p>
      </dgm:t>
    </dgm:pt>
    <dgm:pt modelId="{A6B3E03C-910D-4437-8899-B66241057F1E}">
      <dgm:prSet custT="1"/>
      <dgm:spPr/>
      <dgm:t>
        <a:bodyPr/>
        <a:lstStyle/>
        <a:p>
          <a:pPr>
            <a:lnSpc>
              <a:spcPct val="100000"/>
            </a:lnSpc>
          </a:pPr>
          <a:r>
            <a:rPr lang="en-US" sz="2000"/>
            <a:t>Growth curves from yield tables</a:t>
          </a:r>
        </a:p>
      </dgm:t>
    </dgm:pt>
    <dgm:pt modelId="{A48A4EA7-2F81-4042-9B01-4EB33388504F}" type="parTrans" cxnId="{A80CC414-E2C5-432B-A6B0-8C9272CA6349}">
      <dgm:prSet/>
      <dgm:spPr/>
      <dgm:t>
        <a:bodyPr/>
        <a:lstStyle/>
        <a:p>
          <a:endParaRPr lang="en-US"/>
        </a:p>
      </dgm:t>
    </dgm:pt>
    <dgm:pt modelId="{A11DC416-9045-422D-B62B-4FB991CE526A}" type="sibTrans" cxnId="{A80CC414-E2C5-432B-A6B0-8C9272CA6349}">
      <dgm:prSet/>
      <dgm:spPr/>
      <dgm:t>
        <a:bodyPr/>
        <a:lstStyle/>
        <a:p>
          <a:endParaRPr lang="en-US"/>
        </a:p>
      </dgm:t>
    </dgm:pt>
    <dgm:pt modelId="{21F40B8D-C14F-4A37-BC35-69962248611F}">
      <dgm:prSet custT="1"/>
      <dgm:spPr/>
      <dgm:t>
        <a:bodyPr/>
        <a:lstStyle/>
        <a:p>
          <a:pPr>
            <a:lnSpc>
              <a:spcPct val="100000"/>
            </a:lnSpc>
          </a:pPr>
          <a:r>
            <a:rPr lang="en-US" sz="2000"/>
            <a:t>Planning/management costs</a:t>
          </a:r>
        </a:p>
      </dgm:t>
    </dgm:pt>
    <dgm:pt modelId="{C1FE2434-DE25-4A38-A2F7-2E8C0FDD4D5B}" type="parTrans" cxnId="{B198163C-7431-440E-BB4D-3635E6C63DF5}">
      <dgm:prSet/>
      <dgm:spPr/>
      <dgm:t>
        <a:bodyPr/>
        <a:lstStyle/>
        <a:p>
          <a:endParaRPr lang="en-US"/>
        </a:p>
      </dgm:t>
    </dgm:pt>
    <dgm:pt modelId="{7177B709-AB1A-427E-9CCA-124E8133D785}" type="sibTrans" cxnId="{B198163C-7431-440E-BB4D-3635E6C63DF5}">
      <dgm:prSet/>
      <dgm:spPr/>
      <dgm:t>
        <a:bodyPr/>
        <a:lstStyle/>
        <a:p>
          <a:endParaRPr lang="en-US"/>
        </a:p>
      </dgm:t>
    </dgm:pt>
    <dgm:pt modelId="{B8554162-26C1-40EB-A88F-1721CD9F878A}">
      <dgm:prSet custT="1"/>
      <dgm:spPr/>
      <dgm:t>
        <a:bodyPr/>
        <a:lstStyle/>
        <a:p>
          <a:pPr>
            <a:lnSpc>
              <a:spcPct val="100000"/>
            </a:lnSpc>
          </a:pPr>
          <a:r>
            <a:rPr lang="en-US" sz="2000" dirty="0"/>
            <a:t>Interest rate (4-6% for public)</a:t>
          </a:r>
        </a:p>
      </dgm:t>
    </dgm:pt>
    <dgm:pt modelId="{A397FC76-1311-4C62-A800-2C9F88757C9D}" type="parTrans" cxnId="{0CFB0070-CAE5-44AF-AD46-10641ECFC318}">
      <dgm:prSet/>
      <dgm:spPr/>
      <dgm:t>
        <a:bodyPr/>
        <a:lstStyle/>
        <a:p>
          <a:endParaRPr lang="en-US"/>
        </a:p>
      </dgm:t>
    </dgm:pt>
    <dgm:pt modelId="{0C1816C4-6CF6-45AE-94A3-75C93C58A32F}" type="sibTrans" cxnId="{0CFB0070-CAE5-44AF-AD46-10641ECFC318}">
      <dgm:prSet/>
      <dgm:spPr/>
      <dgm:t>
        <a:bodyPr/>
        <a:lstStyle/>
        <a:p>
          <a:endParaRPr lang="en-US"/>
        </a:p>
      </dgm:t>
    </dgm:pt>
    <dgm:pt modelId="{E9C70CCF-FA15-412F-B03F-88B3A80761AA}" type="pres">
      <dgm:prSet presAssocID="{D8DE7622-130A-4600-96B0-A4D4F3A9BB42}" presName="root" presStyleCnt="0">
        <dgm:presLayoutVars>
          <dgm:dir/>
          <dgm:resizeHandles val="exact"/>
        </dgm:presLayoutVars>
      </dgm:prSet>
      <dgm:spPr/>
    </dgm:pt>
    <dgm:pt modelId="{A396C4B2-1340-419B-AF5D-6A2607177F8E}" type="pres">
      <dgm:prSet presAssocID="{5C6D4AD7-C95F-4247-85FD-04E27409028B}" presName="compNode" presStyleCnt="0"/>
      <dgm:spPr/>
    </dgm:pt>
    <dgm:pt modelId="{D17930A9-F9E3-4084-A7D5-F7A7791DCDD9}" type="pres">
      <dgm:prSet presAssocID="{5C6D4AD7-C95F-4247-85FD-04E27409028B}"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Suburban scene"/>
        </a:ext>
      </dgm:extLst>
    </dgm:pt>
    <dgm:pt modelId="{24AFFDB9-24CC-475B-B3D4-13C0AD4F3D9F}" type="pres">
      <dgm:prSet presAssocID="{5C6D4AD7-C95F-4247-85FD-04E27409028B}" presName="iconSpace" presStyleCnt="0"/>
      <dgm:spPr/>
    </dgm:pt>
    <dgm:pt modelId="{E5C3E865-4112-4539-8BFD-5EB3702CE8AF}" type="pres">
      <dgm:prSet presAssocID="{5C6D4AD7-C95F-4247-85FD-04E27409028B}" presName="parTx" presStyleLbl="revTx" presStyleIdx="0" presStyleCnt="6">
        <dgm:presLayoutVars>
          <dgm:chMax val="0"/>
          <dgm:chPref val="0"/>
        </dgm:presLayoutVars>
      </dgm:prSet>
      <dgm:spPr/>
    </dgm:pt>
    <dgm:pt modelId="{136B331B-4FA2-4AC1-BA15-0E47B54879D9}" type="pres">
      <dgm:prSet presAssocID="{5C6D4AD7-C95F-4247-85FD-04E27409028B}" presName="txSpace" presStyleCnt="0"/>
      <dgm:spPr/>
    </dgm:pt>
    <dgm:pt modelId="{1AFBB45D-8F1C-4F8D-A97E-7D9F63DB474B}" type="pres">
      <dgm:prSet presAssocID="{5C6D4AD7-C95F-4247-85FD-04E27409028B}" presName="desTx" presStyleLbl="revTx" presStyleIdx="1" presStyleCnt="6">
        <dgm:presLayoutVars/>
      </dgm:prSet>
      <dgm:spPr/>
    </dgm:pt>
    <dgm:pt modelId="{6A44A123-5DD0-4F44-9FF8-19AA88862445}" type="pres">
      <dgm:prSet presAssocID="{6BDA3B9F-7C8E-46A1-B81D-4A19485EE6ED}" presName="sibTrans" presStyleCnt="0"/>
      <dgm:spPr/>
    </dgm:pt>
    <dgm:pt modelId="{1E8A8337-97A9-4266-A9CE-46DA7CB7582B}" type="pres">
      <dgm:prSet presAssocID="{78BE2F0E-3374-4E81-87FA-84AA45F83050}" presName="compNode" presStyleCnt="0"/>
      <dgm:spPr/>
    </dgm:pt>
    <dgm:pt modelId="{0F773589-489F-4993-8281-005E614152CC}" type="pres">
      <dgm:prSet presAssocID="{78BE2F0E-3374-4E81-87FA-84AA45F83050}"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Farm scene"/>
        </a:ext>
      </dgm:extLst>
    </dgm:pt>
    <dgm:pt modelId="{76E942EB-F28D-4A67-8F06-8E92E8BDEEE6}" type="pres">
      <dgm:prSet presAssocID="{78BE2F0E-3374-4E81-87FA-84AA45F83050}" presName="iconSpace" presStyleCnt="0"/>
      <dgm:spPr/>
    </dgm:pt>
    <dgm:pt modelId="{3AFBED39-8510-4E38-962F-0933340055C3}" type="pres">
      <dgm:prSet presAssocID="{78BE2F0E-3374-4E81-87FA-84AA45F83050}" presName="parTx" presStyleLbl="revTx" presStyleIdx="2" presStyleCnt="6">
        <dgm:presLayoutVars>
          <dgm:chMax val="0"/>
          <dgm:chPref val="0"/>
        </dgm:presLayoutVars>
      </dgm:prSet>
      <dgm:spPr/>
    </dgm:pt>
    <dgm:pt modelId="{07568D76-ED26-496C-9EBF-3E4100B62658}" type="pres">
      <dgm:prSet presAssocID="{78BE2F0E-3374-4E81-87FA-84AA45F83050}" presName="txSpace" presStyleCnt="0"/>
      <dgm:spPr/>
    </dgm:pt>
    <dgm:pt modelId="{A1490F5D-26C4-4387-8FF2-6CA608F96143}" type="pres">
      <dgm:prSet presAssocID="{78BE2F0E-3374-4E81-87FA-84AA45F83050}" presName="desTx" presStyleLbl="revTx" presStyleIdx="3" presStyleCnt="6">
        <dgm:presLayoutVars/>
      </dgm:prSet>
      <dgm:spPr/>
    </dgm:pt>
    <dgm:pt modelId="{760E6457-E12E-4851-A1A1-1AFAA8BC0F51}" type="pres">
      <dgm:prSet presAssocID="{2EA2B397-346C-487D-B429-3874B9C9E8F5}" presName="sibTrans" presStyleCnt="0"/>
      <dgm:spPr/>
    </dgm:pt>
    <dgm:pt modelId="{FABC9453-B258-4362-8B3A-DB8E48CCDB70}" type="pres">
      <dgm:prSet presAssocID="{A8BC3030-1119-4108-A20D-E99AC5F0C068}" presName="compNode" presStyleCnt="0"/>
      <dgm:spPr/>
    </dgm:pt>
    <dgm:pt modelId="{5E1E9EFB-A628-48C0-B9AB-5D8DCCCCEFE4}" type="pres">
      <dgm:prSet presAssocID="{A8BC3030-1119-4108-A20D-E99AC5F0C068}"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Forest scene"/>
        </a:ext>
      </dgm:extLst>
    </dgm:pt>
    <dgm:pt modelId="{C413493A-D74D-4068-BC8F-78455067E132}" type="pres">
      <dgm:prSet presAssocID="{A8BC3030-1119-4108-A20D-E99AC5F0C068}" presName="iconSpace" presStyleCnt="0"/>
      <dgm:spPr/>
    </dgm:pt>
    <dgm:pt modelId="{ECC593FC-A571-47CB-B82C-FF5934C6F316}" type="pres">
      <dgm:prSet presAssocID="{A8BC3030-1119-4108-A20D-E99AC5F0C068}" presName="parTx" presStyleLbl="revTx" presStyleIdx="4" presStyleCnt="6">
        <dgm:presLayoutVars>
          <dgm:chMax val="0"/>
          <dgm:chPref val="0"/>
        </dgm:presLayoutVars>
      </dgm:prSet>
      <dgm:spPr/>
    </dgm:pt>
    <dgm:pt modelId="{5B0B5A71-2B44-45E6-B115-11E989272D60}" type="pres">
      <dgm:prSet presAssocID="{A8BC3030-1119-4108-A20D-E99AC5F0C068}" presName="txSpace" presStyleCnt="0"/>
      <dgm:spPr/>
    </dgm:pt>
    <dgm:pt modelId="{78807BBC-8381-4EF5-A44F-0B388D4F9B76}" type="pres">
      <dgm:prSet presAssocID="{A8BC3030-1119-4108-A20D-E99AC5F0C068}" presName="desTx" presStyleLbl="revTx" presStyleIdx="5" presStyleCnt="6" custScaleX="161123" custLinFactNeighborX="77" custLinFactNeighborY="26610">
        <dgm:presLayoutVars/>
      </dgm:prSet>
      <dgm:spPr/>
    </dgm:pt>
  </dgm:ptLst>
  <dgm:cxnLst>
    <dgm:cxn modelId="{BA909A0D-85E4-4AEC-A473-BB238482BF08}" type="presOf" srcId="{6FBC42F2-29C7-49A2-9DCC-11451E44EFD5}" destId="{1AFBB45D-8F1C-4F8D-A97E-7D9F63DB474B}" srcOrd="0" destOrd="0" presId="urn:microsoft.com/office/officeart/2018/5/layout/CenteredIconLabelDescriptionList"/>
    <dgm:cxn modelId="{F3B82E0F-C3E7-4F65-9245-A739DFC67193}" type="presOf" srcId="{A8BC3030-1119-4108-A20D-E99AC5F0C068}" destId="{ECC593FC-A571-47CB-B82C-FF5934C6F316}" srcOrd="0" destOrd="0" presId="urn:microsoft.com/office/officeart/2018/5/layout/CenteredIconLabelDescriptionList"/>
    <dgm:cxn modelId="{A80CC414-E2C5-432B-A6B0-8C9272CA6349}" srcId="{A8BC3030-1119-4108-A20D-E99AC5F0C068}" destId="{A6B3E03C-910D-4437-8899-B66241057F1E}" srcOrd="1" destOrd="0" parTransId="{A48A4EA7-2F81-4042-9B01-4EB33388504F}" sibTransId="{A11DC416-9045-422D-B62B-4FB991CE526A}"/>
    <dgm:cxn modelId="{4DE0BD28-C856-43FD-9DA4-E220F29BCCF2}" srcId="{5C6D4AD7-C95F-4247-85FD-04E27409028B}" destId="{B7BCCB02-CB5F-4A43-B813-3E55D27A28AA}" srcOrd="1" destOrd="0" parTransId="{CE31C9B0-F4C5-4C03-84D0-44C32252B963}" sibTransId="{BD3658EA-A700-4E66-B0D8-2090796C5422}"/>
    <dgm:cxn modelId="{14568E2B-B9BA-468E-AC20-9641F77BBB72}" type="presOf" srcId="{78BE2F0E-3374-4E81-87FA-84AA45F83050}" destId="{3AFBED39-8510-4E38-962F-0933340055C3}" srcOrd="0" destOrd="0" presId="urn:microsoft.com/office/officeart/2018/5/layout/CenteredIconLabelDescriptionList"/>
    <dgm:cxn modelId="{1EF5633A-68D3-4FCE-BCEB-FC296C353882}" srcId="{5C6D4AD7-C95F-4247-85FD-04E27409028B}" destId="{6FBC42F2-29C7-49A2-9DCC-11451E44EFD5}" srcOrd="0" destOrd="0" parTransId="{0041F5C3-7068-4E57-AE95-1F70BFE96933}" sibTransId="{BBC60E1D-F74E-47B7-9A90-A8B1BBE2CC18}"/>
    <dgm:cxn modelId="{B198163C-7431-440E-BB4D-3635E6C63DF5}" srcId="{A8BC3030-1119-4108-A20D-E99AC5F0C068}" destId="{21F40B8D-C14F-4A37-BC35-69962248611F}" srcOrd="2" destOrd="0" parTransId="{C1FE2434-DE25-4A38-A2F7-2E8C0FDD4D5B}" sibTransId="{7177B709-AB1A-427E-9CCA-124E8133D785}"/>
    <dgm:cxn modelId="{F5C6CB49-487F-4C0B-9A52-FBC089D3208B}" type="presOf" srcId="{A5300371-C1E4-4803-A0F9-E6074C9AC4EF}" destId="{78807BBC-8381-4EF5-A44F-0B388D4F9B76}" srcOrd="0" destOrd="0" presId="urn:microsoft.com/office/officeart/2018/5/layout/CenteredIconLabelDescriptionList"/>
    <dgm:cxn modelId="{6FDE764E-97F0-4D0A-9F9A-911E694F6528}" srcId="{D8DE7622-130A-4600-96B0-A4D4F3A9BB42}" destId="{5C6D4AD7-C95F-4247-85FD-04E27409028B}" srcOrd="0" destOrd="0" parTransId="{9DCB351B-AD15-4102-B732-3756F0AA7418}" sibTransId="{6BDA3B9F-7C8E-46A1-B81D-4A19485EE6ED}"/>
    <dgm:cxn modelId="{4327576B-C8DB-466C-AE7E-84EF18A75B90}" srcId="{D8DE7622-130A-4600-96B0-A4D4F3A9BB42}" destId="{78BE2F0E-3374-4E81-87FA-84AA45F83050}" srcOrd="1" destOrd="0" parTransId="{8305E92D-8816-4F7C-A39B-FC9E94C3DA80}" sibTransId="{2EA2B397-346C-487D-B429-3874B9C9E8F5}"/>
    <dgm:cxn modelId="{0CFB0070-CAE5-44AF-AD46-10641ECFC318}" srcId="{A8BC3030-1119-4108-A20D-E99AC5F0C068}" destId="{B8554162-26C1-40EB-A88F-1721CD9F878A}" srcOrd="3" destOrd="0" parTransId="{A397FC76-1311-4C62-A800-2C9F88757C9D}" sibTransId="{0C1816C4-6CF6-45AE-94A3-75C93C58A32F}"/>
    <dgm:cxn modelId="{38427D71-3FDE-47A7-A23C-45C1ABFD818E}" srcId="{5C6D4AD7-C95F-4247-85FD-04E27409028B}" destId="{98009D66-CCCC-440C-9C75-F0A6AFE95029}" srcOrd="2" destOrd="0" parTransId="{0DF5EF1D-A08E-4429-9032-FB2388D38EB7}" sibTransId="{A73CAB68-E6B5-4D75-AF74-1433F6F29A77}"/>
    <dgm:cxn modelId="{681BD880-59C7-4FAD-9C5D-0D7D8585A208}" type="presOf" srcId="{A6B3E03C-910D-4437-8899-B66241057F1E}" destId="{78807BBC-8381-4EF5-A44F-0B388D4F9B76}" srcOrd="0" destOrd="1" presId="urn:microsoft.com/office/officeart/2018/5/layout/CenteredIconLabelDescriptionList"/>
    <dgm:cxn modelId="{4BA38D81-6A47-45A1-A11C-2E99CA86DADE}" type="presOf" srcId="{21F40B8D-C14F-4A37-BC35-69962248611F}" destId="{78807BBC-8381-4EF5-A44F-0B388D4F9B76}" srcOrd="0" destOrd="2" presId="urn:microsoft.com/office/officeart/2018/5/layout/CenteredIconLabelDescriptionList"/>
    <dgm:cxn modelId="{98DEA18D-2806-48CE-BB24-6D13038B2991}" type="presOf" srcId="{B7BCCB02-CB5F-4A43-B813-3E55D27A28AA}" destId="{1AFBB45D-8F1C-4F8D-A97E-7D9F63DB474B}" srcOrd="0" destOrd="1" presId="urn:microsoft.com/office/officeart/2018/5/layout/CenteredIconLabelDescriptionList"/>
    <dgm:cxn modelId="{5B5A9892-0C8A-438E-A12C-3310FBE330AF}" type="presOf" srcId="{B8554162-26C1-40EB-A88F-1721CD9F878A}" destId="{78807BBC-8381-4EF5-A44F-0B388D4F9B76}" srcOrd="0" destOrd="3" presId="urn:microsoft.com/office/officeart/2018/5/layout/CenteredIconLabelDescriptionList"/>
    <dgm:cxn modelId="{3535AC9E-BF21-4EDE-8252-D06E4E1BF6F0}" srcId="{D8DE7622-130A-4600-96B0-A4D4F3A9BB42}" destId="{A8BC3030-1119-4108-A20D-E99AC5F0C068}" srcOrd="2" destOrd="0" parTransId="{C5028CE0-BE83-49F1-BC67-A9A1E0DDF663}" sibTransId="{7EFD134A-C077-468B-A7D4-515796D49E0F}"/>
    <dgm:cxn modelId="{08446AD3-F8B0-4882-AA79-8150D00C34FD}" type="presOf" srcId="{D8DE7622-130A-4600-96B0-A4D4F3A9BB42}" destId="{E9C70CCF-FA15-412F-B03F-88B3A80761AA}" srcOrd="0" destOrd="0" presId="urn:microsoft.com/office/officeart/2018/5/layout/CenteredIconLabelDescriptionList"/>
    <dgm:cxn modelId="{5CB34ADA-C8DF-4FAF-BE6E-8DC5C841ACCA}" type="presOf" srcId="{98009D66-CCCC-440C-9C75-F0A6AFE95029}" destId="{1AFBB45D-8F1C-4F8D-A97E-7D9F63DB474B}" srcOrd="0" destOrd="2" presId="urn:microsoft.com/office/officeart/2018/5/layout/CenteredIconLabelDescriptionList"/>
    <dgm:cxn modelId="{C2F87CEC-D918-4ABC-8DA7-643FAA59B5F9}" srcId="{A8BC3030-1119-4108-A20D-E99AC5F0C068}" destId="{A5300371-C1E4-4803-A0F9-E6074C9AC4EF}" srcOrd="0" destOrd="0" parTransId="{8D39D6A7-0BA9-43D9-AEF4-8DBA239C2C19}" sibTransId="{5591A537-1D75-450A-9BE8-E9F7CA59EA6E}"/>
    <dgm:cxn modelId="{46ACD3F0-7267-4062-AAF6-B6CA56E98FA9}" type="presOf" srcId="{5C6D4AD7-C95F-4247-85FD-04E27409028B}" destId="{E5C3E865-4112-4539-8BFD-5EB3702CE8AF}" srcOrd="0" destOrd="0" presId="urn:microsoft.com/office/officeart/2018/5/layout/CenteredIconLabelDescriptionList"/>
    <dgm:cxn modelId="{B20A9443-0024-4C11-A24D-AD0C2B01CE0D}" type="presParOf" srcId="{E9C70CCF-FA15-412F-B03F-88B3A80761AA}" destId="{A396C4B2-1340-419B-AF5D-6A2607177F8E}" srcOrd="0" destOrd="0" presId="urn:microsoft.com/office/officeart/2018/5/layout/CenteredIconLabelDescriptionList"/>
    <dgm:cxn modelId="{4EE832BD-91C2-4B1A-8CBD-C42587EB2D12}" type="presParOf" srcId="{A396C4B2-1340-419B-AF5D-6A2607177F8E}" destId="{D17930A9-F9E3-4084-A7D5-F7A7791DCDD9}" srcOrd="0" destOrd="0" presId="urn:microsoft.com/office/officeart/2018/5/layout/CenteredIconLabelDescriptionList"/>
    <dgm:cxn modelId="{98976E6E-4E82-49E0-A3EE-A8FABFE39520}" type="presParOf" srcId="{A396C4B2-1340-419B-AF5D-6A2607177F8E}" destId="{24AFFDB9-24CC-475B-B3D4-13C0AD4F3D9F}" srcOrd="1" destOrd="0" presId="urn:microsoft.com/office/officeart/2018/5/layout/CenteredIconLabelDescriptionList"/>
    <dgm:cxn modelId="{5A71FF1A-8459-40A2-A82F-5940B6990073}" type="presParOf" srcId="{A396C4B2-1340-419B-AF5D-6A2607177F8E}" destId="{E5C3E865-4112-4539-8BFD-5EB3702CE8AF}" srcOrd="2" destOrd="0" presId="urn:microsoft.com/office/officeart/2018/5/layout/CenteredIconLabelDescriptionList"/>
    <dgm:cxn modelId="{BCDC85D1-6E71-4580-B1BC-7869AF96DB46}" type="presParOf" srcId="{A396C4B2-1340-419B-AF5D-6A2607177F8E}" destId="{136B331B-4FA2-4AC1-BA15-0E47B54879D9}" srcOrd="3" destOrd="0" presId="urn:microsoft.com/office/officeart/2018/5/layout/CenteredIconLabelDescriptionList"/>
    <dgm:cxn modelId="{248C518D-4BD2-48A9-8684-A5BD179F3B2F}" type="presParOf" srcId="{A396C4B2-1340-419B-AF5D-6A2607177F8E}" destId="{1AFBB45D-8F1C-4F8D-A97E-7D9F63DB474B}" srcOrd="4" destOrd="0" presId="urn:microsoft.com/office/officeart/2018/5/layout/CenteredIconLabelDescriptionList"/>
    <dgm:cxn modelId="{C078C9A3-4CC9-4E44-9AA2-0948E5C9E83D}" type="presParOf" srcId="{E9C70CCF-FA15-412F-B03F-88B3A80761AA}" destId="{6A44A123-5DD0-4F44-9FF8-19AA88862445}" srcOrd="1" destOrd="0" presId="urn:microsoft.com/office/officeart/2018/5/layout/CenteredIconLabelDescriptionList"/>
    <dgm:cxn modelId="{89CBB470-317E-43AD-9E56-97E02DBF9FC4}" type="presParOf" srcId="{E9C70CCF-FA15-412F-B03F-88B3A80761AA}" destId="{1E8A8337-97A9-4266-A9CE-46DA7CB7582B}" srcOrd="2" destOrd="0" presId="urn:microsoft.com/office/officeart/2018/5/layout/CenteredIconLabelDescriptionList"/>
    <dgm:cxn modelId="{94D75AB4-FE92-4FA8-8F8B-844690968F9F}" type="presParOf" srcId="{1E8A8337-97A9-4266-A9CE-46DA7CB7582B}" destId="{0F773589-489F-4993-8281-005E614152CC}" srcOrd="0" destOrd="0" presId="urn:microsoft.com/office/officeart/2018/5/layout/CenteredIconLabelDescriptionList"/>
    <dgm:cxn modelId="{D8698C29-37CE-45CB-842D-0DC39F760E52}" type="presParOf" srcId="{1E8A8337-97A9-4266-A9CE-46DA7CB7582B}" destId="{76E942EB-F28D-4A67-8F06-8E92E8BDEEE6}" srcOrd="1" destOrd="0" presId="urn:microsoft.com/office/officeart/2018/5/layout/CenteredIconLabelDescriptionList"/>
    <dgm:cxn modelId="{895CE658-BFB6-403E-B10A-FAC5BF4C304F}" type="presParOf" srcId="{1E8A8337-97A9-4266-A9CE-46DA7CB7582B}" destId="{3AFBED39-8510-4E38-962F-0933340055C3}" srcOrd="2" destOrd="0" presId="urn:microsoft.com/office/officeart/2018/5/layout/CenteredIconLabelDescriptionList"/>
    <dgm:cxn modelId="{5B884BD7-CCD7-4F49-9171-B97F37F42674}" type="presParOf" srcId="{1E8A8337-97A9-4266-A9CE-46DA7CB7582B}" destId="{07568D76-ED26-496C-9EBF-3E4100B62658}" srcOrd="3" destOrd="0" presId="urn:microsoft.com/office/officeart/2018/5/layout/CenteredIconLabelDescriptionList"/>
    <dgm:cxn modelId="{D0007C37-E31F-4EBE-89E2-FD3B4EACE6D9}" type="presParOf" srcId="{1E8A8337-97A9-4266-A9CE-46DA7CB7582B}" destId="{A1490F5D-26C4-4387-8FF2-6CA608F96143}" srcOrd="4" destOrd="0" presId="urn:microsoft.com/office/officeart/2018/5/layout/CenteredIconLabelDescriptionList"/>
    <dgm:cxn modelId="{7D2A47C6-0CE7-434D-B3C9-73FE052BE12E}" type="presParOf" srcId="{E9C70CCF-FA15-412F-B03F-88B3A80761AA}" destId="{760E6457-E12E-4851-A1A1-1AFAA8BC0F51}" srcOrd="3" destOrd="0" presId="urn:microsoft.com/office/officeart/2018/5/layout/CenteredIconLabelDescriptionList"/>
    <dgm:cxn modelId="{4736454C-8F4C-47E8-9A26-524B2A1F12DD}" type="presParOf" srcId="{E9C70CCF-FA15-412F-B03F-88B3A80761AA}" destId="{FABC9453-B258-4362-8B3A-DB8E48CCDB70}" srcOrd="4" destOrd="0" presId="urn:microsoft.com/office/officeart/2018/5/layout/CenteredIconLabelDescriptionList"/>
    <dgm:cxn modelId="{5AF8A57D-D484-44C7-BA22-C3D410EC1FE7}" type="presParOf" srcId="{FABC9453-B258-4362-8B3A-DB8E48CCDB70}" destId="{5E1E9EFB-A628-48C0-B9AB-5D8DCCCCEFE4}" srcOrd="0" destOrd="0" presId="urn:microsoft.com/office/officeart/2018/5/layout/CenteredIconLabelDescriptionList"/>
    <dgm:cxn modelId="{5ECBEA75-9687-42FB-B01D-849B594B2A38}" type="presParOf" srcId="{FABC9453-B258-4362-8B3A-DB8E48CCDB70}" destId="{C413493A-D74D-4068-BC8F-78455067E132}" srcOrd="1" destOrd="0" presId="urn:microsoft.com/office/officeart/2018/5/layout/CenteredIconLabelDescriptionList"/>
    <dgm:cxn modelId="{5307DE9F-1BD9-45B2-8005-96B8AB352CB9}" type="presParOf" srcId="{FABC9453-B258-4362-8B3A-DB8E48CCDB70}" destId="{ECC593FC-A571-47CB-B82C-FF5934C6F316}" srcOrd="2" destOrd="0" presId="urn:microsoft.com/office/officeart/2018/5/layout/CenteredIconLabelDescriptionList"/>
    <dgm:cxn modelId="{35C09F11-AF83-43F8-A90E-FBB5B3B0ACC0}" type="presParOf" srcId="{FABC9453-B258-4362-8B3A-DB8E48CCDB70}" destId="{5B0B5A71-2B44-45E6-B115-11E989272D60}" srcOrd="3" destOrd="0" presId="urn:microsoft.com/office/officeart/2018/5/layout/CenteredIconLabelDescriptionList"/>
    <dgm:cxn modelId="{1AB90625-4B85-4419-8DAA-A078CEB6EC53}" type="presParOf" srcId="{FABC9453-B258-4362-8B3A-DB8E48CCDB70}" destId="{78807BBC-8381-4EF5-A44F-0B388D4F9B76}" srcOrd="4" destOrd="0" presId="urn:microsoft.com/office/officeart/2018/5/layout/CenteredIconLabelDescription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F49EA8E-14B2-3244-AD10-2D4DC80C5BFA}">
      <dsp:nvSpPr>
        <dsp:cNvPr id="0" name=""/>
        <dsp:cNvSpPr/>
      </dsp:nvSpPr>
      <dsp:spPr>
        <a:xfrm>
          <a:off x="0" y="1783080"/>
          <a:ext cx="10119359" cy="0"/>
        </a:xfrm>
        <a:prstGeom prst="line">
          <a:avLst/>
        </a:prstGeom>
        <a:solidFill>
          <a:schemeClr val="lt1">
            <a:alpha val="90000"/>
            <a:hueOff val="0"/>
            <a:satOff val="0"/>
            <a:lumOff val="0"/>
            <a:alphaOff val="0"/>
          </a:schemeClr>
        </a:solidFill>
        <a:ln w="19050" cap="flat" cmpd="sng" algn="ctr">
          <a:solidFill>
            <a:schemeClr val="accent2">
              <a:hueOff val="0"/>
              <a:satOff val="0"/>
              <a:lumOff val="0"/>
              <a:alphaOff val="0"/>
            </a:schemeClr>
          </a:solidFill>
          <a:prstDash val="solid"/>
          <a:miter lim="800000"/>
          <a:tailEnd type="triangle" w="lg" len="lg"/>
        </a:ln>
        <a:effectLst/>
      </dsp:spPr>
      <dsp:style>
        <a:lnRef idx="2">
          <a:scrgbClr r="0" g="0" b="0"/>
        </a:lnRef>
        <a:fillRef idx="1">
          <a:scrgbClr r="0" g="0" b="0"/>
        </a:fillRef>
        <a:effectRef idx="0">
          <a:scrgbClr r="0" g="0" b="0"/>
        </a:effectRef>
        <a:fontRef idx="minor"/>
      </dsp:style>
    </dsp:sp>
    <dsp:sp modelId="{5A5D04E9-ECC5-5D4F-844C-D2C7B0346B1F}">
      <dsp:nvSpPr>
        <dsp:cNvPr id="0" name=""/>
        <dsp:cNvSpPr/>
      </dsp:nvSpPr>
      <dsp:spPr>
        <a:xfrm rot="8100000">
          <a:off x="59599" y="410930"/>
          <a:ext cx="262252" cy="262252"/>
        </a:xfrm>
        <a:prstGeom prst="teardrop">
          <a:avLst>
            <a:gd name="adj" fmla="val 115000"/>
          </a:avLst>
        </a:prstGeom>
        <a:solidFill>
          <a:schemeClr val="accent2">
            <a:hueOff val="0"/>
            <a:satOff val="0"/>
            <a:lumOff val="0"/>
            <a:alphaOff val="0"/>
          </a:schemeClr>
        </a:solidFill>
        <a:ln w="1905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4713054-C65B-6E41-8C6D-526658058D7B}">
      <dsp:nvSpPr>
        <dsp:cNvPr id="0" name=""/>
        <dsp:cNvSpPr/>
      </dsp:nvSpPr>
      <dsp:spPr>
        <a:xfrm>
          <a:off x="88733" y="440064"/>
          <a:ext cx="203984" cy="203984"/>
        </a:xfrm>
        <a:prstGeom prst="ellipse">
          <a:avLst/>
        </a:prstGeom>
        <a:solidFill>
          <a:schemeClr val="lt1">
            <a:alpha val="90000"/>
            <a:hueOff val="0"/>
            <a:satOff val="0"/>
            <a:lumOff val="0"/>
            <a:alphaOff val="0"/>
          </a:schemeClr>
        </a:solidFill>
        <a:ln w="19050" cap="flat" cmpd="sng" algn="ctr">
          <a:noFill/>
          <a:prstDash val="solid"/>
          <a:miter lim="800000"/>
        </a:ln>
        <a:effectLst/>
      </dsp:spPr>
      <dsp:style>
        <a:lnRef idx="2">
          <a:scrgbClr r="0" g="0" b="0"/>
        </a:lnRef>
        <a:fillRef idx="1">
          <a:scrgbClr r="0" g="0" b="0"/>
        </a:fillRef>
        <a:effectRef idx="0">
          <a:scrgbClr r="0" g="0" b="0"/>
        </a:effectRef>
        <a:fontRef idx="minor"/>
      </dsp:style>
    </dsp:sp>
    <dsp:sp modelId="{AC4DBCA8-04BC-3545-88F9-2237B2B063D4}">
      <dsp:nvSpPr>
        <dsp:cNvPr id="0" name=""/>
        <dsp:cNvSpPr/>
      </dsp:nvSpPr>
      <dsp:spPr>
        <a:xfrm>
          <a:off x="376165" y="727496"/>
          <a:ext cx="4202078" cy="105558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152400" rIns="152400" bIns="228600" numCol="1" spcCol="1270" anchor="t" anchorCtr="0">
          <a:noAutofit/>
        </a:bodyPr>
        <a:lstStyle/>
        <a:p>
          <a:pPr marL="0" lvl="0" indent="0" algn="l" defTabSz="1066800">
            <a:lnSpc>
              <a:spcPct val="90000"/>
            </a:lnSpc>
            <a:spcBef>
              <a:spcPct val="0"/>
            </a:spcBef>
            <a:spcAft>
              <a:spcPct val="35000"/>
            </a:spcAft>
            <a:buNone/>
          </a:pPr>
          <a:r>
            <a:rPr lang="en-US" sz="2400" kern="1200" dirty="0"/>
            <a:t>Presentation from </a:t>
          </a:r>
        </a:p>
        <a:p>
          <a:pPr marL="0" lvl="0" indent="0" algn="l" defTabSz="1066800">
            <a:lnSpc>
              <a:spcPct val="90000"/>
            </a:lnSpc>
            <a:spcBef>
              <a:spcPct val="0"/>
            </a:spcBef>
            <a:spcAft>
              <a:spcPct val="35000"/>
            </a:spcAft>
            <a:buNone/>
          </a:pPr>
          <a:r>
            <a:rPr lang="en-US" sz="2400" kern="1200" dirty="0"/>
            <a:t>Jared Woollacott</a:t>
          </a:r>
        </a:p>
      </dsp:txBody>
      <dsp:txXfrm>
        <a:off x="376165" y="727496"/>
        <a:ext cx="4202078" cy="1055583"/>
      </dsp:txXfrm>
    </dsp:sp>
    <dsp:sp modelId="{5B4B9DCF-674A-3E4E-9D8A-B3761C8A1255}">
      <dsp:nvSpPr>
        <dsp:cNvPr id="0" name=""/>
        <dsp:cNvSpPr/>
      </dsp:nvSpPr>
      <dsp:spPr>
        <a:xfrm>
          <a:off x="376165" y="356615"/>
          <a:ext cx="4202078" cy="37088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114300" bIns="0" numCol="1" spcCol="1270" anchor="ctr" anchorCtr="0">
          <a:noAutofit/>
        </a:bodyPr>
        <a:lstStyle/>
        <a:p>
          <a:pPr marL="0" lvl="0" indent="0" algn="l" defTabSz="800100">
            <a:lnSpc>
              <a:spcPct val="90000"/>
            </a:lnSpc>
            <a:spcBef>
              <a:spcPct val="0"/>
            </a:spcBef>
            <a:spcAft>
              <a:spcPct val="35000"/>
            </a:spcAft>
            <a:buNone/>
            <a:defRPr b="1"/>
          </a:pPr>
          <a:r>
            <a:rPr lang="en-US" sz="1800" kern="1200"/>
            <a:t>Wednesday</a:t>
          </a:r>
        </a:p>
      </dsp:txBody>
      <dsp:txXfrm>
        <a:off x="376165" y="356615"/>
        <a:ext cx="4202078" cy="370880"/>
      </dsp:txXfrm>
    </dsp:sp>
    <dsp:sp modelId="{596D1687-2E84-3A42-A7B7-739D03BB5D95}">
      <dsp:nvSpPr>
        <dsp:cNvPr id="0" name=""/>
        <dsp:cNvSpPr/>
      </dsp:nvSpPr>
      <dsp:spPr>
        <a:xfrm>
          <a:off x="190725" y="727496"/>
          <a:ext cx="0" cy="1055583"/>
        </a:xfrm>
        <a:prstGeom prst="line">
          <a:avLst/>
        </a:prstGeom>
        <a:noFill/>
        <a:ln w="12700" cap="flat" cmpd="sng" algn="ctr">
          <a:solidFill>
            <a:schemeClr val="accent2">
              <a:hueOff val="0"/>
              <a:satOff val="0"/>
              <a:lumOff val="0"/>
              <a:alphaOff val="0"/>
            </a:schemeClr>
          </a:solidFill>
          <a:prstDash val="dash"/>
          <a:miter lim="800000"/>
        </a:ln>
        <a:effectLst/>
      </dsp:spPr>
      <dsp:style>
        <a:lnRef idx="1">
          <a:scrgbClr r="0" g="0" b="0"/>
        </a:lnRef>
        <a:fillRef idx="0">
          <a:scrgbClr r="0" g="0" b="0"/>
        </a:fillRef>
        <a:effectRef idx="0">
          <a:scrgbClr r="0" g="0" b="0"/>
        </a:effectRef>
        <a:fontRef idx="minor"/>
      </dsp:style>
    </dsp:sp>
    <dsp:sp modelId="{61EE7A89-D4BF-3D41-8D1A-68A7E9B5F984}">
      <dsp:nvSpPr>
        <dsp:cNvPr id="0" name=""/>
        <dsp:cNvSpPr/>
      </dsp:nvSpPr>
      <dsp:spPr>
        <a:xfrm>
          <a:off x="157346" y="1749700"/>
          <a:ext cx="66758" cy="66758"/>
        </a:xfrm>
        <a:prstGeom prst="ellipse">
          <a:avLst/>
        </a:prstGeom>
        <a:solidFill>
          <a:schemeClr val="accent2">
            <a:hueOff val="0"/>
            <a:satOff val="0"/>
            <a:lumOff val="0"/>
            <a:alphaOff val="0"/>
          </a:schemeClr>
        </a:solidFill>
        <a:ln w="63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3C6DA1E-732D-4440-8780-3F3FB1A41A0B}">
      <dsp:nvSpPr>
        <dsp:cNvPr id="0" name=""/>
        <dsp:cNvSpPr/>
      </dsp:nvSpPr>
      <dsp:spPr>
        <a:xfrm rot="18900000">
          <a:off x="2582621" y="2892977"/>
          <a:ext cx="262252" cy="262252"/>
        </a:xfrm>
        <a:prstGeom prst="teardrop">
          <a:avLst>
            <a:gd name="adj" fmla="val 115000"/>
          </a:avLst>
        </a:prstGeom>
        <a:solidFill>
          <a:schemeClr val="accent3">
            <a:hueOff val="0"/>
            <a:satOff val="0"/>
            <a:lumOff val="0"/>
            <a:alphaOff val="0"/>
          </a:schemeClr>
        </a:solidFill>
        <a:ln w="1905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4D3F928-4171-F749-8B4E-5B7F6A900CF6}">
      <dsp:nvSpPr>
        <dsp:cNvPr id="0" name=""/>
        <dsp:cNvSpPr/>
      </dsp:nvSpPr>
      <dsp:spPr>
        <a:xfrm>
          <a:off x="2611755" y="2922111"/>
          <a:ext cx="203984" cy="203984"/>
        </a:xfrm>
        <a:prstGeom prst="ellipse">
          <a:avLst/>
        </a:prstGeom>
        <a:solidFill>
          <a:schemeClr val="lt1">
            <a:alpha val="90000"/>
            <a:hueOff val="0"/>
            <a:satOff val="0"/>
            <a:lumOff val="0"/>
            <a:alphaOff val="0"/>
          </a:schemeClr>
        </a:solidFill>
        <a:ln w="19050" cap="flat" cmpd="sng" algn="ctr">
          <a:noFill/>
          <a:prstDash val="solid"/>
          <a:miter lim="800000"/>
        </a:ln>
        <a:effectLst/>
      </dsp:spPr>
      <dsp:style>
        <a:lnRef idx="2">
          <a:scrgbClr r="0" g="0" b="0"/>
        </a:lnRef>
        <a:fillRef idx="1">
          <a:scrgbClr r="0" g="0" b="0"/>
        </a:fillRef>
        <a:effectRef idx="0">
          <a:scrgbClr r="0" g="0" b="0"/>
        </a:effectRef>
        <a:fontRef idx="minor"/>
      </dsp:style>
    </dsp:sp>
    <dsp:sp modelId="{28E80D13-D0FD-7D49-BB25-6E0BCD4370B5}">
      <dsp:nvSpPr>
        <dsp:cNvPr id="0" name=""/>
        <dsp:cNvSpPr/>
      </dsp:nvSpPr>
      <dsp:spPr>
        <a:xfrm>
          <a:off x="2899188" y="1783080"/>
          <a:ext cx="4202078" cy="105558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228600" rIns="0" bIns="152400" numCol="1" spcCol="1270" anchor="b" anchorCtr="0">
          <a:noAutofit/>
        </a:bodyPr>
        <a:lstStyle/>
        <a:p>
          <a:pPr marL="0" lvl="0" indent="0" algn="l" defTabSz="1066800">
            <a:lnSpc>
              <a:spcPct val="90000"/>
            </a:lnSpc>
            <a:spcBef>
              <a:spcPct val="0"/>
            </a:spcBef>
            <a:spcAft>
              <a:spcPct val="35000"/>
            </a:spcAft>
            <a:buNone/>
          </a:pPr>
          <a:r>
            <a:rPr lang="en-US" sz="2400" kern="1200" dirty="0"/>
            <a:t>Extra office hours next week</a:t>
          </a:r>
        </a:p>
      </dsp:txBody>
      <dsp:txXfrm>
        <a:off x="2899188" y="1783080"/>
        <a:ext cx="4202078" cy="1055583"/>
      </dsp:txXfrm>
    </dsp:sp>
    <dsp:sp modelId="{EC339451-0DBB-9744-8457-5648B7F9CC87}">
      <dsp:nvSpPr>
        <dsp:cNvPr id="0" name=""/>
        <dsp:cNvSpPr/>
      </dsp:nvSpPr>
      <dsp:spPr>
        <a:xfrm>
          <a:off x="2899188" y="2838663"/>
          <a:ext cx="4202078" cy="37088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114300" bIns="0" numCol="1" spcCol="1270" anchor="ctr" anchorCtr="0">
          <a:noAutofit/>
        </a:bodyPr>
        <a:lstStyle/>
        <a:p>
          <a:pPr marL="0" lvl="0" indent="0" algn="l" defTabSz="800100">
            <a:lnSpc>
              <a:spcPct val="90000"/>
            </a:lnSpc>
            <a:spcBef>
              <a:spcPct val="0"/>
            </a:spcBef>
            <a:spcAft>
              <a:spcPct val="35000"/>
            </a:spcAft>
            <a:buNone/>
            <a:defRPr b="1"/>
          </a:pPr>
          <a:r>
            <a:rPr lang="en-US" sz="1800" kern="1200" dirty="0"/>
            <a:t>Tuesday 10am-2pm (with lunch break)</a:t>
          </a:r>
        </a:p>
      </dsp:txBody>
      <dsp:txXfrm>
        <a:off x="2899188" y="2838663"/>
        <a:ext cx="4202078" cy="370880"/>
      </dsp:txXfrm>
    </dsp:sp>
    <dsp:sp modelId="{8B18C6CF-0E38-DE40-8F52-4677203EA459}">
      <dsp:nvSpPr>
        <dsp:cNvPr id="0" name=""/>
        <dsp:cNvSpPr/>
      </dsp:nvSpPr>
      <dsp:spPr>
        <a:xfrm>
          <a:off x="2713748" y="1783080"/>
          <a:ext cx="0" cy="1055583"/>
        </a:xfrm>
        <a:prstGeom prst="line">
          <a:avLst/>
        </a:prstGeom>
        <a:noFill/>
        <a:ln w="12700" cap="flat" cmpd="sng" algn="ctr">
          <a:solidFill>
            <a:schemeClr val="accent3">
              <a:hueOff val="0"/>
              <a:satOff val="0"/>
              <a:lumOff val="0"/>
              <a:alphaOff val="0"/>
            </a:schemeClr>
          </a:solidFill>
          <a:prstDash val="dash"/>
          <a:miter lim="800000"/>
        </a:ln>
        <a:effectLst/>
      </dsp:spPr>
      <dsp:style>
        <a:lnRef idx="1">
          <a:scrgbClr r="0" g="0" b="0"/>
        </a:lnRef>
        <a:fillRef idx="0">
          <a:scrgbClr r="0" g="0" b="0"/>
        </a:fillRef>
        <a:effectRef idx="0">
          <a:scrgbClr r="0" g="0" b="0"/>
        </a:effectRef>
        <a:fontRef idx="minor"/>
      </dsp:style>
    </dsp:sp>
    <dsp:sp modelId="{EE16CA80-7EFE-AF41-B67F-1DF3B9286EA7}">
      <dsp:nvSpPr>
        <dsp:cNvPr id="0" name=""/>
        <dsp:cNvSpPr/>
      </dsp:nvSpPr>
      <dsp:spPr>
        <a:xfrm>
          <a:off x="2680368" y="1749700"/>
          <a:ext cx="66758" cy="66758"/>
        </a:xfrm>
        <a:prstGeom prst="ellipse">
          <a:avLst/>
        </a:prstGeom>
        <a:solidFill>
          <a:schemeClr val="accent3">
            <a:hueOff val="0"/>
            <a:satOff val="0"/>
            <a:lumOff val="0"/>
            <a:alphaOff val="0"/>
          </a:schemeClr>
        </a:solidFill>
        <a:ln w="63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C3FB413-6033-B749-81EC-5AF5C0E16031}">
      <dsp:nvSpPr>
        <dsp:cNvPr id="0" name=""/>
        <dsp:cNvSpPr/>
      </dsp:nvSpPr>
      <dsp:spPr>
        <a:xfrm rot="8100000">
          <a:off x="5105644" y="410930"/>
          <a:ext cx="262252" cy="262252"/>
        </a:xfrm>
        <a:prstGeom prst="teardrop">
          <a:avLst>
            <a:gd name="adj" fmla="val 115000"/>
          </a:avLst>
        </a:prstGeom>
        <a:solidFill>
          <a:schemeClr val="accent4">
            <a:hueOff val="0"/>
            <a:satOff val="0"/>
            <a:lumOff val="0"/>
            <a:alphaOff val="0"/>
          </a:schemeClr>
        </a:solidFill>
        <a:ln w="1905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F47D4DA-0BC3-EE44-A13C-09D928524D4D}">
      <dsp:nvSpPr>
        <dsp:cNvPr id="0" name=""/>
        <dsp:cNvSpPr/>
      </dsp:nvSpPr>
      <dsp:spPr>
        <a:xfrm>
          <a:off x="5134778" y="440064"/>
          <a:ext cx="203984" cy="203984"/>
        </a:xfrm>
        <a:prstGeom prst="ellipse">
          <a:avLst/>
        </a:prstGeom>
        <a:solidFill>
          <a:schemeClr val="lt1">
            <a:alpha val="90000"/>
            <a:hueOff val="0"/>
            <a:satOff val="0"/>
            <a:lumOff val="0"/>
            <a:alphaOff val="0"/>
          </a:schemeClr>
        </a:solidFill>
        <a:ln w="19050" cap="flat" cmpd="sng" algn="ctr">
          <a:noFill/>
          <a:prstDash val="solid"/>
          <a:miter lim="800000"/>
        </a:ln>
        <a:effectLst/>
      </dsp:spPr>
      <dsp:style>
        <a:lnRef idx="2">
          <a:scrgbClr r="0" g="0" b="0"/>
        </a:lnRef>
        <a:fillRef idx="1">
          <a:scrgbClr r="0" g="0" b="0"/>
        </a:fillRef>
        <a:effectRef idx="0">
          <a:scrgbClr r="0" g="0" b="0"/>
        </a:effectRef>
        <a:fontRef idx="minor"/>
      </dsp:style>
    </dsp:sp>
    <dsp:sp modelId="{FFD64710-8BC3-A344-BF77-8F701DBF038F}">
      <dsp:nvSpPr>
        <dsp:cNvPr id="0" name=""/>
        <dsp:cNvSpPr/>
      </dsp:nvSpPr>
      <dsp:spPr>
        <a:xfrm>
          <a:off x="5422210" y="727496"/>
          <a:ext cx="4202078" cy="105558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152400" rIns="152400" bIns="228600" numCol="1" spcCol="1270" anchor="t" anchorCtr="0">
          <a:noAutofit/>
        </a:bodyPr>
        <a:lstStyle/>
        <a:p>
          <a:pPr marL="0" lvl="0" indent="0" algn="l" defTabSz="1066800">
            <a:lnSpc>
              <a:spcPct val="90000"/>
            </a:lnSpc>
            <a:spcBef>
              <a:spcPct val="0"/>
            </a:spcBef>
            <a:spcAft>
              <a:spcPct val="35000"/>
            </a:spcAft>
            <a:buNone/>
          </a:pPr>
          <a:r>
            <a:rPr lang="en-US" sz="2400" kern="1200" dirty="0"/>
            <a:t>Homework 1b due</a:t>
          </a:r>
        </a:p>
      </dsp:txBody>
      <dsp:txXfrm>
        <a:off x="5422210" y="727496"/>
        <a:ext cx="4202078" cy="1055583"/>
      </dsp:txXfrm>
    </dsp:sp>
    <dsp:sp modelId="{5E71FFEF-3BA8-B041-A040-5777A4E4C33F}">
      <dsp:nvSpPr>
        <dsp:cNvPr id="0" name=""/>
        <dsp:cNvSpPr/>
      </dsp:nvSpPr>
      <dsp:spPr>
        <a:xfrm>
          <a:off x="5422210" y="356615"/>
          <a:ext cx="4202078" cy="37088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114300" bIns="0" numCol="1" spcCol="1270" anchor="ctr" anchorCtr="0">
          <a:noAutofit/>
        </a:bodyPr>
        <a:lstStyle/>
        <a:p>
          <a:pPr marL="0" lvl="0" indent="0" algn="l" defTabSz="800100">
            <a:lnSpc>
              <a:spcPct val="90000"/>
            </a:lnSpc>
            <a:spcBef>
              <a:spcPct val="0"/>
            </a:spcBef>
            <a:spcAft>
              <a:spcPct val="35000"/>
            </a:spcAft>
            <a:buNone/>
            <a:defRPr b="1"/>
          </a:pPr>
          <a:r>
            <a:rPr lang="en-US" sz="1800" kern="1200" dirty="0"/>
            <a:t>Wednesday</a:t>
          </a:r>
        </a:p>
      </dsp:txBody>
      <dsp:txXfrm>
        <a:off x="5422210" y="356615"/>
        <a:ext cx="4202078" cy="370880"/>
      </dsp:txXfrm>
    </dsp:sp>
    <dsp:sp modelId="{2DD9E714-B010-3546-9909-CE608427AC93}">
      <dsp:nvSpPr>
        <dsp:cNvPr id="0" name=""/>
        <dsp:cNvSpPr/>
      </dsp:nvSpPr>
      <dsp:spPr>
        <a:xfrm>
          <a:off x="5236770" y="727496"/>
          <a:ext cx="0" cy="1055583"/>
        </a:xfrm>
        <a:prstGeom prst="line">
          <a:avLst/>
        </a:prstGeom>
        <a:noFill/>
        <a:ln w="12700" cap="flat" cmpd="sng" algn="ctr">
          <a:solidFill>
            <a:schemeClr val="accent4">
              <a:hueOff val="0"/>
              <a:satOff val="0"/>
              <a:lumOff val="0"/>
              <a:alphaOff val="0"/>
            </a:schemeClr>
          </a:solidFill>
          <a:prstDash val="dash"/>
          <a:miter lim="800000"/>
        </a:ln>
        <a:effectLst/>
      </dsp:spPr>
      <dsp:style>
        <a:lnRef idx="1">
          <a:scrgbClr r="0" g="0" b="0"/>
        </a:lnRef>
        <a:fillRef idx="0">
          <a:scrgbClr r="0" g="0" b="0"/>
        </a:fillRef>
        <a:effectRef idx="0">
          <a:scrgbClr r="0" g="0" b="0"/>
        </a:effectRef>
        <a:fontRef idx="minor"/>
      </dsp:style>
    </dsp:sp>
    <dsp:sp modelId="{64D51680-9CAF-014F-9C8C-143BBE8DDB7D}">
      <dsp:nvSpPr>
        <dsp:cNvPr id="0" name=""/>
        <dsp:cNvSpPr/>
      </dsp:nvSpPr>
      <dsp:spPr>
        <a:xfrm>
          <a:off x="5203391" y="1749700"/>
          <a:ext cx="66758" cy="66758"/>
        </a:xfrm>
        <a:prstGeom prst="ellipse">
          <a:avLst/>
        </a:prstGeom>
        <a:solidFill>
          <a:schemeClr val="accent4">
            <a:hueOff val="0"/>
            <a:satOff val="0"/>
            <a:lumOff val="0"/>
            <a:alphaOff val="0"/>
          </a:schemeClr>
        </a:solidFill>
        <a:ln w="63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17930A9-F9E3-4084-A7D5-F7A7791DCDD9}">
      <dsp:nvSpPr>
        <dsp:cNvPr id="0" name=""/>
        <dsp:cNvSpPr/>
      </dsp:nvSpPr>
      <dsp:spPr>
        <a:xfrm>
          <a:off x="864470" y="713934"/>
          <a:ext cx="928757" cy="928757"/>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5C3E865-4112-4539-8BFD-5EB3702CE8AF}">
      <dsp:nvSpPr>
        <dsp:cNvPr id="0" name=""/>
        <dsp:cNvSpPr/>
      </dsp:nvSpPr>
      <dsp:spPr>
        <a:xfrm>
          <a:off x="2052" y="1768401"/>
          <a:ext cx="2653593" cy="65303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22300">
            <a:lnSpc>
              <a:spcPct val="100000"/>
            </a:lnSpc>
            <a:spcBef>
              <a:spcPct val="0"/>
            </a:spcBef>
            <a:spcAft>
              <a:spcPct val="35000"/>
            </a:spcAft>
            <a:buNone/>
            <a:defRPr b="1"/>
          </a:pPr>
          <a:r>
            <a:rPr lang="en-US" sz="1400" kern="1200"/>
            <a:t>(In US and Canada) Need to assign value to land for..</a:t>
          </a:r>
        </a:p>
      </dsp:txBody>
      <dsp:txXfrm>
        <a:off x="2052" y="1768401"/>
        <a:ext cx="2653593" cy="653032"/>
      </dsp:txXfrm>
    </dsp:sp>
    <dsp:sp modelId="{1AFBB45D-8F1C-4F8D-A97E-7D9F63DB474B}">
      <dsp:nvSpPr>
        <dsp:cNvPr id="0" name=""/>
        <dsp:cNvSpPr/>
      </dsp:nvSpPr>
      <dsp:spPr>
        <a:xfrm>
          <a:off x="2052" y="2479903"/>
          <a:ext cx="2653593" cy="115749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89000">
            <a:lnSpc>
              <a:spcPct val="100000"/>
            </a:lnSpc>
            <a:spcBef>
              <a:spcPct val="0"/>
            </a:spcBef>
            <a:spcAft>
              <a:spcPct val="35000"/>
            </a:spcAft>
            <a:buNone/>
          </a:pPr>
          <a:r>
            <a:rPr lang="en-US" sz="2000" kern="1200"/>
            <a:t>Property taxes</a:t>
          </a:r>
        </a:p>
        <a:p>
          <a:pPr marL="0" lvl="0" indent="0" algn="ctr" defTabSz="889000">
            <a:lnSpc>
              <a:spcPct val="100000"/>
            </a:lnSpc>
            <a:spcBef>
              <a:spcPct val="0"/>
            </a:spcBef>
            <a:spcAft>
              <a:spcPct val="35000"/>
            </a:spcAft>
            <a:buNone/>
          </a:pPr>
          <a:r>
            <a:rPr lang="en-US" sz="2000" kern="1200" dirty="0"/>
            <a:t>Sales</a:t>
          </a:r>
        </a:p>
        <a:p>
          <a:pPr marL="0" lvl="0" indent="0" algn="ctr" defTabSz="889000">
            <a:lnSpc>
              <a:spcPct val="100000"/>
            </a:lnSpc>
            <a:spcBef>
              <a:spcPct val="0"/>
            </a:spcBef>
            <a:spcAft>
              <a:spcPct val="35000"/>
            </a:spcAft>
            <a:buNone/>
          </a:pPr>
          <a:r>
            <a:rPr lang="en-US" sz="2000" kern="1200"/>
            <a:t>Resource investments</a:t>
          </a:r>
        </a:p>
      </dsp:txBody>
      <dsp:txXfrm>
        <a:off x="2052" y="2479903"/>
        <a:ext cx="2653593" cy="1157499"/>
      </dsp:txXfrm>
    </dsp:sp>
    <dsp:sp modelId="{0F773589-489F-4993-8281-005E614152CC}">
      <dsp:nvSpPr>
        <dsp:cNvPr id="0" name=""/>
        <dsp:cNvSpPr/>
      </dsp:nvSpPr>
      <dsp:spPr>
        <a:xfrm>
          <a:off x="3982443" y="713934"/>
          <a:ext cx="928757" cy="928757"/>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AFBED39-8510-4E38-962F-0933340055C3}">
      <dsp:nvSpPr>
        <dsp:cNvPr id="0" name=""/>
        <dsp:cNvSpPr/>
      </dsp:nvSpPr>
      <dsp:spPr>
        <a:xfrm>
          <a:off x="3120025" y="1768401"/>
          <a:ext cx="2653593" cy="65303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22300">
            <a:lnSpc>
              <a:spcPct val="100000"/>
            </a:lnSpc>
            <a:spcBef>
              <a:spcPct val="0"/>
            </a:spcBef>
            <a:spcAft>
              <a:spcPct val="35000"/>
            </a:spcAft>
            <a:buNone/>
            <a:defRPr b="1"/>
          </a:pPr>
          <a:r>
            <a:rPr lang="en-US" sz="1400" kern="1200" dirty="0"/>
            <a:t>Faustmann answers: what is the value of this land today given the potential to harvest in X years?</a:t>
          </a:r>
        </a:p>
      </dsp:txBody>
      <dsp:txXfrm>
        <a:off x="3120025" y="1768401"/>
        <a:ext cx="2653593" cy="653032"/>
      </dsp:txXfrm>
    </dsp:sp>
    <dsp:sp modelId="{A1490F5D-26C4-4387-8FF2-6CA608F96143}">
      <dsp:nvSpPr>
        <dsp:cNvPr id="0" name=""/>
        <dsp:cNvSpPr/>
      </dsp:nvSpPr>
      <dsp:spPr>
        <a:xfrm>
          <a:off x="3120025" y="2479903"/>
          <a:ext cx="2653593" cy="1157499"/>
        </a:xfrm>
        <a:prstGeom prst="rect">
          <a:avLst/>
        </a:prstGeom>
        <a:noFill/>
        <a:ln>
          <a:noFill/>
        </a:ln>
        <a:effectLst/>
      </dsp:spPr>
      <dsp:style>
        <a:lnRef idx="0">
          <a:scrgbClr r="0" g="0" b="0"/>
        </a:lnRef>
        <a:fillRef idx="0">
          <a:scrgbClr r="0" g="0" b="0"/>
        </a:fillRef>
        <a:effectRef idx="0">
          <a:scrgbClr r="0" g="0" b="0"/>
        </a:effectRef>
        <a:fontRef idx="minor"/>
      </dsp:style>
    </dsp:sp>
    <dsp:sp modelId="{5E1E9EFB-A628-48C0-B9AB-5D8DCCCCEFE4}">
      <dsp:nvSpPr>
        <dsp:cNvPr id="0" name=""/>
        <dsp:cNvSpPr/>
      </dsp:nvSpPr>
      <dsp:spPr>
        <a:xfrm>
          <a:off x="7911393" y="609571"/>
          <a:ext cx="928757" cy="928757"/>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CC593FC-A571-47CB-B82C-FF5934C6F316}">
      <dsp:nvSpPr>
        <dsp:cNvPr id="0" name=""/>
        <dsp:cNvSpPr/>
      </dsp:nvSpPr>
      <dsp:spPr>
        <a:xfrm>
          <a:off x="7048975" y="1664038"/>
          <a:ext cx="2653593" cy="65303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22300">
            <a:lnSpc>
              <a:spcPct val="100000"/>
            </a:lnSpc>
            <a:spcBef>
              <a:spcPct val="0"/>
            </a:spcBef>
            <a:spcAft>
              <a:spcPct val="35000"/>
            </a:spcAft>
            <a:buNone/>
            <a:defRPr b="1"/>
          </a:pPr>
          <a:r>
            <a:rPr lang="en-US" sz="1400" kern="1200"/>
            <a:t>When considering.. </a:t>
          </a:r>
        </a:p>
      </dsp:txBody>
      <dsp:txXfrm>
        <a:off x="7048975" y="1664038"/>
        <a:ext cx="2653593" cy="653032"/>
      </dsp:txXfrm>
    </dsp:sp>
    <dsp:sp modelId="{78807BBC-8381-4EF5-A44F-0B388D4F9B76}">
      <dsp:nvSpPr>
        <dsp:cNvPr id="0" name=""/>
        <dsp:cNvSpPr/>
      </dsp:nvSpPr>
      <dsp:spPr>
        <a:xfrm>
          <a:off x="6240040" y="2585909"/>
          <a:ext cx="4275549" cy="157495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89000">
            <a:lnSpc>
              <a:spcPct val="100000"/>
            </a:lnSpc>
            <a:spcBef>
              <a:spcPct val="0"/>
            </a:spcBef>
            <a:spcAft>
              <a:spcPct val="35000"/>
            </a:spcAft>
            <a:buNone/>
          </a:pPr>
          <a:r>
            <a:rPr lang="en-US" sz="2000" kern="1200" dirty="0"/>
            <a:t>Timber prices</a:t>
          </a:r>
        </a:p>
        <a:p>
          <a:pPr marL="0" lvl="0" indent="0" algn="ctr" defTabSz="889000">
            <a:lnSpc>
              <a:spcPct val="100000"/>
            </a:lnSpc>
            <a:spcBef>
              <a:spcPct val="0"/>
            </a:spcBef>
            <a:spcAft>
              <a:spcPct val="35000"/>
            </a:spcAft>
            <a:buNone/>
          </a:pPr>
          <a:r>
            <a:rPr lang="en-US" sz="2000" kern="1200"/>
            <a:t>Growth curves from yield tables</a:t>
          </a:r>
        </a:p>
        <a:p>
          <a:pPr marL="0" lvl="0" indent="0" algn="ctr" defTabSz="889000">
            <a:lnSpc>
              <a:spcPct val="100000"/>
            </a:lnSpc>
            <a:spcBef>
              <a:spcPct val="0"/>
            </a:spcBef>
            <a:spcAft>
              <a:spcPct val="35000"/>
            </a:spcAft>
            <a:buNone/>
          </a:pPr>
          <a:r>
            <a:rPr lang="en-US" sz="2000" kern="1200"/>
            <a:t>Planning/management costs</a:t>
          </a:r>
        </a:p>
        <a:p>
          <a:pPr marL="0" lvl="0" indent="0" algn="ctr" defTabSz="889000">
            <a:lnSpc>
              <a:spcPct val="100000"/>
            </a:lnSpc>
            <a:spcBef>
              <a:spcPct val="0"/>
            </a:spcBef>
            <a:spcAft>
              <a:spcPct val="35000"/>
            </a:spcAft>
            <a:buNone/>
          </a:pPr>
          <a:r>
            <a:rPr lang="en-US" sz="2000" kern="1200" dirty="0"/>
            <a:t>Interest rate (4-6% for public)</a:t>
          </a:r>
        </a:p>
      </dsp:txBody>
      <dsp:txXfrm>
        <a:off x="6240040" y="2585909"/>
        <a:ext cx="4275549" cy="1574952"/>
      </dsp:txXfrm>
    </dsp:sp>
  </dsp:spTree>
</dsp:drawing>
</file>

<file path=ppt/diagrams/layout1.xml><?xml version="1.0" encoding="utf-8"?>
<dgm:layoutDef xmlns:dgm="http://schemas.openxmlformats.org/drawingml/2006/diagram" xmlns:a="http://schemas.openxmlformats.org/drawingml/2006/main" uniqueId="urn:microsoft.com/office/officeart/2017/3/layout/DropPinTimeline">
  <dgm:title val="Drop Pin Timeline"/>
  <dgm:desc val="Use to show a list of events in chronological order. An invisible box next to the pin contains the date and the description is immediately below. It can display a medium amount of text and medium length date format."/>
  <dgm:catLst>
    <dgm:cat type="timeline" pri="500"/>
    <dgm:cat type="process" pri="600"/>
  </dgm:catLst>
  <dgm:samp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40" srcId="0" destId="10" srcOrd="0" destOrd="0"/>
        <dgm:cxn modelId="12" srcId="10" destId="11" srcOrd="0" destOrd="0"/>
        <dgm:cxn modelId="50" srcId="0" destId="20" srcOrd="1" destOrd="0"/>
        <dgm:cxn modelId="22" srcId="20" destId="21" srcOrd="0" destOrd="0"/>
        <dgm:cxn modelId="60" srcId="0" destId="30" srcOrd="1" destOrd="0"/>
        <dgm:cxn modelId="32" srcId="30" destId="31" srcOrd="0"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root">
    <dgm:varLst>
      <dgm:chMax/>
      <dgm:chPref/>
      <dgm:animLvl val="lvl"/>
    </dgm:varLst>
    <dgm:alg type="composite"/>
    <dgm:shape xmlns:r="http://schemas.openxmlformats.org/officeDocument/2006/relationships" r:blip="">
      <dgm:adjLst/>
    </dgm:shape>
    <dgm:constrLst>
      <dgm:constr type="w" for="ch" forName="divider" refType="w"/>
      <dgm:constr type="h" for="ch" forName="divider"/>
      <dgm:constr type="ctrY" for="ch" forName="divider" refType="h" fact="0.5"/>
      <dgm:constr type="l" for="ch" forName="divider"/>
      <dgm:constr type="w" for="ch" forName="nodes" refType="w"/>
      <dgm:constr type="h" for="ch" forName="nodes" refType="h" fact="0.8"/>
      <dgm:constr type="ctrY" for="ch" forName="nodes" refType="h" fact="0.5"/>
    </dgm:constrLst>
    <dgm:layoutNode name="divider" styleLbl="fgAcc1">
      <dgm:alg type="sp"/>
      <dgm:choose name="ArrowShape">
        <dgm:if name="ArrowShapeLTR" func="var" arg="dir" op="equ" val="norm">
          <dgm:shape xmlns:r="http://schemas.openxmlformats.org/officeDocument/2006/relationships" type="line" r:blip="" zOrderOff="-1">
            <dgm:adjLst/>
            <dgm:extLst>
              <a:ext uri="{B698B0E9-8C71-41B9-8309-B3DCBF30829C}">
                <dgm1612:spPr xmlns:dgm1612="http://schemas.microsoft.com/office/drawing/2016/12/diagram">
                  <a:ln w="19050">
                    <a:solidFill>
                      <a:srgbClr val="000000"/>
                    </a:solidFill>
                    <a:tailEnd type="triangle" w="lg" len="lg"/>
                  </a:ln>
                </dgm1612:spPr>
              </a:ext>
            </dgm:extLst>
          </dgm:shape>
        </dgm:if>
        <dgm:else name="ArrowShapeRTL">
          <dgm:shape xmlns:r="http://schemas.openxmlformats.org/officeDocument/2006/relationships" type="line" r:blip="" zOrderOff="-1">
            <dgm:adjLst/>
            <dgm:extLst>
              <a:ext uri="{B698B0E9-8C71-41B9-8309-B3DCBF30829C}">
                <dgm1612:spPr xmlns:dgm1612="http://schemas.microsoft.com/office/drawing/2016/12/diagram">
                  <a:ln>
                    <a:solidFill>
                      <a:srgbClr val="000000"/>
                    </a:solidFill>
                    <a:headEnd type="triangle" w="lg" len="lg"/>
                  </a:ln>
                </dgm1612:spPr>
              </a:ext>
            </dgm:extLst>
          </dgm:shape>
        </dgm:else>
      </dgm:choose>
      <dgm:presOf/>
      <dgm:constrLst/>
      <dgm:ruleLst/>
    </dgm:layoutNode>
    <dgm:layoutNode name="nodes">
      <dgm:varLst>
        <dgm:chMax/>
        <dgm:chPref/>
        <dgm:animLvl val="lvl"/>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constrLst>
        <dgm:constr type="primFontSz" for="des" forName="L1TextContainer" val="20"/>
        <dgm:constr type="primFontSz" for="des" forName="L2TextContainer" refType="primFontSz" refFor="des" refForName="L1TextContainer" op="equ" fact="0.75"/>
        <dgm:constr type="w" for="ch" forName="composite" refType="w"/>
        <dgm:constr type="h" for="ch" forName="composite" refType="h"/>
        <dgm:constr type="w" for="ch" forName="spaceBetweenRectangles" refType="w" refFor="ch" refForName="composite" fact="-0.5"/>
        <dgm:constr type="w" for="ch" ptType="sibTrans" op="equ"/>
        <dgm:constr type="primFontSz" for="des" forName="L1TextContainer" op="equ"/>
        <dgm:constr type="primFontSz" for="des" forName="L2TextContainer" op="equ"/>
        <dgm:constr type="primFontSz" for="des" forName="L1TextContainer1" val="20"/>
        <dgm:constr type="primFontSz" for="des" forName="L2TextContainer1" refType="primFontSz" refFor="des" refForName="L1TextContainer1" op="equ" fact="0.75"/>
        <dgm:constr type="w" for="ch" forName="composite1" refType="w"/>
        <dgm:constr type="h" for="ch" forName="composite1" refType="h"/>
        <dgm:constr type="w" for="ch" forName="spaceBetweenRectangles1" refType="w" refFor="ch" refForName="composite1" fact="0.28"/>
        <dgm:constr type="primFontSz" for="des" forName="L1TextContainer1" op="equ"/>
        <dgm:constr type="primFontSz" for="des" forName="L2TextContainer1" op="equ"/>
      </dgm:constrLst>
      <dgm:choose name="LayoutBasedOnCountOfNodes">
        <dgm:if name="LessThanOrEqualToTwoNodes" axis="ch" ptType="node" func="cnt" op="lte" val="2">
          <dgm:forEach name="nodesForEach1" axis="ch" ptType="node">
            <dgm:layoutNode name="composite1">
              <dgm:alg type="composite"/>
              <dgm:shape xmlns:r="http://schemas.openxmlformats.org/officeDocument/2006/relationships" r:blip="">
                <dgm:adjLst/>
              </dgm:shape>
              <dgm:choose name="CaseForLayoutDirection1">
                <dgm:if name="CaseForLayoutDirectionLTR1" func="var" arg="dir" op="equ" val="norm">
                  <dgm:choose name="CaseForPlacingNodesAboveAndBelowDividerLTR1">
                    <dgm:if name="CaseForPlacingNodeAboveDividerLTR1" axis="self" ptType="node" func="posOdd" op="equ" val="1">
                      <dgm:constrLst>
                        <dgm:constr type="w" for="ch" forName="ConnectorPoint1" refType="h" refFor="ch" refForName="DropPinPlaceHolder1" fact="0.18"/>
                        <dgm:constr type="h" for="ch" forName="ConnectorPoint1" refType="h" refFor="ch" refForName="DropPinPlaceHolder1" fact="0.18"/>
                        <dgm:constr type="ctrX" for="ch" forName="ConnectorPoint1" refType="ctrX" refFor="ch" refForName="ConnectLine1"/>
                        <dgm:constr type="ctrY" for="ch" forName="ConnectorPoint1" refType="h" fact="0.5"/>
                        <dgm:constr type="w" for="ch" forName="DropPinPlaceHolder1" refType="h" fact="0.13"/>
                        <dgm:constr type="h" for="ch" forName="DropPinPlaceHolder1" refType="h" fact="0.13"/>
                        <dgm:constr type="t" for="ch" forName="DropPinPlaceHolder1" refType="h" fact="0"/>
                        <dgm:constr type="l" for="ch" forName="DropPinPlaceHolder1" refType="w" fact="0"/>
                        <dgm:constr type="w" for="ch" forName="L2TextContainer1" refType="w" fact="0.83"/>
                        <dgm:constr type="l" for="ch" forName="L2TextContainer1" refType="r" refFor="ch" refForName="DropPinPlaceHolder1"/>
                        <dgm:constr type="t" for="ch" forName="L2TextContainer1" refType="b" refFor="ch" refForName="DropPinPlaceHolder1"/>
                        <dgm:constr type="b" for="ch" forName="L2TextContainer1" refType="h" fact="0.5"/>
                        <dgm:constr type="w" for="ch" forName="L1TextContainer1" refType="w" fact="0.83"/>
                        <dgm:constr type="l" for="ch" forName="L1TextContainer1" refType="r" refFor="ch" refForName="DropPinPlaceHolder1"/>
                        <dgm:constr type="b" for="ch" forName="L1TextContainer1" refType="b" refFor="ch" refForName="DropPinPlaceHolder1"/>
                        <dgm:constr type="t" for="ch" forName="L1TextContainer1" refType="t" refFor="ch" refForName="DropPinPlaceHolder1"/>
                        <dgm:constr type="w" for="ch" forName="ConnectLine1"/>
                        <dgm:constr type="ctrX" for="ch" forName="ConnectLine1" refType="ctrX" refFor="ch" refForName="DropPinPlaceHolder1"/>
                        <dgm:constr type="b" for="ch" forName="ConnectLine1" refType="h" fact="0.5"/>
                        <dgm:constr type="t" for="ch" forName="ConnectLine1" refType="b" refFor="ch" refForName="DropPinPlaceHolder1"/>
                        <dgm:constr type="w" for="ch" forName="EmptyPlaceHolder1" refType="w"/>
                        <dgm:constr type="h" for="ch" forName="EmptyPlaceHolder1" refType="h" fact="0.5"/>
                        <dgm:constr type="t" for="ch" forName="EmptyPlaceHolder1" refType="h" fact="0.5"/>
                      </dgm:constrLst>
                    </dgm:if>
                    <dgm:else name="CaseForPlacingNodeBelowDividerLTR1">
                      <dgm:constrLst>
                        <dgm:constr type="w" for="ch" forName="ConnectorPoint1" refType="h" refFor="ch" refForName="DropPinPlaceHolder1" fact="0.18"/>
                        <dgm:constr type="h" for="ch" forName="ConnectorPoint1" refType="h" refFor="ch" refForName="DropPinPlaceHolder1" fact="0.18"/>
                        <dgm:constr type="ctrX" for="ch" forName="ConnectorPoint1" refType="ctrX" refFor="ch" refForName="ConnectLine1"/>
                        <dgm:constr type="ctrY" for="ch" forName="ConnectorPoint1" refType="h" fact="0.5"/>
                        <dgm:constr type="w" for="ch" forName="DropPinPlaceHolder1" refType="h" fact="0.13"/>
                        <dgm:constr type="h" for="ch" forName="DropPinPlaceHolder1" refType="h" fact="0.13"/>
                        <dgm:constr type="b" for="ch" forName="DropPinPlaceHolder1" refType="h"/>
                        <dgm:constr type="l" for="ch" forName="DropPinPlaceHolder1" refType="w" fact="0"/>
                        <dgm:constr type="w" for="ch" forName="L2TextContainer1" refType="w" fact="0.83"/>
                        <dgm:constr type="l" for="ch" forName="L2TextContainer1" refType="r" refFor="ch" refForName="DropPinPlaceHolder1"/>
                        <dgm:constr type="b" for="ch" forName="L2TextContainer1" refType="t" refFor="ch" refForName="DropPinPlaceHolder1"/>
                        <dgm:constr type="t" for="ch" forName="L2TextContainer1" refType="h" fact="0.5"/>
                        <dgm:constr type="w" for="ch" forName="L1TextContainer1" refType="w" fact="0.83"/>
                        <dgm:constr type="l" for="ch" forName="L1TextContainer1" refType="r" refFor="ch" refForName="DropPinPlaceHolder1"/>
                        <dgm:constr type="b" for="ch" forName="L1TextContainer1" refType="b" refFor="ch" refForName="DropPinPlaceHolder1"/>
                        <dgm:constr type="t" for="ch" forName="L1TextContainer1" refType="t" refFor="ch" refForName="DropPinPlaceHolder1"/>
                        <dgm:constr type="w" for="ch" forName="ConnectLine1"/>
                        <dgm:constr type="ctrX" for="ch" forName="ConnectLine1" refType="ctrX" refFor="ch" refForName="DropPinPlaceHolder1"/>
                        <dgm:constr type="t" for="ch" forName="ConnectLine1" refType="h" fact="0.5"/>
                        <dgm:constr type="b" for="ch" forName="ConnectLine1" refType="t" refFor="ch" refForName="DropPinPlaceHolder1"/>
                        <dgm:constr type="w" for="ch" forName="EmptyPlaceHolder1" refType="w"/>
                        <dgm:constr type="h" for="ch" forName="EmptyPlaceHolder1" refType="h" fact="0.5"/>
                        <dgm:constr type="t" for="ch" forName="EmptyPlaceHolder1" refType="h" fact="0"/>
                      </dgm:constrLst>
                    </dgm:else>
                  </dgm:choose>
                </dgm:if>
                <dgm:else name="CaseForLayoutDirectionRTL1">
                  <dgm:choose name="CaseForPlacingNodesAboveAndBelowDividerRTL1">
                    <dgm:if name="CaseForPlacingNodeAboveDividerRTL1" axis="self" ptType="node" func="posOdd" op="equ" val="1">
                      <dgm:constrLst>
                        <dgm:constr type="w" for="ch" forName="ConnectorPoint1" refType="h" refFor="ch" refForName="DropPinPlaceHolder1" fact="0.18"/>
                        <dgm:constr type="h" for="ch" forName="ConnectorPoint1" refType="h" refFor="ch" refForName="DropPinPlaceHolder1" fact="0.18"/>
                        <dgm:constr type="ctrX" for="ch" forName="ConnectorPoint1" refType="ctrX" refFor="ch" refForName="ConnectLine1"/>
                        <dgm:constr type="ctrY" for="ch" forName="ConnectorPoint1" refType="h" fact="0.5"/>
                        <dgm:constr type="w" for="ch" forName="DropPinPlaceHolder1" refType="h" fact="0.13"/>
                        <dgm:constr type="h" for="ch" forName="DropPinPlaceHolder1" refType="h" fact="0.13"/>
                        <dgm:constr type="t" for="ch" forName="DropPinPlaceHolder1" refType="h" fact="0"/>
                        <dgm:constr type="l" for="ch" forName="DropPinPlaceHolder1" refType="w" fact="0"/>
                        <dgm:constr type="w" for="ch" forName="L2TextContainer1" refType="w" fact="0.83"/>
                        <dgm:constr type="l" for="ch" forName="L2TextContainer1" refType="r" refFor="ch" refForName="DropPinPlaceHolder1"/>
                        <dgm:constr type="t" for="ch" forName="L2TextContainer1" refType="b" refFor="ch" refForName="DropPinPlaceHolder1"/>
                        <dgm:constr type="b" for="ch" forName="L2TextContainer1" refType="h" fact="0.5"/>
                        <dgm:constr type="w" for="ch" forName="L1TextContainer1" refType="w" fact="0.83"/>
                        <dgm:constr type="l" for="ch" forName="L1TextContainer1" refType="r" refFor="ch" refForName="DropPinPlaceHolder1"/>
                        <dgm:constr type="b" for="ch" forName="L1TextContainer1" refType="b" refFor="ch" refForName="DropPinPlaceHolder1"/>
                        <dgm:constr type="t" for="ch" forName="L1TextContainer1" refType="t" refFor="ch" refForName="DropPinPlaceHolder1"/>
                        <dgm:constr type="w" for="ch" forName="ConnectLine1"/>
                        <dgm:constr type="ctrX" for="ch" forName="ConnectLine1" refType="ctrX" refFor="ch" refForName="DropPinPlaceHolder1"/>
                        <dgm:constr type="b" for="ch" forName="ConnectLine1" refType="h" fact="0.5"/>
                        <dgm:constr type="t" for="ch" forName="ConnectLine1" refType="b" refFor="ch" refForName="DropPinPlaceHolder1"/>
                        <dgm:constr type="w" for="ch" forName="EmptyPlaceHolder1" refType="w"/>
                        <dgm:constr type="h" for="ch" forName="EmptyPlaceHolder1" refType="h" fact="0.5"/>
                        <dgm:constr type="t" for="ch" forName="EmptyPlaceHolder1" refType="h" fact="0.5"/>
                      </dgm:constrLst>
                    </dgm:if>
                    <dgm:else name="CaseForPlacingNodeBelowDividerRTL1">
                      <dgm:constrLst>
                        <dgm:constr type="w" for="ch" forName="ConnectorPoint1" refType="h" refFor="ch" refForName="DropPinPlaceHolder1" fact="0.18"/>
                        <dgm:constr type="h" for="ch" forName="ConnectorPoint1" refType="h" refFor="ch" refForName="DropPinPlaceHolder1" fact="0.18"/>
                        <dgm:constr type="ctrX" for="ch" forName="ConnectorPoint1" refType="ctrX" refFor="ch" refForName="ConnectLine1"/>
                        <dgm:constr type="ctrY" for="ch" forName="ConnectorPoint1" refType="h" fact="0.5"/>
                        <dgm:constr type="w" for="ch" forName="DropPinPlaceHolder1" refType="h" fact="0.13"/>
                        <dgm:constr type="h" for="ch" forName="DropPinPlaceHolder1" refType="h" fact="0.13"/>
                        <dgm:constr type="b" for="ch" forName="DropPinPlaceHolder1" refType="h"/>
                        <dgm:constr type="l" for="ch" forName="DropPinPlaceHolder1" refType="w" fact="0"/>
                        <dgm:constr type="w" for="ch" forName="L2TextContainer1" refType="w" fact="0.83"/>
                        <dgm:constr type="l" for="ch" forName="L2TextContainer1" refType="r" refFor="ch" refForName="DropPinPlaceHolder1"/>
                        <dgm:constr type="b" for="ch" forName="L2TextContainer1" refType="t" refFor="ch" refForName="DropPinPlaceHolder1"/>
                        <dgm:constr type="t" for="ch" forName="L2TextContainer1" refType="h" fact="0.5"/>
                        <dgm:constr type="w" for="ch" forName="L1TextContainer1" refType="w" fact="0.83"/>
                        <dgm:constr type="l" for="ch" forName="L1TextContainer1" refType="r" refFor="ch" refForName="DropPinPlaceHolder1"/>
                        <dgm:constr type="b" for="ch" forName="L1TextContainer1" refType="b" refFor="ch" refForName="DropPinPlaceHolder1"/>
                        <dgm:constr type="t" for="ch" forName="L1TextContainer1" refType="t" refFor="ch" refForName="DropPinPlaceHolder1"/>
                        <dgm:constr type="w" for="ch" forName="ConnectLine1"/>
                        <dgm:constr type="ctrX" for="ch" forName="ConnectLine1" refType="ctrX" refFor="ch" refForName="DropPinPlaceHolder1"/>
                        <dgm:constr type="t" for="ch" forName="ConnectLine1" refType="h" fact="0.5"/>
                        <dgm:constr type="b" for="ch" forName="ConnectLine1" refType="t" refFor="ch" refForName="DropPinPlaceHolder1"/>
                        <dgm:constr type="w" for="ch" forName="EmptyPlaceHolder1" refType="w"/>
                        <dgm:constr type="h" for="ch" forName="EmptyPlaceHolder1" refType="h" fact="0.5"/>
                        <dgm:constr type="t" for="ch" forName="EmptyPlaceHolder1" refType="h" fact="0"/>
                      </dgm:constrLst>
                    </dgm:else>
                  </dgm:choose>
                </dgm:else>
              </dgm:choose>
              <dgm:layoutNode name="ConnectorPoint1" styleLbl="lnNode1" moveWith="ConnectLine1">
                <dgm:alg type="sp"/>
                <dgm:shape xmlns:r="http://schemas.openxmlformats.org/officeDocument/2006/relationships" type="ellipse" r:blip="" zOrderOff="10">
                  <dgm:adjLst/>
                </dgm:shape>
                <dgm:presOf/>
                <dgm:constrLst>
                  <dgm:constr type="w" refType="h" op="equ"/>
                </dgm:constrLst>
              </dgm:layoutNode>
              <dgm:layoutNode name="DropPinPlaceHolder1">
                <dgm:alg type="composite"/>
                <dgm:shape xmlns:r="http://schemas.openxmlformats.org/officeDocument/2006/relationships" r:blip="">
                  <dgm:adjLst/>
                </dgm:shape>
                <dgm:constrLst>
                  <dgm:constr type="w" for="ch" forName="DropPin1" refType="w"/>
                  <dgm:constr type="h" for="ch" forName="DropPin1" refType="h"/>
                  <dgm:constr type="ctrX" for="ch" forName="DropPin1" refType="w" fact="0.5"/>
                  <dgm:constr type="ctrY" for="ch" forName="DropPin1" refType="h" fact="0.5"/>
                  <dgm:constr type="w" for="ch" forName="Ellipse1" refType="w" refFor="ch" refForName="DropPin1" fact="0.55"/>
                  <dgm:constr type="h" for="ch" forName="Ellipse1" refType="w" refFor="ch" refForName="DropPin1" fact="0.55"/>
                  <dgm:constr type="ctrX" for="ch" forName="Ellipse1" refType="ctrX" refFor="ch" refForName="DropPin1"/>
                  <dgm:constr type="ctrY" for="ch" forName="Ellipse1" refType="ctrY" refFor="ch" refForName="DropPin1"/>
                </dgm:constrLst>
                <dgm:layoutNode name="DropPin1" styleLbl="alignNode1">
                  <dgm:alg type="sp"/>
                  <dgm:choose name="CaseForPlacingTearDropAboveAndBelowDivider1">
                    <dgm:if name="CaseForPlacingTearDropAboveDivider1" axis="self" ptType="node" func="posOdd" op="equ" val="1">
                      <dgm:shape xmlns:r="http://schemas.openxmlformats.org/officeDocument/2006/relationships" rot="135" type="teardrop" r:blip="">
                        <dgm:adjLst>
                          <dgm:adj idx="1" val="1.15"/>
                        </dgm:adjLst>
                      </dgm:shape>
                    </dgm:if>
                    <dgm:else name="CaseForPlacingTearDropBelowDivider1">
                      <dgm:shape xmlns:r="http://schemas.openxmlformats.org/officeDocument/2006/relationships" rot="-45" type="teardrop" r:blip="">
                        <dgm:adjLst>
                          <dgm:adj idx="1" val="1.15"/>
                        </dgm:adjLst>
                      </dgm:shape>
                    </dgm:else>
                  </dgm:choose>
                  <dgm:presOf/>
                  <dgm:constrLst/>
                </dgm:layoutNode>
                <dgm:layoutNode name="Ellipse1" styleLbl="fgAcc1" moveWith="DropPin1">
                  <dgm:alg type="sp"/>
                  <dgm:shape xmlns:r="http://schemas.openxmlformats.org/officeDocument/2006/relationships" type="ellipse" r:blip="">
                    <dgm:adjLst/>
                    <dgm:extLst>
                      <a:ext uri="{B698B0E9-8C71-41B9-8309-B3DCBF30829C}">
                        <dgm1612:spPr xmlns:dgm1612="http://schemas.microsoft.com/office/drawing/2016/12/diagram">
                          <a:ln>
                            <a:noFill/>
                          </a:ln>
                        </dgm1612:spPr>
                      </a:ext>
                    </dgm:extLst>
                  </dgm:shape>
                  <dgm:presOf/>
                  <dgm:constrLst/>
                </dgm:layoutNode>
              </dgm:layoutNode>
              <dgm:layoutNode name="L2TextContainer1" styleLbl="revTx" moveWith="L1TextContainer">
                <dgm:varLst>
                  <dgm:bulletEnabled val="1"/>
                </dgm:varLst>
                <dgm:choose name="casesForTxtDirLogic1">
                  <dgm:if name="Name771" axis="self" ptType="node" func="posOdd" op="equ" val="1">
                    <dgm:alg type="tx">
                      <dgm:param type="txAnchorVert" val="t"/>
                      <dgm:param type="parTxLTRAlign" val="l"/>
                      <dgm:param type="parTxRTLAlign" val="l"/>
                      <dgm:param type="txAnchorVertCh" val="t"/>
                      <dgm:param type="shpTxRTLAlignCh" val="l"/>
                      <dgm:param type="shpTxLTRAlignCh" val="l"/>
                    </dgm:alg>
                    <dgm:constrLst>
                      <dgm:constr type="lMarg"/>
                      <dgm:constr type="rMarg"/>
                      <dgm:constr type="tMarg" refType="primFontSz" fact="0.5"/>
                      <dgm:constr type="bMarg" refType="primFontSz" fact="0.75"/>
                    </dgm:constrLst>
                  </dgm:if>
                  <dgm:else name="Name881">
                    <dgm:alg type="tx">
                      <dgm:param type="txAnchorVert" val="b"/>
                      <dgm:param type="parTxLTRAlign" val="l"/>
                      <dgm:param type="parTxRTLAlign" val="l"/>
                      <dgm:param type="txAnchorVertCh" val="b"/>
                      <dgm:param type="shpTxRTLAlignCh" val="l"/>
                      <dgm:param type="shpTxLTRAlignCh" val="l"/>
                    </dgm:alg>
                    <dgm:constrLst>
                      <dgm:constr type="lMarg"/>
                      <dgm:constr type="rMarg" refType="primFontSz" fact="0.5"/>
                      <dgm:constr type="tMarg" refType="primFontSz" fact="0.75"/>
                      <dgm:constr type="bMarg" refType="primFontSz" fact="0.5"/>
                    </dgm:constrLst>
                  </dgm:else>
                </dgm:choose>
                <dgm:shape xmlns:r="http://schemas.openxmlformats.org/officeDocument/2006/relationships" type="rect" r:blip="">
                  <dgm:adjLst/>
                </dgm:shape>
                <dgm:presOf axis="des" ptType="node"/>
                <dgm:ruleLst>
                  <dgm:rule type="primFontSz" val="11" fact="NaN" max="NaN"/>
                </dgm:ruleLst>
              </dgm:layoutNode>
              <dgm:layoutNode name="L1TextContainer1" styleLbl="revTx">
                <dgm:varLst>
                  <dgm:chMax val="1"/>
                  <dgm:chPref val="1"/>
                  <dgm:bulletEnabled val="1"/>
                </dgm:varLst>
                <dgm:alg type="tx">
                  <dgm:param type="txAnchorVert" val="mid"/>
                  <dgm:param type="parTxLTRAlign" val="l"/>
                  <dgm:param type="parTxRTLAlign" val="l"/>
                </dgm:alg>
                <dgm:shape xmlns:r="http://schemas.openxmlformats.org/officeDocument/2006/relationships" type="rect" r:blip="">
                  <dgm:adjLst/>
                </dgm:shape>
                <dgm:presOf axis="self"/>
                <dgm:constrLst>
                  <dgm:constr type="lMarg"/>
                  <dgm:constr type="rMarg" refType="primFontSz" fact="0.5"/>
                  <dgm:constr type="tMarg"/>
                  <dgm:constr type="bMarg"/>
                </dgm:constrLst>
                <dgm:ruleLst>
                  <dgm:rule type="primFontSz" val="13" fact="NaN" max="NaN"/>
                </dgm:ruleLst>
              </dgm:layoutNode>
              <dgm:layoutNode name="ConnectLine1" styleLbl="sibTrans1D1">
                <dgm:alg type="sp"/>
                <dgm:shape xmlns:r="http://schemas.openxmlformats.org/officeDocument/2006/relationships" type="line" r:blip="">
                  <dgm:adjLst/>
                  <dgm:extLst>
                    <a:ext uri="{B698B0E9-8C71-41B9-8309-B3DCBF30829C}">
                      <dgm1612:spPr xmlns:dgm1612="http://schemas.microsoft.com/office/drawing/2016/12/diagram">
                        <a:ln w="12700">
                          <a:prstDash val="dash"/>
                        </a:ln>
                      </dgm1612:spPr>
                    </a:ext>
                  </dgm:extLst>
                </dgm:shape>
                <dgm:presOf/>
                <dgm:constrLst/>
              </dgm:layoutNode>
              <dgm:layoutNode name="EmptyPlaceHolder1">
                <dgm:alg type="sp"/>
                <dgm:shape xmlns:r="http://schemas.openxmlformats.org/officeDocument/2006/relationships" r:blip="">
                  <dgm:adjLst/>
                </dgm:shape>
                <dgm:presOf/>
                <dgm:constrLst/>
              </dgm:layoutNode>
            </dgm:layoutNode>
            <dgm:forEach name="Name281" axis="followSib" ptType="sibTrans" cnt="1">
              <dgm:layoutNode name="spaceBetweenRectangles1">
                <dgm:alg type="sp"/>
                <dgm:shape xmlns:r="http://schemas.openxmlformats.org/officeDocument/2006/relationships" r:blip="">
                  <dgm:adjLst/>
                </dgm:shape>
                <dgm:presOf/>
                <dgm:constrLst/>
                <dgm:ruleLst/>
              </dgm:layoutNode>
            </dgm:forEach>
          </dgm:forEach>
        </dgm:if>
        <dgm:else name="MoreThanTwoNodes">
          <dgm:forEach name="nodesForEach" axis="ch" ptType="node">
            <dgm:layoutNode name="composite">
              <dgm:alg type="composite"/>
              <dgm:shape xmlns:r="http://schemas.openxmlformats.org/officeDocument/2006/relationships" r:blip="">
                <dgm:adjLst/>
              </dgm:shape>
              <dgm:choose name="CaseForLayoutDirection">
                <dgm:if name="CaseForLayoutDirectionLTR" func="var" arg="dir" op="equ" val="norm">
                  <dgm:choose name="CaseForPlacingNodesAboveAndBelowDividerLTR">
                    <dgm:if name="CaseForPlacingNodeAboveDividerLTR" axis="self" ptType="node" func="posOdd" op="equ" val="1">
                      <dgm:constrLst>
                        <dgm:constr type="w" for="ch" forName="ConnectorPoint" refType="h" refFor="ch" refForName="DropPinPlaceHolder" fact="0.18"/>
                        <dgm:constr type="h" for="ch" forName="ConnectorPoint" refType="h" refFor="ch" refForName="DropPinPlaceHolder" fact="0.18"/>
                        <dgm:constr type="ctrX" for="ch" forName="ConnectorPoint" refType="ctrX" refFor="ch" refForName="ConnectLine"/>
                        <dgm:constr type="ctrY" for="ch" forName="ConnectorPoint" refType="h" fact="0.5"/>
                        <dgm:constr type="w" for="ch" forName="DropPinPlaceHolder" refType="h" fact="0.13"/>
                        <dgm:constr type="h" for="ch" forName="DropPinPlaceHolder" refType="h" fact="0.13"/>
                        <dgm:constr type="t" for="ch" forName="DropPinPlaceHolder" refType="h" fact="0"/>
                        <dgm:constr type="l" for="ch" forName="DropPinPlaceHolder" refType="w" fact="0"/>
                        <dgm:constr type="w" for="ch" forName="L2TextContainer" refType="w" fact="0.83"/>
                        <dgm:constr type="l" for="ch" forName="L2TextContainer" refType="r" refFor="ch" refForName="DropPinPlaceHolder"/>
                        <dgm:constr type="t" for="ch" forName="L2TextContainer" refType="b" refFor="ch" refForName="DropPinPlaceHolder"/>
                        <dgm:constr type="b" for="ch" forName="L2TextContainer" refType="h" fact="0.5"/>
                        <dgm:constr type="w" for="ch" forName="L1TextContainer" refType="w" fact="0.83"/>
                        <dgm:constr type="l" for="ch" forName="L1TextContainer" refType="r" refFor="ch" refForName="DropPinPlaceHolder"/>
                        <dgm:constr type="b" for="ch" forName="L1TextContainer" refType="b" refFor="ch" refForName="DropPinPlaceHolder"/>
                        <dgm:constr type="t" for="ch" forName="L1TextContainer" refType="t" refFor="ch" refForName="DropPinPlaceHolder"/>
                        <dgm:constr type="w" for="ch" forName="ConnectLine"/>
                        <dgm:constr type="ctrX" for="ch" forName="ConnectLine" refType="ctrX" refFor="ch" refForName="DropPinPlaceHolder"/>
                        <dgm:constr type="b" for="ch" forName="ConnectLine" refType="h" fact="0.5"/>
                        <dgm:constr type="t" for="ch" forName="ConnectLine" refType="b" refFor="ch" refForName="DropPinPlaceHolder"/>
                        <dgm:constr type="w" for="ch" forName="EmptyPlaceHolder" refType="w"/>
                        <dgm:constr type="h" for="ch" forName="EmptyPlaceHolder" refType="h" fact="0.5"/>
                        <dgm:constr type="t" for="ch" forName="EmptyPlaceHolder" refType="h" fact="0.5"/>
                      </dgm:constrLst>
                    </dgm:if>
                    <dgm:else name="CaseForPlacingNodeBelowDividerLTR">
                      <dgm:constrLst>
                        <dgm:constr type="w" for="ch" forName="ConnectorPoint" refType="h" refFor="ch" refForName="DropPinPlaceHolder" fact="0.18"/>
                        <dgm:constr type="h" for="ch" forName="ConnectorPoint" refType="h" refFor="ch" refForName="DropPinPlaceHolder" fact="0.18"/>
                        <dgm:constr type="ctrX" for="ch" forName="ConnectorPoint" refType="ctrX" refFor="ch" refForName="ConnectLine"/>
                        <dgm:constr type="ctrY" for="ch" forName="ConnectorPoint" refType="h" fact="0.5"/>
                        <dgm:constr type="w" for="ch" forName="DropPinPlaceHolder" refType="h" fact="0.13"/>
                        <dgm:constr type="h" for="ch" forName="DropPinPlaceHolder" refType="h" fact="0.13"/>
                        <dgm:constr type="b" for="ch" forName="DropPinPlaceHolder" refType="h"/>
                        <dgm:constr type="l" for="ch" forName="DropPinPlaceHolder" refType="w" fact="0"/>
                        <dgm:constr type="w" for="ch" forName="L2TextContainer" refType="w" fact="0.83"/>
                        <dgm:constr type="l" for="ch" forName="L2TextContainer" refType="r" refFor="ch" refForName="DropPinPlaceHolder"/>
                        <dgm:constr type="b" for="ch" forName="L2TextContainer" refType="t" refFor="ch" refForName="DropPinPlaceHolder"/>
                        <dgm:constr type="t" for="ch" forName="L2TextContainer" refType="h" fact="0.5"/>
                        <dgm:constr type="w" for="ch" forName="L1TextContainer" refType="w" fact="0.83"/>
                        <dgm:constr type="l" for="ch" forName="L1TextContainer" refType="r" refFor="ch" refForName="DropPinPlaceHolder"/>
                        <dgm:constr type="b" for="ch" forName="L1TextContainer" refType="b" refFor="ch" refForName="DropPinPlaceHolder"/>
                        <dgm:constr type="t" for="ch" forName="L1TextContainer" refType="t" refFor="ch" refForName="DropPinPlaceHolder"/>
                        <dgm:constr type="w" for="ch" forName="ConnectLine"/>
                        <dgm:constr type="ctrX" for="ch" forName="ConnectLine" refType="ctrX" refFor="ch" refForName="DropPinPlaceHolder"/>
                        <dgm:constr type="t" for="ch" forName="ConnectLine" refType="h" fact="0.5"/>
                        <dgm:constr type="b" for="ch" forName="ConnectLine" refType="t" refFor="ch" refForName="DropPinPlaceHolder"/>
                        <dgm:constr type="w" for="ch" forName="EmptyPlaceHolder" refType="w"/>
                        <dgm:constr type="h" for="ch" forName="EmptyPlaceHolder" refType="h" fact="0.5"/>
                        <dgm:constr type="t" for="ch" forName="EmptyPlaceHolder" refType="h" fact="0"/>
                      </dgm:constrLst>
                    </dgm:else>
                  </dgm:choose>
                </dgm:if>
                <dgm:else name="CaseForLayoutDirectionRTL">
                  <dgm:choose name="CaseForPlacingNodesAboveAndBelowDividerRTL">
                    <dgm:if name="CaseForPlacingNodeAboveDividerRTL" axis="self" ptType="node" func="posOdd" op="equ" val="1">
                      <dgm:constrLst>
                        <dgm:constr type="w" for="ch" forName="ConnectorPoint" refType="h" refFor="ch" refForName="DropPinPlaceHolder" fact="0.18"/>
                        <dgm:constr type="h" for="ch" forName="ConnectorPoint" refType="h" refFor="ch" refForName="DropPinPlaceHolder" fact="0.18"/>
                        <dgm:constr type="ctrX" for="ch" forName="ConnectorPoint" refType="ctrX" refFor="ch" refForName="DropPinPlaceHolder"/>
                        <dgm:constr type="ctrY" for="ch" forName="ConnectorPoint" refType="h" fact="0.5"/>
                        <dgm:constr type="w" for="ch" forName="DropPinPlaceHolder" refType="h" fact="0.13"/>
                        <dgm:constr type="h" for="ch" forName="DropPinPlaceHolder" refType="h" fact="0.13"/>
                        <dgm:constr type="t" for="ch" forName="DropPinPlaceHolder" refType="h" fact="0"/>
                        <dgm:constr type="l" for="ch" forName="DropPinPlaceHolder" refType="w" fact="0"/>
                        <dgm:constr type="w" for="ch" forName="L2TextContainer" refType="w" fact="0.83"/>
                        <dgm:constr type="l" for="ch" forName="L2TextContainer" refType="r" refFor="ch" refForName="DropPinPlaceHolder"/>
                        <dgm:constr type="t" for="ch" forName="L2TextContainer" refType="b" refFor="ch" refForName="DropPinPlaceHolder"/>
                        <dgm:constr type="b" for="ch" forName="L2TextContainer" refType="h" fact="0.5"/>
                        <dgm:constr type="w" for="ch" forName="L1TextContainer" refType="w" fact="0.83"/>
                        <dgm:constr type="l" for="ch" forName="L1TextContainer" refType="r" refFor="ch" refForName="DropPinPlaceHolder"/>
                        <dgm:constr type="b" for="ch" forName="L1TextContainer" refType="b" refFor="ch" refForName="DropPinPlaceHolder"/>
                        <dgm:constr type="t" for="ch" forName="L1TextContainer" refType="t" refFor="ch" refForName="DropPinPlaceHolder"/>
                        <dgm:constr type="w" for="ch" forName="ConnectLine"/>
                        <dgm:constr type="ctrX" for="ch" forName="ConnectLine" refType="ctrX" refFor="ch" refForName="DropPinPlaceHolder"/>
                        <dgm:constr type="b" for="ch" forName="ConnectLine" refType="h" fact="0.5"/>
                        <dgm:constr type="t" for="ch" forName="ConnectLine" refType="b" refFor="ch" refForName="DropPinPlaceHolder"/>
                        <dgm:constr type="w" for="ch" forName="EmptyPlaceHolder" refType="w"/>
                        <dgm:constr type="h" for="ch" forName="EmptyPlaceHolder" refType="h" fact="0.5"/>
                        <dgm:constr type="t" for="ch" forName="EmptyPlaceHolder" refType="h" fact="0.5"/>
                      </dgm:constrLst>
                    </dgm:if>
                    <dgm:else name="CaseForPlacingNodeBelowDividerRTL">
                      <dgm:constrLst>
                        <dgm:constr type="w" for="ch" forName="ConnectorPoint" refType="h" refFor="ch" refForName="DropPinPlaceHolder" fact="0.18"/>
                        <dgm:constr type="h" for="ch" forName="ConnectorPoint" refType="h" refFor="ch" refForName="DropPinPlaceHolder" fact="0.18"/>
                        <dgm:constr type="ctrX" for="ch" forName="ConnectorPoint" refType="ctrX" refFor="ch" refForName="DropPinPlaceHolder"/>
                        <dgm:constr type="ctrY" for="ch" forName="ConnectorPoint" refType="h" fact="0.5"/>
                        <dgm:constr type="w" for="ch" forName="DropPinPlaceHolder" refType="h" fact="0.13"/>
                        <dgm:constr type="h" for="ch" forName="DropPinPlaceHolder" refType="h" fact="0.13"/>
                        <dgm:constr type="b" for="ch" forName="DropPinPlaceHolder" refType="h"/>
                        <dgm:constr type="l" for="ch" forName="DropPinPlaceHolder" refType="w" fact="0"/>
                        <dgm:constr type="w" for="ch" forName="L2TextContainer" refType="w" fact="0.83"/>
                        <dgm:constr type="l" for="ch" forName="L2TextContainer" refType="r" refFor="ch" refForName="DropPinPlaceHolder"/>
                        <dgm:constr type="b" for="ch" forName="L2TextContainer" refType="t" refFor="ch" refForName="DropPinPlaceHolder"/>
                        <dgm:constr type="t" for="ch" forName="L2TextContainer" refType="h" fact="0.5"/>
                        <dgm:constr type="w" for="ch" forName="L1TextContainer" refType="w" fact="0.83"/>
                        <dgm:constr type="l" for="ch" forName="L1TextContainer" refType="r" refFor="ch" refForName="DropPinPlaceHolder"/>
                        <dgm:constr type="b" for="ch" forName="L1TextContainer" refType="b" refFor="ch" refForName="DropPinPlaceHolder"/>
                        <dgm:constr type="t" for="ch" forName="L1TextContainer" refType="t" refFor="ch" refForName="DropPinPlaceHolder"/>
                        <dgm:constr type="w" for="ch" forName="ConnectLine"/>
                        <dgm:constr type="ctrX" for="ch" forName="ConnectLine" refType="ctrX" refFor="ch" refForName="DropPinPlaceHolder"/>
                        <dgm:constr type="t" for="ch" forName="ConnectLine" refType="h" fact="0.5"/>
                        <dgm:constr type="b" for="ch" forName="ConnectLine" refType="t" refFor="ch" refForName="DropPinPlaceHolder"/>
                        <dgm:constr type="w" for="ch" forName="EmptyPlaceHolder" refType="w"/>
                        <dgm:constr type="h" for="ch" forName="EmptyPlaceHolder" refType="h" fact="0.5"/>
                        <dgm:constr type="t" for="ch" forName="EmptyPlaceHolder" refType="h" fact="0"/>
                      </dgm:constrLst>
                    </dgm:else>
                  </dgm:choose>
                </dgm:else>
              </dgm:choose>
              <dgm:layoutNode name="ConnectorPoint" styleLbl="lnNode1" moveWith="ConnectLine">
                <dgm:alg type="sp"/>
                <dgm:shape xmlns:r="http://schemas.openxmlformats.org/officeDocument/2006/relationships" type="ellipse" r:blip="" zOrderOff="10">
                  <dgm:adjLst/>
                  <dgm:extLst>
                    <a:ext uri="{B698B0E9-8C71-41B9-8309-B3DCBF30829C}">
                      <dgm1612:spPr xmlns:dgm1612="http://schemas.microsoft.com/office/drawing/2016/12/diagram">
                        <a:ln w="6350"/>
                      </dgm1612:spPr>
                    </a:ext>
                  </dgm:extLst>
                </dgm:shape>
                <dgm:presOf/>
                <dgm:constrLst>
                  <dgm:constr type="w" refType="h" op="equ"/>
                </dgm:constrLst>
              </dgm:layoutNode>
              <dgm:layoutNode name="DropPinPlaceHolder">
                <dgm:alg type="composite"/>
                <dgm:shape xmlns:r="http://schemas.openxmlformats.org/officeDocument/2006/relationships" r:blip="">
                  <dgm:adjLst/>
                </dgm:shape>
                <dgm:constrLst>
                  <dgm:constr type="w" for="ch" forName="DropPin" refType="w"/>
                  <dgm:constr type="h" for="ch" forName="DropPin" refType="h"/>
                  <dgm:constr type="ctrX" for="ch" forName="DropPin" refType="w" fact="0.5"/>
                  <dgm:constr type="ctrY" for="ch" forName="DropPin" refType="h" fact="0.5"/>
                  <dgm:constr type="w" for="ch" forName="Ellipse" refType="w" refFor="ch" refForName="DropPin" fact="0.55"/>
                  <dgm:constr type="h" for="ch" forName="Ellipse" refType="w" refFor="ch" refForName="DropPin" fact="0.55"/>
                  <dgm:constr type="ctrX" for="ch" forName="Ellipse" refType="ctrX" refFor="ch" refForName="DropPin"/>
                  <dgm:constr type="ctrY" for="ch" forName="Ellipse" refType="ctrY" refFor="ch" refForName="DropPin"/>
                </dgm:constrLst>
                <dgm:layoutNode name="DropPin" styleLbl="alignNode1">
                  <dgm:alg type="sp"/>
                  <dgm:choose name="CaseForPlacingTearDropAboveAndBelowDivider">
                    <dgm:if name="CaseForPlacingTearDropAboveDivider" axis="self" ptType="node" func="posOdd" op="equ" val="1">
                      <dgm:shape xmlns:r="http://schemas.openxmlformats.org/officeDocument/2006/relationships" rot="135" type="teardrop" r:blip="">
                        <dgm:adjLst>
                          <dgm:adj idx="1" val="1.15"/>
                        </dgm:adjLst>
                      </dgm:shape>
                    </dgm:if>
                    <dgm:else name="CaseForPlacingTearDropBelowDivider">
                      <dgm:shape xmlns:r="http://schemas.openxmlformats.org/officeDocument/2006/relationships" rot="-45" type="teardrop" r:blip="">
                        <dgm:adjLst>
                          <dgm:adj idx="1" val="1.15"/>
                        </dgm:adjLst>
                      </dgm:shape>
                    </dgm:else>
                  </dgm:choose>
                  <dgm:presOf/>
                  <dgm:constrLst/>
                </dgm:layoutNode>
                <dgm:layoutNode name="Ellipse" styleLbl="fgAcc1" moveWith="DropPin">
                  <dgm:alg type="sp"/>
                  <dgm:shape xmlns:r="http://schemas.openxmlformats.org/officeDocument/2006/relationships" type="ellipse" r:blip="">
                    <dgm:adjLst/>
                    <dgm:extLst>
                      <a:ext uri="{B698B0E9-8C71-41B9-8309-B3DCBF30829C}">
                        <dgm1612:spPr xmlns:dgm1612="http://schemas.microsoft.com/office/drawing/2016/12/diagram">
                          <a:ln>
                            <a:noFill/>
                          </a:ln>
                        </dgm1612:spPr>
                      </a:ext>
                    </dgm:extLst>
                  </dgm:shape>
                  <dgm:presOf/>
                  <dgm:constrLst/>
                </dgm:layoutNode>
              </dgm:layoutNode>
              <dgm:layoutNode name="L2TextContainer" styleLbl="revTx" moveWith="L1TextContainer">
                <dgm:varLst>
                  <dgm:bulletEnabled val="1"/>
                </dgm:varLst>
                <dgm:choose name="casesForTxtDirLogic">
                  <dgm:if name="Name77" axis="self" ptType="node" func="posOdd" op="equ" val="1">
                    <dgm:alg type="tx">
                      <dgm:param type="txAnchorVert" val="t"/>
                      <dgm:param type="parTxLTRAlign" val="l"/>
                      <dgm:param type="parTxRTLAlign" val="l"/>
                      <dgm:param type="txAnchorVertCh" val="t"/>
                      <dgm:param type="shpTxRTLAlignCh" val="l"/>
                      <dgm:param type="shpTxLTRAlignCh" val="l"/>
                    </dgm:alg>
                    <dgm:constrLst>
                      <dgm:constr type="lMarg"/>
                      <dgm:constr type="rMarg" refType="primFontSz" fact="0.5"/>
                      <dgm:constr type="tMarg" refType="primFontSz" fact="0.5"/>
                      <dgm:constr type="bMarg" refType="primFontSz" fact="0.75"/>
                    </dgm:constrLst>
                  </dgm:if>
                  <dgm:else name="Name88">
                    <dgm:alg type="tx">
                      <dgm:param type="txAnchorVert" val="b"/>
                      <dgm:param type="parTxLTRAlign" val="l"/>
                      <dgm:param type="parTxRTLAlign" val="l"/>
                      <dgm:param type="txAnchorVertCh" val="b"/>
                      <dgm:param type="shpTxRTLAlignCh" val="l"/>
                      <dgm:param type="shpTxLTRAlignCh" val="l"/>
                    </dgm:alg>
                    <dgm:constrLst>
                      <dgm:constr type="lMarg"/>
                      <dgm:constr type="rMarg"/>
                      <dgm:constr type="tMarg" refType="primFontSz" fact="0.75"/>
                      <dgm:constr type="bMarg" refType="primFontSz" fact="0.5"/>
                    </dgm:constrLst>
                  </dgm:else>
                </dgm:choose>
                <dgm:shape xmlns:r="http://schemas.openxmlformats.org/officeDocument/2006/relationships" type="rect" r:blip="">
                  <dgm:adjLst/>
                </dgm:shape>
                <dgm:presOf axis="des" ptType="node"/>
                <dgm:ruleLst>
                  <dgm:rule type="primFontSz" val="11" fact="NaN" max="NaN"/>
                </dgm:ruleLst>
              </dgm:layoutNode>
              <dgm:layoutNode name="L1TextContainer" styleLbl="revTx">
                <dgm:varLst>
                  <dgm:chMax val="1"/>
                  <dgm:chPref val="1"/>
                  <dgm:bulletEnabled val="1"/>
                </dgm:varLst>
                <dgm:alg type="tx">
                  <dgm:param type="txAnchorVert" val="mid"/>
                  <dgm:param type="parTxLTRAlign" val="l"/>
                  <dgm:param type="parTxRTLAlign" val="l"/>
                </dgm:alg>
                <dgm:shape xmlns:r="http://schemas.openxmlformats.org/officeDocument/2006/relationships" type="rect" r:blip="">
                  <dgm:adjLst/>
                </dgm:shape>
                <dgm:presOf axis="self"/>
                <dgm:constrLst>
                  <dgm:constr type="lMarg"/>
                  <dgm:constr type="rMarg" refType="primFontSz" fact="0.5"/>
                  <dgm:constr type="tMarg"/>
                  <dgm:constr type="bMarg"/>
                </dgm:constrLst>
                <dgm:ruleLst>
                  <dgm:rule type="primFontSz" val="13" fact="NaN" max="NaN"/>
                </dgm:ruleLst>
              </dgm:layoutNode>
              <dgm:layoutNode name="ConnectLine" styleLbl="sibTrans1D1">
                <dgm:alg type="sp"/>
                <dgm:shape xmlns:r="http://schemas.openxmlformats.org/officeDocument/2006/relationships" type="line" r:blip="">
                  <dgm:adjLst/>
                  <dgm:extLst>
                    <a:ext uri="{B698B0E9-8C71-41B9-8309-B3DCBF30829C}">
                      <dgm1612:spPr xmlns:dgm1612="http://schemas.microsoft.com/office/drawing/2016/12/diagram">
                        <a:ln w="12700">
                          <a:prstDash val="dash"/>
                        </a:ln>
                      </dgm1612:spPr>
                    </a:ext>
                  </dgm:extLst>
                </dgm:shape>
                <dgm:presOf/>
                <dgm:constrLst/>
              </dgm:layoutNode>
              <dgm:layoutNode name="EmptyPlaceHolder">
                <dgm:alg type="sp"/>
                <dgm:shape xmlns:r="http://schemas.openxmlformats.org/officeDocument/2006/relationships" r:blip="">
                  <dgm:adjLst/>
                </dgm:shape>
                <dgm:presOf/>
                <dgm:constrLst/>
              </dgm:layoutNode>
            </dgm:layoutNode>
            <dgm:forEach name="Name28" axis="followSib" ptType="sibTrans" cnt="1">
              <dgm:layoutNode name="spaceBetweenRectangles">
                <dgm:alg type="sp"/>
                <dgm:shape xmlns:r="http://schemas.openxmlformats.org/officeDocument/2006/relationships" r:blip="">
                  <dgm:adjLst/>
                </dgm:shape>
                <dgm:presOf/>
                <dgm:constrLst/>
                <dgm:ruleLst/>
              </dgm:layoutNode>
            </dgm:forEach>
          </dgm:forEach>
        </dgm:else>
      </dgm:choose>
    </dgm:layoutNode>
  </dgm:layoutNode>
  <dgm:extLst>
    <a:ext uri="{68A01E43-0DF5-4B5B-8FA6-DAF915123BFB}">
      <dgm1612:lstStyle xmlns:dgm1612="http://schemas.microsoft.com/office/drawing/2016/12/diagram">
        <a:lvl1pPr>
          <a:defRPr b="1"/>
        </a:lvl1pPr>
      </dgm1612:lstStyle>
    </a:ext>
  </dgm:extLst>
</dgm:layoutDef>
</file>

<file path=ppt/diagrams/layout2.xml><?xml version="1.0" encoding="utf-8"?>
<dgm:layoutDef xmlns:dgm="http://schemas.openxmlformats.org/drawingml/2006/diagram" xmlns:a="http://schemas.openxmlformats.org/drawingml/2006/main" uniqueId="urn:microsoft.com/office/officeart/2018/5/layout/CenteredIconLabelDescriptionList">
  <dgm:title val="Centered Icon Label Description List"/>
  <dgm:desc val="Use to show non-sequential or grouped chunks of information. The placeholder holds an icon or small picture, and corresponding text boxes show Level 1 and Level 2 text respectively. Works well for minimal Level 1 text accompanied by lengthier Level two text."/>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if>
      <dgm:else name="Name2">
        <dgm:alg type="lin">
          <dgm:param type="linDir" val="fromR"/>
        </dgm:alg>
      </dgm:else>
    </dgm:choose>
    <dgm:shape xmlns:r="http://schemas.openxmlformats.org/officeDocument/2006/relationships" r:blip="">
      <dgm:adjLst/>
    </dgm:shape>
    <dgm:presOf/>
    <dgm:constrLst>
      <dgm:constr type="h" for="ch" forName="compNode" refType="h" fact="0.45"/>
      <dgm:constr type="w" for="ch" forName="compNode" val="120"/>
      <dgm:constr type="w" for="ch" forName="sibTrans" refType="w" refFor="ch" refForName="compNode" fact="0.175"/>
      <dgm:constr type="primFontSz" for="des" forName="parTx" val="36"/>
      <dgm:constr type="primFontSz" for="des" forName="desTx" refType="primFontSz" refFor="des" refForName="parTx" op="lte" fact="0.75"/>
      <dgm:constr type="h" for="des" forName="compNode" op="equ"/>
      <dgm:constr type="h" for="des" forName="iconRect" op="equ"/>
      <dgm:constr type="w" for="des" forName="iconRect" op="equ"/>
      <dgm:constr type="h" for="des" forName="iconSpace" op="equ"/>
      <dgm:constr type="h" for="des" forName="parTx" op="equ"/>
      <dgm:constr type="h" for="des" forName="txSpace" op="equ"/>
      <dgm:constr type="h" for="des" forName="desTx" op="equ"/>
    </dgm:constrLst>
    <dgm:ruleLst>
      <dgm:rule type="w" for="ch" forName="compNode" val="0" fact="NaN" max="NaN"/>
    </dgm:ruleLst>
    <dgm:forEach name="Name3" axis="ch" ptType="node">
      <dgm:layoutNode name="compNode">
        <dgm:alg type="composite"/>
        <dgm:shape xmlns:r="http://schemas.openxmlformats.org/officeDocument/2006/relationships" r:blip="">
          <dgm:adjLst/>
        </dgm:shape>
        <dgm:presOf axis="self"/>
        <dgm:constrLst>
          <dgm:constr type="w" for="ch" forName="iconRect" refType="w" fact="0.35"/>
          <dgm:constr type="h" for="ch" forName="iconRect" refType="w" refFor="ch" refForName="iconRect"/>
          <dgm:constr type="ctrX" for="ch" forName="iconRect" refType="w" fact="0.5"/>
          <dgm:constr type="t" for="ch" forName="iconRect"/>
          <dgm:constr type="w" for="ch" forName="iconSpace" refType="w"/>
          <dgm:constr type="h" for="ch" forName="iconSpace" refType="h" fact="0.043"/>
          <dgm:constr type="l" for="ch" forName="iconSpace"/>
          <dgm:constr type="t" for="ch" forName="iconSpace" refType="b" refFor="ch" refForName="iconRect"/>
          <dgm:constr type="w" for="ch" forName="parTx" refType="w"/>
          <dgm:constr type="h" for="ch" forName="parTx" refType="w" fact="0.15"/>
          <dgm:constr type="l" for="ch" forName="parTx"/>
          <dgm:constr type="t" for="ch" forName="parTx" refType="b" refFor="ch" refForName="iconSpace"/>
          <dgm:constr type="h" for="ch" forName="txSpace" refType="h" fact="0.02"/>
          <dgm:constr type="w" for="ch" forName="txSpace" refType="w"/>
          <dgm:constr type="l" for="ch" forName="txSpace"/>
          <dgm:constr type="t" for="ch" forName="txSpace" refType="b" refFor="ch" refForName="parTx"/>
          <dgm:constr type="w" for="ch" forName="desTx" refType="w"/>
          <dgm:constr type="l" for="ch" forName="desTx"/>
          <dgm:constr type="t" for="ch" forName="desTx" refType="b" refFor="ch" refForName="txSpace"/>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iconSpace">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4" fact="NaN" max="NaN"/>
            <dgm:rule type="h" val="INF" fact="NaN" max="NaN"/>
          </dgm:ruleLst>
        </dgm:layoutNode>
        <dgm:layoutNode name="txSpace">
          <dgm:alg type="sp"/>
          <dgm:shape xmlns:r="http://schemas.openxmlformats.org/officeDocument/2006/relationships" r:blip="">
            <dgm:adjLst/>
          </dgm:shape>
          <dgm:presOf/>
          <dgm:constrLst/>
          <dgm:ruleLst/>
        </dgm:layoutNode>
        <dgm:layoutNode name="desTx" styleLbl="revTx">
          <dgm:varLst/>
          <dgm:alg type="tx">
            <dgm:param type="stBulletLvl" val="0"/>
            <dgm:param type="txAnchorVert" val="t"/>
          </dgm:alg>
          <dgm:shape xmlns:r="http://schemas.openxmlformats.org/officeDocument/2006/relationships" type="rect" r:blip="">
            <dgm:adjLst/>
          </dgm:shape>
          <dgm:presOf axis="des" ptType="node"/>
          <dgm:constrLst>
            <dgm:constr type="secFontSz" refType="primFontSz"/>
            <dgm:constr type="lMarg"/>
            <dgm:constr type="rMarg"/>
            <dgm:constr type="tMarg"/>
            <dgm:constr type="bMarg"/>
          </dgm:constrLst>
          <dgm:ruleLst>
            <dgm:rule type="primFontSz" val="NaN" fact="NaN" max="17"/>
            <dgm:rule type="h" val="INF" fact="NaN" max="NaN"/>
          </dgm:ruleLst>
        </dgm:layoutNode>
      </dgm:layoutNode>
      <dgm:forEach name="Name4"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167AEF6-7701-A448-8306-967C4ED74540}" type="datetimeFigureOut">
              <a:rPr lang="en-US" smtClean="0"/>
              <a:t>10/6/25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80181CC-B7D7-204E-8212-B1D5B8EC04A4}" type="slidenum">
              <a:rPr lang="en-US" smtClean="0"/>
              <a:t>‹#›</a:t>
            </a:fld>
            <a:endParaRPr lang="en-US"/>
          </a:p>
        </p:txBody>
      </p:sp>
    </p:spTree>
    <p:extLst>
      <p:ext uri="{BB962C8B-B14F-4D97-AF65-F5344CB8AC3E}">
        <p14:creationId xmlns:p14="http://schemas.microsoft.com/office/powerpoint/2010/main" val="236504638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DD8685-BF39-1495-CF24-4F1B0307D8C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07570D9A-C5D2-FF7C-3644-A4DF8E89E91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32B66580-4BD6-903B-24E8-248EE1848F4C}"/>
              </a:ext>
            </a:extLst>
          </p:cNvPr>
          <p:cNvSpPr>
            <a:spLocks noGrp="1"/>
          </p:cNvSpPr>
          <p:nvPr>
            <p:ph type="dt" sz="half" idx="10"/>
          </p:nvPr>
        </p:nvSpPr>
        <p:spPr/>
        <p:txBody>
          <a:bodyPr/>
          <a:lstStyle/>
          <a:p>
            <a:fld id="{FAF0BA02-0F25-D340-918E-D8EE852131BC}" type="datetimeFigureOut">
              <a:rPr lang="en-US" smtClean="0"/>
              <a:t>10/6/25</a:t>
            </a:fld>
            <a:endParaRPr lang="en-US"/>
          </a:p>
        </p:txBody>
      </p:sp>
      <p:sp>
        <p:nvSpPr>
          <p:cNvPr id="5" name="Footer Placeholder 4">
            <a:extLst>
              <a:ext uri="{FF2B5EF4-FFF2-40B4-BE49-F238E27FC236}">
                <a16:creationId xmlns:a16="http://schemas.microsoft.com/office/drawing/2014/main" id="{A28C833E-E817-74EA-AF0F-7BE77F457AC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5ACE881-D5F7-4DFC-EDD7-5B4CB70566F0}"/>
              </a:ext>
            </a:extLst>
          </p:cNvPr>
          <p:cNvSpPr>
            <a:spLocks noGrp="1"/>
          </p:cNvSpPr>
          <p:nvPr>
            <p:ph type="sldNum" sz="quarter" idx="12"/>
          </p:nvPr>
        </p:nvSpPr>
        <p:spPr/>
        <p:txBody>
          <a:bodyPr/>
          <a:lstStyle/>
          <a:p>
            <a:fld id="{F3E529D2-2E2C-C047-A7F6-02E756C41443}" type="slidenum">
              <a:rPr lang="en-US" smtClean="0"/>
              <a:t>‹#›</a:t>
            </a:fld>
            <a:endParaRPr lang="en-US"/>
          </a:p>
        </p:txBody>
      </p:sp>
    </p:spTree>
    <p:extLst>
      <p:ext uri="{BB962C8B-B14F-4D97-AF65-F5344CB8AC3E}">
        <p14:creationId xmlns:p14="http://schemas.microsoft.com/office/powerpoint/2010/main" val="394885404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47DADB-B80F-4DBE-2089-E463BF701DC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4949650-58FD-6F35-5CFE-A6132BD1F6F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E009DA3-C902-45CF-1E5A-AF70F6242221}"/>
              </a:ext>
            </a:extLst>
          </p:cNvPr>
          <p:cNvSpPr>
            <a:spLocks noGrp="1"/>
          </p:cNvSpPr>
          <p:nvPr>
            <p:ph type="dt" sz="half" idx="10"/>
          </p:nvPr>
        </p:nvSpPr>
        <p:spPr/>
        <p:txBody>
          <a:bodyPr/>
          <a:lstStyle/>
          <a:p>
            <a:fld id="{FAF0BA02-0F25-D340-918E-D8EE852131BC}" type="datetimeFigureOut">
              <a:rPr lang="en-US" smtClean="0"/>
              <a:t>10/6/25</a:t>
            </a:fld>
            <a:endParaRPr lang="en-US"/>
          </a:p>
        </p:txBody>
      </p:sp>
      <p:sp>
        <p:nvSpPr>
          <p:cNvPr id="5" name="Footer Placeholder 4">
            <a:extLst>
              <a:ext uri="{FF2B5EF4-FFF2-40B4-BE49-F238E27FC236}">
                <a16:creationId xmlns:a16="http://schemas.microsoft.com/office/drawing/2014/main" id="{2148F805-C836-5139-139D-9E094B8DF97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785012B-7603-ED21-D784-A0D7ED1D78CB}"/>
              </a:ext>
            </a:extLst>
          </p:cNvPr>
          <p:cNvSpPr>
            <a:spLocks noGrp="1"/>
          </p:cNvSpPr>
          <p:nvPr>
            <p:ph type="sldNum" sz="quarter" idx="12"/>
          </p:nvPr>
        </p:nvSpPr>
        <p:spPr/>
        <p:txBody>
          <a:bodyPr/>
          <a:lstStyle/>
          <a:p>
            <a:fld id="{F3E529D2-2E2C-C047-A7F6-02E756C41443}" type="slidenum">
              <a:rPr lang="en-US" smtClean="0"/>
              <a:t>‹#›</a:t>
            </a:fld>
            <a:endParaRPr lang="en-US"/>
          </a:p>
        </p:txBody>
      </p:sp>
    </p:spTree>
    <p:extLst>
      <p:ext uri="{BB962C8B-B14F-4D97-AF65-F5344CB8AC3E}">
        <p14:creationId xmlns:p14="http://schemas.microsoft.com/office/powerpoint/2010/main" val="83190517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DF3600-9272-D9D7-798D-8D73A0BB232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BF6C3236-7D2D-CF0A-7AD8-975A408D2ADC}"/>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AAA09E9-C946-D66F-DB27-46E004F6076A}"/>
              </a:ext>
            </a:extLst>
          </p:cNvPr>
          <p:cNvSpPr>
            <a:spLocks noGrp="1"/>
          </p:cNvSpPr>
          <p:nvPr>
            <p:ph type="dt" sz="half" idx="10"/>
          </p:nvPr>
        </p:nvSpPr>
        <p:spPr/>
        <p:txBody>
          <a:bodyPr/>
          <a:lstStyle/>
          <a:p>
            <a:fld id="{FAF0BA02-0F25-D340-918E-D8EE852131BC}" type="datetimeFigureOut">
              <a:rPr lang="en-US" smtClean="0"/>
              <a:t>10/6/25</a:t>
            </a:fld>
            <a:endParaRPr lang="en-US"/>
          </a:p>
        </p:txBody>
      </p:sp>
      <p:sp>
        <p:nvSpPr>
          <p:cNvPr id="5" name="Footer Placeholder 4">
            <a:extLst>
              <a:ext uri="{FF2B5EF4-FFF2-40B4-BE49-F238E27FC236}">
                <a16:creationId xmlns:a16="http://schemas.microsoft.com/office/drawing/2014/main" id="{9FB57067-F01C-1BFC-D433-5910030F789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1A5947D-1648-B7E2-CD4F-9458A0EE9F5C}"/>
              </a:ext>
            </a:extLst>
          </p:cNvPr>
          <p:cNvSpPr>
            <a:spLocks noGrp="1"/>
          </p:cNvSpPr>
          <p:nvPr>
            <p:ph type="sldNum" sz="quarter" idx="12"/>
          </p:nvPr>
        </p:nvSpPr>
        <p:spPr/>
        <p:txBody>
          <a:bodyPr/>
          <a:lstStyle/>
          <a:p>
            <a:fld id="{F3E529D2-2E2C-C047-A7F6-02E756C41443}" type="slidenum">
              <a:rPr lang="en-US" smtClean="0"/>
              <a:t>‹#›</a:t>
            </a:fld>
            <a:endParaRPr lang="en-US"/>
          </a:p>
        </p:txBody>
      </p:sp>
    </p:spTree>
    <p:extLst>
      <p:ext uri="{BB962C8B-B14F-4D97-AF65-F5344CB8AC3E}">
        <p14:creationId xmlns:p14="http://schemas.microsoft.com/office/powerpoint/2010/main" val="7961679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1B5E61-F812-1423-34EE-6FEC7757EF1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DAA3AAA-69FB-12A5-6737-C7F5373CAC4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7E0847A6-5FEF-46A4-12D6-EF4C61A7EB6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75BFC1ED-BF91-EA9D-6BFC-EDCD4CBC6857}"/>
              </a:ext>
            </a:extLst>
          </p:cNvPr>
          <p:cNvSpPr>
            <a:spLocks noGrp="1"/>
          </p:cNvSpPr>
          <p:nvPr>
            <p:ph type="dt" sz="half" idx="10"/>
          </p:nvPr>
        </p:nvSpPr>
        <p:spPr/>
        <p:txBody>
          <a:bodyPr/>
          <a:lstStyle/>
          <a:p>
            <a:fld id="{FAF0BA02-0F25-D340-918E-D8EE852131BC}" type="datetimeFigureOut">
              <a:rPr lang="en-US" smtClean="0"/>
              <a:t>10/6/25</a:t>
            </a:fld>
            <a:endParaRPr lang="en-US"/>
          </a:p>
        </p:txBody>
      </p:sp>
      <p:sp>
        <p:nvSpPr>
          <p:cNvPr id="6" name="Footer Placeholder 5">
            <a:extLst>
              <a:ext uri="{FF2B5EF4-FFF2-40B4-BE49-F238E27FC236}">
                <a16:creationId xmlns:a16="http://schemas.microsoft.com/office/drawing/2014/main" id="{C4B997AC-3D60-39F1-8974-DD22A3938DA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6D0B4E5-D22A-4CA8-6CA7-84AB229ADF25}"/>
              </a:ext>
            </a:extLst>
          </p:cNvPr>
          <p:cNvSpPr>
            <a:spLocks noGrp="1"/>
          </p:cNvSpPr>
          <p:nvPr>
            <p:ph type="sldNum" sz="quarter" idx="12"/>
          </p:nvPr>
        </p:nvSpPr>
        <p:spPr/>
        <p:txBody>
          <a:bodyPr/>
          <a:lstStyle/>
          <a:p>
            <a:fld id="{F3E529D2-2E2C-C047-A7F6-02E756C41443}" type="slidenum">
              <a:rPr lang="en-US" smtClean="0"/>
              <a:t>‹#›</a:t>
            </a:fld>
            <a:endParaRPr lang="en-US"/>
          </a:p>
        </p:txBody>
      </p:sp>
    </p:spTree>
    <p:extLst>
      <p:ext uri="{BB962C8B-B14F-4D97-AF65-F5344CB8AC3E}">
        <p14:creationId xmlns:p14="http://schemas.microsoft.com/office/powerpoint/2010/main" val="370608398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03BA90-0A1F-DA9D-19F2-88E1DED1801E}"/>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CA334331-C7A8-1A51-2C79-AE089269D4F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E231F30-3CF7-A0AC-BBD8-5E10E34EC90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34F5D109-61E9-D8F1-E494-6BF5ADD7532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21BE70D-79AB-B43B-DB6D-C147C090170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3949B1AB-0C7E-450B-370C-332C3CEF0DB3}"/>
              </a:ext>
            </a:extLst>
          </p:cNvPr>
          <p:cNvSpPr>
            <a:spLocks noGrp="1"/>
          </p:cNvSpPr>
          <p:nvPr>
            <p:ph type="dt" sz="half" idx="10"/>
          </p:nvPr>
        </p:nvSpPr>
        <p:spPr/>
        <p:txBody>
          <a:bodyPr/>
          <a:lstStyle/>
          <a:p>
            <a:fld id="{FAF0BA02-0F25-D340-918E-D8EE852131BC}" type="datetimeFigureOut">
              <a:rPr lang="en-US" smtClean="0"/>
              <a:t>10/6/25</a:t>
            </a:fld>
            <a:endParaRPr lang="en-US"/>
          </a:p>
        </p:txBody>
      </p:sp>
      <p:sp>
        <p:nvSpPr>
          <p:cNvPr id="8" name="Footer Placeholder 7">
            <a:extLst>
              <a:ext uri="{FF2B5EF4-FFF2-40B4-BE49-F238E27FC236}">
                <a16:creationId xmlns:a16="http://schemas.microsoft.com/office/drawing/2014/main" id="{B975CFB9-9629-CD38-647F-DEC7E3315309}"/>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DD298033-3117-7EB5-AF93-43DD7EA74C99}"/>
              </a:ext>
            </a:extLst>
          </p:cNvPr>
          <p:cNvSpPr>
            <a:spLocks noGrp="1"/>
          </p:cNvSpPr>
          <p:nvPr>
            <p:ph type="sldNum" sz="quarter" idx="12"/>
          </p:nvPr>
        </p:nvSpPr>
        <p:spPr/>
        <p:txBody>
          <a:bodyPr/>
          <a:lstStyle/>
          <a:p>
            <a:fld id="{F3E529D2-2E2C-C047-A7F6-02E756C41443}" type="slidenum">
              <a:rPr lang="en-US" smtClean="0"/>
              <a:t>‹#›</a:t>
            </a:fld>
            <a:endParaRPr lang="en-US"/>
          </a:p>
        </p:txBody>
      </p:sp>
    </p:spTree>
    <p:extLst>
      <p:ext uri="{BB962C8B-B14F-4D97-AF65-F5344CB8AC3E}">
        <p14:creationId xmlns:p14="http://schemas.microsoft.com/office/powerpoint/2010/main" val="213405204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EFFBD4-AECC-E8C5-699F-0C0903C7EDE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4F549BC2-4D8F-48F9-AD49-909ED7E228D2}"/>
              </a:ext>
            </a:extLst>
          </p:cNvPr>
          <p:cNvSpPr>
            <a:spLocks noGrp="1"/>
          </p:cNvSpPr>
          <p:nvPr>
            <p:ph type="dt" sz="half" idx="10"/>
          </p:nvPr>
        </p:nvSpPr>
        <p:spPr/>
        <p:txBody>
          <a:bodyPr/>
          <a:lstStyle/>
          <a:p>
            <a:fld id="{FAF0BA02-0F25-D340-918E-D8EE852131BC}" type="datetimeFigureOut">
              <a:rPr lang="en-US" smtClean="0"/>
              <a:t>10/6/25</a:t>
            </a:fld>
            <a:endParaRPr lang="en-US"/>
          </a:p>
        </p:txBody>
      </p:sp>
      <p:sp>
        <p:nvSpPr>
          <p:cNvPr id="4" name="Footer Placeholder 3">
            <a:extLst>
              <a:ext uri="{FF2B5EF4-FFF2-40B4-BE49-F238E27FC236}">
                <a16:creationId xmlns:a16="http://schemas.microsoft.com/office/drawing/2014/main" id="{6352770D-597A-F527-A555-5F513FBD167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BFCECB0-C3A8-A297-ED7D-3A216E473DD0}"/>
              </a:ext>
            </a:extLst>
          </p:cNvPr>
          <p:cNvSpPr>
            <a:spLocks noGrp="1"/>
          </p:cNvSpPr>
          <p:nvPr>
            <p:ph type="sldNum" sz="quarter" idx="12"/>
          </p:nvPr>
        </p:nvSpPr>
        <p:spPr/>
        <p:txBody>
          <a:bodyPr/>
          <a:lstStyle/>
          <a:p>
            <a:fld id="{F3E529D2-2E2C-C047-A7F6-02E756C41443}" type="slidenum">
              <a:rPr lang="en-US" smtClean="0"/>
              <a:t>‹#›</a:t>
            </a:fld>
            <a:endParaRPr lang="en-US"/>
          </a:p>
        </p:txBody>
      </p:sp>
    </p:spTree>
    <p:extLst>
      <p:ext uri="{BB962C8B-B14F-4D97-AF65-F5344CB8AC3E}">
        <p14:creationId xmlns:p14="http://schemas.microsoft.com/office/powerpoint/2010/main" val="20574112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7918144-F63D-4592-FB39-3F0FC0B0D014}"/>
              </a:ext>
            </a:extLst>
          </p:cNvPr>
          <p:cNvSpPr>
            <a:spLocks noGrp="1"/>
          </p:cNvSpPr>
          <p:nvPr>
            <p:ph type="dt" sz="half" idx="10"/>
          </p:nvPr>
        </p:nvSpPr>
        <p:spPr/>
        <p:txBody>
          <a:bodyPr/>
          <a:lstStyle/>
          <a:p>
            <a:fld id="{FAF0BA02-0F25-D340-918E-D8EE852131BC}" type="datetimeFigureOut">
              <a:rPr lang="en-US" smtClean="0"/>
              <a:t>10/6/25</a:t>
            </a:fld>
            <a:endParaRPr lang="en-US"/>
          </a:p>
        </p:txBody>
      </p:sp>
      <p:sp>
        <p:nvSpPr>
          <p:cNvPr id="3" name="Footer Placeholder 2">
            <a:extLst>
              <a:ext uri="{FF2B5EF4-FFF2-40B4-BE49-F238E27FC236}">
                <a16:creationId xmlns:a16="http://schemas.microsoft.com/office/drawing/2014/main" id="{9619F033-E09A-ED79-82B5-84084274DDE4}"/>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A05CD2E4-7CFD-80DD-AC76-B4678D1BF180}"/>
              </a:ext>
            </a:extLst>
          </p:cNvPr>
          <p:cNvSpPr>
            <a:spLocks noGrp="1"/>
          </p:cNvSpPr>
          <p:nvPr>
            <p:ph type="sldNum" sz="quarter" idx="12"/>
          </p:nvPr>
        </p:nvSpPr>
        <p:spPr/>
        <p:txBody>
          <a:bodyPr/>
          <a:lstStyle/>
          <a:p>
            <a:fld id="{F3E529D2-2E2C-C047-A7F6-02E756C41443}" type="slidenum">
              <a:rPr lang="en-US" smtClean="0"/>
              <a:t>‹#›</a:t>
            </a:fld>
            <a:endParaRPr lang="en-US"/>
          </a:p>
        </p:txBody>
      </p:sp>
    </p:spTree>
    <p:extLst>
      <p:ext uri="{BB962C8B-B14F-4D97-AF65-F5344CB8AC3E}">
        <p14:creationId xmlns:p14="http://schemas.microsoft.com/office/powerpoint/2010/main" val="1502179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04EC68-9E8A-1C4E-3870-837460FB0F5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D70A7183-3209-1E66-2BF7-1E1A4929C8E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036AE320-2885-02E9-B408-B65255068F2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28DE966-F088-C19B-82CC-03B3041D3012}"/>
              </a:ext>
            </a:extLst>
          </p:cNvPr>
          <p:cNvSpPr>
            <a:spLocks noGrp="1"/>
          </p:cNvSpPr>
          <p:nvPr>
            <p:ph type="dt" sz="half" idx="10"/>
          </p:nvPr>
        </p:nvSpPr>
        <p:spPr/>
        <p:txBody>
          <a:bodyPr/>
          <a:lstStyle/>
          <a:p>
            <a:fld id="{FAF0BA02-0F25-D340-918E-D8EE852131BC}" type="datetimeFigureOut">
              <a:rPr lang="en-US" smtClean="0"/>
              <a:t>10/6/25</a:t>
            </a:fld>
            <a:endParaRPr lang="en-US"/>
          </a:p>
        </p:txBody>
      </p:sp>
      <p:sp>
        <p:nvSpPr>
          <p:cNvPr id="6" name="Footer Placeholder 5">
            <a:extLst>
              <a:ext uri="{FF2B5EF4-FFF2-40B4-BE49-F238E27FC236}">
                <a16:creationId xmlns:a16="http://schemas.microsoft.com/office/drawing/2014/main" id="{7A208DAD-768A-4C0A-F45B-F3FB43354AB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F00889F-7F15-E862-45CC-BE877A533D30}"/>
              </a:ext>
            </a:extLst>
          </p:cNvPr>
          <p:cNvSpPr>
            <a:spLocks noGrp="1"/>
          </p:cNvSpPr>
          <p:nvPr>
            <p:ph type="sldNum" sz="quarter" idx="12"/>
          </p:nvPr>
        </p:nvSpPr>
        <p:spPr/>
        <p:txBody>
          <a:bodyPr/>
          <a:lstStyle/>
          <a:p>
            <a:fld id="{F3E529D2-2E2C-C047-A7F6-02E756C41443}" type="slidenum">
              <a:rPr lang="en-US" smtClean="0"/>
              <a:t>‹#›</a:t>
            </a:fld>
            <a:endParaRPr lang="en-US"/>
          </a:p>
        </p:txBody>
      </p:sp>
    </p:spTree>
    <p:extLst>
      <p:ext uri="{BB962C8B-B14F-4D97-AF65-F5344CB8AC3E}">
        <p14:creationId xmlns:p14="http://schemas.microsoft.com/office/powerpoint/2010/main" val="378259983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090D12-6DAD-171E-5C44-1C933DBAA33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53F5210E-6C87-CE34-5144-9869CA0A86B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57210B58-298A-786B-6B20-C8620C51A73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1012C1E-0CC0-0198-4AAC-338809C6ECD8}"/>
              </a:ext>
            </a:extLst>
          </p:cNvPr>
          <p:cNvSpPr>
            <a:spLocks noGrp="1"/>
          </p:cNvSpPr>
          <p:nvPr>
            <p:ph type="dt" sz="half" idx="10"/>
          </p:nvPr>
        </p:nvSpPr>
        <p:spPr/>
        <p:txBody>
          <a:bodyPr/>
          <a:lstStyle/>
          <a:p>
            <a:fld id="{FAF0BA02-0F25-D340-918E-D8EE852131BC}" type="datetimeFigureOut">
              <a:rPr lang="en-US" smtClean="0"/>
              <a:t>10/6/25</a:t>
            </a:fld>
            <a:endParaRPr lang="en-US"/>
          </a:p>
        </p:txBody>
      </p:sp>
      <p:sp>
        <p:nvSpPr>
          <p:cNvPr id="6" name="Footer Placeholder 5">
            <a:extLst>
              <a:ext uri="{FF2B5EF4-FFF2-40B4-BE49-F238E27FC236}">
                <a16:creationId xmlns:a16="http://schemas.microsoft.com/office/drawing/2014/main" id="{A0083992-6824-C0C3-BD44-70007CBE382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E6427E1-DE32-B61D-721C-F6029E9A492E}"/>
              </a:ext>
            </a:extLst>
          </p:cNvPr>
          <p:cNvSpPr>
            <a:spLocks noGrp="1"/>
          </p:cNvSpPr>
          <p:nvPr>
            <p:ph type="sldNum" sz="quarter" idx="12"/>
          </p:nvPr>
        </p:nvSpPr>
        <p:spPr/>
        <p:txBody>
          <a:bodyPr/>
          <a:lstStyle/>
          <a:p>
            <a:fld id="{F3E529D2-2E2C-C047-A7F6-02E756C41443}" type="slidenum">
              <a:rPr lang="en-US" smtClean="0"/>
              <a:t>‹#›</a:t>
            </a:fld>
            <a:endParaRPr lang="en-US"/>
          </a:p>
        </p:txBody>
      </p:sp>
    </p:spTree>
    <p:extLst>
      <p:ext uri="{BB962C8B-B14F-4D97-AF65-F5344CB8AC3E}">
        <p14:creationId xmlns:p14="http://schemas.microsoft.com/office/powerpoint/2010/main" val="338215124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9CA54F-0914-1D5E-53DA-546EE30E902A}"/>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175933A5-10B3-8922-AFE2-FA3A0D2318F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5CA5B6B-E662-D7EE-403C-422DA0DF943F}"/>
              </a:ext>
            </a:extLst>
          </p:cNvPr>
          <p:cNvSpPr>
            <a:spLocks noGrp="1"/>
          </p:cNvSpPr>
          <p:nvPr>
            <p:ph type="dt" sz="half" idx="10"/>
          </p:nvPr>
        </p:nvSpPr>
        <p:spPr/>
        <p:txBody>
          <a:bodyPr/>
          <a:lstStyle/>
          <a:p>
            <a:fld id="{FAF0BA02-0F25-D340-918E-D8EE852131BC}" type="datetimeFigureOut">
              <a:rPr lang="en-US" smtClean="0"/>
              <a:t>10/6/25</a:t>
            </a:fld>
            <a:endParaRPr lang="en-US"/>
          </a:p>
        </p:txBody>
      </p:sp>
      <p:sp>
        <p:nvSpPr>
          <p:cNvPr id="5" name="Footer Placeholder 4">
            <a:extLst>
              <a:ext uri="{FF2B5EF4-FFF2-40B4-BE49-F238E27FC236}">
                <a16:creationId xmlns:a16="http://schemas.microsoft.com/office/drawing/2014/main" id="{89C06DC3-D311-881F-12C0-2FE33C0AE4A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F012770-8D29-70D7-240E-A5D28D8B1620}"/>
              </a:ext>
            </a:extLst>
          </p:cNvPr>
          <p:cNvSpPr>
            <a:spLocks noGrp="1"/>
          </p:cNvSpPr>
          <p:nvPr>
            <p:ph type="sldNum" sz="quarter" idx="12"/>
          </p:nvPr>
        </p:nvSpPr>
        <p:spPr/>
        <p:txBody>
          <a:bodyPr/>
          <a:lstStyle/>
          <a:p>
            <a:fld id="{F3E529D2-2E2C-C047-A7F6-02E756C41443}" type="slidenum">
              <a:rPr lang="en-US" smtClean="0"/>
              <a:t>‹#›</a:t>
            </a:fld>
            <a:endParaRPr lang="en-US"/>
          </a:p>
        </p:txBody>
      </p:sp>
    </p:spTree>
    <p:extLst>
      <p:ext uri="{BB962C8B-B14F-4D97-AF65-F5344CB8AC3E}">
        <p14:creationId xmlns:p14="http://schemas.microsoft.com/office/powerpoint/2010/main" val="258529593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C264A2C-5C3D-7618-54D9-236EE375EC8B}"/>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912CC421-D912-2B56-4407-EB582E3C37C4}"/>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002B872-E8F9-D888-62B2-24851297FEF9}"/>
              </a:ext>
            </a:extLst>
          </p:cNvPr>
          <p:cNvSpPr>
            <a:spLocks noGrp="1"/>
          </p:cNvSpPr>
          <p:nvPr>
            <p:ph type="dt" sz="half" idx="10"/>
          </p:nvPr>
        </p:nvSpPr>
        <p:spPr/>
        <p:txBody>
          <a:bodyPr/>
          <a:lstStyle/>
          <a:p>
            <a:fld id="{FAF0BA02-0F25-D340-918E-D8EE852131BC}" type="datetimeFigureOut">
              <a:rPr lang="en-US" smtClean="0"/>
              <a:t>10/6/25</a:t>
            </a:fld>
            <a:endParaRPr lang="en-US"/>
          </a:p>
        </p:txBody>
      </p:sp>
      <p:sp>
        <p:nvSpPr>
          <p:cNvPr id="5" name="Footer Placeholder 4">
            <a:extLst>
              <a:ext uri="{FF2B5EF4-FFF2-40B4-BE49-F238E27FC236}">
                <a16:creationId xmlns:a16="http://schemas.microsoft.com/office/drawing/2014/main" id="{BF6F562E-3003-3833-0DFA-C3E2ED5A9A3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505A6C1-A554-A489-BF47-674D944FAC40}"/>
              </a:ext>
            </a:extLst>
          </p:cNvPr>
          <p:cNvSpPr>
            <a:spLocks noGrp="1"/>
          </p:cNvSpPr>
          <p:nvPr>
            <p:ph type="sldNum" sz="quarter" idx="12"/>
          </p:nvPr>
        </p:nvSpPr>
        <p:spPr/>
        <p:txBody>
          <a:bodyPr/>
          <a:lstStyle/>
          <a:p>
            <a:fld id="{F3E529D2-2E2C-C047-A7F6-02E756C41443}" type="slidenum">
              <a:rPr lang="en-US" smtClean="0"/>
              <a:t>‹#›</a:t>
            </a:fld>
            <a:endParaRPr lang="en-US"/>
          </a:p>
        </p:txBody>
      </p:sp>
    </p:spTree>
    <p:extLst>
      <p:ext uri="{BB962C8B-B14F-4D97-AF65-F5344CB8AC3E}">
        <p14:creationId xmlns:p14="http://schemas.microsoft.com/office/powerpoint/2010/main" val="325679687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C36F00F-E4B5-6449-3F27-7F7400DF6D5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E6B53526-985E-710C-A6C0-ABF1E758FBD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ECCAF5F-ECEE-FE4F-325D-5A7DE3A869E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FAF0BA02-0F25-D340-918E-D8EE852131BC}" type="datetimeFigureOut">
              <a:rPr lang="en-US" smtClean="0"/>
              <a:t>10/6/25</a:t>
            </a:fld>
            <a:endParaRPr lang="en-US"/>
          </a:p>
        </p:txBody>
      </p:sp>
      <p:sp>
        <p:nvSpPr>
          <p:cNvPr id="5" name="Footer Placeholder 4">
            <a:extLst>
              <a:ext uri="{FF2B5EF4-FFF2-40B4-BE49-F238E27FC236}">
                <a16:creationId xmlns:a16="http://schemas.microsoft.com/office/drawing/2014/main" id="{B8BACCA8-3B4C-02C5-3971-C6C37AC0EFC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E48537C8-E258-F0CF-E7E9-564B96C59D5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F3E529D2-2E2C-C047-A7F6-02E756C41443}" type="slidenum">
              <a:rPr lang="en-US" smtClean="0"/>
              <a:t>‹#›</a:t>
            </a:fld>
            <a:endParaRPr lang="en-US"/>
          </a:p>
        </p:txBody>
      </p:sp>
    </p:spTree>
    <p:extLst>
      <p:ext uri="{BB962C8B-B14F-4D97-AF65-F5344CB8AC3E}">
        <p14:creationId xmlns:p14="http://schemas.microsoft.com/office/powerpoint/2010/main" val="164342898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NUL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NUL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NUL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NUL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NUL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21.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80.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91.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01.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130.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180.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220.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230.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170.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240.png"/><Relationship Id="rId2" Type="http://schemas.openxmlformats.org/officeDocument/2006/relationships/image" Target="../media/image241.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25.jpe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NUL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NUL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30.jpe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32.jpe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33.jpe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image" Target="../media/image34.jpe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image" Target="../media/image35.jpeg"/><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image" Target="../media/image270.png"/><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image" Target="../media/image90.png"/><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image" Target="../media/image290.png"/><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image" Target="../media/image100.png"/><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image" Target="../media/image110.png"/><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image" Target="../media/image120.png"/><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image" Target="../media/image131.png"/><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image" Target="../media/image140.png"/><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3" Type="http://schemas.openxmlformats.org/officeDocument/2006/relationships/image" Target="../media/image161.png"/><Relationship Id="rId2" Type="http://schemas.openxmlformats.org/officeDocument/2006/relationships/image" Target="../media/image150.png"/><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2" Type="http://schemas.openxmlformats.org/officeDocument/2006/relationships/hyperlink" Target="https://demonstrations.wolfram.com/FaustmannsRuleOfOptimalRotation" TargetMode="External"/><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3" Type="http://schemas.openxmlformats.org/officeDocument/2006/relationships/image" Target="../media/image39.jpeg"/><Relationship Id="rId2" Type="http://schemas.openxmlformats.org/officeDocument/2006/relationships/image" Target="../media/image38.jpeg"/><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2" Type="http://schemas.openxmlformats.org/officeDocument/2006/relationships/image" Target="../media/image221.png"/><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2" Type="http://schemas.openxmlformats.org/officeDocument/2006/relationships/image" Target="../media/image50.jpeg"/><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3" Type="http://schemas.openxmlformats.org/officeDocument/2006/relationships/image" Target="../media/image320.png"/><Relationship Id="rId2" Type="http://schemas.openxmlformats.org/officeDocument/2006/relationships/image" Target="../media/image310.png"/><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360B5F-040E-C296-9511-14682DFA96C2}"/>
              </a:ext>
            </a:extLst>
          </p:cNvPr>
          <p:cNvSpPr>
            <a:spLocks noGrp="1"/>
          </p:cNvSpPr>
          <p:nvPr>
            <p:ph type="ctrTitle"/>
          </p:nvPr>
        </p:nvSpPr>
        <p:spPr/>
        <p:txBody>
          <a:bodyPr/>
          <a:lstStyle/>
          <a:p>
            <a:r>
              <a:rPr lang="en-US" dirty="0"/>
              <a:t>EBGN645: Day 10</a:t>
            </a:r>
          </a:p>
        </p:txBody>
      </p:sp>
      <p:sp>
        <p:nvSpPr>
          <p:cNvPr id="3" name="Subtitle 2">
            <a:extLst>
              <a:ext uri="{FF2B5EF4-FFF2-40B4-BE49-F238E27FC236}">
                <a16:creationId xmlns:a16="http://schemas.microsoft.com/office/drawing/2014/main" id="{6DCBC080-9AF2-CAEA-F90D-6A0698128FBA}"/>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253600638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useBgFill="1">
        <p:nvSpPr>
          <p:cNvPr id="54" name="Rectangle 53">
            <a:extLst>
              <a:ext uri="{FF2B5EF4-FFF2-40B4-BE49-F238E27FC236}">
                <a16:creationId xmlns:a16="http://schemas.microsoft.com/office/drawing/2014/main" id="{345A976A-8DE3-4B67-B94B-2044FDD128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Rectangle 55">
            <a:extLst>
              <a:ext uri="{FF2B5EF4-FFF2-40B4-BE49-F238E27FC236}">
                <a16:creationId xmlns:a16="http://schemas.microsoft.com/office/drawing/2014/main" id="{6EAAA1B9-2DDB-49C9-A037-A523D2F13C1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sp>
        <p:nvSpPr>
          <p:cNvPr id="2" name="Title 1">
            <a:extLst>
              <a:ext uri="{FF2B5EF4-FFF2-40B4-BE49-F238E27FC236}">
                <a16:creationId xmlns:a16="http://schemas.microsoft.com/office/drawing/2014/main" id="{77E32B9C-355D-67BA-698F-4AD65C0FE217}"/>
              </a:ext>
            </a:extLst>
          </p:cNvPr>
          <p:cNvSpPr>
            <a:spLocks noGrp="1"/>
          </p:cNvSpPr>
          <p:nvPr>
            <p:ph type="title"/>
          </p:nvPr>
        </p:nvSpPr>
        <p:spPr>
          <a:xfrm>
            <a:off x="804672" y="457200"/>
            <a:ext cx="10579608" cy="1188720"/>
          </a:xfrm>
        </p:spPr>
        <p:txBody>
          <a:bodyPr>
            <a:normAutofit/>
          </a:bodyPr>
          <a:lstStyle/>
          <a:p>
            <a:r>
              <a:rPr lang="en-US" sz="4000">
                <a:solidFill>
                  <a:schemeClr val="tx2"/>
                </a:solidFill>
              </a:rPr>
              <a:t>Notes</a:t>
            </a:r>
          </a:p>
        </p:txBody>
      </p:sp>
      <p:grpSp>
        <p:nvGrpSpPr>
          <p:cNvPr id="58" name="Group 57">
            <a:extLst>
              <a:ext uri="{FF2B5EF4-FFF2-40B4-BE49-F238E27FC236}">
                <a16:creationId xmlns:a16="http://schemas.microsoft.com/office/drawing/2014/main" id="{B441F8D5-EBCE-4FB9-91A9-3425971C1F9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5400000">
            <a:off x="9262397" y="134260"/>
            <a:ext cx="3142400" cy="2716805"/>
            <a:chOff x="-305" y="-4155"/>
            <a:chExt cx="2514948" cy="2174333"/>
          </a:xfrm>
        </p:grpSpPr>
        <p:sp>
          <p:nvSpPr>
            <p:cNvPr id="59" name="Freeform: Shape 58">
              <a:extLst>
                <a:ext uri="{FF2B5EF4-FFF2-40B4-BE49-F238E27FC236}">
                  <a16:creationId xmlns:a16="http://schemas.microsoft.com/office/drawing/2014/main" id="{9A5E80E2-35F9-41F3-A2B8-A2F17D956FC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Freeform: Shape 59">
              <a:extLst>
                <a:ext uri="{FF2B5EF4-FFF2-40B4-BE49-F238E27FC236}">
                  <a16:creationId xmlns:a16="http://schemas.microsoft.com/office/drawing/2014/main" id="{988BDEEE-0C30-49F3-8D05-B062EF890C9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 name="Freeform: Shape 60">
              <a:extLst>
                <a:ext uri="{FF2B5EF4-FFF2-40B4-BE49-F238E27FC236}">
                  <a16:creationId xmlns:a16="http://schemas.microsoft.com/office/drawing/2014/main" id="{F21E0C27-19E6-45DC-B154-4934802074D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62" name="Freeform: Shape 61">
              <a:extLst>
                <a:ext uri="{FF2B5EF4-FFF2-40B4-BE49-F238E27FC236}">
                  <a16:creationId xmlns:a16="http://schemas.microsoft.com/office/drawing/2014/main" id="{A3A55340-18E0-4A23-B406-BD1221643D8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64" name="Group 63">
            <a:extLst>
              <a:ext uri="{FF2B5EF4-FFF2-40B4-BE49-F238E27FC236}">
                <a16:creationId xmlns:a16="http://schemas.microsoft.com/office/drawing/2014/main" id="{08701F99-7E4C-4B92-A4B5-307CDFB7A4DE}"/>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0800000" flipH="1">
            <a:off x="0" y="5047906"/>
            <a:ext cx="2412221" cy="1810094"/>
            <a:chOff x="-305" y="-1"/>
            <a:chExt cx="3832880" cy="2876136"/>
          </a:xfrm>
        </p:grpSpPr>
        <p:sp>
          <p:nvSpPr>
            <p:cNvPr id="65" name="Freeform: Shape 64">
              <a:extLst>
                <a:ext uri="{FF2B5EF4-FFF2-40B4-BE49-F238E27FC236}">
                  <a16:creationId xmlns:a16="http://schemas.microsoft.com/office/drawing/2014/main" id="{441E616B-C319-43C1-9A9C-A2074B2E8AD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59"/>
            </a:xfrm>
            <a:custGeom>
              <a:avLst/>
              <a:gdLst>
                <a:gd name="connsiteX0" fmla="*/ 3203055 w 3815424"/>
                <a:gd name="connsiteY0" fmla="*/ 0 h 2653659"/>
                <a:gd name="connsiteX1" fmla="*/ 3815424 w 3815424"/>
                <a:gd name="connsiteY1" fmla="*/ 0 h 2653659"/>
                <a:gd name="connsiteX2" fmla="*/ 3801025 w 3815424"/>
                <a:gd name="connsiteY2" fmla="*/ 214243 h 2653659"/>
                <a:gd name="connsiteX3" fmla="*/ 587142 w 3815424"/>
                <a:gd name="connsiteY3" fmla="*/ 2653659 h 2653659"/>
                <a:gd name="connsiteX4" fmla="*/ 53389 w 3815424"/>
                <a:gd name="connsiteY4" fmla="*/ 2605041 h 2653659"/>
                <a:gd name="connsiteX5" fmla="*/ 0 w 3815424"/>
                <a:gd name="connsiteY5" fmla="*/ 2593136 h 2653659"/>
                <a:gd name="connsiteX6" fmla="*/ 0 w 3815424"/>
                <a:gd name="connsiteY6" fmla="*/ 1994836 h 2653659"/>
                <a:gd name="connsiteX7" fmla="*/ 159710 w 3815424"/>
                <a:gd name="connsiteY7" fmla="*/ 2035054 h 2653659"/>
                <a:gd name="connsiteX8" fmla="*/ 587142 w 3815424"/>
                <a:gd name="connsiteY8" fmla="*/ 2075152 h 2653659"/>
                <a:gd name="connsiteX9" fmla="*/ 1549283 w 3815424"/>
                <a:gd name="connsiteY9" fmla="*/ 1900153 h 2653659"/>
                <a:gd name="connsiteX10" fmla="*/ 2406698 w 3815424"/>
                <a:gd name="connsiteY10" fmla="*/ 1418450 h 2653659"/>
                <a:gd name="connsiteX11" fmla="*/ 2996069 w 3815424"/>
                <a:gd name="connsiteY11" fmla="*/ 728678 h 2653659"/>
                <a:gd name="connsiteX12" fmla="*/ 3193967 w 3815424"/>
                <a:gd name="connsiteY12" fmla="*/ 137719 h 2653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59">
                  <a:moveTo>
                    <a:pt x="3203055" y="0"/>
                  </a:moveTo>
                  <a:lnTo>
                    <a:pt x="3815424" y="0"/>
                  </a:lnTo>
                  <a:lnTo>
                    <a:pt x="3801025" y="214243"/>
                  </a:lnTo>
                  <a:cubicBezTo>
                    <a:pt x="3616317" y="1584467"/>
                    <a:pt x="2091637" y="2653659"/>
                    <a:pt x="587142" y="2653659"/>
                  </a:cubicBezTo>
                  <a:cubicBezTo>
                    <a:pt x="400192" y="2653659"/>
                    <a:pt x="222112" y="2636953"/>
                    <a:pt x="53389" y="2605041"/>
                  </a:cubicBezTo>
                  <a:lnTo>
                    <a:pt x="0" y="2593136"/>
                  </a:lnTo>
                  <a:lnTo>
                    <a:pt x="0" y="1994836"/>
                  </a:lnTo>
                  <a:lnTo>
                    <a:pt x="159710" y="2035054"/>
                  </a:lnTo>
                  <a:cubicBezTo>
                    <a:pt x="295467" y="2061726"/>
                    <a:pt x="438268" y="2075152"/>
                    <a:pt x="587142" y="2075152"/>
                  </a:cubicBezTo>
                  <a:cubicBezTo>
                    <a:pt x="901731" y="2075152"/>
                    <a:pt x="1234490" y="2014697"/>
                    <a:pt x="1549283" y="1900153"/>
                  </a:cubicBezTo>
                  <a:cubicBezTo>
                    <a:pt x="1860709" y="1786959"/>
                    <a:pt x="2157231" y="1620350"/>
                    <a:pt x="2406698" y="1418450"/>
                  </a:cubicBezTo>
                  <a:cubicBezTo>
                    <a:pt x="2655859" y="1216840"/>
                    <a:pt x="2859596" y="978302"/>
                    <a:pt x="2996069" y="728678"/>
                  </a:cubicBezTo>
                  <a:cubicBezTo>
                    <a:pt x="3101178" y="536396"/>
                    <a:pt x="3167417" y="338366"/>
                    <a:pt x="3193967" y="13771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 name="Freeform: Shape 65">
              <a:extLst>
                <a:ext uri="{FF2B5EF4-FFF2-40B4-BE49-F238E27FC236}">
                  <a16:creationId xmlns:a16="http://schemas.microsoft.com/office/drawing/2014/main" id="{CC86BD2B-CA73-48DF-9CC8-0152EA6B1BA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60"/>
            </a:xfrm>
            <a:custGeom>
              <a:avLst/>
              <a:gdLst>
                <a:gd name="connsiteX0" fmla="*/ 3305038 w 3815424"/>
                <a:gd name="connsiteY0" fmla="*/ 0 h 2653660"/>
                <a:gd name="connsiteX1" fmla="*/ 3815424 w 3815424"/>
                <a:gd name="connsiteY1" fmla="*/ 0 h 2653660"/>
                <a:gd name="connsiteX2" fmla="*/ 3801025 w 3815424"/>
                <a:gd name="connsiteY2" fmla="*/ 214244 h 2653660"/>
                <a:gd name="connsiteX3" fmla="*/ 587142 w 3815424"/>
                <a:gd name="connsiteY3" fmla="*/ 2653660 h 2653660"/>
                <a:gd name="connsiteX4" fmla="*/ 53389 w 3815424"/>
                <a:gd name="connsiteY4" fmla="*/ 2605042 h 2653660"/>
                <a:gd name="connsiteX5" fmla="*/ 0 w 3815424"/>
                <a:gd name="connsiteY5" fmla="*/ 2593137 h 2653660"/>
                <a:gd name="connsiteX6" fmla="*/ 0 w 3815424"/>
                <a:gd name="connsiteY6" fmla="*/ 2094444 h 2653660"/>
                <a:gd name="connsiteX7" fmla="*/ 137675 w 3815424"/>
                <a:gd name="connsiteY7" fmla="*/ 2129195 h 2653660"/>
                <a:gd name="connsiteX8" fmla="*/ 587142 w 3815424"/>
                <a:gd name="connsiteY8" fmla="*/ 2171571 h 2653660"/>
                <a:gd name="connsiteX9" fmla="*/ 1585826 w 3815424"/>
                <a:gd name="connsiteY9" fmla="*/ 1990112 h 2653660"/>
                <a:gd name="connsiteX10" fmla="*/ 2473046 w 3815424"/>
                <a:gd name="connsiteY10" fmla="*/ 1491633 h 2653660"/>
                <a:gd name="connsiteX11" fmla="*/ 3086710 w 3815424"/>
                <a:gd name="connsiteY11" fmla="*/ 772838 h 2653660"/>
                <a:gd name="connsiteX12" fmla="*/ 3295217 w 3815424"/>
                <a:gd name="connsiteY12" fmla="*/ 149229 h 26536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60">
                  <a:moveTo>
                    <a:pt x="3305038" y="0"/>
                  </a:moveTo>
                  <a:lnTo>
                    <a:pt x="3815424" y="0"/>
                  </a:lnTo>
                  <a:lnTo>
                    <a:pt x="3801025" y="214244"/>
                  </a:lnTo>
                  <a:cubicBezTo>
                    <a:pt x="3616317" y="1584467"/>
                    <a:pt x="2091637" y="2653660"/>
                    <a:pt x="587142" y="2653660"/>
                  </a:cubicBezTo>
                  <a:cubicBezTo>
                    <a:pt x="400192" y="2653660"/>
                    <a:pt x="222112" y="2636954"/>
                    <a:pt x="53389" y="2605042"/>
                  </a:cubicBezTo>
                  <a:lnTo>
                    <a:pt x="0" y="2593137"/>
                  </a:lnTo>
                  <a:lnTo>
                    <a:pt x="0" y="2094444"/>
                  </a:lnTo>
                  <a:lnTo>
                    <a:pt x="137675" y="2129195"/>
                  </a:lnTo>
                  <a:cubicBezTo>
                    <a:pt x="280616" y="2157374"/>
                    <a:pt x="430766" y="2171571"/>
                    <a:pt x="587142" y="2171571"/>
                  </a:cubicBezTo>
                  <a:cubicBezTo>
                    <a:pt x="918879" y="2171571"/>
                    <a:pt x="1254904" y="2110634"/>
                    <a:pt x="1585826" y="1990112"/>
                  </a:cubicBezTo>
                  <a:cubicBezTo>
                    <a:pt x="1908071" y="1873061"/>
                    <a:pt x="2214800" y="1700666"/>
                    <a:pt x="2473046" y="1491633"/>
                  </a:cubicBezTo>
                  <a:cubicBezTo>
                    <a:pt x="2735782" y="1279031"/>
                    <a:pt x="2942276" y="1037118"/>
                    <a:pt x="3086710" y="772838"/>
                  </a:cubicBezTo>
                  <a:cubicBezTo>
                    <a:pt x="3197408" y="570216"/>
                    <a:pt x="3267226" y="361248"/>
                    <a:pt x="3295217" y="14922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 name="Freeform: Shape 66">
              <a:extLst>
                <a:ext uri="{FF2B5EF4-FFF2-40B4-BE49-F238E27FC236}">
                  <a16:creationId xmlns:a16="http://schemas.microsoft.com/office/drawing/2014/main" id="{59C1AA9D-3FCF-4B84-94D1-51F0E151711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986" cy="2675935"/>
            </a:xfrm>
            <a:custGeom>
              <a:avLst/>
              <a:gdLst>
                <a:gd name="connsiteX0" fmla="*/ 3648768 w 3815986"/>
                <a:gd name="connsiteY0" fmla="*/ 0 h 2675935"/>
                <a:gd name="connsiteX1" fmla="*/ 3815986 w 3815986"/>
                <a:gd name="connsiteY1" fmla="*/ 0 h 2675935"/>
                <a:gd name="connsiteX2" fmla="*/ 3804695 w 3815986"/>
                <a:gd name="connsiteY2" fmla="*/ 200084 h 2675935"/>
                <a:gd name="connsiteX3" fmla="*/ 3762590 w 3815986"/>
                <a:gd name="connsiteY3" fmla="*/ 455543 h 2675935"/>
                <a:gd name="connsiteX4" fmla="*/ 3592332 w 3815986"/>
                <a:gd name="connsiteY4" fmla="*/ 947274 h 2675935"/>
                <a:gd name="connsiteX5" fmla="*/ 2953967 w 3815986"/>
                <a:gd name="connsiteY5" fmla="*/ 1782349 h 2675935"/>
                <a:gd name="connsiteX6" fmla="*/ 2530669 w 3815986"/>
                <a:gd name="connsiteY6" fmla="*/ 2109494 h 2675935"/>
                <a:gd name="connsiteX7" fmla="*/ 2057561 w 3815986"/>
                <a:gd name="connsiteY7" fmla="*/ 2369245 h 2675935"/>
                <a:gd name="connsiteX8" fmla="*/ 1007330 w 3815986"/>
                <a:gd name="connsiteY8" fmla="*/ 2655701 h 2675935"/>
                <a:gd name="connsiteX9" fmla="*/ 732765 w 3815986"/>
                <a:gd name="connsiteY9" fmla="*/ 2674696 h 2675935"/>
                <a:gd name="connsiteX10" fmla="*/ 457666 w 3815986"/>
                <a:gd name="connsiteY10" fmla="*/ 2670839 h 2675935"/>
                <a:gd name="connsiteX11" fmla="*/ 183574 w 3815986"/>
                <a:gd name="connsiteY11" fmla="*/ 2643312 h 2675935"/>
                <a:gd name="connsiteX12" fmla="*/ 0 w 3815986"/>
                <a:gd name="connsiteY12" fmla="*/ 2607798 h 2675935"/>
                <a:gd name="connsiteX13" fmla="*/ 0 w 3815986"/>
                <a:gd name="connsiteY13" fmla="*/ 2356652 h 2675935"/>
                <a:gd name="connsiteX14" fmla="*/ 222195 w 3815986"/>
                <a:gd name="connsiteY14" fmla="*/ 2396940 h 2675935"/>
                <a:gd name="connsiteX15" fmla="*/ 472364 w 3815986"/>
                <a:gd name="connsiteY15" fmla="*/ 2419092 h 2675935"/>
                <a:gd name="connsiteX16" fmla="*/ 974972 w 3815986"/>
                <a:gd name="connsiteY16" fmla="*/ 2402122 h 2675935"/>
                <a:gd name="connsiteX17" fmla="*/ 1468292 w 3815986"/>
                <a:gd name="connsiteY17" fmla="*/ 2304162 h 2675935"/>
                <a:gd name="connsiteX18" fmla="*/ 1940176 w 3815986"/>
                <a:gd name="connsiteY18" fmla="*/ 2133695 h 2675935"/>
                <a:gd name="connsiteX19" fmla="*/ 2783403 w 3815986"/>
                <a:gd name="connsiteY19" fmla="*/ 1609954 h 2675935"/>
                <a:gd name="connsiteX20" fmla="*/ 3128104 w 3815986"/>
                <a:gd name="connsiteY20" fmla="*/ 1260439 h 2675935"/>
                <a:gd name="connsiteX21" fmla="*/ 3400639 w 3815986"/>
                <a:gd name="connsiteY21" fmla="*/ 859052 h 2675935"/>
                <a:gd name="connsiteX22" fmla="*/ 3585595 w 3815986"/>
                <a:gd name="connsiteY22" fmla="*/ 415336 h 2675935"/>
                <a:gd name="connsiteX23" fmla="*/ 3635918 w 3815986"/>
                <a:gd name="connsiteY23" fmla="*/ 181137 h 2675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815986" h="2675935">
                  <a:moveTo>
                    <a:pt x="3648768" y="0"/>
                  </a:moveTo>
                  <a:lnTo>
                    <a:pt x="3815986" y="0"/>
                  </a:lnTo>
                  <a:lnTo>
                    <a:pt x="3804695" y="200084"/>
                  </a:lnTo>
                  <a:cubicBezTo>
                    <a:pt x="3795228" y="285751"/>
                    <a:pt x="3781167" y="371032"/>
                    <a:pt x="3762590" y="455543"/>
                  </a:cubicBezTo>
                  <a:cubicBezTo>
                    <a:pt x="3725537" y="624467"/>
                    <a:pt x="3668784" y="790112"/>
                    <a:pt x="3592332" y="947274"/>
                  </a:cubicBezTo>
                  <a:cubicBezTo>
                    <a:pt x="3438712" y="1261596"/>
                    <a:pt x="3216091" y="1542847"/>
                    <a:pt x="2953967" y="1782349"/>
                  </a:cubicBezTo>
                  <a:cubicBezTo>
                    <a:pt x="2822599" y="1902099"/>
                    <a:pt x="2680615" y="2011341"/>
                    <a:pt x="2530669" y="2109494"/>
                  </a:cubicBezTo>
                  <a:cubicBezTo>
                    <a:pt x="2380520" y="2207551"/>
                    <a:pt x="2222510" y="2294906"/>
                    <a:pt x="2057561" y="2369245"/>
                  </a:cubicBezTo>
                  <a:cubicBezTo>
                    <a:pt x="1727252" y="2516859"/>
                    <a:pt x="1371629" y="2614434"/>
                    <a:pt x="1007330" y="2655701"/>
                  </a:cubicBezTo>
                  <a:cubicBezTo>
                    <a:pt x="916281" y="2665873"/>
                    <a:pt x="824568" y="2672188"/>
                    <a:pt x="732765" y="2674696"/>
                  </a:cubicBezTo>
                  <a:cubicBezTo>
                    <a:pt x="640963" y="2677203"/>
                    <a:pt x="549072" y="2675901"/>
                    <a:pt x="457666" y="2670839"/>
                  </a:cubicBezTo>
                  <a:cubicBezTo>
                    <a:pt x="366106" y="2665584"/>
                    <a:pt x="274572" y="2656521"/>
                    <a:pt x="183574" y="2643312"/>
                  </a:cubicBezTo>
                  <a:lnTo>
                    <a:pt x="0" y="2607798"/>
                  </a:lnTo>
                  <a:lnTo>
                    <a:pt x="0" y="2356652"/>
                  </a:lnTo>
                  <a:lnTo>
                    <a:pt x="222195" y="2396940"/>
                  </a:lnTo>
                  <a:cubicBezTo>
                    <a:pt x="304990" y="2407980"/>
                    <a:pt x="388511" y="2415283"/>
                    <a:pt x="472364" y="2419092"/>
                  </a:cubicBezTo>
                  <a:cubicBezTo>
                    <a:pt x="640376" y="2427095"/>
                    <a:pt x="808184" y="2421791"/>
                    <a:pt x="974972" y="2402122"/>
                  </a:cubicBezTo>
                  <a:cubicBezTo>
                    <a:pt x="1141658" y="2382358"/>
                    <a:pt x="1306812" y="2349286"/>
                    <a:pt x="1468292" y="2304162"/>
                  </a:cubicBezTo>
                  <a:cubicBezTo>
                    <a:pt x="1629874" y="2259231"/>
                    <a:pt x="1787475" y="2201091"/>
                    <a:pt x="1940176" y="2133695"/>
                  </a:cubicBezTo>
                  <a:cubicBezTo>
                    <a:pt x="2246498" y="2000349"/>
                    <a:pt x="2532507" y="1823520"/>
                    <a:pt x="2783403" y="1609954"/>
                  </a:cubicBezTo>
                  <a:cubicBezTo>
                    <a:pt x="2908442" y="1502833"/>
                    <a:pt x="3024295" y="1385975"/>
                    <a:pt x="3128104" y="1260439"/>
                  </a:cubicBezTo>
                  <a:cubicBezTo>
                    <a:pt x="3232116" y="1135096"/>
                    <a:pt x="3323881" y="1000689"/>
                    <a:pt x="3400639" y="859052"/>
                  </a:cubicBezTo>
                  <a:cubicBezTo>
                    <a:pt x="3477399" y="717510"/>
                    <a:pt x="3541296" y="569316"/>
                    <a:pt x="3585595" y="415336"/>
                  </a:cubicBezTo>
                  <a:cubicBezTo>
                    <a:pt x="3607796" y="338540"/>
                    <a:pt x="3624638" y="260224"/>
                    <a:pt x="3635918" y="18113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 name="Freeform: Shape 67">
              <a:extLst>
                <a:ext uri="{FF2B5EF4-FFF2-40B4-BE49-F238E27FC236}">
                  <a16:creationId xmlns:a16="http://schemas.microsoft.com/office/drawing/2014/main" id="{1D7CE92F-1DE7-4252-A62C-77ACF8CF268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32270" cy="2876136"/>
            </a:xfrm>
            <a:custGeom>
              <a:avLst/>
              <a:gdLst>
                <a:gd name="connsiteX0" fmla="*/ 3800718 w 3832270"/>
                <a:gd name="connsiteY0" fmla="*/ 0 h 2876136"/>
                <a:gd name="connsiteX1" fmla="*/ 3832270 w 3832270"/>
                <a:gd name="connsiteY1" fmla="*/ 0 h 2876136"/>
                <a:gd name="connsiteX2" fmla="*/ 3824562 w 3832270"/>
                <a:gd name="connsiteY2" fmla="*/ 143769 h 2876136"/>
                <a:gd name="connsiteX3" fmla="*/ 3628155 w 3832270"/>
                <a:gd name="connsiteY3" fmla="*/ 922055 h 2876136"/>
                <a:gd name="connsiteX4" fmla="*/ 3514853 w 3832270"/>
                <a:gd name="connsiteY4" fmla="*/ 1169078 h 2876136"/>
                <a:gd name="connsiteX5" fmla="*/ 3379198 w 3832270"/>
                <a:gd name="connsiteY5" fmla="*/ 1407037 h 2876136"/>
                <a:gd name="connsiteX6" fmla="*/ 3043787 w 3832270"/>
                <a:gd name="connsiteY6" fmla="*/ 1848342 h 2876136"/>
                <a:gd name="connsiteX7" fmla="*/ 2845661 w 3832270"/>
                <a:gd name="connsiteY7" fmla="*/ 2047444 h 2876136"/>
                <a:gd name="connsiteX8" fmla="*/ 2793197 w 3832270"/>
                <a:gd name="connsiteY8" fmla="*/ 2094689 h 2876136"/>
                <a:gd name="connsiteX9" fmla="*/ 2739710 w 3832270"/>
                <a:gd name="connsiteY9" fmla="*/ 2140969 h 2876136"/>
                <a:gd name="connsiteX10" fmla="*/ 2629166 w 3832270"/>
                <a:gd name="connsiteY10" fmla="*/ 2229867 h 2876136"/>
                <a:gd name="connsiteX11" fmla="*/ 2145952 w 3832270"/>
                <a:gd name="connsiteY11" fmla="*/ 2535994 h 2876136"/>
                <a:gd name="connsiteX12" fmla="*/ 1034987 w 3832270"/>
                <a:gd name="connsiteY12" fmla="*/ 2863910 h 2876136"/>
                <a:gd name="connsiteX13" fmla="*/ 741909 w 3832270"/>
                <a:gd name="connsiteY13" fmla="*/ 2875939 h 2876136"/>
                <a:gd name="connsiteX14" fmla="*/ 450208 w 3832270"/>
                <a:gd name="connsiteY14" fmla="*/ 2857451 h 2876136"/>
                <a:gd name="connsiteX15" fmla="*/ 22215 w 3832270"/>
                <a:gd name="connsiteY15" fmla="*/ 2775923 h 2876136"/>
                <a:gd name="connsiteX16" fmla="*/ 0 w 3832270"/>
                <a:gd name="connsiteY16" fmla="*/ 2769256 h 2876136"/>
                <a:gd name="connsiteX17" fmla="*/ 0 w 3832270"/>
                <a:gd name="connsiteY17" fmla="*/ 2590612 h 2876136"/>
                <a:gd name="connsiteX18" fmla="*/ 199046 w 3832270"/>
                <a:gd name="connsiteY18" fmla="*/ 2627410 h 2876136"/>
                <a:gd name="connsiteX19" fmla="*/ 468174 w 3832270"/>
                <a:gd name="connsiteY19" fmla="*/ 2649670 h 2876136"/>
                <a:gd name="connsiteX20" fmla="*/ 1003650 w 3832270"/>
                <a:gd name="connsiteY20" fmla="*/ 2622480 h 2876136"/>
                <a:gd name="connsiteX21" fmla="*/ 1266489 w 3832270"/>
                <a:gd name="connsiteY21" fmla="*/ 2573982 h 2876136"/>
                <a:gd name="connsiteX22" fmla="*/ 1524223 w 3832270"/>
                <a:gd name="connsiteY22" fmla="*/ 2504657 h 2876136"/>
                <a:gd name="connsiteX23" fmla="*/ 1775731 w 3832270"/>
                <a:gd name="connsiteY23" fmla="*/ 2416243 h 2876136"/>
                <a:gd name="connsiteX24" fmla="*/ 2019789 w 3832270"/>
                <a:gd name="connsiteY24" fmla="*/ 2309412 h 2876136"/>
                <a:gd name="connsiteX25" fmla="*/ 2482486 w 3832270"/>
                <a:gd name="connsiteY25" fmla="*/ 2046962 h 2876136"/>
                <a:gd name="connsiteX26" fmla="*/ 2591908 w 3832270"/>
                <a:gd name="connsiteY26" fmla="*/ 1971371 h 2876136"/>
                <a:gd name="connsiteX27" fmla="*/ 2645702 w 3832270"/>
                <a:gd name="connsiteY27" fmla="*/ 1932321 h 2876136"/>
                <a:gd name="connsiteX28" fmla="*/ 2698779 w 3832270"/>
                <a:gd name="connsiteY28" fmla="*/ 1892309 h 2876136"/>
                <a:gd name="connsiteX29" fmla="*/ 2903537 w 3832270"/>
                <a:gd name="connsiteY29" fmla="*/ 1722516 h 2876136"/>
                <a:gd name="connsiteX30" fmla="*/ 3269061 w 3832270"/>
                <a:gd name="connsiteY30" fmla="*/ 1337327 h 2876136"/>
                <a:gd name="connsiteX31" fmla="*/ 3424928 w 3832270"/>
                <a:gd name="connsiteY31" fmla="*/ 1122508 h 2876136"/>
                <a:gd name="connsiteX32" fmla="*/ 3557622 w 3832270"/>
                <a:gd name="connsiteY32" fmla="*/ 893226 h 2876136"/>
                <a:gd name="connsiteX33" fmla="*/ 3587019 w 3832270"/>
                <a:gd name="connsiteY33" fmla="*/ 833929 h 2876136"/>
                <a:gd name="connsiteX34" fmla="*/ 3601310 w 3832270"/>
                <a:gd name="connsiteY34" fmla="*/ 804040 h 2876136"/>
                <a:gd name="connsiteX35" fmla="*/ 3614885 w 3832270"/>
                <a:gd name="connsiteY35" fmla="*/ 773861 h 2876136"/>
                <a:gd name="connsiteX36" fmla="*/ 3640812 w 3832270"/>
                <a:gd name="connsiteY36" fmla="*/ 713022 h 2876136"/>
                <a:gd name="connsiteX37" fmla="*/ 3665105 w 3832270"/>
                <a:gd name="connsiteY37" fmla="*/ 651506 h 2876136"/>
                <a:gd name="connsiteX38" fmla="*/ 3744110 w 3832270"/>
                <a:gd name="connsiteY38" fmla="*/ 399567 h 2876136"/>
                <a:gd name="connsiteX39" fmla="*/ 3792123 w 3832270"/>
                <a:gd name="connsiteY39" fmla="*/ 140444 h 2876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3832270" h="2876136">
                  <a:moveTo>
                    <a:pt x="3800718" y="0"/>
                  </a:moveTo>
                  <a:lnTo>
                    <a:pt x="3832270" y="0"/>
                  </a:lnTo>
                  <a:lnTo>
                    <a:pt x="3824562" y="143769"/>
                  </a:lnTo>
                  <a:cubicBezTo>
                    <a:pt x="3797131" y="409191"/>
                    <a:pt x="3730585" y="671345"/>
                    <a:pt x="3628155" y="922055"/>
                  </a:cubicBezTo>
                  <a:cubicBezTo>
                    <a:pt x="3593858" y="1005553"/>
                    <a:pt x="3556704" y="1088280"/>
                    <a:pt x="3514853" y="1169078"/>
                  </a:cubicBezTo>
                  <a:cubicBezTo>
                    <a:pt x="3473616" y="1250166"/>
                    <a:pt x="3428194" y="1329517"/>
                    <a:pt x="3379198" y="1407037"/>
                  </a:cubicBezTo>
                  <a:cubicBezTo>
                    <a:pt x="3281106" y="1561980"/>
                    <a:pt x="3169132" y="1710174"/>
                    <a:pt x="3043787" y="1848342"/>
                  </a:cubicBezTo>
                  <a:cubicBezTo>
                    <a:pt x="2980806" y="1917184"/>
                    <a:pt x="2915071" y="1984001"/>
                    <a:pt x="2845661" y="2047444"/>
                  </a:cubicBezTo>
                  <a:cubicBezTo>
                    <a:pt x="2828411" y="2063450"/>
                    <a:pt x="2811060" y="2079263"/>
                    <a:pt x="2793197" y="2094689"/>
                  </a:cubicBezTo>
                  <a:cubicBezTo>
                    <a:pt x="2775436" y="2110213"/>
                    <a:pt x="2757982" y="2126025"/>
                    <a:pt x="2739710" y="2140969"/>
                  </a:cubicBezTo>
                  <a:cubicBezTo>
                    <a:pt x="2703576" y="2171341"/>
                    <a:pt x="2666524" y="2200749"/>
                    <a:pt x="2629166" y="2229867"/>
                  </a:cubicBezTo>
                  <a:cubicBezTo>
                    <a:pt x="2479015" y="2345569"/>
                    <a:pt x="2316821" y="2448061"/>
                    <a:pt x="2145952" y="2535994"/>
                  </a:cubicBezTo>
                  <a:cubicBezTo>
                    <a:pt x="1804312" y="2711957"/>
                    <a:pt x="1424600" y="2826982"/>
                    <a:pt x="1034987" y="2863910"/>
                  </a:cubicBezTo>
                  <a:cubicBezTo>
                    <a:pt x="937762" y="2873167"/>
                    <a:pt x="839720" y="2877096"/>
                    <a:pt x="741909" y="2875939"/>
                  </a:cubicBezTo>
                  <a:cubicBezTo>
                    <a:pt x="644097" y="2874782"/>
                    <a:pt x="546515" y="2868539"/>
                    <a:pt x="450208" y="2857451"/>
                  </a:cubicBezTo>
                  <a:cubicBezTo>
                    <a:pt x="305520" y="2840674"/>
                    <a:pt x="162095" y="2813810"/>
                    <a:pt x="22215" y="2775923"/>
                  </a:cubicBezTo>
                  <a:lnTo>
                    <a:pt x="0" y="2769256"/>
                  </a:lnTo>
                  <a:lnTo>
                    <a:pt x="0" y="2590612"/>
                  </a:lnTo>
                  <a:lnTo>
                    <a:pt x="199046" y="2627410"/>
                  </a:lnTo>
                  <a:cubicBezTo>
                    <a:pt x="288321" y="2639209"/>
                    <a:pt x="378197" y="2646537"/>
                    <a:pt x="468174" y="2649670"/>
                  </a:cubicBezTo>
                  <a:cubicBezTo>
                    <a:pt x="648333" y="2656805"/>
                    <a:pt x="826655" y="2647163"/>
                    <a:pt x="1003650" y="2622480"/>
                  </a:cubicBezTo>
                  <a:cubicBezTo>
                    <a:pt x="1091943" y="2609658"/>
                    <a:pt x="1179725" y="2593747"/>
                    <a:pt x="1266489" y="2573982"/>
                  </a:cubicBezTo>
                  <a:cubicBezTo>
                    <a:pt x="1353250" y="2553927"/>
                    <a:pt x="1439298" y="2531076"/>
                    <a:pt x="1524223" y="2504657"/>
                  </a:cubicBezTo>
                  <a:cubicBezTo>
                    <a:pt x="1609149" y="2478336"/>
                    <a:pt x="1693052" y="2448833"/>
                    <a:pt x="1775731" y="2416243"/>
                  </a:cubicBezTo>
                  <a:cubicBezTo>
                    <a:pt x="1858309" y="2383557"/>
                    <a:pt x="1939764" y="2347882"/>
                    <a:pt x="2019789" y="2309412"/>
                  </a:cubicBezTo>
                  <a:cubicBezTo>
                    <a:pt x="2179839" y="2232567"/>
                    <a:pt x="2334583" y="2144923"/>
                    <a:pt x="2482486" y="2046962"/>
                  </a:cubicBezTo>
                  <a:cubicBezTo>
                    <a:pt x="2519334" y="2022376"/>
                    <a:pt x="2556081" y="1997403"/>
                    <a:pt x="2591908" y="1971371"/>
                  </a:cubicBezTo>
                  <a:cubicBezTo>
                    <a:pt x="2610077" y="1958644"/>
                    <a:pt x="2627838" y="1945434"/>
                    <a:pt x="2645702" y="1932321"/>
                  </a:cubicBezTo>
                  <a:cubicBezTo>
                    <a:pt x="2663666" y="1919305"/>
                    <a:pt x="2681325" y="1905903"/>
                    <a:pt x="2698779" y="1892309"/>
                  </a:cubicBezTo>
                  <a:cubicBezTo>
                    <a:pt x="2768903" y="1838025"/>
                    <a:pt x="2837496" y="1781717"/>
                    <a:pt x="2903537" y="1722516"/>
                  </a:cubicBezTo>
                  <a:cubicBezTo>
                    <a:pt x="3035926" y="1604501"/>
                    <a:pt x="3158720" y="1475784"/>
                    <a:pt x="3269061" y="1337327"/>
                  </a:cubicBezTo>
                  <a:cubicBezTo>
                    <a:pt x="3324182" y="1268099"/>
                    <a:pt x="3376341" y="1196461"/>
                    <a:pt x="3424928" y="1122508"/>
                  </a:cubicBezTo>
                  <a:cubicBezTo>
                    <a:pt x="3472697" y="1048170"/>
                    <a:pt x="3517814" y="972000"/>
                    <a:pt x="3557622" y="893226"/>
                  </a:cubicBezTo>
                  <a:cubicBezTo>
                    <a:pt x="3567931" y="873654"/>
                    <a:pt x="3577526" y="853791"/>
                    <a:pt x="3587019" y="833929"/>
                  </a:cubicBezTo>
                  <a:lnTo>
                    <a:pt x="3601310" y="804040"/>
                  </a:lnTo>
                  <a:lnTo>
                    <a:pt x="3614885" y="773861"/>
                  </a:lnTo>
                  <a:cubicBezTo>
                    <a:pt x="3623766" y="753709"/>
                    <a:pt x="3632748" y="733559"/>
                    <a:pt x="3640812" y="713022"/>
                  </a:cubicBezTo>
                  <a:cubicBezTo>
                    <a:pt x="3648876" y="692485"/>
                    <a:pt x="3657756" y="672236"/>
                    <a:pt x="3665105" y="651506"/>
                  </a:cubicBezTo>
                  <a:cubicBezTo>
                    <a:pt x="3696544" y="569166"/>
                    <a:pt x="3723185" y="485089"/>
                    <a:pt x="3744110" y="399567"/>
                  </a:cubicBezTo>
                  <a:cubicBezTo>
                    <a:pt x="3765341" y="314238"/>
                    <a:pt x="3781392" y="227654"/>
                    <a:pt x="3792123" y="14044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aphicFrame>
        <p:nvGraphicFramePr>
          <p:cNvPr id="57" name="Content Placeholder 2">
            <a:extLst>
              <a:ext uri="{FF2B5EF4-FFF2-40B4-BE49-F238E27FC236}">
                <a16:creationId xmlns:a16="http://schemas.microsoft.com/office/drawing/2014/main" id="{623D90B2-AA10-A4AD-91BD-B2D62C64A6FC}"/>
              </a:ext>
            </a:extLst>
          </p:cNvPr>
          <p:cNvGraphicFramePr/>
          <p:nvPr>
            <p:extLst>
              <p:ext uri="{D42A27DB-BD31-4B8C-83A1-F6EECF244321}">
                <p14:modId xmlns:p14="http://schemas.microsoft.com/office/powerpoint/2010/main" val="3370816038"/>
              </p:ext>
            </p:extLst>
          </p:nvPr>
        </p:nvGraphicFramePr>
        <p:xfrm>
          <a:off x="1036320" y="2543633"/>
          <a:ext cx="10119360" cy="356616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TextBox 2">
            <a:extLst>
              <a:ext uri="{FF2B5EF4-FFF2-40B4-BE49-F238E27FC236}">
                <a16:creationId xmlns:a16="http://schemas.microsoft.com/office/drawing/2014/main" id="{75981CEF-FA6B-D573-5E1E-93FF28B105CF}"/>
              </a:ext>
            </a:extLst>
          </p:cNvPr>
          <p:cNvSpPr txBox="1"/>
          <p:nvPr/>
        </p:nvSpPr>
        <p:spPr>
          <a:xfrm>
            <a:off x="7388917" y="6109793"/>
            <a:ext cx="4172553" cy="461665"/>
          </a:xfrm>
          <a:prstGeom prst="rect">
            <a:avLst/>
          </a:prstGeom>
          <a:noFill/>
        </p:spPr>
        <p:txBody>
          <a:bodyPr wrap="none" rtlCol="0">
            <a:spAutoFit/>
          </a:bodyPr>
          <a:lstStyle/>
          <a:p>
            <a:r>
              <a:rPr lang="en-US" sz="2400" b="1" i="1" dirty="0"/>
              <a:t>Today: Need to leave at noon</a:t>
            </a:r>
          </a:p>
        </p:txBody>
      </p:sp>
    </p:spTree>
    <p:extLst>
      <p:ext uri="{BB962C8B-B14F-4D97-AF65-F5344CB8AC3E}">
        <p14:creationId xmlns:p14="http://schemas.microsoft.com/office/powerpoint/2010/main" val="263556665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F6097A-DED3-3CD6-B544-E79915CFAB90}"/>
              </a:ext>
            </a:extLst>
          </p:cNvPr>
          <p:cNvSpPr>
            <a:spLocks noGrp="1"/>
          </p:cNvSpPr>
          <p:nvPr>
            <p:ph type="title"/>
          </p:nvPr>
        </p:nvSpPr>
        <p:spPr/>
        <p:txBody>
          <a:bodyPr/>
          <a:lstStyle/>
          <a:p>
            <a:r>
              <a:rPr lang="en-US" dirty="0"/>
              <a:t>Scheduling notes</a:t>
            </a:r>
          </a:p>
        </p:txBody>
      </p:sp>
      <p:sp>
        <p:nvSpPr>
          <p:cNvPr id="3" name="Content Placeholder 2">
            <a:extLst>
              <a:ext uri="{FF2B5EF4-FFF2-40B4-BE49-F238E27FC236}">
                <a16:creationId xmlns:a16="http://schemas.microsoft.com/office/drawing/2014/main" id="{D9F5D46A-FD99-3951-10ED-20F71F0F4DBA}"/>
              </a:ext>
            </a:extLst>
          </p:cNvPr>
          <p:cNvSpPr>
            <a:spLocks noGrp="1"/>
          </p:cNvSpPr>
          <p:nvPr>
            <p:ph idx="1"/>
          </p:nvPr>
        </p:nvSpPr>
        <p:spPr/>
        <p:txBody>
          <a:bodyPr/>
          <a:lstStyle/>
          <a:p>
            <a:r>
              <a:rPr lang="en-US" dirty="0"/>
              <a:t>No class 10/27-29 (INFORMS)</a:t>
            </a:r>
          </a:p>
          <a:p>
            <a:endParaRPr lang="en-US" dirty="0"/>
          </a:p>
          <a:p>
            <a:r>
              <a:rPr lang="en-US" dirty="0"/>
              <a:t>Potentially optional: 11/10</a:t>
            </a:r>
          </a:p>
          <a:p>
            <a:r>
              <a:rPr lang="en-US" dirty="0"/>
              <a:t>Possibly 11/12</a:t>
            </a:r>
          </a:p>
          <a:p>
            <a:endParaRPr lang="en-US" dirty="0"/>
          </a:p>
          <a:p>
            <a:endParaRPr lang="en-US" dirty="0"/>
          </a:p>
        </p:txBody>
      </p:sp>
    </p:spTree>
    <p:extLst>
      <p:ext uri="{BB962C8B-B14F-4D97-AF65-F5344CB8AC3E}">
        <p14:creationId xmlns:p14="http://schemas.microsoft.com/office/powerpoint/2010/main" val="276692563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2BA56C-9844-CC47-A6CC-3C9E5441F148}"/>
              </a:ext>
            </a:extLst>
          </p:cNvPr>
          <p:cNvSpPr>
            <a:spLocks noGrp="1"/>
          </p:cNvSpPr>
          <p:nvPr>
            <p:ph type="title"/>
          </p:nvPr>
        </p:nvSpPr>
        <p:spPr/>
        <p:txBody>
          <a:bodyPr/>
          <a:lstStyle/>
          <a:p>
            <a:r>
              <a:rPr lang="en-US" dirty="0"/>
              <a:t>Questions</a:t>
            </a:r>
          </a:p>
        </p:txBody>
      </p:sp>
      <p:sp>
        <p:nvSpPr>
          <p:cNvPr id="3" name="Content Placeholder 2">
            <a:extLst>
              <a:ext uri="{FF2B5EF4-FFF2-40B4-BE49-F238E27FC236}">
                <a16:creationId xmlns:a16="http://schemas.microsoft.com/office/drawing/2014/main" id="{C8CEF820-8EC6-2590-7B06-A2F6549558B8}"/>
              </a:ext>
            </a:extLst>
          </p:cNvPr>
          <p:cNvSpPr>
            <a:spLocks noGrp="1"/>
          </p:cNvSpPr>
          <p:nvPr>
            <p:ph idx="1"/>
          </p:nvPr>
        </p:nvSpPr>
        <p:spPr>
          <a:xfrm>
            <a:off x="149902" y="1825625"/>
            <a:ext cx="5021704" cy="4351338"/>
          </a:xfrm>
        </p:spPr>
        <p:txBody>
          <a:bodyPr>
            <a:normAutofit/>
          </a:bodyPr>
          <a:lstStyle/>
          <a:p>
            <a:r>
              <a:rPr lang="en-US" dirty="0"/>
              <a:t>The question nobody asked: </a:t>
            </a:r>
          </a:p>
          <a:p>
            <a:pPr marL="0" indent="0" algn="ctr">
              <a:buNone/>
            </a:pPr>
            <a:r>
              <a:rPr lang="en-US" dirty="0"/>
              <a:t>   “What watch are you    wearing today?”</a:t>
            </a:r>
          </a:p>
          <a:p>
            <a:pPr marL="0" indent="0" algn="ctr">
              <a:buNone/>
            </a:pPr>
            <a:endParaRPr lang="en-US" dirty="0"/>
          </a:p>
          <a:p>
            <a:r>
              <a:rPr lang="en-US" dirty="0"/>
              <a:t>A: 1977 King Quartz                    	4823-8120</a:t>
            </a:r>
          </a:p>
          <a:p>
            <a:endParaRPr lang="en-US" dirty="0"/>
          </a:p>
          <a:p>
            <a:r>
              <a:rPr lang="en-US" dirty="0"/>
              <a:t>Short history on Seiko</a:t>
            </a:r>
          </a:p>
        </p:txBody>
      </p:sp>
      <p:pic>
        <p:nvPicPr>
          <p:cNvPr id="1026" name="Picture 2">
            <a:extLst>
              <a:ext uri="{FF2B5EF4-FFF2-40B4-BE49-F238E27FC236}">
                <a16:creationId xmlns:a16="http://schemas.microsoft.com/office/drawing/2014/main" id="{9FAFF331-20C1-E352-D3F8-E561B62154F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171606" y="1067190"/>
            <a:ext cx="6688112" cy="501608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3800826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EE2AD96-B495-4E06-9291-B71706F728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53CF6D67-C5A8-4ADD-9E8E-1E38CA1D31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638515" y="639280"/>
            <a:ext cx="6858000" cy="5579440"/>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86909FA0-B515-4681-B7A8-FA281D133B9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393206" y="395206"/>
            <a:ext cx="6346209" cy="5576080"/>
          </a:xfrm>
          <a:prstGeom prst="rect">
            <a:avLst/>
          </a:prstGeom>
          <a:gradFill>
            <a:gsLst>
              <a:gs pos="0">
                <a:srgbClr val="000000">
                  <a:alpha val="0"/>
                </a:srgbClr>
              </a:gs>
              <a:gs pos="99000">
                <a:schemeClr val="accent1">
                  <a:alpha val="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21C9FE86-FCC3-4A31-AA1C-C882262B7FE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528907" y="2818967"/>
            <a:ext cx="2501979" cy="5576080"/>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Rectangle 15">
            <a:extLst>
              <a:ext uri="{FF2B5EF4-FFF2-40B4-BE49-F238E27FC236}">
                <a16:creationId xmlns:a16="http://schemas.microsoft.com/office/drawing/2014/main" id="{7D96243B-ECED-4B71-8E06-AE9A285EAD2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425002" y="852793"/>
            <a:ext cx="6858001" cy="5152412"/>
          </a:xfrm>
          <a:prstGeom prst="rect">
            <a:avLst/>
          </a:prstGeom>
          <a:gradFill>
            <a:gsLst>
              <a:gs pos="0">
                <a:srgbClr val="000000">
                  <a:alpha val="0"/>
                </a:srgbClr>
              </a:gs>
              <a:gs pos="99000">
                <a:schemeClr val="accent1">
                  <a:alpha val="11000"/>
                </a:scheme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A09989E4-EFDC-4A90-A633-E0525FB413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818753" y="1128497"/>
            <a:ext cx="4318303" cy="4318303"/>
          </a:xfrm>
          <a:prstGeom prst="ellipse">
            <a:avLst/>
          </a:prstGeom>
          <a:gradFill>
            <a:gsLst>
              <a:gs pos="39000">
                <a:schemeClr val="accent1">
                  <a:alpha val="0"/>
                </a:schemeClr>
              </a:gs>
              <a:gs pos="100000">
                <a:schemeClr val="accent1">
                  <a:lumMod val="60000"/>
                  <a:lumOff val="40000"/>
                  <a:alpha val="15000"/>
                </a:schemeClr>
              </a:gs>
            </a:gsLst>
            <a:lin ang="17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07B31195-D227-5636-C8D7-5F31DCAD5A92}"/>
              </a:ext>
            </a:extLst>
          </p:cNvPr>
          <p:cNvSpPr>
            <a:spLocks noGrp="1"/>
          </p:cNvSpPr>
          <p:nvPr>
            <p:ph type="title"/>
          </p:nvPr>
        </p:nvSpPr>
        <p:spPr>
          <a:xfrm>
            <a:off x="826396" y="586855"/>
            <a:ext cx="4230100" cy="3387497"/>
          </a:xfrm>
        </p:spPr>
        <p:txBody>
          <a:bodyPr anchor="b">
            <a:normAutofit/>
          </a:bodyPr>
          <a:lstStyle/>
          <a:p>
            <a:pPr algn="r"/>
            <a:r>
              <a:rPr lang="en-US" sz="4000" dirty="0">
                <a:solidFill>
                  <a:srgbClr val="FFFFFF"/>
                </a:solidFill>
              </a:rPr>
              <a:t>Bigger picture</a:t>
            </a:r>
          </a:p>
        </p:txBody>
      </p:sp>
      <p:sp>
        <p:nvSpPr>
          <p:cNvPr id="3" name="Content Placeholder 2">
            <a:extLst>
              <a:ext uri="{FF2B5EF4-FFF2-40B4-BE49-F238E27FC236}">
                <a16:creationId xmlns:a16="http://schemas.microsoft.com/office/drawing/2014/main" id="{2A22AEFF-1D30-A839-FCF7-0BA8016D4124}"/>
              </a:ext>
            </a:extLst>
          </p:cNvPr>
          <p:cNvSpPr>
            <a:spLocks noGrp="1"/>
          </p:cNvSpPr>
          <p:nvPr>
            <p:ph idx="1"/>
          </p:nvPr>
        </p:nvSpPr>
        <p:spPr>
          <a:xfrm>
            <a:off x="6007232" y="329784"/>
            <a:ext cx="5358373" cy="6325849"/>
          </a:xfrm>
        </p:spPr>
        <p:txBody>
          <a:bodyPr anchor="ctr">
            <a:normAutofit/>
          </a:bodyPr>
          <a:lstStyle/>
          <a:p>
            <a:r>
              <a:rPr lang="en-US" sz="2400" dirty="0"/>
              <a:t>Homework 1 together</a:t>
            </a:r>
          </a:p>
          <a:p>
            <a:r>
              <a:rPr lang="en-US" sz="2400" dirty="0"/>
              <a:t>Resource models</a:t>
            </a:r>
          </a:p>
          <a:p>
            <a:pPr lvl="1"/>
            <a:r>
              <a:rPr lang="en-US" sz="1800" dirty="0"/>
              <a:t>Hotelling (review)</a:t>
            </a:r>
          </a:p>
          <a:p>
            <a:pPr lvl="1"/>
            <a:r>
              <a:rPr lang="en-US" sz="1800" dirty="0"/>
              <a:t>Fisheries management (Gordon-Schaeffer)</a:t>
            </a:r>
          </a:p>
          <a:p>
            <a:pPr lvl="1"/>
            <a:r>
              <a:rPr lang="en-US" sz="1800" dirty="0"/>
              <a:t>Forestry management (Faustmann)</a:t>
            </a:r>
          </a:p>
          <a:p>
            <a:r>
              <a:rPr lang="en-US" sz="2200" dirty="0"/>
              <a:t>CO-WY electricity ‘dispatch’</a:t>
            </a:r>
          </a:p>
          <a:p>
            <a:r>
              <a:rPr lang="en-US" sz="2200" dirty="0"/>
              <a:t>Non-linear, calibrated market models</a:t>
            </a:r>
          </a:p>
          <a:p>
            <a:pPr lvl="1"/>
            <a:r>
              <a:rPr lang="en-US" sz="1800" dirty="0"/>
              <a:t>US petroleum, backstop techs</a:t>
            </a:r>
          </a:p>
          <a:p>
            <a:r>
              <a:rPr lang="en-US" sz="2200" dirty="0"/>
              <a:t>Review of duality -&gt; MCP models</a:t>
            </a:r>
          </a:p>
          <a:p>
            <a:r>
              <a:rPr lang="en-US" sz="2200" dirty="0"/>
              <a:t>Game theory models</a:t>
            </a:r>
          </a:p>
          <a:p>
            <a:pPr lvl="1"/>
            <a:r>
              <a:rPr lang="en-US" sz="1800" dirty="0"/>
              <a:t>Stackelberg</a:t>
            </a:r>
          </a:p>
          <a:p>
            <a:pPr lvl="1"/>
            <a:r>
              <a:rPr lang="en-US" sz="1800" dirty="0"/>
              <a:t>Cournot</a:t>
            </a:r>
          </a:p>
          <a:p>
            <a:r>
              <a:rPr lang="en-US" sz="2200" dirty="0"/>
              <a:t>Ramsey model</a:t>
            </a:r>
          </a:p>
          <a:p>
            <a:r>
              <a:rPr lang="en-US" sz="2200" dirty="0"/>
              <a:t>CGE models</a:t>
            </a:r>
          </a:p>
          <a:p>
            <a:r>
              <a:rPr lang="en-US" sz="2200" dirty="0"/>
              <a:t>MPECs/EPECs</a:t>
            </a:r>
          </a:p>
          <a:p>
            <a:r>
              <a:rPr lang="en-US" sz="2200" dirty="0"/>
              <a:t>Presentations</a:t>
            </a:r>
          </a:p>
          <a:p>
            <a:pPr lvl="1"/>
            <a:endParaRPr lang="en-US" sz="1800" dirty="0"/>
          </a:p>
        </p:txBody>
      </p:sp>
    </p:spTree>
    <p:extLst>
      <p:ext uri="{BB962C8B-B14F-4D97-AF65-F5344CB8AC3E}">
        <p14:creationId xmlns:p14="http://schemas.microsoft.com/office/powerpoint/2010/main" val="355709076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8A8D30-0443-1A49-9396-46F6CCB81DF2}"/>
              </a:ext>
            </a:extLst>
          </p:cNvPr>
          <p:cNvSpPr>
            <a:spLocks noGrp="1"/>
          </p:cNvSpPr>
          <p:nvPr>
            <p:ph type="title"/>
          </p:nvPr>
        </p:nvSpPr>
        <p:spPr/>
        <p:txBody>
          <a:bodyPr/>
          <a:lstStyle/>
          <a:p>
            <a:r>
              <a:rPr lang="en-US" dirty="0"/>
              <a:t>Homework – Question 1</a:t>
            </a:r>
          </a:p>
        </p:txBody>
      </p:sp>
      <p:graphicFrame>
        <p:nvGraphicFramePr>
          <p:cNvPr id="6" name="Content Placeholder 5">
            <a:extLst>
              <a:ext uri="{FF2B5EF4-FFF2-40B4-BE49-F238E27FC236}">
                <a16:creationId xmlns:a16="http://schemas.microsoft.com/office/drawing/2014/main" id="{59519B3B-8CA8-D89D-52EA-C2E16622F24E}"/>
              </a:ext>
            </a:extLst>
          </p:cNvPr>
          <p:cNvGraphicFramePr>
            <a:graphicFrameLocks noGrp="1"/>
          </p:cNvGraphicFramePr>
          <p:nvPr>
            <p:ph idx="1"/>
            <p:extLst>
              <p:ext uri="{D42A27DB-BD31-4B8C-83A1-F6EECF244321}">
                <p14:modId xmlns:p14="http://schemas.microsoft.com/office/powerpoint/2010/main" val="996844693"/>
              </p:ext>
            </p:extLst>
          </p:nvPr>
        </p:nvGraphicFramePr>
        <p:xfrm>
          <a:off x="2646947" y="5534526"/>
          <a:ext cx="6417678" cy="1058896"/>
        </p:xfrm>
        <a:graphic>
          <a:graphicData uri="http://schemas.openxmlformats.org/drawingml/2006/table">
            <a:tbl>
              <a:tblPr firstRow="1" firstCol="1" bandRow="1">
                <a:tableStyleId>{5C22544A-7EE6-4342-B048-85BDC9FD1C3A}</a:tableStyleId>
              </a:tblPr>
              <a:tblGrid>
                <a:gridCol w="1604076">
                  <a:extLst>
                    <a:ext uri="{9D8B030D-6E8A-4147-A177-3AD203B41FA5}">
                      <a16:colId xmlns:a16="http://schemas.microsoft.com/office/drawing/2014/main" val="59843106"/>
                    </a:ext>
                  </a:extLst>
                </a:gridCol>
                <a:gridCol w="1604076">
                  <a:extLst>
                    <a:ext uri="{9D8B030D-6E8A-4147-A177-3AD203B41FA5}">
                      <a16:colId xmlns:a16="http://schemas.microsoft.com/office/drawing/2014/main" val="166176792"/>
                    </a:ext>
                  </a:extLst>
                </a:gridCol>
                <a:gridCol w="1604763">
                  <a:extLst>
                    <a:ext uri="{9D8B030D-6E8A-4147-A177-3AD203B41FA5}">
                      <a16:colId xmlns:a16="http://schemas.microsoft.com/office/drawing/2014/main" val="1621585432"/>
                    </a:ext>
                  </a:extLst>
                </a:gridCol>
                <a:gridCol w="1604763">
                  <a:extLst>
                    <a:ext uri="{9D8B030D-6E8A-4147-A177-3AD203B41FA5}">
                      <a16:colId xmlns:a16="http://schemas.microsoft.com/office/drawing/2014/main" val="3690773186"/>
                    </a:ext>
                  </a:extLst>
                </a:gridCol>
              </a:tblGrid>
              <a:tr h="264724">
                <a:tc>
                  <a:txBody>
                    <a:bodyPr/>
                    <a:lstStyle/>
                    <a:p>
                      <a:pPr marL="0" marR="0">
                        <a:spcBef>
                          <a:spcPts val="0"/>
                        </a:spcBef>
                        <a:spcAft>
                          <a:spcPts val="0"/>
                        </a:spcAft>
                      </a:pPr>
                      <a:r>
                        <a:rPr lang="en-US" sz="1400" kern="100">
                          <a:effectLst/>
                        </a:rPr>
                        <a:t>Product</a:t>
                      </a:r>
                      <a:endParaRPr lang="en-US" sz="14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marL="0" marR="0">
                        <a:spcBef>
                          <a:spcPts val="0"/>
                        </a:spcBef>
                        <a:spcAft>
                          <a:spcPts val="0"/>
                        </a:spcAft>
                      </a:pPr>
                      <a:r>
                        <a:rPr lang="en-US" sz="1400" kern="100">
                          <a:effectLst/>
                        </a:rPr>
                        <a:t>Revenue ($/item)</a:t>
                      </a:r>
                      <a:endParaRPr lang="en-US" sz="14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marL="0" marR="0">
                        <a:spcBef>
                          <a:spcPts val="0"/>
                        </a:spcBef>
                        <a:spcAft>
                          <a:spcPts val="0"/>
                        </a:spcAft>
                      </a:pPr>
                      <a:r>
                        <a:rPr lang="en-US" sz="1400" kern="100">
                          <a:effectLst/>
                        </a:rPr>
                        <a:t>Cost ($/item)</a:t>
                      </a:r>
                      <a:endParaRPr lang="en-US" sz="14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marL="0" marR="0">
                        <a:spcBef>
                          <a:spcPts val="0"/>
                        </a:spcBef>
                        <a:spcAft>
                          <a:spcPts val="0"/>
                        </a:spcAft>
                      </a:pPr>
                      <a:r>
                        <a:rPr lang="en-US" sz="1400" kern="100">
                          <a:effectLst/>
                        </a:rPr>
                        <a:t>Time (hours/item)</a:t>
                      </a:r>
                      <a:endParaRPr lang="en-US" sz="14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648447108"/>
                  </a:ext>
                </a:extLst>
              </a:tr>
              <a:tr h="264724">
                <a:tc>
                  <a:txBody>
                    <a:bodyPr/>
                    <a:lstStyle/>
                    <a:p>
                      <a:pPr marL="0" marR="0">
                        <a:spcBef>
                          <a:spcPts val="0"/>
                        </a:spcBef>
                        <a:spcAft>
                          <a:spcPts val="0"/>
                        </a:spcAft>
                      </a:pPr>
                      <a:r>
                        <a:rPr lang="en-US" sz="1400" kern="100">
                          <a:effectLst/>
                        </a:rPr>
                        <a:t>Roll</a:t>
                      </a:r>
                      <a:endParaRPr lang="en-US" sz="14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marL="0" marR="0">
                        <a:spcBef>
                          <a:spcPts val="0"/>
                        </a:spcBef>
                        <a:spcAft>
                          <a:spcPts val="0"/>
                        </a:spcAft>
                      </a:pPr>
                      <a:r>
                        <a:rPr lang="en-US" sz="1400" kern="100" dirty="0">
                          <a:effectLst/>
                        </a:rPr>
                        <a:t>2.25</a:t>
                      </a:r>
                      <a:endParaRPr lang="en-US" sz="1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marL="0" marR="0">
                        <a:spcBef>
                          <a:spcPts val="0"/>
                        </a:spcBef>
                        <a:spcAft>
                          <a:spcPts val="0"/>
                        </a:spcAft>
                      </a:pPr>
                      <a:r>
                        <a:rPr lang="en-US" sz="1400" kern="100">
                          <a:effectLst/>
                        </a:rPr>
                        <a:t>1.5</a:t>
                      </a:r>
                      <a:endParaRPr lang="en-US" sz="14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marL="0" marR="0">
                        <a:spcBef>
                          <a:spcPts val="0"/>
                        </a:spcBef>
                        <a:spcAft>
                          <a:spcPts val="0"/>
                        </a:spcAft>
                      </a:pPr>
                      <a:r>
                        <a:rPr lang="en-US" sz="1400" kern="100" dirty="0">
                          <a:effectLst/>
                        </a:rPr>
                        <a:t>1.5</a:t>
                      </a:r>
                      <a:endParaRPr lang="en-US" sz="1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842575948"/>
                  </a:ext>
                </a:extLst>
              </a:tr>
              <a:tr h="264724">
                <a:tc>
                  <a:txBody>
                    <a:bodyPr/>
                    <a:lstStyle/>
                    <a:p>
                      <a:pPr marL="0" marR="0">
                        <a:spcBef>
                          <a:spcPts val="0"/>
                        </a:spcBef>
                        <a:spcAft>
                          <a:spcPts val="0"/>
                        </a:spcAft>
                      </a:pPr>
                      <a:r>
                        <a:rPr lang="en-US" sz="1400" kern="100">
                          <a:effectLst/>
                        </a:rPr>
                        <a:t>Croissant</a:t>
                      </a:r>
                      <a:endParaRPr lang="en-US" sz="14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marL="0" marR="0">
                        <a:spcBef>
                          <a:spcPts val="0"/>
                        </a:spcBef>
                        <a:spcAft>
                          <a:spcPts val="0"/>
                        </a:spcAft>
                      </a:pPr>
                      <a:r>
                        <a:rPr lang="en-US" sz="1400" kern="100" dirty="0">
                          <a:effectLst/>
                        </a:rPr>
                        <a:t>5.5</a:t>
                      </a:r>
                      <a:endParaRPr lang="en-US" sz="1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marL="0" marR="0">
                        <a:spcBef>
                          <a:spcPts val="0"/>
                        </a:spcBef>
                        <a:spcAft>
                          <a:spcPts val="0"/>
                        </a:spcAft>
                      </a:pPr>
                      <a:r>
                        <a:rPr lang="en-US" sz="1400" kern="100">
                          <a:effectLst/>
                        </a:rPr>
                        <a:t>2</a:t>
                      </a:r>
                      <a:endParaRPr lang="en-US" sz="14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marL="0" marR="0">
                        <a:spcBef>
                          <a:spcPts val="0"/>
                        </a:spcBef>
                        <a:spcAft>
                          <a:spcPts val="0"/>
                        </a:spcAft>
                      </a:pPr>
                      <a:r>
                        <a:rPr lang="en-US" sz="1400" kern="100" dirty="0">
                          <a:effectLst/>
                        </a:rPr>
                        <a:t>2.25</a:t>
                      </a:r>
                      <a:endParaRPr lang="en-US" sz="1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280790839"/>
                  </a:ext>
                </a:extLst>
              </a:tr>
              <a:tr h="264724">
                <a:tc>
                  <a:txBody>
                    <a:bodyPr/>
                    <a:lstStyle/>
                    <a:p>
                      <a:pPr marL="0" marR="0">
                        <a:spcBef>
                          <a:spcPts val="0"/>
                        </a:spcBef>
                        <a:spcAft>
                          <a:spcPts val="0"/>
                        </a:spcAft>
                      </a:pPr>
                      <a:r>
                        <a:rPr lang="en-US" sz="1400" kern="100">
                          <a:effectLst/>
                        </a:rPr>
                        <a:t>Bread</a:t>
                      </a:r>
                      <a:endParaRPr lang="en-US" sz="14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marL="0" marR="0">
                        <a:spcBef>
                          <a:spcPts val="0"/>
                        </a:spcBef>
                        <a:spcAft>
                          <a:spcPts val="0"/>
                        </a:spcAft>
                      </a:pPr>
                      <a:r>
                        <a:rPr lang="en-US" sz="1400" kern="100">
                          <a:effectLst/>
                        </a:rPr>
                        <a:t>10</a:t>
                      </a:r>
                      <a:endParaRPr lang="en-US" sz="14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marL="0" marR="0">
                        <a:spcBef>
                          <a:spcPts val="0"/>
                        </a:spcBef>
                        <a:spcAft>
                          <a:spcPts val="0"/>
                        </a:spcAft>
                      </a:pPr>
                      <a:r>
                        <a:rPr lang="en-US" sz="1400" kern="100">
                          <a:effectLst/>
                        </a:rPr>
                        <a:t>5</a:t>
                      </a:r>
                      <a:endParaRPr lang="en-US" sz="14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marL="0" marR="0">
                        <a:spcBef>
                          <a:spcPts val="0"/>
                        </a:spcBef>
                        <a:spcAft>
                          <a:spcPts val="0"/>
                        </a:spcAft>
                      </a:pPr>
                      <a:r>
                        <a:rPr lang="en-US" sz="1400" kern="100" dirty="0">
                          <a:effectLst/>
                        </a:rPr>
                        <a:t>5</a:t>
                      </a:r>
                      <a:endParaRPr lang="en-US" sz="1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72370639"/>
                  </a:ext>
                </a:extLst>
              </a:tr>
            </a:tbl>
          </a:graphicData>
        </a:graphic>
      </p:graphicFrame>
      <p:sp>
        <p:nvSpPr>
          <p:cNvPr id="7" name="Rectangle 2">
            <a:extLst>
              <a:ext uri="{FF2B5EF4-FFF2-40B4-BE49-F238E27FC236}">
                <a16:creationId xmlns:a16="http://schemas.microsoft.com/office/drawing/2014/main" id="{4046FAE8-04FD-0E7D-8E3E-477B25F5ED6B}"/>
              </a:ext>
            </a:extLst>
          </p:cNvPr>
          <p:cNvSpPr>
            <a:spLocks noChangeArrowheads="1"/>
          </p:cNvSpPr>
          <p:nvPr/>
        </p:nvSpPr>
        <p:spPr bwMode="auto">
          <a:xfrm>
            <a:off x="324855" y="1617267"/>
            <a:ext cx="11353800" cy="34163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a:ln>
                  <a:noFill/>
                </a:ln>
                <a:solidFill>
                  <a:schemeClr val="tx1"/>
                </a:solidFill>
                <a:effectLst/>
                <a:latin typeface="Aptos" panose="020B0004020202020204" pitchFamily="34" charset="0"/>
                <a:ea typeface="Aptos" panose="020B0004020202020204" pitchFamily="34" charset="0"/>
                <a:cs typeface="Times New Roman" panose="02020603050405020304" pitchFamily="18" charset="0"/>
              </a:rPr>
              <a:t>Q1 (25 points): Benny’s bakery</a:t>
            </a:r>
            <a:endParaRPr kumimoji="0" lang="en-US" altLang="en-US" sz="12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chemeClr val="tx1"/>
                </a:solidFill>
                <a:effectLst/>
                <a:latin typeface="Aptos" panose="020B0004020202020204" pitchFamily="34" charset="0"/>
                <a:ea typeface="Aptos" panose="020B0004020202020204" pitchFamily="34" charset="0"/>
                <a:cs typeface="Times New Roman" panose="02020603050405020304" pitchFamily="18" charset="0"/>
              </a:rPr>
              <a:t>Benny makes rolls, croissants, and bread loafs. The price, cost, and time for each is in the table below. Benny only has 40 hours to work in a week. </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2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Aptos" panose="020B0004020202020204" pitchFamily="34" charset="0"/>
                <a:ea typeface="Aptos" panose="020B0004020202020204" pitchFamily="34" charset="0"/>
                <a:cs typeface="Times New Roman" panose="02020603050405020304" pitchFamily="18" charset="0"/>
              </a:rPr>
              <a:t>(5 points) Write out the indices, parameters, variables, objective function, and constraints for this problem. Make sure to indicate units on your parameters and variables.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2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Aptos" panose="020B0004020202020204" pitchFamily="34" charset="0"/>
                <a:ea typeface="Aptos" panose="020B0004020202020204" pitchFamily="34" charset="0"/>
                <a:cs typeface="Times New Roman" panose="02020603050405020304" pitchFamily="18" charset="0"/>
              </a:rPr>
              <a:t>(5 points) Counterfactual: Benny now requires a roll to be sold with every croissant. Rolls can still be sold individually. Write out the math for this constraint.</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2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Aptos" panose="020B0004020202020204" pitchFamily="34" charset="0"/>
                <a:ea typeface="Aptos" panose="020B0004020202020204" pitchFamily="34" charset="0"/>
                <a:cs typeface="Times New Roman" panose="02020603050405020304" pitchFamily="18" charset="0"/>
              </a:rPr>
              <a:t>(15 points) Write the problem in GAMS solving the reference and counterfactual case. Be sure to use a switch to enable the counterfactual. Report on the optimal values of production in both the reference and counterfactual scenarios, including total profits. </a:t>
            </a:r>
            <a:endParaRPr kumimoji="0" lang="en-US" altLang="en-US" sz="2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97817826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396336-9C71-49AF-C7B8-34C3E36B82F2}"/>
              </a:ext>
            </a:extLst>
          </p:cNvPr>
          <p:cNvSpPr>
            <a:spLocks noGrp="1"/>
          </p:cNvSpPr>
          <p:nvPr>
            <p:ph type="title"/>
          </p:nvPr>
        </p:nvSpPr>
        <p:spPr>
          <a:xfrm>
            <a:off x="5297762" y="329184"/>
            <a:ext cx="6251110" cy="1783080"/>
          </a:xfrm>
        </p:spPr>
        <p:txBody>
          <a:bodyPr anchor="b">
            <a:normAutofit/>
          </a:bodyPr>
          <a:lstStyle/>
          <a:p>
            <a:r>
              <a:rPr lang="en-US" sz="5400"/>
              <a:t>Q1a</a:t>
            </a:r>
          </a:p>
        </p:txBody>
      </p:sp>
      <p:pic>
        <p:nvPicPr>
          <p:cNvPr id="4" name="Picture 3" descr="A dog wearing a garment&#10;&#10;Description automatically generated">
            <a:extLst>
              <a:ext uri="{FF2B5EF4-FFF2-40B4-BE49-F238E27FC236}">
                <a16:creationId xmlns:a16="http://schemas.microsoft.com/office/drawing/2014/main" id="{2BC0679A-F7B8-1937-34CB-A3C37AAD95ED}"/>
              </a:ext>
            </a:extLst>
          </p:cNvPr>
          <p:cNvPicPr>
            <a:picLocks noChangeAspect="1"/>
          </p:cNvPicPr>
          <p:nvPr/>
        </p:nvPicPr>
        <p:blipFill>
          <a:blip r:embed="rId2"/>
          <a:srcRect t="1033" r="1" b="1046"/>
          <a:stretch/>
        </p:blipFill>
        <p:spPr>
          <a:xfrm>
            <a:off x="1" y="10"/>
            <a:ext cx="4657344" cy="6857990"/>
          </a:xfrm>
          <a:custGeom>
            <a:avLst/>
            <a:gdLst/>
            <a:ahLst/>
            <a:cxnLst/>
            <a:rect l="l" t="t" r="r" b="b"/>
            <a:pathLst>
              <a:path w="4657344" h="6858000">
                <a:moveTo>
                  <a:pt x="0" y="0"/>
                </a:moveTo>
                <a:lnTo>
                  <a:pt x="3429755" y="0"/>
                </a:lnTo>
                <a:lnTo>
                  <a:pt x="3526016" y="148742"/>
                </a:lnTo>
                <a:cubicBezTo>
                  <a:pt x="3657740" y="365513"/>
                  <a:pt x="3777402" y="589569"/>
                  <a:pt x="3886489" y="819975"/>
                </a:cubicBezTo>
                <a:cubicBezTo>
                  <a:pt x="3891856" y="833492"/>
                  <a:pt x="3900663" y="845393"/>
                  <a:pt x="3912049" y="854514"/>
                </a:cubicBezTo>
                <a:cubicBezTo>
                  <a:pt x="3897352" y="819849"/>
                  <a:pt x="3883037" y="784928"/>
                  <a:pt x="3868083" y="750263"/>
                </a:cubicBezTo>
                <a:cubicBezTo>
                  <a:pt x="3806989" y="608712"/>
                  <a:pt x="3742478" y="469145"/>
                  <a:pt x="3674155" y="331786"/>
                </a:cubicBezTo>
                <a:lnTo>
                  <a:pt x="3496656" y="0"/>
                </a:lnTo>
                <a:lnTo>
                  <a:pt x="3554371" y="0"/>
                </a:lnTo>
                <a:lnTo>
                  <a:pt x="3661621" y="196614"/>
                </a:lnTo>
                <a:cubicBezTo>
                  <a:pt x="3856899" y="573253"/>
                  <a:pt x="4021071" y="966066"/>
                  <a:pt x="4161279" y="1371196"/>
                </a:cubicBezTo>
                <a:cubicBezTo>
                  <a:pt x="4379525" y="2007265"/>
                  <a:pt x="4530141" y="2664286"/>
                  <a:pt x="4610660" y="3331516"/>
                </a:cubicBezTo>
                <a:cubicBezTo>
                  <a:pt x="4652837" y="3672965"/>
                  <a:pt x="4671625" y="4013908"/>
                  <a:pt x="4645040" y="4357388"/>
                </a:cubicBezTo>
                <a:cubicBezTo>
                  <a:pt x="4613599" y="4758899"/>
                  <a:pt x="4566181" y="5157998"/>
                  <a:pt x="4485789" y="5552906"/>
                </a:cubicBezTo>
                <a:cubicBezTo>
                  <a:pt x="4397121" y="5988893"/>
                  <a:pt x="4276748" y="6414594"/>
                  <a:pt x="4117769" y="6828295"/>
                </a:cubicBezTo>
                <a:lnTo>
                  <a:pt x="4105288" y="6858000"/>
                </a:lnTo>
                <a:lnTo>
                  <a:pt x="4052520" y="6858000"/>
                </a:lnTo>
                <a:lnTo>
                  <a:pt x="4059369" y="6841549"/>
                </a:lnTo>
                <a:cubicBezTo>
                  <a:pt x="4147276" y="6614016"/>
                  <a:pt x="4224193" y="6380817"/>
                  <a:pt x="4291518" y="6142729"/>
                </a:cubicBezTo>
                <a:cubicBezTo>
                  <a:pt x="4350055" y="5935370"/>
                  <a:pt x="4393256" y="5723695"/>
                  <a:pt x="4443357" y="5513923"/>
                </a:cubicBezTo>
                <a:cubicBezTo>
                  <a:pt x="4444541" y="5502788"/>
                  <a:pt x="4445137" y="5491601"/>
                  <a:pt x="4445146" y="5480401"/>
                </a:cubicBezTo>
                <a:cubicBezTo>
                  <a:pt x="4408465" y="5607635"/>
                  <a:pt x="4379196" y="5719759"/>
                  <a:pt x="4344559" y="5830359"/>
                </a:cubicBezTo>
                <a:cubicBezTo>
                  <a:pt x="4254261" y="6118381"/>
                  <a:pt x="4150112" y="6398531"/>
                  <a:pt x="4031702" y="6670527"/>
                </a:cubicBezTo>
                <a:lnTo>
                  <a:pt x="3943824" y="6858000"/>
                </a:lnTo>
                <a:lnTo>
                  <a:pt x="0" y="6858000"/>
                </a:lnTo>
                <a:close/>
              </a:path>
            </a:pathLst>
          </a:custGeom>
        </p:spPr>
      </p:pic>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F7BBFF5D-300E-C367-BC76-B2917CCCB8F9}"/>
                  </a:ext>
                </a:extLst>
              </p:cNvPr>
              <p:cNvSpPr>
                <a:spLocks noGrp="1"/>
              </p:cNvSpPr>
              <p:nvPr>
                <p:ph idx="1"/>
              </p:nvPr>
            </p:nvSpPr>
            <p:spPr>
              <a:xfrm>
                <a:off x="5297762" y="2112264"/>
                <a:ext cx="6251110" cy="4577294"/>
              </a:xfrm>
            </p:spPr>
            <p:txBody>
              <a:bodyPr>
                <a:normAutofit/>
              </a:bodyPr>
              <a:lstStyle/>
              <a:p>
                <a:pPr marL="0" indent="0">
                  <a:buNone/>
                </a:pPr>
                <a:r>
                  <a:rPr kumimoji="0" lang="en-US" altLang="en-US" sz="1800" b="0" i="0" u="none" strike="noStrike" cap="none" normalizeH="0" baseline="0" dirty="0">
                    <a:ln>
                      <a:noFill/>
                    </a:ln>
                    <a:effectLst/>
                    <a:latin typeface="Aptos" panose="020B0004020202020204" pitchFamily="34" charset="0"/>
                    <a:ea typeface="Aptos" panose="020B0004020202020204" pitchFamily="34" charset="0"/>
                    <a:cs typeface="Times New Roman" panose="02020603050405020304" pitchFamily="18" charset="0"/>
                  </a:rPr>
                  <a:t>(5 points) Write out the indices, parameters, variables, objective function, and constraints for this problem. Make sure to indicate units on your parameters and variables.</a:t>
                </a:r>
              </a:p>
              <a:p>
                <a:pPr marL="0" indent="0">
                  <a:buNone/>
                </a:pPr>
                <a:endParaRPr lang="en-US" sz="1800" dirty="0"/>
              </a:p>
              <a:p>
                <a:pPr marL="0" indent="0">
                  <a:buNone/>
                </a:pPr>
                <a:r>
                  <a:rPr lang="en-US" sz="1800" b="1" dirty="0"/>
                  <a:t>Sets/indices</a:t>
                </a:r>
              </a:p>
              <a:p>
                <a:pPr marL="0" indent="0">
                  <a:buNone/>
                </a:pPr>
                <a14:m>
                  <m:oMath xmlns:m="http://schemas.openxmlformats.org/officeDocument/2006/math">
                    <m:r>
                      <a:rPr lang="en-US" sz="1800" b="0" i="1">
                        <a:latin typeface="Cambria Math" panose="02040503050406030204" pitchFamily="18" charset="0"/>
                      </a:rPr>
                      <m:t>𝑖</m:t>
                    </m:r>
                  </m:oMath>
                </a14:m>
                <a:r>
                  <a:rPr lang="en-US" sz="1800" b="0" dirty="0"/>
                  <a:t>: pastry items,  </a:t>
                </a:r>
                <a14:m>
                  <m:oMath xmlns:m="http://schemas.openxmlformats.org/officeDocument/2006/math">
                    <m:r>
                      <a:rPr lang="en-US" sz="1800" b="0" i="1">
                        <a:latin typeface="Cambria Math" panose="02040503050406030204" pitchFamily="18" charset="0"/>
                      </a:rPr>
                      <m:t>𝑖</m:t>
                    </m:r>
                    <m:r>
                      <a:rPr lang="en-US" sz="1800" b="0" i="1">
                        <a:latin typeface="Cambria Math" panose="02040503050406030204" pitchFamily="18" charset="0"/>
                      </a:rPr>
                      <m:t>∈{</m:t>
                    </m:r>
                    <m:r>
                      <a:rPr lang="en-US" sz="1800" b="0" i="1">
                        <a:latin typeface="Cambria Math" panose="02040503050406030204" pitchFamily="18" charset="0"/>
                      </a:rPr>
                      <m:t>𝑟𝑜𝑙𝑙𝑠</m:t>
                    </m:r>
                    <m:r>
                      <a:rPr lang="en-US" sz="1800" b="0" i="1">
                        <a:latin typeface="Cambria Math" panose="02040503050406030204" pitchFamily="18" charset="0"/>
                      </a:rPr>
                      <m:t>, </m:t>
                    </m:r>
                    <m:r>
                      <a:rPr lang="en-US" sz="1800" b="0" i="1">
                        <a:latin typeface="Cambria Math" panose="02040503050406030204" pitchFamily="18" charset="0"/>
                      </a:rPr>
                      <m:t>𝑐𝑟𝑜𝑖𝑠𝑠𝑎𝑛𝑡𝑠</m:t>
                    </m:r>
                    <m:r>
                      <a:rPr lang="en-US" sz="1800" b="0" i="1">
                        <a:latin typeface="Cambria Math" panose="02040503050406030204" pitchFamily="18" charset="0"/>
                      </a:rPr>
                      <m:t>, </m:t>
                    </m:r>
                    <m:r>
                      <a:rPr lang="en-US" sz="1800" b="0" i="1">
                        <a:latin typeface="Cambria Math" panose="02040503050406030204" pitchFamily="18" charset="0"/>
                      </a:rPr>
                      <m:t>𝑙𝑜𝑎𝑓𝑠</m:t>
                    </m:r>
                    <m:r>
                      <a:rPr lang="en-US" sz="1800" b="0" i="1">
                        <a:latin typeface="Cambria Math" panose="02040503050406030204" pitchFamily="18" charset="0"/>
                      </a:rPr>
                      <m:t>}</m:t>
                    </m:r>
                  </m:oMath>
                </a14:m>
                <a:endParaRPr lang="en-US" sz="1800" dirty="0"/>
              </a:p>
              <a:p>
                <a:pPr marL="0" indent="0">
                  <a:buNone/>
                </a:pPr>
                <a:endParaRPr lang="en-US" sz="1800" dirty="0"/>
              </a:p>
              <a:p>
                <a:pPr marL="0" indent="0">
                  <a:buNone/>
                </a:pPr>
                <a:r>
                  <a:rPr lang="en-US" sz="1800" b="1" dirty="0"/>
                  <a:t>Parameters</a:t>
                </a:r>
              </a:p>
              <a:p>
                <a:pPr marL="0" indent="0">
                  <a:buNone/>
                </a:pPr>
                <a14:m>
                  <m:oMath xmlns:m="http://schemas.openxmlformats.org/officeDocument/2006/math">
                    <m:sSub>
                      <m:sSubPr>
                        <m:ctrlPr>
                          <a:rPr lang="en-US" sz="1800" b="0" i="1">
                            <a:latin typeface="Cambria Math" panose="02040503050406030204" pitchFamily="18" charset="0"/>
                          </a:rPr>
                        </m:ctrlPr>
                      </m:sSubPr>
                      <m:e>
                        <m:r>
                          <a:rPr lang="en-US" sz="1800" b="0" i="1">
                            <a:latin typeface="Cambria Math" panose="02040503050406030204" pitchFamily="18" charset="0"/>
                          </a:rPr>
                          <m:t>𝑟</m:t>
                        </m:r>
                      </m:e>
                      <m:sub>
                        <m:r>
                          <a:rPr lang="en-US" sz="1800" b="0" i="1">
                            <a:latin typeface="Cambria Math" panose="02040503050406030204" pitchFamily="18" charset="0"/>
                          </a:rPr>
                          <m:t>𝑖</m:t>
                        </m:r>
                      </m:sub>
                    </m:sSub>
                  </m:oMath>
                </a14:m>
                <a:r>
                  <a:rPr lang="en-US" sz="1800" dirty="0"/>
                  <a:t>: Revenue ($ / item)</a:t>
                </a:r>
              </a:p>
              <a:p>
                <a:pPr marL="0" indent="0">
                  <a:buNone/>
                </a:pPr>
                <a14:m>
                  <m:oMath xmlns:m="http://schemas.openxmlformats.org/officeDocument/2006/math">
                    <m:sSub>
                      <m:sSubPr>
                        <m:ctrlPr>
                          <a:rPr lang="en-US" sz="1800" b="0" i="1">
                            <a:latin typeface="Cambria Math" panose="02040503050406030204" pitchFamily="18" charset="0"/>
                          </a:rPr>
                        </m:ctrlPr>
                      </m:sSubPr>
                      <m:e>
                        <m:r>
                          <a:rPr lang="en-US" sz="1800" b="0" i="1">
                            <a:latin typeface="Cambria Math" panose="02040503050406030204" pitchFamily="18" charset="0"/>
                          </a:rPr>
                          <m:t>𝑐</m:t>
                        </m:r>
                      </m:e>
                      <m:sub>
                        <m:r>
                          <a:rPr lang="en-US" sz="1800" b="0" i="1">
                            <a:latin typeface="Cambria Math" panose="02040503050406030204" pitchFamily="18" charset="0"/>
                          </a:rPr>
                          <m:t>𝑖</m:t>
                        </m:r>
                      </m:sub>
                    </m:sSub>
                  </m:oMath>
                </a14:m>
                <a:r>
                  <a:rPr lang="en-US" sz="1800" dirty="0"/>
                  <a:t>: Cost ($ / item)</a:t>
                </a:r>
              </a:p>
              <a:p>
                <a:pPr marL="0" indent="0">
                  <a:buNone/>
                </a:pPr>
                <a14:m>
                  <m:oMath xmlns:m="http://schemas.openxmlformats.org/officeDocument/2006/math">
                    <m:sSub>
                      <m:sSubPr>
                        <m:ctrlPr>
                          <a:rPr lang="en-US" sz="1800" b="0" i="1">
                            <a:latin typeface="Cambria Math" panose="02040503050406030204" pitchFamily="18" charset="0"/>
                          </a:rPr>
                        </m:ctrlPr>
                      </m:sSubPr>
                      <m:e>
                        <m:r>
                          <a:rPr lang="en-US" sz="1800" b="0" i="1">
                            <a:latin typeface="Cambria Math" panose="02040503050406030204" pitchFamily="18" charset="0"/>
                          </a:rPr>
                          <m:t>h</m:t>
                        </m:r>
                      </m:e>
                      <m:sub>
                        <m:r>
                          <a:rPr lang="en-US" sz="1800" b="0" i="1">
                            <a:latin typeface="Cambria Math" panose="02040503050406030204" pitchFamily="18" charset="0"/>
                          </a:rPr>
                          <m:t>𝑖</m:t>
                        </m:r>
                      </m:sub>
                    </m:sSub>
                  </m:oMath>
                </a14:m>
                <a:r>
                  <a:rPr lang="en-US" sz="1800" dirty="0"/>
                  <a:t>: Hours required (hours / item)</a:t>
                </a:r>
              </a:p>
              <a:p>
                <a:pPr marL="0" indent="0">
                  <a:buNone/>
                </a:pPr>
                <a14:m>
                  <m:oMath xmlns:m="http://schemas.openxmlformats.org/officeDocument/2006/math">
                    <m:acc>
                      <m:accPr>
                        <m:chr m:val="̅"/>
                        <m:ctrlPr>
                          <a:rPr kumimoji="0" lang="en-US" altLang="en-US" sz="1800" b="0" i="1" u="none" strike="noStrike" cap="none" normalizeH="0" baseline="0">
                            <a:ln>
                              <a:noFill/>
                            </a:ln>
                            <a:effectLst/>
                            <a:latin typeface="Cambria Math" panose="02040503050406030204" pitchFamily="18" charset="0"/>
                            <a:cs typeface="Times New Roman" panose="02020603050405020304" pitchFamily="18" charset="0"/>
                          </a:rPr>
                        </m:ctrlPr>
                      </m:accPr>
                      <m:e>
                        <m:r>
                          <a:rPr kumimoji="0" lang="en-US" altLang="en-US" sz="1800" b="0" i="1" u="none" strike="noStrike" cap="none" normalizeH="0" baseline="0">
                            <a:ln>
                              <a:noFill/>
                            </a:ln>
                            <a:effectLst/>
                            <a:latin typeface="Cambria Math" panose="02040503050406030204" pitchFamily="18" charset="0"/>
                            <a:cs typeface="Times New Roman" panose="02020603050405020304" pitchFamily="18" charset="0"/>
                          </a:rPr>
                          <m:t>h</m:t>
                        </m:r>
                      </m:e>
                    </m:acc>
                  </m:oMath>
                </a14:m>
                <a:r>
                  <a:rPr lang="en-US" sz="1800" dirty="0"/>
                  <a:t>: hour limit per week (hours)</a:t>
                </a:r>
              </a:p>
            </p:txBody>
          </p:sp>
        </mc:Choice>
        <mc:Fallback>
          <p:sp>
            <p:nvSpPr>
              <p:cNvPr id="3" name="Content Placeholder 2">
                <a:extLst>
                  <a:ext uri="{FF2B5EF4-FFF2-40B4-BE49-F238E27FC236}">
                    <a16:creationId xmlns:a16="http://schemas.microsoft.com/office/drawing/2014/main" id="{F7BBFF5D-300E-C367-BC76-B2917CCCB8F9}"/>
                  </a:ext>
                </a:extLst>
              </p:cNvPr>
              <p:cNvSpPr>
                <a:spLocks noGrp="1" noRot="1" noChangeAspect="1" noMove="1" noResize="1" noEditPoints="1" noAdjustHandles="1" noChangeArrowheads="1" noChangeShapeType="1" noTextEdit="1"/>
              </p:cNvSpPr>
              <p:nvPr>
                <p:ph idx="1"/>
              </p:nvPr>
            </p:nvSpPr>
            <p:spPr>
              <a:xfrm>
                <a:off x="5297762" y="2112264"/>
                <a:ext cx="6251110" cy="4577294"/>
              </a:xfrm>
              <a:blipFill>
                <a:blip r:embed="rId3"/>
                <a:stretch>
                  <a:fillRect l="-811" t="-1108"/>
                </a:stretch>
              </a:blipFill>
            </p:spPr>
            <p:txBody>
              <a:bodyPr/>
              <a:lstStyle/>
              <a:p>
                <a:r>
                  <a:rPr lang="en-US">
                    <a:noFill/>
                  </a:rPr>
                  <a:t> </a:t>
                </a:r>
              </a:p>
            </p:txBody>
          </p:sp>
        </mc:Fallback>
      </mc:AlternateContent>
    </p:spTree>
    <p:extLst>
      <p:ext uri="{BB962C8B-B14F-4D97-AF65-F5344CB8AC3E}">
        <p14:creationId xmlns:p14="http://schemas.microsoft.com/office/powerpoint/2010/main" val="138886908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AF96DD-157D-9C95-F30E-43F51E4C5DF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EFEB24D-C557-1C00-0477-97588B9F8B2D}"/>
              </a:ext>
            </a:extLst>
          </p:cNvPr>
          <p:cNvSpPr>
            <a:spLocks noGrp="1"/>
          </p:cNvSpPr>
          <p:nvPr>
            <p:ph type="title"/>
          </p:nvPr>
        </p:nvSpPr>
        <p:spPr/>
        <p:txBody>
          <a:bodyPr/>
          <a:lstStyle/>
          <a:p>
            <a:r>
              <a:rPr lang="en-US" dirty="0"/>
              <a:t>Q1a</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D1EA8E42-F523-E1B7-6ACB-5B75F09DF1F4}"/>
                  </a:ext>
                </a:extLst>
              </p:cNvPr>
              <p:cNvSpPr>
                <a:spLocks noGrp="1"/>
              </p:cNvSpPr>
              <p:nvPr>
                <p:ph idx="1"/>
              </p:nvPr>
            </p:nvSpPr>
            <p:spPr>
              <a:xfrm>
                <a:off x="838200" y="1416551"/>
                <a:ext cx="10515600" cy="5188786"/>
              </a:xfrm>
            </p:spPr>
            <p:txBody>
              <a:bodyPr>
                <a:normAutofit lnSpcReduction="10000"/>
              </a:bodyPr>
              <a:lstStyle/>
              <a:p>
                <a:pPr marL="0" indent="0">
                  <a:buNone/>
                </a:pPr>
                <a:r>
                  <a:rPr kumimoji="0" lang="en-US" altLang="en-US" b="0" i="0" u="none" strike="noStrike" cap="none" normalizeH="0" baseline="0" dirty="0">
                    <a:ln>
                      <a:noFill/>
                    </a:ln>
                    <a:solidFill>
                      <a:schemeClr val="tx1"/>
                    </a:solidFill>
                    <a:effectLst/>
                    <a:latin typeface="Aptos" panose="020B0004020202020204" pitchFamily="34" charset="0"/>
                    <a:ea typeface="Aptos" panose="020B0004020202020204" pitchFamily="34" charset="0"/>
                    <a:cs typeface="Times New Roman" panose="02020603050405020304" pitchFamily="18" charset="0"/>
                  </a:rPr>
                  <a:t>(5 points) Write out the indices, parameters, variables, objective function, and constraints for this problem. Make sure to indicate units on your parameters and variables.</a:t>
                </a:r>
              </a:p>
              <a:p>
                <a:pPr marL="0" indent="0">
                  <a:buNone/>
                </a:pPr>
                <a:endParaRPr lang="en-US" dirty="0"/>
              </a:p>
              <a:p>
                <a:pPr marL="0" indent="0">
                  <a:buNone/>
                </a:pPr>
                <a:r>
                  <a:rPr lang="en-US" b="1" dirty="0"/>
                  <a:t>Variables</a:t>
                </a:r>
              </a:p>
              <a:p>
                <a:pPr marL="0" indent="0">
                  <a:buNone/>
                </a:pP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𝑋</m:t>
                        </m:r>
                      </m:e>
                      <m:sub>
                        <m:r>
                          <a:rPr lang="en-US" b="0" i="1" smtClean="0">
                            <a:latin typeface="Cambria Math" panose="02040503050406030204" pitchFamily="18" charset="0"/>
                          </a:rPr>
                          <m:t>𝑖</m:t>
                        </m:r>
                      </m:sub>
                    </m:sSub>
                  </m:oMath>
                </a14:m>
                <a:r>
                  <a:rPr lang="en-US" dirty="0"/>
                  <a:t>: amount produced (items)</a:t>
                </a:r>
              </a:p>
              <a:p>
                <a:pPr marL="0" indent="0">
                  <a:buNone/>
                </a:pPr>
                <a14:m>
                  <m:oMath xmlns:m="http://schemas.openxmlformats.org/officeDocument/2006/math">
                    <m:r>
                      <a:rPr lang="en-US" b="0" i="1" smtClean="0">
                        <a:latin typeface="Cambria Math" panose="02040503050406030204" pitchFamily="18" charset="0"/>
                      </a:rPr>
                      <m:t>𝜋</m:t>
                    </m:r>
                  </m:oMath>
                </a14:m>
                <a:r>
                  <a:rPr lang="en-US" dirty="0"/>
                  <a:t>: profit ($s)</a:t>
                </a:r>
              </a:p>
              <a:p>
                <a:pPr marL="0" indent="0">
                  <a:buNone/>
                </a:pPr>
                <a:endParaRPr lang="en-US" dirty="0"/>
              </a:p>
              <a:p>
                <a:pPr marL="0" indent="0">
                  <a:buNone/>
                </a:pPr>
                <a:r>
                  <a:rPr lang="en-US" b="1" dirty="0"/>
                  <a:t>Objective function </a:t>
                </a:r>
                <a:r>
                  <a:rPr lang="en-US" dirty="0"/>
                  <a:t>– maximize profit</a:t>
                </a:r>
              </a:p>
              <a:p>
                <a:pPr marL="0" indent="0">
                  <a:buNone/>
                </a:pPr>
                <a14:m>
                  <m:oMathPara xmlns:m="http://schemas.openxmlformats.org/officeDocument/2006/math">
                    <m:oMathParaPr>
                      <m:jc m:val="centerGroup"/>
                    </m:oMathParaPr>
                    <m:oMath xmlns:m="http://schemas.openxmlformats.org/officeDocument/2006/math">
                      <m:m>
                        <m:mPr>
                          <m:mcs>
                            <m:mc>
                              <m:mcPr>
                                <m:count m:val="1"/>
                                <m:mcJc m:val="center"/>
                              </m:mcPr>
                            </m:mc>
                          </m:mcs>
                          <m:ctrlPr>
                            <a:rPr lang="en-US" i="1" smtClean="0">
                              <a:latin typeface="Cambria Math" panose="02040503050406030204" pitchFamily="18" charset="0"/>
                            </a:rPr>
                          </m:ctrlPr>
                        </m:mPr>
                        <m:mr>
                          <m:e>
                            <m:r>
                              <m:rPr>
                                <m:brk m:alnAt="7"/>
                              </m:rPr>
                              <a:rPr lang="en-US" b="0" i="1" smtClean="0">
                                <a:latin typeface="Cambria Math" panose="02040503050406030204" pitchFamily="18" charset="0"/>
                              </a:rPr>
                              <m:t>𝑀</m:t>
                            </m:r>
                            <m:r>
                              <a:rPr lang="en-US" b="0" i="1" smtClean="0">
                                <a:latin typeface="Cambria Math" panose="02040503050406030204" pitchFamily="18" charset="0"/>
                              </a:rPr>
                              <m:t>𝑎𝑥</m:t>
                            </m:r>
                          </m:e>
                        </m:mr>
                        <m:m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𝑋</m:t>
                                </m:r>
                              </m:e>
                              <m:sub>
                                <m:r>
                                  <a:rPr lang="en-US" b="0" i="1" smtClean="0">
                                    <a:latin typeface="Cambria Math" panose="02040503050406030204" pitchFamily="18" charset="0"/>
                                  </a:rPr>
                                  <m:t>𝑖</m:t>
                                </m:r>
                              </m:sub>
                            </m:sSub>
                          </m:e>
                        </m:mr>
                      </m:m>
                      <m:r>
                        <a:rPr lang="en-US" b="0" i="1" smtClean="0">
                          <a:latin typeface="Cambria Math" panose="02040503050406030204" pitchFamily="18" charset="0"/>
                        </a:rPr>
                        <m:t>𝜋</m:t>
                      </m:r>
                      <m:r>
                        <a:rPr lang="en-US" b="0" i="1" smtClean="0">
                          <a:latin typeface="Cambria Math" panose="02040503050406030204" pitchFamily="18" charset="0"/>
                        </a:rPr>
                        <m:t>=</m:t>
                      </m:r>
                      <m:nary>
                        <m:naryPr>
                          <m:chr m:val="∑"/>
                          <m:supHide m:val="on"/>
                          <m:ctrlPr>
                            <a:rPr lang="en-US" b="0" i="1" smtClean="0">
                              <a:latin typeface="Cambria Math" panose="02040503050406030204" pitchFamily="18" charset="0"/>
                            </a:rPr>
                          </m:ctrlPr>
                        </m:naryPr>
                        <m:sub>
                          <m:r>
                            <a:rPr lang="en-US" b="0" i="1" smtClean="0">
                              <a:latin typeface="Cambria Math" panose="02040503050406030204" pitchFamily="18" charset="0"/>
                            </a:rPr>
                            <m:t>𝑖</m:t>
                          </m:r>
                        </m:sub>
                        <m:sup/>
                        <m:e>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𝑟</m:t>
                                  </m:r>
                                </m:e>
                                <m:sub>
                                  <m:r>
                                    <a:rPr lang="en-US" b="0" i="1" smtClean="0">
                                      <a:latin typeface="Cambria Math" panose="02040503050406030204" pitchFamily="18" charset="0"/>
                                    </a:rPr>
                                    <m:t>𝑖</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𝑐</m:t>
                                  </m:r>
                                </m:e>
                                <m:sub>
                                  <m:r>
                                    <a:rPr lang="en-US" b="0" i="1" smtClean="0">
                                      <a:latin typeface="Cambria Math" panose="02040503050406030204" pitchFamily="18" charset="0"/>
                                    </a:rPr>
                                    <m:t>𝑖</m:t>
                                  </m:r>
                                </m:sub>
                              </m:sSub>
                            </m:e>
                          </m:d>
                          <m:sSub>
                            <m:sSubPr>
                              <m:ctrlPr>
                                <a:rPr lang="en-US" b="0" i="1" smtClean="0">
                                  <a:latin typeface="Cambria Math" panose="02040503050406030204" pitchFamily="18" charset="0"/>
                                </a:rPr>
                              </m:ctrlPr>
                            </m:sSubPr>
                            <m:e>
                              <m:r>
                                <a:rPr lang="en-US" b="0" i="1" smtClean="0">
                                  <a:latin typeface="Cambria Math" panose="02040503050406030204" pitchFamily="18" charset="0"/>
                                </a:rPr>
                                <m:t>𝑋</m:t>
                              </m:r>
                            </m:e>
                            <m:sub>
                              <m:r>
                                <a:rPr lang="en-US" b="0" i="1" smtClean="0">
                                  <a:latin typeface="Cambria Math" panose="02040503050406030204" pitchFamily="18" charset="0"/>
                                </a:rPr>
                                <m:t>𝑖</m:t>
                              </m:r>
                            </m:sub>
                          </m:sSub>
                        </m:e>
                      </m:nary>
                    </m:oMath>
                  </m:oMathPara>
                </a14:m>
                <a:endParaRPr lang="en-US" dirty="0"/>
              </a:p>
              <a:p>
                <a:pPr marL="0" indent="0">
                  <a:buNone/>
                </a:pPr>
                <a:endParaRPr lang="en-US" dirty="0"/>
              </a:p>
            </p:txBody>
          </p:sp>
        </mc:Choice>
        <mc:Fallback xmlns="">
          <p:sp>
            <p:nvSpPr>
              <p:cNvPr id="3" name="Content Placeholder 2">
                <a:extLst>
                  <a:ext uri="{FF2B5EF4-FFF2-40B4-BE49-F238E27FC236}">
                    <a16:creationId xmlns:a16="http://schemas.microsoft.com/office/drawing/2014/main" id="{D1EA8E42-F523-E1B7-6ACB-5B75F09DF1F4}"/>
                  </a:ext>
                </a:extLst>
              </p:cNvPr>
              <p:cNvSpPr>
                <a:spLocks noGrp="1" noRot="1" noChangeAspect="1" noMove="1" noResize="1" noEditPoints="1" noAdjustHandles="1" noChangeArrowheads="1" noChangeShapeType="1" noTextEdit="1"/>
              </p:cNvSpPr>
              <p:nvPr>
                <p:ph idx="1"/>
              </p:nvPr>
            </p:nvSpPr>
            <p:spPr>
              <a:xfrm>
                <a:off x="838200" y="1416551"/>
                <a:ext cx="10515600" cy="5188786"/>
              </a:xfrm>
              <a:blipFill>
                <a:blip r:embed="rId2"/>
                <a:stretch>
                  <a:fillRect l="-1206" t="-2683" b="-34146"/>
                </a:stretch>
              </a:blipFill>
            </p:spPr>
            <p:txBody>
              <a:bodyPr/>
              <a:lstStyle/>
              <a:p>
                <a:r>
                  <a:rPr lang="en-US">
                    <a:noFill/>
                  </a:rPr>
                  <a:t> </a:t>
                </a:r>
              </a:p>
            </p:txBody>
          </p:sp>
        </mc:Fallback>
      </mc:AlternateContent>
    </p:spTree>
    <p:extLst>
      <p:ext uri="{BB962C8B-B14F-4D97-AF65-F5344CB8AC3E}">
        <p14:creationId xmlns:p14="http://schemas.microsoft.com/office/powerpoint/2010/main" val="58642747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BF7919-232D-F165-FACA-965373416C4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53FBFFF-5FEE-CECA-F557-0206A4583E0A}"/>
              </a:ext>
            </a:extLst>
          </p:cNvPr>
          <p:cNvSpPr>
            <a:spLocks noGrp="1"/>
          </p:cNvSpPr>
          <p:nvPr>
            <p:ph type="title"/>
          </p:nvPr>
        </p:nvSpPr>
        <p:spPr/>
        <p:txBody>
          <a:bodyPr/>
          <a:lstStyle/>
          <a:p>
            <a:r>
              <a:rPr lang="en-US" dirty="0"/>
              <a:t>Q1a</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7AA96212-E838-0F74-D88B-971D8EF126D9}"/>
                  </a:ext>
                </a:extLst>
              </p:cNvPr>
              <p:cNvSpPr>
                <a:spLocks noGrp="1"/>
              </p:cNvSpPr>
              <p:nvPr>
                <p:ph idx="1"/>
              </p:nvPr>
            </p:nvSpPr>
            <p:spPr>
              <a:xfrm>
                <a:off x="838200" y="1416551"/>
                <a:ext cx="10515600" cy="5188786"/>
              </a:xfrm>
            </p:spPr>
            <p:txBody>
              <a:bodyPr>
                <a:normAutofit/>
              </a:bodyPr>
              <a:lstStyle/>
              <a:p>
                <a:pPr marL="0" indent="0">
                  <a:buNone/>
                </a:pPr>
                <a:r>
                  <a:rPr kumimoji="0" lang="en-US" altLang="en-US" b="0" i="0" u="none" strike="noStrike" cap="none" normalizeH="0" baseline="0" dirty="0">
                    <a:ln>
                      <a:noFill/>
                    </a:ln>
                    <a:solidFill>
                      <a:schemeClr val="tx1"/>
                    </a:solidFill>
                    <a:effectLst/>
                    <a:latin typeface="Aptos" panose="020B0004020202020204" pitchFamily="34" charset="0"/>
                    <a:ea typeface="Aptos" panose="020B0004020202020204" pitchFamily="34" charset="0"/>
                    <a:cs typeface="Times New Roman" panose="02020603050405020304" pitchFamily="18" charset="0"/>
                  </a:rPr>
                  <a:t>(5 points) Write out the indices, parameters, variables, objective function, and constraints for this problem. Make sure to indicate units on your parameters and variables.</a:t>
                </a:r>
              </a:p>
              <a:p>
                <a:pPr marL="0" indent="0">
                  <a:buNone/>
                </a:pPr>
                <a:endParaRPr lang="en-US" dirty="0"/>
              </a:p>
              <a:p>
                <a:pPr marL="0" indent="0">
                  <a:buNone/>
                </a:pPr>
                <a:r>
                  <a:rPr lang="en-US" b="1" dirty="0"/>
                  <a:t>Constraints</a:t>
                </a:r>
                <a:r>
                  <a:rPr lang="en-US" dirty="0"/>
                  <a:t>:</a:t>
                </a:r>
              </a:p>
              <a:p>
                <a:pPr marL="0" indent="0">
                  <a:buNone/>
                </a:pPr>
                <a14:m>
                  <m:oMathPara xmlns:m="http://schemas.openxmlformats.org/officeDocument/2006/math">
                    <m:oMathParaPr>
                      <m:jc m:val="centerGroup"/>
                    </m:oMathParaPr>
                    <m:oMath xmlns:m="http://schemas.openxmlformats.org/officeDocument/2006/math">
                      <m:acc>
                        <m:accPr>
                          <m:chr m:val="̅"/>
                          <m:ctrlPr>
                            <a:rPr kumimoji="0" lang="en-US" altLang="en-US" b="0" i="1" u="none" strike="noStrike" cap="none" normalizeH="0" baseline="0" smtClean="0">
                              <a:ln>
                                <a:noFill/>
                              </a:ln>
                              <a:solidFill>
                                <a:schemeClr val="tx1"/>
                              </a:solidFill>
                              <a:effectLst/>
                              <a:latin typeface="Cambria Math" panose="02040503050406030204" pitchFamily="18" charset="0"/>
                              <a:cs typeface="Times New Roman" panose="02020603050405020304" pitchFamily="18" charset="0"/>
                            </a:rPr>
                          </m:ctrlPr>
                        </m:accPr>
                        <m:e>
                          <m:r>
                            <a:rPr kumimoji="0" lang="en-US" altLang="en-US" b="0" i="1" u="none" strike="noStrike" cap="none" normalizeH="0" baseline="0" smtClean="0">
                              <a:ln>
                                <a:noFill/>
                              </a:ln>
                              <a:solidFill>
                                <a:schemeClr val="tx1"/>
                              </a:solidFill>
                              <a:effectLst/>
                              <a:latin typeface="Cambria Math" panose="02040503050406030204" pitchFamily="18" charset="0"/>
                              <a:cs typeface="Times New Roman" panose="02020603050405020304" pitchFamily="18" charset="0"/>
                            </a:rPr>
                            <m:t>h</m:t>
                          </m:r>
                        </m:e>
                      </m:acc>
                      <m:r>
                        <a:rPr kumimoji="0" lang="en-US" altLang="en-US" b="0" i="1" u="none" strike="noStrike" cap="none" normalizeH="0" baseline="0" dirty="0" smtClean="0">
                          <a:ln>
                            <a:noFill/>
                          </a:ln>
                          <a:solidFill>
                            <a:schemeClr val="tx1"/>
                          </a:solidFill>
                          <a:effectLst/>
                          <a:latin typeface="Cambria Math" panose="02040503050406030204" pitchFamily="18" charset="0"/>
                          <a:cs typeface="Times New Roman" panose="02020603050405020304" pitchFamily="18" charset="0"/>
                        </a:rPr>
                        <m:t>≥</m:t>
                      </m:r>
                      <m:nary>
                        <m:naryPr>
                          <m:chr m:val="∑"/>
                          <m:supHide m:val="on"/>
                          <m:ctrlPr>
                            <a:rPr kumimoji="0" lang="en-US" altLang="en-US" b="0" i="1" u="none" strike="noStrike" cap="none" normalizeH="0" baseline="0" dirty="0" smtClean="0">
                              <a:ln>
                                <a:noFill/>
                              </a:ln>
                              <a:solidFill>
                                <a:schemeClr val="tx1"/>
                              </a:solidFill>
                              <a:effectLst/>
                              <a:latin typeface="Cambria Math" panose="02040503050406030204" pitchFamily="18" charset="0"/>
                              <a:cs typeface="Times New Roman" panose="02020603050405020304" pitchFamily="18" charset="0"/>
                            </a:rPr>
                          </m:ctrlPr>
                        </m:naryPr>
                        <m:sub>
                          <m:r>
                            <a:rPr kumimoji="0" lang="en-US" altLang="en-US" b="0" i="1" u="none" strike="noStrike" cap="none" normalizeH="0" baseline="0" dirty="0" smtClean="0">
                              <a:ln>
                                <a:noFill/>
                              </a:ln>
                              <a:solidFill>
                                <a:schemeClr val="tx1"/>
                              </a:solidFill>
                              <a:effectLst/>
                              <a:latin typeface="Cambria Math" panose="02040503050406030204" pitchFamily="18" charset="0"/>
                              <a:cs typeface="Times New Roman" panose="02020603050405020304" pitchFamily="18" charset="0"/>
                            </a:rPr>
                            <m:t>𝑖</m:t>
                          </m:r>
                        </m:sub>
                        <m:sup/>
                        <m:e>
                          <m:sSub>
                            <m:sSubPr>
                              <m:ctrlPr>
                                <a:rPr kumimoji="0" lang="en-US" altLang="en-US" b="0" i="1" u="none" strike="noStrike" cap="none" normalizeH="0" baseline="0" dirty="0" smtClean="0">
                                  <a:ln>
                                    <a:noFill/>
                                  </a:ln>
                                  <a:solidFill>
                                    <a:schemeClr val="tx1"/>
                                  </a:solidFill>
                                  <a:effectLst/>
                                  <a:latin typeface="Cambria Math" panose="02040503050406030204" pitchFamily="18" charset="0"/>
                                  <a:cs typeface="Times New Roman" panose="02020603050405020304" pitchFamily="18" charset="0"/>
                                </a:rPr>
                              </m:ctrlPr>
                            </m:sSubPr>
                            <m:e>
                              <m:r>
                                <a:rPr kumimoji="0" lang="en-US" altLang="en-US" b="0" i="1" u="none" strike="noStrike" cap="none" normalizeH="0" baseline="0" dirty="0" smtClean="0">
                                  <a:ln>
                                    <a:noFill/>
                                  </a:ln>
                                  <a:solidFill>
                                    <a:schemeClr val="tx1"/>
                                  </a:solidFill>
                                  <a:effectLst/>
                                  <a:latin typeface="Cambria Math" panose="02040503050406030204" pitchFamily="18" charset="0"/>
                                  <a:cs typeface="Times New Roman" panose="02020603050405020304" pitchFamily="18" charset="0"/>
                                </a:rPr>
                                <m:t>h</m:t>
                              </m:r>
                            </m:e>
                            <m:sub>
                              <m:r>
                                <a:rPr kumimoji="0" lang="en-US" altLang="en-US" b="0" i="1" u="none" strike="noStrike" cap="none" normalizeH="0" baseline="0" dirty="0" smtClean="0">
                                  <a:ln>
                                    <a:noFill/>
                                  </a:ln>
                                  <a:solidFill>
                                    <a:schemeClr val="tx1"/>
                                  </a:solidFill>
                                  <a:effectLst/>
                                  <a:latin typeface="Cambria Math" panose="02040503050406030204" pitchFamily="18" charset="0"/>
                                  <a:cs typeface="Times New Roman" panose="02020603050405020304" pitchFamily="18" charset="0"/>
                                </a:rPr>
                                <m:t>𝑖</m:t>
                              </m:r>
                            </m:sub>
                          </m:sSub>
                          <m:sSub>
                            <m:sSubPr>
                              <m:ctrlPr>
                                <a:rPr kumimoji="0" lang="en-US" altLang="en-US" b="0" i="1" u="none" strike="noStrike" cap="none" normalizeH="0" baseline="0" dirty="0" smtClean="0">
                                  <a:ln>
                                    <a:noFill/>
                                  </a:ln>
                                  <a:solidFill>
                                    <a:schemeClr val="tx1"/>
                                  </a:solidFill>
                                  <a:effectLst/>
                                  <a:latin typeface="Cambria Math" panose="02040503050406030204" pitchFamily="18" charset="0"/>
                                  <a:cs typeface="Times New Roman" panose="02020603050405020304" pitchFamily="18" charset="0"/>
                                </a:rPr>
                              </m:ctrlPr>
                            </m:sSubPr>
                            <m:e>
                              <m:r>
                                <a:rPr kumimoji="0" lang="en-US" altLang="en-US" b="0" i="1" u="none" strike="noStrike" cap="none" normalizeH="0" baseline="0" dirty="0" smtClean="0">
                                  <a:ln>
                                    <a:noFill/>
                                  </a:ln>
                                  <a:solidFill>
                                    <a:schemeClr val="tx1"/>
                                  </a:solidFill>
                                  <a:effectLst/>
                                  <a:latin typeface="Cambria Math" panose="02040503050406030204" pitchFamily="18" charset="0"/>
                                  <a:cs typeface="Times New Roman" panose="02020603050405020304" pitchFamily="18" charset="0"/>
                                </a:rPr>
                                <m:t>𝑋</m:t>
                              </m:r>
                            </m:e>
                            <m:sub>
                              <m:r>
                                <a:rPr kumimoji="0" lang="en-US" altLang="en-US" b="0" i="1" u="none" strike="noStrike" cap="none" normalizeH="0" baseline="0" dirty="0" smtClean="0">
                                  <a:ln>
                                    <a:noFill/>
                                  </a:ln>
                                  <a:solidFill>
                                    <a:schemeClr val="tx1"/>
                                  </a:solidFill>
                                  <a:effectLst/>
                                  <a:latin typeface="Cambria Math" panose="02040503050406030204" pitchFamily="18" charset="0"/>
                                  <a:cs typeface="Times New Roman" panose="02020603050405020304" pitchFamily="18" charset="0"/>
                                </a:rPr>
                                <m:t>𝑖</m:t>
                              </m:r>
                            </m:sub>
                          </m:sSub>
                        </m:e>
                      </m:nary>
                    </m:oMath>
                  </m:oMathPara>
                </a14:m>
                <a:endParaRPr lang="en-US" dirty="0"/>
              </a:p>
              <a:p>
                <a:pPr marL="0" indent="0">
                  <a:buNone/>
                </a:pPr>
                <a:endParaRPr lang="en-US" dirty="0"/>
              </a:p>
            </p:txBody>
          </p:sp>
        </mc:Choice>
        <mc:Fallback xmlns="">
          <p:sp>
            <p:nvSpPr>
              <p:cNvPr id="3" name="Content Placeholder 2">
                <a:extLst>
                  <a:ext uri="{FF2B5EF4-FFF2-40B4-BE49-F238E27FC236}">
                    <a16:creationId xmlns:a16="http://schemas.microsoft.com/office/drawing/2014/main" id="{7AA96212-E838-0F74-D88B-971D8EF126D9}"/>
                  </a:ext>
                </a:extLst>
              </p:cNvPr>
              <p:cNvSpPr>
                <a:spLocks noGrp="1" noRot="1" noChangeAspect="1" noMove="1" noResize="1" noEditPoints="1" noAdjustHandles="1" noChangeArrowheads="1" noChangeShapeType="1" noTextEdit="1"/>
              </p:cNvSpPr>
              <p:nvPr>
                <p:ph idx="1"/>
              </p:nvPr>
            </p:nvSpPr>
            <p:spPr>
              <a:xfrm>
                <a:off x="838200" y="1416551"/>
                <a:ext cx="10515600" cy="5188786"/>
              </a:xfrm>
              <a:blipFill>
                <a:blip r:embed="rId2"/>
                <a:stretch>
                  <a:fillRect l="-1206" t="-1951" b="-2439"/>
                </a:stretch>
              </a:blipFill>
            </p:spPr>
            <p:txBody>
              <a:bodyPr/>
              <a:lstStyle/>
              <a:p>
                <a:r>
                  <a:rPr lang="en-US">
                    <a:noFill/>
                  </a:rPr>
                  <a:t> </a:t>
                </a:r>
              </a:p>
            </p:txBody>
          </p:sp>
        </mc:Fallback>
      </mc:AlternateContent>
    </p:spTree>
    <p:extLst>
      <p:ext uri="{BB962C8B-B14F-4D97-AF65-F5344CB8AC3E}">
        <p14:creationId xmlns:p14="http://schemas.microsoft.com/office/powerpoint/2010/main" val="243373563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BDD8D4-09C6-6373-8A53-42DB8E121DE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DA5FA5A-A860-509C-E54F-E735F042EDEA}"/>
              </a:ext>
            </a:extLst>
          </p:cNvPr>
          <p:cNvSpPr>
            <a:spLocks noGrp="1"/>
          </p:cNvSpPr>
          <p:nvPr>
            <p:ph type="title"/>
          </p:nvPr>
        </p:nvSpPr>
        <p:spPr/>
        <p:txBody>
          <a:bodyPr/>
          <a:lstStyle/>
          <a:p>
            <a:r>
              <a:rPr lang="en-US" dirty="0"/>
              <a:t>Q1b</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D9264B87-13E0-0778-76F6-37567765C194}"/>
                  </a:ext>
                </a:extLst>
              </p:cNvPr>
              <p:cNvSpPr>
                <a:spLocks noGrp="1"/>
              </p:cNvSpPr>
              <p:nvPr>
                <p:ph idx="1"/>
              </p:nvPr>
            </p:nvSpPr>
            <p:spPr>
              <a:xfrm>
                <a:off x="838200" y="1416551"/>
                <a:ext cx="10515600" cy="5188786"/>
              </a:xfrm>
            </p:spPr>
            <p:txBody>
              <a:bodyPr>
                <a:normAutofit/>
              </a:bodyPr>
              <a:lstStyle/>
              <a:p>
                <a:pPr marL="0" marR="0" lvl="0" indent="0" algn="l" defTabSz="914400" rtl="0" eaLnBrk="0" fontAlgn="base" latinLnBrk="0" hangingPunct="0">
                  <a:lnSpc>
                    <a:spcPct val="100000"/>
                  </a:lnSpc>
                  <a:spcBef>
                    <a:spcPct val="0"/>
                  </a:spcBef>
                  <a:spcAft>
                    <a:spcPct val="0"/>
                  </a:spcAft>
                  <a:buClrTx/>
                  <a:buSzTx/>
                  <a:buNone/>
                  <a:tabLst/>
                </a:pPr>
                <a:r>
                  <a:rPr kumimoji="0" lang="en-US" altLang="en-US" b="0" i="0" u="none" strike="noStrike" cap="none" normalizeH="0" baseline="0" dirty="0">
                    <a:ln>
                      <a:noFill/>
                    </a:ln>
                    <a:solidFill>
                      <a:schemeClr val="tx1"/>
                    </a:solidFill>
                    <a:effectLst/>
                    <a:latin typeface="Aptos" panose="020B0004020202020204" pitchFamily="34" charset="0"/>
                    <a:ea typeface="Aptos" panose="020B0004020202020204" pitchFamily="34" charset="0"/>
                    <a:cs typeface="Times New Roman" panose="02020603050405020304" pitchFamily="18" charset="0"/>
                  </a:rPr>
                  <a:t>Counterfactual: Benny now requires a roll to be sold with every croissant. Rolls can still be sold individually. Write out the math for this constraint.</a:t>
                </a:r>
              </a:p>
              <a:p>
                <a:pPr marL="0" indent="0">
                  <a:buNone/>
                </a:pPr>
                <a:endParaRPr lang="en-US" dirty="0"/>
              </a:p>
              <a:p>
                <a:pPr marL="0" indent="0">
                  <a:buNone/>
                </a:pPr>
                <a:r>
                  <a:rPr lang="en-US" dirty="0"/>
                  <a:t>Constraints:</a:t>
                </a:r>
              </a:p>
              <a:p>
                <a:pPr marL="0" indent="0">
                  <a:buNone/>
                </a:pPr>
                <a14:m>
                  <m:oMathPara xmlns:m="http://schemas.openxmlformats.org/officeDocument/2006/math">
                    <m:oMathParaPr>
                      <m:jc m:val="centerGroup"/>
                    </m:oMathParaPr>
                    <m:oMath xmlns:m="http://schemas.openxmlformats.org/officeDocument/2006/math">
                      <m:sSub>
                        <m:sSubPr>
                          <m:ctrlPr>
                            <a:rPr kumimoji="0" lang="en-US" altLang="en-US" b="0" i="1" u="none" strike="noStrike" cap="none" normalizeH="0" baseline="0" smtClean="0">
                              <a:ln>
                                <a:noFill/>
                              </a:ln>
                              <a:solidFill>
                                <a:schemeClr val="tx1"/>
                              </a:solidFill>
                              <a:effectLst/>
                              <a:latin typeface="Cambria Math" panose="02040503050406030204" pitchFamily="18" charset="0"/>
                              <a:cs typeface="Times New Roman" panose="02020603050405020304" pitchFamily="18" charset="0"/>
                            </a:rPr>
                          </m:ctrlPr>
                        </m:sSubPr>
                        <m:e>
                          <m:r>
                            <a:rPr kumimoji="0" lang="en-US" altLang="en-US" b="0" i="1" u="none" strike="noStrike" cap="none" normalizeH="0" baseline="0" smtClean="0">
                              <a:ln>
                                <a:noFill/>
                              </a:ln>
                              <a:solidFill>
                                <a:schemeClr val="tx1"/>
                              </a:solidFill>
                              <a:effectLst/>
                              <a:latin typeface="Cambria Math" panose="02040503050406030204" pitchFamily="18" charset="0"/>
                              <a:cs typeface="Times New Roman" panose="02020603050405020304" pitchFamily="18" charset="0"/>
                            </a:rPr>
                            <m:t>𝑋</m:t>
                          </m:r>
                        </m:e>
                        <m:sub>
                          <m:r>
                            <a:rPr kumimoji="0" lang="en-US" altLang="en-US" b="0" i="1" u="none" strike="noStrike" cap="none" normalizeH="0" baseline="0" smtClean="0">
                              <a:ln>
                                <a:noFill/>
                              </a:ln>
                              <a:solidFill>
                                <a:schemeClr val="tx1"/>
                              </a:solidFill>
                              <a:effectLst/>
                              <a:latin typeface="Cambria Math" panose="02040503050406030204" pitchFamily="18" charset="0"/>
                              <a:cs typeface="Times New Roman" panose="02020603050405020304" pitchFamily="18" charset="0"/>
                            </a:rPr>
                            <m:t>𝑖</m:t>
                          </m:r>
                        </m:sub>
                      </m:sSub>
                      <m:r>
                        <a:rPr kumimoji="0" lang="en-US" altLang="en-US" b="0" i="1" u="none" strike="noStrike" cap="none" normalizeH="0" baseline="0" smtClean="0">
                          <a:ln>
                            <a:noFill/>
                          </a:ln>
                          <a:solidFill>
                            <a:schemeClr val="tx1"/>
                          </a:solidFill>
                          <a:effectLst/>
                          <a:latin typeface="Cambria Math" panose="02040503050406030204" pitchFamily="18" charset="0"/>
                          <a:cs typeface="Times New Roman" panose="02020603050405020304" pitchFamily="18" charset="0"/>
                        </a:rPr>
                        <m:t>≥</m:t>
                      </m:r>
                      <m:sSub>
                        <m:sSubPr>
                          <m:ctrlPr>
                            <a:rPr kumimoji="0" lang="en-US" altLang="en-US" b="0" i="1" u="none" strike="noStrike" cap="none" normalizeH="0" baseline="0" smtClean="0">
                              <a:ln>
                                <a:noFill/>
                              </a:ln>
                              <a:solidFill>
                                <a:schemeClr val="tx1"/>
                              </a:solidFill>
                              <a:effectLst/>
                              <a:latin typeface="Cambria Math" panose="02040503050406030204" pitchFamily="18" charset="0"/>
                              <a:cs typeface="Times New Roman" panose="02020603050405020304" pitchFamily="18" charset="0"/>
                            </a:rPr>
                          </m:ctrlPr>
                        </m:sSubPr>
                        <m:e>
                          <m:r>
                            <a:rPr kumimoji="0" lang="en-US" altLang="en-US" b="0" i="1" u="none" strike="noStrike" cap="none" normalizeH="0" baseline="0" smtClean="0">
                              <a:ln>
                                <a:noFill/>
                              </a:ln>
                              <a:solidFill>
                                <a:schemeClr val="tx1"/>
                              </a:solidFill>
                              <a:effectLst/>
                              <a:latin typeface="Cambria Math" panose="02040503050406030204" pitchFamily="18" charset="0"/>
                              <a:cs typeface="Times New Roman" panose="02020603050405020304" pitchFamily="18" charset="0"/>
                            </a:rPr>
                            <m:t>𝑋</m:t>
                          </m:r>
                        </m:e>
                        <m:sub>
                          <m:sSup>
                            <m:sSupPr>
                              <m:ctrlPr>
                                <a:rPr kumimoji="0" lang="en-US" altLang="en-US" b="0" i="1" u="none" strike="noStrike" cap="none" normalizeH="0" baseline="0" smtClean="0">
                                  <a:ln>
                                    <a:noFill/>
                                  </a:ln>
                                  <a:solidFill>
                                    <a:schemeClr val="tx1"/>
                                  </a:solidFill>
                                  <a:effectLst/>
                                  <a:latin typeface="Cambria Math" panose="02040503050406030204" pitchFamily="18" charset="0"/>
                                  <a:cs typeface="Times New Roman" panose="02020603050405020304" pitchFamily="18" charset="0"/>
                                </a:rPr>
                              </m:ctrlPr>
                            </m:sSupPr>
                            <m:e>
                              <m:r>
                                <a:rPr kumimoji="0" lang="en-US" altLang="en-US" b="0" i="1" u="none" strike="noStrike" cap="none" normalizeH="0" baseline="0" smtClean="0">
                                  <a:ln>
                                    <a:noFill/>
                                  </a:ln>
                                  <a:solidFill>
                                    <a:schemeClr val="tx1"/>
                                  </a:solidFill>
                                  <a:effectLst/>
                                  <a:latin typeface="Cambria Math" panose="02040503050406030204" pitchFamily="18" charset="0"/>
                                  <a:cs typeface="Times New Roman" panose="02020603050405020304" pitchFamily="18" charset="0"/>
                                </a:rPr>
                                <m:t>𝑖</m:t>
                              </m:r>
                            </m:e>
                            <m:sup>
                              <m:r>
                                <a:rPr kumimoji="0" lang="en-US" altLang="en-US" b="0" i="1" u="none" strike="noStrike" cap="none" normalizeH="0" baseline="0" smtClean="0">
                                  <a:ln>
                                    <a:noFill/>
                                  </a:ln>
                                  <a:solidFill>
                                    <a:schemeClr val="tx1"/>
                                  </a:solidFill>
                                  <a:effectLst/>
                                  <a:latin typeface="Cambria Math" panose="02040503050406030204" pitchFamily="18" charset="0"/>
                                  <a:cs typeface="Times New Roman" panose="02020603050405020304" pitchFamily="18" charset="0"/>
                                </a:rPr>
                                <m:t>′</m:t>
                              </m:r>
                            </m:sup>
                          </m:sSup>
                        </m:sub>
                      </m:sSub>
                      <m:r>
                        <a:rPr kumimoji="0" lang="en-US" altLang="en-US" b="0" i="1" u="none" strike="noStrike" cap="none" normalizeH="0" baseline="0" smtClean="0">
                          <a:ln>
                            <a:noFill/>
                          </a:ln>
                          <a:solidFill>
                            <a:schemeClr val="tx1"/>
                          </a:solidFill>
                          <a:effectLst/>
                          <a:latin typeface="Cambria Math" panose="02040503050406030204" pitchFamily="18" charset="0"/>
                          <a:cs typeface="Times New Roman" panose="02020603050405020304" pitchFamily="18" charset="0"/>
                        </a:rPr>
                        <m:t>   ∀ </m:t>
                      </m:r>
                      <m:r>
                        <a:rPr kumimoji="0" lang="en-US" altLang="en-US" b="0" i="1" u="none" strike="noStrike" cap="none" normalizeH="0" baseline="0" smtClean="0">
                          <a:ln>
                            <a:noFill/>
                          </a:ln>
                          <a:solidFill>
                            <a:schemeClr val="tx1"/>
                          </a:solidFill>
                          <a:effectLst/>
                          <a:latin typeface="Cambria Math" panose="02040503050406030204" pitchFamily="18" charset="0"/>
                          <a:cs typeface="Times New Roman" panose="02020603050405020304" pitchFamily="18" charset="0"/>
                        </a:rPr>
                        <m:t>𝑖</m:t>
                      </m:r>
                      <m:r>
                        <a:rPr kumimoji="0" lang="en-US" altLang="en-US" b="0" i="1" u="none" strike="noStrike" cap="none" normalizeH="0" baseline="0" smtClean="0">
                          <a:ln>
                            <a:noFill/>
                          </a:ln>
                          <a:solidFill>
                            <a:schemeClr val="tx1"/>
                          </a:solidFill>
                          <a:effectLst/>
                          <a:latin typeface="Cambria Math" panose="02040503050406030204" pitchFamily="18" charset="0"/>
                          <a:cs typeface="Times New Roman" panose="02020603050405020304" pitchFamily="18" charset="0"/>
                        </a:rPr>
                        <m:t>∈</m:t>
                      </m:r>
                      <m:d>
                        <m:dPr>
                          <m:begChr m:val="{"/>
                          <m:endChr m:val="}"/>
                          <m:ctrlPr>
                            <a:rPr kumimoji="0" lang="en-US" altLang="en-US" b="0" i="1" u="none" strike="noStrike" cap="none" normalizeH="0" baseline="0" smtClean="0">
                              <a:ln>
                                <a:noFill/>
                              </a:ln>
                              <a:solidFill>
                                <a:schemeClr val="tx1"/>
                              </a:solidFill>
                              <a:effectLst/>
                              <a:latin typeface="Cambria Math" panose="02040503050406030204" pitchFamily="18" charset="0"/>
                              <a:cs typeface="Times New Roman" panose="02020603050405020304" pitchFamily="18" charset="0"/>
                            </a:rPr>
                          </m:ctrlPr>
                        </m:dPr>
                        <m:e>
                          <m:r>
                            <a:rPr kumimoji="0" lang="en-US" altLang="en-US" b="0" i="1" u="none" strike="noStrike" cap="none" normalizeH="0" baseline="0" smtClean="0">
                              <a:ln>
                                <a:noFill/>
                              </a:ln>
                              <a:solidFill>
                                <a:schemeClr val="tx1"/>
                              </a:solidFill>
                              <a:effectLst/>
                              <a:latin typeface="Cambria Math" panose="02040503050406030204" pitchFamily="18" charset="0"/>
                              <a:cs typeface="Times New Roman" panose="02020603050405020304" pitchFamily="18" charset="0"/>
                            </a:rPr>
                            <m:t>𝑟𝑜𝑙𝑙</m:t>
                          </m:r>
                        </m:e>
                      </m:d>
                      <m:r>
                        <a:rPr kumimoji="0" lang="en-US" altLang="en-US" b="0" i="1" u="none" strike="noStrike" cap="none" normalizeH="0" baseline="0" smtClean="0">
                          <a:ln>
                            <a:noFill/>
                          </a:ln>
                          <a:solidFill>
                            <a:schemeClr val="tx1"/>
                          </a:solidFill>
                          <a:effectLst/>
                          <a:latin typeface="Cambria Math" panose="02040503050406030204" pitchFamily="18" charset="0"/>
                          <a:cs typeface="Times New Roman" panose="02020603050405020304" pitchFamily="18" charset="0"/>
                        </a:rPr>
                        <m:t>,</m:t>
                      </m:r>
                      <m:sSup>
                        <m:sSupPr>
                          <m:ctrlPr>
                            <a:rPr kumimoji="0" lang="en-US" altLang="en-US" b="0" i="1" u="none" strike="noStrike" cap="none" normalizeH="0" baseline="0" smtClean="0">
                              <a:ln>
                                <a:noFill/>
                              </a:ln>
                              <a:solidFill>
                                <a:schemeClr val="tx1"/>
                              </a:solidFill>
                              <a:effectLst/>
                              <a:latin typeface="Cambria Math" panose="02040503050406030204" pitchFamily="18" charset="0"/>
                              <a:cs typeface="Times New Roman" panose="02020603050405020304" pitchFamily="18" charset="0"/>
                            </a:rPr>
                          </m:ctrlPr>
                        </m:sSupPr>
                        <m:e>
                          <m:r>
                            <a:rPr kumimoji="0" lang="en-US" altLang="en-US" b="0" i="1" u="none" strike="noStrike" cap="none" normalizeH="0" baseline="0" smtClean="0">
                              <a:ln>
                                <a:noFill/>
                              </a:ln>
                              <a:solidFill>
                                <a:schemeClr val="tx1"/>
                              </a:solidFill>
                              <a:effectLst/>
                              <a:latin typeface="Cambria Math" panose="02040503050406030204" pitchFamily="18" charset="0"/>
                              <a:cs typeface="Times New Roman" panose="02020603050405020304" pitchFamily="18" charset="0"/>
                            </a:rPr>
                            <m:t>𝑖</m:t>
                          </m:r>
                        </m:e>
                        <m:sup>
                          <m:r>
                            <a:rPr kumimoji="0" lang="en-US" altLang="en-US" b="0" i="1" u="none" strike="noStrike" cap="none" normalizeH="0" baseline="0" smtClean="0">
                              <a:ln>
                                <a:noFill/>
                              </a:ln>
                              <a:solidFill>
                                <a:schemeClr val="tx1"/>
                              </a:solidFill>
                              <a:effectLst/>
                              <a:latin typeface="Cambria Math" panose="02040503050406030204" pitchFamily="18" charset="0"/>
                              <a:cs typeface="Times New Roman" panose="02020603050405020304" pitchFamily="18" charset="0"/>
                            </a:rPr>
                            <m:t>′</m:t>
                          </m:r>
                        </m:sup>
                      </m:sSup>
                      <m:r>
                        <a:rPr kumimoji="0" lang="en-US" altLang="en-US" b="0" i="1" u="none" strike="noStrike" cap="none" normalizeH="0" baseline="0" smtClean="0">
                          <a:ln>
                            <a:noFill/>
                          </a:ln>
                          <a:solidFill>
                            <a:schemeClr val="tx1"/>
                          </a:solidFill>
                          <a:effectLst/>
                          <a:latin typeface="Cambria Math" panose="02040503050406030204" pitchFamily="18" charset="0"/>
                          <a:cs typeface="Times New Roman" panose="02020603050405020304" pitchFamily="18" charset="0"/>
                        </a:rPr>
                        <m:t>∈</m:t>
                      </m:r>
                      <m:d>
                        <m:dPr>
                          <m:begChr m:val="{"/>
                          <m:endChr m:val="}"/>
                          <m:ctrlPr>
                            <a:rPr kumimoji="0" lang="en-US" altLang="en-US" b="0" i="1" u="none" strike="noStrike" cap="none" normalizeH="0" baseline="0" smtClean="0">
                              <a:ln>
                                <a:noFill/>
                              </a:ln>
                              <a:solidFill>
                                <a:schemeClr val="tx1"/>
                              </a:solidFill>
                              <a:effectLst/>
                              <a:latin typeface="Cambria Math" panose="02040503050406030204" pitchFamily="18" charset="0"/>
                              <a:cs typeface="Times New Roman" panose="02020603050405020304" pitchFamily="18" charset="0"/>
                            </a:rPr>
                          </m:ctrlPr>
                        </m:dPr>
                        <m:e>
                          <m:r>
                            <a:rPr kumimoji="0" lang="en-US" altLang="en-US" b="0" i="1" u="none" strike="noStrike" cap="none" normalizeH="0" baseline="0" smtClean="0">
                              <a:ln>
                                <a:noFill/>
                              </a:ln>
                              <a:solidFill>
                                <a:schemeClr val="tx1"/>
                              </a:solidFill>
                              <a:effectLst/>
                              <a:latin typeface="Cambria Math" panose="02040503050406030204" pitchFamily="18" charset="0"/>
                              <a:cs typeface="Times New Roman" panose="02020603050405020304" pitchFamily="18" charset="0"/>
                            </a:rPr>
                            <m:t>𝑐𝑟𝑜𝑖𝑠𝑠𝑎𝑛𝑡</m:t>
                          </m:r>
                        </m:e>
                      </m:d>
                    </m:oMath>
                  </m:oMathPara>
                </a14:m>
                <a:endParaRPr lang="en-US" dirty="0"/>
              </a:p>
              <a:p>
                <a:pPr marL="0" indent="0">
                  <a:buNone/>
                </a:pPr>
                <a:endParaRPr lang="en-US" dirty="0"/>
              </a:p>
            </p:txBody>
          </p:sp>
        </mc:Choice>
        <mc:Fallback xmlns="">
          <p:sp>
            <p:nvSpPr>
              <p:cNvPr id="3" name="Content Placeholder 2">
                <a:extLst>
                  <a:ext uri="{FF2B5EF4-FFF2-40B4-BE49-F238E27FC236}">
                    <a16:creationId xmlns:a16="http://schemas.microsoft.com/office/drawing/2014/main" id="{D9264B87-13E0-0778-76F6-37567765C194}"/>
                  </a:ext>
                </a:extLst>
              </p:cNvPr>
              <p:cNvSpPr>
                <a:spLocks noGrp="1" noRot="1" noChangeAspect="1" noMove="1" noResize="1" noEditPoints="1" noAdjustHandles="1" noChangeArrowheads="1" noChangeShapeType="1" noTextEdit="1"/>
              </p:cNvSpPr>
              <p:nvPr>
                <p:ph idx="1"/>
              </p:nvPr>
            </p:nvSpPr>
            <p:spPr>
              <a:xfrm>
                <a:off x="838200" y="1416551"/>
                <a:ext cx="10515600" cy="5188786"/>
              </a:xfrm>
              <a:blipFill>
                <a:blip r:embed="rId2"/>
                <a:stretch>
                  <a:fillRect l="-1206" t="-1220"/>
                </a:stretch>
              </a:blipFill>
            </p:spPr>
            <p:txBody>
              <a:bodyPr/>
              <a:lstStyle/>
              <a:p>
                <a:r>
                  <a:rPr lang="en-US">
                    <a:noFill/>
                  </a:rPr>
                  <a:t> </a:t>
                </a:r>
              </a:p>
            </p:txBody>
          </p:sp>
        </mc:Fallback>
      </mc:AlternateContent>
    </p:spTree>
    <p:extLst>
      <p:ext uri="{BB962C8B-B14F-4D97-AF65-F5344CB8AC3E}">
        <p14:creationId xmlns:p14="http://schemas.microsoft.com/office/powerpoint/2010/main" val="105673227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FFCF40-3B4D-FF94-5DA0-85D77876563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ECA1B84-AB52-3674-BD11-CDD7886630A0}"/>
              </a:ext>
            </a:extLst>
          </p:cNvPr>
          <p:cNvSpPr>
            <a:spLocks noGrp="1"/>
          </p:cNvSpPr>
          <p:nvPr>
            <p:ph type="title"/>
          </p:nvPr>
        </p:nvSpPr>
        <p:spPr/>
        <p:txBody>
          <a:bodyPr/>
          <a:lstStyle/>
          <a:p>
            <a:r>
              <a:rPr lang="en-US" dirty="0"/>
              <a:t>Q1c</a:t>
            </a:r>
          </a:p>
        </p:txBody>
      </p:sp>
      <p:sp>
        <p:nvSpPr>
          <p:cNvPr id="3" name="Content Placeholder 2">
            <a:extLst>
              <a:ext uri="{FF2B5EF4-FFF2-40B4-BE49-F238E27FC236}">
                <a16:creationId xmlns:a16="http://schemas.microsoft.com/office/drawing/2014/main" id="{9B999EF7-3837-BD14-F4E4-08A3035BC320}"/>
              </a:ext>
            </a:extLst>
          </p:cNvPr>
          <p:cNvSpPr>
            <a:spLocks noGrp="1"/>
          </p:cNvSpPr>
          <p:nvPr>
            <p:ph idx="1"/>
          </p:nvPr>
        </p:nvSpPr>
        <p:spPr>
          <a:xfrm>
            <a:off x="838200" y="1416551"/>
            <a:ext cx="10515600" cy="5188786"/>
          </a:xfrm>
        </p:spPr>
        <p:txBody>
          <a:bodyPr>
            <a:normAutofit/>
          </a:bodyPr>
          <a:lstStyle/>
          <a:p>
            <a:pPr marL="0" marR="0" lvl="0" indent="0" algn="l" defTabSz="914400" rtl="0" eaLnBrk="0" fontAlgn="base" latinLnBrk="0" hangingPunct="0">
              <a:lnSpc>
                <a:spcPct val="100000"/>
              </a:lnSpc>
              <a:spcBef>
                <a:spcPct val="0"/>
              </a:spcBef>
              <a:spcAft>
                <a:spcPct val="0"/>
              </a:spcAft>
              <a:buClrTx/>
              <a:buSzTx/>
              <a:buNone/>
              <a:tabLst/>
            </a:pPr>
            <a:r>
              <a:rPr kumimoji="0" lang="en-US" altLang="en-US" b="0" i="0" u="none" strike="noStrike" cap="none" normalizeH="0" baseline="0" dirty="0">
                <a:ln>
                  <a:noFill/>
                </a:ln>
                <a:solidFill>
                  <a:schemeClr val="tx1"/>
                </a:solidFill>
                <a:effectLst/>
                <a:latin typeface="Aptos" panose="020B0004020202020204" pitchFamily="34" charset="0"/>
                <a:ea typeface="Aptos" panose="020B0004020202020204" pitchFamily="34" charset="0"/>
                <a:cs typeface="Times New Roman" panose="02020603050405020304" pitchFamily="18" charset="0"/>
              </a:rPr>
              <a:t>Write the problem in GAMS solving the reference and counterfactual case. Be sure to use a switch to enable the counterfactual. Report on the optimal values of production in both the reference and counterfactual scenarios, including total profits.</a:t>
            </a:r>
          </a:p>
          <a:p>
            <a:pPr marL="0" indent="0">
              <a:buNone/>
            </a:pPr>
            <a:endParaRPr lang="en-US" dirty="0"/>
          </a:p>
          <a:p>
            <a:pPr marL="0" indent="0">
              <a:buNone/>
            </a:pPr>
            <a:r>
              <a:rPr lang="en-US" dirty="0"/>
              <a:t>Started via </a:t>
            </a:r>
            <a:r>
              <a:rPr lang="en-US" dirty="0" err="1"/>
              <a:t>bennys_bakery.gms</a:t>
            </a:r>
            <a:r>
              <a:rPr lang="en-US" dirty="0"/>
              <a:t>…</a:t>
            </a:r>
          </a:p>
        </p:txBody>
      </p:sp>
    </p:spTree>
    <p:extLst>
      <p:ext uri="{BB962C8B-B14F-4D97-AF65-F5344CB8AC3E}">
        <p14:creationId xmlns:p14="http://schemas.microsoft.com/office/powerpoint/2010/main" val="417065396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0F49AD-DBD5-F22D-20DF-19294C5E8E9A}"/>
              </a:ext>
            </a:extLst>
          </p:cNvPr>
          <p:cNvSpPr>
            <a:spLocks noGrp="1"/>
          </p:cNvSpPr>
          <p:nvPr>
            <p:ph type="title"/>
          </p:nvPr>
        </p:nvSpPr>
        <p:spPr/>
        <p:txBody>
          <a:bodyPr/>
          <a:lstStyle/>
          <a:p>
            <a:r>
              <a:rPr lang="en-US" dirty="0"/>
              <a:t>June’s Jellybeans</a:t>
            </a:r>
          </a:p>
        </p:txBody>
      </p:sp>
      <p:graphicFrame>
        <p:nvGraphicFramePr>
          <p:cNvPr id="4" name="Content Placeholder 3">
            <a:extLst>
              <a:ext uri="{FF2B5EF4-FFF2-40B4-BE49-F238E27FC236}">
                <a16:creationId xmlns:a16="http://schemas.microsoft.com/office/drawing/2014/main" id="{93A76B21-97D5-9055-8F6B-CF5D6C921282}"/>
              </a:ext>
            </a:extLst>
          </p:cNvPr>
          <p:cNvGraphicFramePr>
            <a:graphicFrameLocks noGrp="1"/>
          </p:cNvGraphicFramePr>
          <p:nvPr>
            <p:ph idx="1"/>
          </p:nvPr>
        </p:nvGraphicFramePr>
        <p:xfrm>
          <a:off x="3218673" y="5617570"/>
          <a:ext cx="5940184" cy="975360"/>
        </p:xfrm>
        <a:graphic>
          <a:graphicData uri="http://schemas.openxmlformats.org/drawingml/2006/table">
            <a:tbl>
              <a:tblPr firstRow="1" firstCol="1" bandRow="1">
                <a:tableStyleId>{5C22544A-7EE6-4342-B048-85BDC9FD1C3A}</a:tableStyleId>
              </a:tblPr>
              <a:tblGrid>
                <a:gridCol w="989819">
                  <a:extLst>
                    <a:ext uri="{9D8B030D-6E8A-4147-A177-3AD203B41FA5}">
                      <a16:colId xmlns:a16="http://schemas.microsoft.com/office/drawing/2014/main" val="2773555688"/>
                    </a:ext>
                  </a:extLst>
                </a:gridCol>
                <a:gridCol w="989819">
                  <a:extLst>
                    <a:ext uri="{9D8B030D-6E8A-4147-A177-3AD203B41FA5}">
                      <a16:colId xmlns:a16="http://schemas.microsoft.com/office/drawing/2014/main" val="1351942321"/>
                    </a:ext>
                  </a:extLst>
                </a:gridCol>
                <a:gridCol w="989819">
                  <a:extLst>
                    <a:ext uri="{9D8B030D-6E8A-4147-A177-3AD203B41FA5}">
                      <a16:colId xmlns:a16="http://schemas.microsoft.com/office/drawing/2014/main" val="884091228"/>
                    </a:ext>
                  </a:extLst>
                </a:gridCol>
                <a:gridCol w="989819">
                  <a:extLst>
                    <a:ext uri="{9D8B030D-6E8A-4147-A177-3AD203B41FA5}">
                      <a16:colId xmlns:a16="http://schemas.microsoft.com/office/drawing/2014/main" val="1206683371"/>
                    </a:ext>
                  </a:extLst>
                </a:gridCol>
                <a:gridCol w="990454">
                  <a:extLst>
                    <a:ext uri="{9D8B030D-6E8A-4147-A177-3AD203B41FA5}">
                      <a16:colId xmlns:a16="http://schemas.microsoft.com/office/drawing/2014/main" val="333709352"/>
                    </a:ext>
                  </a:extLst>
                </a:gridCol>
                <a:gridCol w="990454">
                  <a:extLst>
                    <a:ext uri="{9D8B030D-6E8A-4147-A177-3AD203B41FA5}">
                      <a16:colId xmlns:a16="http://schemas.microsoft.com/office/drawing/2014/main" val="2136987815"/>
                    </a:ext>
                  </a:extLst>
                </a:gridCol>
              </a:tblGrid>
              <a:tr h="0">
                <a:tc>
                  <a:txBody>
                    <a:bodyPr/>
                    <a:lstStyle/>
                    <a:p>
                      <a:pPr marL="0" marR="0">
                        <a:spcBef>
                          <a:spcPts val="0"/>
                        </a:spcBef>
                        <a:spcAft>
                          <a:spcPts val="0"/>
                        </a:spcAft>
                      </a:pPr>
                      <a:r>
                        <a:rPr lang="en-US" sz="1600" kern="100">
                          <a:effectLst/>
                        </a:rPr>
                        <a:t>Color</a:t>
                      </a:r>
                      <a:endParaRPr lang="en-US" sz="16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marL="0" marR="0" algn="r">
                        <a:spcBef>
                          <a:spcPts val="0"/>
                        </a:spcBef>
                        <a:spcAft>
                          <a:spcPts val="0"/>
                        </a:spcAft>
                      </a:pPr>
                      <a:r>
                        <a:rPr lang="en-US" sz="1600" kern="100">
                          <a:effectLst/>
                        </a:rPr>
                        <a:t>Yellow</a:t>
                      </a:r>
                      <a:endParaRPr lang="en-US" sz="16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marL="0" marR="0" algn="r">
                        <a:spcBef>
                          <a:spcPts val="0"/>
                        </a:spcBef>
                        <a:spcAft>
                          <a:spcPts val="0"/>
                        </a:spcAft>
                      </a:pPr>
                      <a:r>
                        <a:rPr lang="en-US" sz="1600" kern="100">
                          <a:effectLst/>
                        </a:rPr>
                        <a:t>Blue</a:t>
                      </a:r>
                      <a:endParaRPr lang="en-US" sz="16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marL="0" marR="0" algn="r">
                        <a:spcBef>
                          <a:spcPts val="0"/>
                        </a:spcBef>
                        <a:spcAft>
                          <a:spcPts val="0"/>
                        </a:spcAft>
                      </a:pPr>
                      <a:r>
                        <a:rPr lang="en-US" sz="1600" kern="100">
                          <a:effectLst/>
                        </a:rPr>
                        <a:t>Green</a:t>
                      </a:r>
                      <a:endParaRPr lang="en-US" sz="16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marL="0" marR="0" algn="r">
                        <a:spcBef>
                          <a:spcPts val="0"/>
                        </a:spcBef>
                        <a:spcAft>
                          <a:spcPts val="0"/>
                        </a:spcAft>
                      </a:pPr>
                      <a:r>
                        <a:rPr lang="en-US" sz="1600" kern="100">
                          <a:effectLst/>
                        </a:rPr>
                        <a:t>Orange</a:t>
                      </a:r>
                      <a:endParaRPr lang="en-US" sz="16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marL="0" marR="0" algn="r">
                        <a:spcBef>
                          <a:spcPts val="0"/>
                        </a:spcBef>
                        <a:spcAft>
                          <a:spcPts val="0"/>
                        </a:spcAft>
                      </a:pPr>
                      <a:r>
                        <a:rPr lang="en-US" sz="1600" kern="100">
                          <a:effectLst/>
                        </a:rPr>
                        <a:t>Purple</a:t>
                      </a:r>
                      <a:endParaRPr lang="en-US" sz="16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1509754611"/>
                  </a:ext>
                </a:extLst>
              </a:tr>
              <a:tr h="0">
                <a:tc>
                  <a:txBody>
                    <a:bodyPr/>
                    <a:lstStyle/>
                    <a:p>
                      <a:pPr marL="0" marR="0">
                        <a:spcBef>
                          <a:spcPts val="0"/>
                        </a:spcBef>
                        <a:spcAft>
                          <a:spcPts val="0"/>
                        </a:spcAft>
                      </a:pPr>
                      <a:r>
                        <a:rPr lang="en-US" sz="1600" kern="100">
                          <a:effectLst/>
                        </a:rPr>
                        <a:t>Net Revenue ($/bean)</a:t>
                      </a:r>
                      <a:endParaRPr lang="en-US" sz="16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marL="0" marR="0" algn="r">
                        <a:spcBef>
                          <a:spcPts val="0"/>
                        </a:spcBef>
                        <a:spcAft>
                          <a:spcPts val="0"/>
                        </a:spcAft>
                      </a:pPr>
                      <a:r>
                        <a:rPr lang="en-US" sz="1600" kern="100" dirty="0">
                          <a:effectLst/>
                        </a:rPr>
                        <a:t>1</a:t>
                      </a:r>
                      <a:endParaRPr lang="en-US"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marL="0" marR="0" algn="r">
                        <a:spcBef>
                          <a:spcPts val="0"/>
                        </a:spcBef>
                        <a:spcAft>
                          <a:spcPts val="0"/>
                        </a:spcAft>
                      </a:pPr>
                      <a:r>
                        <a:rPr lang="en-US" sz="1600" kern="100">
                          <a:effectLst/>
                        </a:rPr>
                        <a:t>1.05</a:t>
                      </a:r>
                      <a:endParaRPr lang="en-US" sz="16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marL="0" marR="0" algn="r">
                        <a:spcBef>
                          <a:spcPts val="0"/>
                        </a:spcBef>
                        <a:spcAft>
                          <a:spcPts val="0"/>
                        </a:spcAft>
                      </a:pPr>
                      <a:r>
                        <a:rPr lang="en-US" sz="1600" kern="100">
                          <a:effectLst/>
                        </a:rPr>
                        <a:t>1.07</a:t>
                      </a:r>
                      <a:endParaRPr lang="en-US" sz="16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marL="0" marR="0" algn="r">
                        <a:spcBef>
                          <a:spcPts val="0"/>
                        </a:spcBef>
                        <a:spcAft>
                          <a:spcPts val="0"/>
                        </a:spcAft>
                      </a:pPr>
                      <a:r>
                        <a:rPr lang="en-US" sz="1600" kern="100">
                          <a:effectLst/>
                        </a:rPr>
                        <a:t>0.95</a:t>
                      </a:r>
                      <a:endParaRPr lang="en-US" sz="16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marL="0" marR="0" algn="r">
                        <a:spcBef>
                          <a:spcPts val="0"/>
                        </a:spcBef>
                        <a:spcAft>
                          <a:spcPts val="0"/>
                        </a:spcAft>
                      </a:pPr>
                      <a:r>
                        <a:rPr lang="en-US" sz="1600" kern="100" dirty="0">
                          <a:effectLst/>
                        </a:rPr>
                        <a:t>0.9</a:t>
                      </a:r>
                      <a:endParaRPr lang="en-US"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2055732088"/>
                  </a:ext>
                </a:extLst>
              </a:tr>
            </a:tbl>
          </a:graphicData>
        </a:graphic>
      </p:graphicFrame>
      <p:sp>
        <p:nvSpPr>
          <p:cNvPr id="5" name="Rectangle 1">
            <a:extLst>
              <a:ext uri="{FF2B5EF4-FFF2-40B4-BE49-F238E27FC236}">
                <a16:creationId xmlns:a16="http://schemas.microsoft.com/office/drawing/2014/main" id="{4BD60015-817D-373A-A775-55A9040AB4C2}"/>
              </a:ext>
            </a:extLst>
          </p:cNvPr>
          <p:cNvSpPr>
            <a:spLocks noChangeArrowheads="1"/>
          </p:cNvSpPr>
          <p:nvPr/>
        </p:nvSpPr>
        <p:spPr bwMode="auto">
          <a:xfrm>
            <a:off x="752932" y="1853636"/>
            <a:ext cx="5435833" cy="36009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solidFill>
                  <a:schemeClr val="tx1"/>
                </a:solidFill>
                <a:effectLst/>
                <a:latin typeface="Aptos" panose="020B0004020202020204" pitchFamily="34" charset="0"/>
                <a:ea typeface="Aptos" panose="020B0004020202020204" pitchFamily="34" charset="0"/>
                <a:cs typeface="Times New Roman" panose="02020603050405020304" pitchFamily="18" charset="0"/>
              </a:rPr>
              <a:t>June has a jellybean factory with two machines, X1 and X2, that produce yellow, blue, green, orange, and purple jellybeans. The net revenue for each type of jellybean are in the table below. Assume each machine can produce 100 jellybeans per hour and can only run 40 hours per week.</a:t>
            </a:r>
            <a:endParaRPr kumimoji="0" lang="en-US" altLang="en-US" sz="16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3600" b="0" i="0" u="none" strike="noStrike" cap="none" normalizeH="0" baseline="0" dirty="0">
              <a:ln>
                <a:noFill/>
              </a:ln>
              <a:solidFill>
                <a:schemeClr val="tx1"/>
              </a:solidFill>
              <a:effectLst/>
              <a:latin typeface="Arial" panose="020B0604020202020204" pitchFamily="34" charset="0"/>
            </a:endParaRPr>
          </a:p>
        </p:txBody>
      </p:sp>
      <p:pic>
        <p:nvPicPr>
          <p:cNvPr id="3" name="Picture 2">
            <a:extLst>
              <a:ext uri="{FF2B5EF4-FFF2-40B4-BE49-F238E27FC236}">
                <a16:creationId xmlns:a16="http://schemas.microsoft.com/office/drawing/2014/main" id="{47E58D0A-1AAD-30C7-393E-8628D4405E8E}"/>
              </a:ext>
            </a:extLst>
          </p:cNvPr>
          <p:cNvPicPr>
            <a:picLocks noChangeAspect="1"/>
          </p:cNvPicPr>
          <p:nvPr/>
        </p:nvPicPr>
        <p:blipFill>
          <a:blip r:embed="rId2"/>
          <a:stretch>
            <a:fillRect/>
          </a:stretch>
        </p:blipFill>
        <p:spPr>
          <a:xfrm>
            <a:off x="7805529" y="533405"/>
            <a:ext cx="3126909" cy="4700927"/>
          </a:xfrm>
          <a:prstGeom prst="rect">
            <a:avLst/>
          </a:prstGeom>
        </p:spPr>
      </p:pic>
    </p:spTree>
    <p:extLst>
      <p:ext uri="{BB962C8B-B14F-4D97-AF65-F5344CB8AC3E}">
        <p14:creationId xmlns:p14="http://schemas.microsoft.com/office/powerpoint/2010/main" val="339813768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80ACAF01-B56B-36E0-8A04-D4650C9C8C78}"/>
              </a:ext>
            </a:extLst>
          </p:cNvPr>
          <p:cNvPicPr>
            <a:picLocks noChangeAspect="1"/>
          </p:cNvPicPr>
          <p:nvPr/>
        </p:nvPicPr>
        <p:blipFill>
          <a:blip r:embed="rId2"/>
          <a:stretch>
            <a:fillRect/>
          </a:stretch>
        </p:blipFill>
        <p:spPr>
          <a:xfrm>
            <a:off x="2908300" y="1117600"/>
            <a:ext cx="6375400" cy="4622800"/>
          </a:xfrm>
          <a:prstGeom prst="rect">
            <a:avLst/>
          </a:prstGeom>
        </p:spPr>
      </p:pic>
    </p:spTree>
    <p:extLst>
      <p:ext uri="{BB962C8B-B14F-4D97-AF65-F5344CB8AC3E}">
        <p14:creationId xmlns:p14="http://schemas.microsoft.com/office/powerpoint/2010/main" val="248743121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8F7CD5-CA56-1507-CF26-B27697D68BB9}"/>
              </a:ext>
            </a:extLst>
          </p:cNvPr>
          <p:cNvSpPr>
            <a:spLocks noGrp="1"/>
          </p:cNvSpPr>
          <p:nvPr>
            <p:ph type="title"/>
          </p:nvPr>
        </p:nvSpPr>
        <p:spPr/>
        <p:txBody>
          <a:bodyPr/>
          <a:lstStyle/>
          <a:p>
            <a:r>
              <a:rPr lang="en-US" dirty="0"/>
              <a:t>Q1a – indices, parameters, variables, objective, constraints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404F8EEB-0512-38DD-2D13-4FAD8E27FE4A}"/>
                  </a:ext>
                </a:extLst>
              </p:cNvPr>
              <p:cNvSpPr>
                <a:spLocks noGrp="1"/>
              </p:cNvSpPr>
              <p:nvPr>
                <p:ph idx="1"/>
              </p:nvPr>
            </p:nvSpPr>
            <p:spPr/>
            <p:txBody>
              <a:bodyPr>
                <a:normAutofit lnSpcReduction="10000"/>
              </a:bodyPr>
              <a:lstStyle/>
              <a:p>
                <a:pPr marL="0" indent="0">
                  <a:buNone/>
                </a:pPr>
                <a:r>
                  <a:rPr lang="en-US" b="1" dirty="0"/>
                  <a:t>Sets</a:t>
                </a:r>
                <a:r>
                  <a:rPr lang="en-US" dirty="0"/>
                  <a:t>:</a:t>
                </a:r>
              </a:p>
              <a:p>
                <a:pPr marL="0" indent="0">
                  <a:buNone/>
                </a:pPr>
                <a14:m>
                  <m:oMath xmlns:m="http://schemas.openxmlformats.org/officeDocument/2006/math">
                    <m:r>
                      <a:rPr lang="en-US" b="0" i="1" smtClean="0">
                        <a:latin typeface="Cambria Math" panose="02040503050406030204" pitchFamily="18" charset="0"/>
                      </a:rPr>
                      <m:t>𝑖</m:t>
                    </m:r>
                  </m:oMath>
                </a14:m>
                <a:r>
                  <a:rPr lang="en-US" dirty="0"/>
                  <a:t>: Machines, </a:t>
                </a:r>
                <a14:m>
                  <m:oMath xmlns:m="http://schemas.openxmlformats.org/officeDocument/2006/math">
                    <m:r>
                      <a:rPr lang="en-US" b="0" i="1" smtClean="0">
                        <a:latin typeface="Cambria Math" panose="02040503050406030204" pitchFamily="18" charset="0"/>
                      </a:rPr>
                      <m:t>𝑖</m:t>
                    </m:r>
                    <m:r>
                      <a:rPr lang="en-US" b="0" i="1" smtClean="0">
                        <a:latin typeface="Cambria Math" panose="02040503050406030204" pitchFamily="18" charset="0"/>
                      </a:rPr>
                      <m:t>∈{</m:t>
                    </m:r>
                    <m:r>
                      <a:rPr lang="en-US" b="0" i="1" smtClean="0">
                        <a:latin typeface="Cambria Math" panose="02040503050406030204" pitchFamily="18" charset="0"/>
                      </a:rPr>
                      <m:t>𝑋</m:t>
                    </m:r>
                    <m:r>
                      <a:rPr lang="en-US" b="0" i="1" smtClean="0">
                        <a:latin typeface="Cambria Math" panose="02040503050406030204" pitchFamily="18" charset="0"/>
                      </a:rPr>
                      <m:t>1, </m:t>
                    </m:r>
                    <m:r>
                      <a:rPr lang="en-US" b="0" i="1" smtClean="0">
                        <a:latin typeface="Cambria Math" panose="02040503050406030204" pitchFamily="18" charset="0"/>
                      </a:rPr>
                      <m:t>𝑋</m:t>
                    </m:r>
                    <m:r>
                      <a:rPr lang="en-US" b="0" i="1" smtClean="0">
                        <a:latin typeface="Cambria Math" panose="02040503050406030204" pitchFamily="18" charset="0"/>
                      </a:rPr>
                      <m:t>2}</m:t>
                    </m:r>
                  </m:oMath>
                </a14:m>
                <a:endParaRPr lang="en-US" dirty="0"/>
              </a:p>
              <a:p>
                <a:pPr marL="0" indent="0">
                  <a:buNone/>
                </a:pPr>
                <a14:m>
                  <m:oMath xmlns:m="http://schemas.openxmlformats.org/officeDocument/2006/math">
                    <m:r>
                      <a:rPr lang="en-US" b="0" i="1" smtClean="0">
                        <a:latin typeface="Cambria Math" panose="02040503050406030204" pitchFamily="18" charset="0"/>
                      </a:rPr>
                      <m:t>𝑗</m:t>
                    </m:r>
                  </m:oMath>
                </a14:m>
                <a:r>
                  <a:rPr lang="en-US" dirty="0"/>
                  <a:t>: Jellybeans, </a:t>
                </a:r>
                <a14:m>
                  <m:oMath xmlns:m="http://schemas.openxmlformats.org/officeDocument/2006/math">
                    <m:r>
                      <a:rPr lang="en-US" b="0" i="1" smtClean="0">
                        <a:latin typeface="Cambria Math" panose="02040503050406030204" pitchFamily="18" charset="0"/>
                      </a:rPr>
                      <m:t>𝑗</m:t>
                    </m:r>
                    <m:r>
                      <a:rPr lang="en-US" b="0" i="1" smtClean="0">
                        <a:latin typeface="Cambria Math" panose="02040503050406030204" pitchFamily="18" charset="0"/>
                      </a:rPr>
                      <m:t>∈{</m:t>
                    </m:r>
                    <m:r>
                      <a:rPr lang="en-US" b="0" i="1" smtClean="0">
                        <a:latin typeface="Cambria Math" panose="02040503050406030204" pitchFamily="18" charset="0"/>
                      </a:rPr>
                      <m:t>𝑦</m:t>
                    </m:r>
                    <m:r>
                      <a:rPr lang="en-US" b="0" i="1" smtClean="0">
                        <a:latin typeface="Cambria Math" panose="02040503050406030204" pitchFamily="18" charset="0"/>
                      </a:rPr>
                      <m:t>,</m:t>
                    </m:r>
                    <m:r>
                      <a:rPr lang="en-US" b="0" i="1" smtClean="0">
                        <a:latin typeface="Cambria Math" panose="02040503050406030204" pitchFamily="18" charset="0"/>
                      </a:rPr>
                      <m:t>𝑏</m:t>
                    </m:r>
                    <m:r>
                      <a:rPr lang="en-US" b="0" i="1" smtClean="0">
                        <a:latin typeface="Cambria Math" panose="02040503050406030204" pitchFamily="18" charset="0"/>
                      </a:rPr>
                      <m:t>,</m:t>
                    </m:r>
                    <m:r>
                      <a:rPr lang="en-US" b="0" i="1" smtClean="0">
                        <a:latin typeface="Cambria Math" panose="02040503050406030204" pitchFamily="18" charset="0"/>
                      </a:rPr>
                      <m:t>𝑔</m:t>
                    </m:r>
                    <m:r>
                      <a:rPr lang="en-US" b="0" i="1" smtClean="0">
                        <a:latin typeface="Cambria Math" panose="02040503050406030204" pitchFamily="18" charset="0"/>
                      </a:rPr>
                      <m:t>,</m:t>
                    </m:r>
                    <m:r>
                      <a:rPr lang="en-US" b="0" i="1" smtClean="0">
                        <a:latin typeface="Cambria Math" panose="02040503050406030204" pitchFamily="18" charset="0"/>
                      </a:rPr>
                      <m:t>𝑜</m:t>
                    </m:r>
                    <m:r>
                      <a:rPr lang="en-US" b="0" i="1" smtClean="0">
                        <a:latin typeface="Cambria Math" panose="02040503050406030204" pitchFamily="18" charset="0"/>
                      </a:rPr>
                      <m:t>,</m:t>
                    </m:r>
                    <m:r>
                      <a:rPr lang="en-US" b="0" i="1" smtClean="0">
                        <a:latin typeface="Cambria Math" panose="02040503050406030204" pitchFamily="18" charset="0"/>
                      </a:rPr>
                      <m:t>𝑝</m:t>
                    </m:r>
                    <m:r>
                      <a:rPr lang="en-US" b="0" i="1" smtClean="0">
                        <a:latin typeface="Cambria Math" panose="02040503050406030204" pitchFamily="18" charset="0"/>
                      </a:rPr>
                      <m:t>}</m:t>
                    </m:r>
                  </m:oMath>
                </a14:m>
                <a:endParaRPr lang="en-US" dirty="0"/>
              </a:p>
              <a:p>
                <a:pPr marL="0" indent="0">
                  <a:buNone/>
                </a:pP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𝑣</m:t>
                        </m:r>
                      </m:e>
                      <m:sub>
                        <m:r>
                          <a:rPr lang="en-US" b="0" i="1" smtClean="0">
                            <a:latin typeface="Cambria Math" panose="02040503050406030204" pitchFamily="18" charset="0"/>
                          </a:rPr>
                          <m:t>𝑖</m:t>
                        </m:r>
                        <m:r>
                          <a:rPr lang="en-US" b="0" i="1" smtClean="0">
                            <a:latin typeface="Cambria Math" panose="02040503050406030204" pitchFamily="18" charset="0"/>
                          </a:rPr>
                          <m:t>,</m:t>
                        </m:r>
                        <m:r>
                          <a:rPr lang="en-US" b="0" i="1" smtClean="0">
                            <a:latin typeface="Cambria Math" panose="02040503050406030204" pitchFamily="18" charset="0"/>
                          </a:rPr>
                          <m:t>𝑗</m:t>
                        </m:r>
                      </m:sub>
                    </m:sSub>
                  </m:oMath>
                </a14:m>
                <a:r>
                  <a:rPr lang="en-US" dirty="0"/>
                  <a:t>: valid combination of </a:t>
                </a:r>
                <a14:m>
                  <m:oMath xmlns:m="http://schemas.openxmlformats.org/officeDocument/2006/math">
                    <m:r>
                      <a:rPr lang="en-US" b="0" i="1" smtClean="0">
                        <a:latin typeface="Cambria Math" panose="02040503050406030204" pitchFamily="18" charset="0"/>
                      </a:rPr>
                      <m:t>𝑖</m:t>
                    </m:r>
                  </m:oMath>
                </a14:m>
                <a:r>
                  <a:rPr lang="en-US" dirty="0"/>
                  <a:t> and </a:t>
                </a:r>
                <a14:m>
                  <m:oMath xmlns:m="http://schemas.openxmlformats.org/officeDocument/2006/math">
                    <m:r>
                      <a:rPr lang="en-US" b="0" i="1" smtClean="0">
                        <a:latin typeface="Cambria Math" panose="02040503050406030204" pitchFamily="18" charset="0"/>
                      </a:rPr>
                      <m:t>𝑗</m:t>
                    </m:r>
                  </m:oMath>
                </a14:m>
                <a:endParaRPr lang="en-US" dirty="0"/>
              </a:p>
              <a:p>
                <a:pPr marL="0" indent="0">
                  <a:buNone/>
                </a:pPr>
                <a:endParaRPr lang="en-US" dirty="0"/>
              </a:p>
              <a:p>
                <a:pPr marL="0" indent="0">
                  <a:buNone/>
                </a:pPr>
                <a:r>
                  <a:rPr lang="en-US" b="1" dirty="0"/>
                  <a:t>Parameters</a:t>
                </a:r>
                <a:r>
                  <a:rPr lang="en-US" dirty="0"/>
                  <a:t>:</a:t>
                </a:r>
              </a:p>
              <a:p>
                <a:pPr marL="0" indent="0">
                  <a:buNone/>
                </a:pP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𝑟</m:t>
                        </m:r>
                      </m:e>
                      <m:sub>
                        <m:r>
                          <a:rPr lang="en-US" b="0" i="1" smtClean="0">
                            <a:latin typeface="Cambria Math" panose="02040503050406030204" pitchFamily="18" charset="0"/>
                          </a:rPr>
                          <m:t>𝑗</m:t>
                        </m:r>
                      </m:sub>
                    </m:sSub>
                  </m:oMath>
                </a14:m>
                <a:r>
                  <a:rPr lang="en-US" dirty="0"/>
                  <a:t>: revenue ($ / jellybean)</a:t>
                </a:r>
              </a:p>
              <a:p>
                <a:pPr marL="0" indent="0">
                  <a:buNone/>
                </a:pPr>
                <a14:m>
                  <m:oMath xmlns:m="http://schemas.openxmlformats.org/officeDocument/2006/math">
                    <m:r>
                      <a:rPr lang="en-US" b="0" i="1" smtClean="0">
                        <a:latin typeface="Cambria Math" panose="02040503050406030204" pitchFamily="18" charset="0"/>
                      </a:rPr>
                      <m:t>h</m:t>
                    </m:r>
                  </m:oMath>
                </a14:m>
                <a:r>
                  <a:rPr lang="en-US" dirty="0"/>
                  <a:t>: production rate (jellybeans / hour)</a:t>
                </a:r>
              </a:p>
              <a:p>
                <a:pPr marL="0" indent="0">
                  <a:buNone/>
                </a:pPr>
                <a14:m>
                  <m:oMath xmlns:m="http://schemas.openxmlformats.org/officeDocument/2006/math">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h</m:t>
                        </m:r>
                      </m:e>
                    </m:acc>
                  </m:oMath>
                </a14:m>
                <a:r>
                  <a:rPr lang="en-US" dirty="0"/>
                  <a:t>: maximum hours per week (hours, 40)</a:t>
                </a:r>
              </a:p>
            </p:txBody>
          </p:sp>
        </mc:Choice>
        <mc:Fallback xmlns="">
          <p:sp>
            <p:nvSpPr>
              <p:cNvPr id="3" name="Content Placeholder 2">
                <a:extLst>
                  <a:ext uri="{FF2B5EF4-FFF2-40B4-BE49-F238E27FC236}">
                    <a16:creationId xmlns:a16="http://schemas.microsoft.com/office/drawing/2014/main" id="{404F8EEB-0512-38DD-2D13-4FAD8E27FE4A}"/>
                  </a:ext>
                </a:extLst>
              </p:cNvPr>
              <p:cNvSpPr>
                <a:spLocks noGrp="1" noRot="1" noChangeAspect="1" noMove="1" noResize="1" noEditPoints="1" noAdjustHandles="1" noChangeArrowheads="1" noChangeShapeType="1" noTextEdit="1"/>
              </p:cNvSpPr>
              <p:nvPr>
                <p:ph idx="1"/>
              </p:nvPr>
            </p:nvSpPr>
            <p:spPr>
              <a:blipFill>
                <a:blip r:embed="rId2"/>
                <a:stretch>
                  <a:fillRect l="-1206" t="-3198" b="-1744"/>
                </a:stretch>
              </a:blipFill>
            </p:spPr>
            <p:txBody>
              <a:bodyPr/>
              <a:lstStyle/>
              <a:p>
                <a:r>
                  <a:rPr lang="en-US">
                    <a:noFill/>
                  </a:rPr>
                  <a:t> </a:t>
                </a:r>
              </a:p>
            </p:txBody>
          </p:sp>
        </mc:Fallback>
      </mc:AlternateContent>
    </p:spTree>
    <p:extLst>
      <p:ext uri="{BB962C8B-B14F-4D97-AF65-F5344CB8AC3E}">
        <p14:creationId xmlns:p14="http://schemas.microsoft.com/office/powerpoint/2010/main" val="64217981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4D7027-05C2-3973-FC6C-913DDDCA3BD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F2AFE84-A32D-AFB8-4224-2E0A40B0F6EF}"/>
              </a:ext>
            </a:extLst>
          </p:cNvPr>
          <p:cNvSpPr>
            <a:spLocks noGrp="1"/>
          </p:cNvSpPr>
          <p:nvPr>
            <p:ph type="title"/>
          </p:nvPr>
        </p:nvSpPr>
        <p:spPr/>
        <p:txBody>
          <a:bodyPr/>
          <a:lstStyle/>
          <a:p>
            <a:r>
              <a:rPr lang="en-US" dirty="0"/>
              <a:t>Q1a – indices, parameters, variables, objective, constraints</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1DA89DC5-2951-4B54-DD5F-4A9CD4925D92}"/>
                  </a:ext>
                </a:extLst>
              </p:cNvPr>
              <p:cNvSpPr>
                <a:spLocks noGrp="1"/>
              </p:cNvSpPr>
              <p:nvPr>
                <p:ph idx="1"/>
              </p:nvPr>
            </p:nvSpPr>
            <p:spPr/>
            <p:txBody>
              <a:bodyPr>
                <a:normAutofit fontScale="92500" lnSpcReduction="20000"/>
              </a:bodyPr>
              <a:lstStyle/>
              <a:p>
                <a:pPr marL="0" indent="0">
                  <a:buNone/>
                </a:pPr>
                <a:r>
                  <a:rPr lang="en-US" b="1" dirty="0"/>
                  <a:t>Variables</a:t>
                </a:r>
                <a:r>
                  <a:rPr lang="en-US" dirty="0"/>
                  <a:t>:</a:t>
                </a:r>
              </a:p>
              <a:p>
                <a:pPr marL="0" indent="0">
                  <a:buNone/>
                </a:pP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𝑋</m:t>
                        </m:r>
                      </m:e>
                      <m:sub>
                        <m:r>
                          <a:rPr lang="en-US" b="0" i="1" smtClean="0">
                            <a:latin typeface="Cambria Math" panose="02040503050406030204" pitchFamily="18" charset="0"/>
                          </a:rPr>
                          <m:t>𝑖</m:t>
                        </m:r>
                        <m:r>
                          <a:rPr lang="en-US" b="0" i="1" smtClean="0">
                            <a:latin typeface="Cambria Math" panose="02040503050406030204" pitchFamily="18" charset="0"/>
                          </a:rPr>
                          <m:t>,</m:t>
                        </m:r>
                        <m:r>
                          <a:rPr lang="en-US" b="0" i="1" smtClean="0">
                            <a:latin typeface="Cambria Math" panose="02040503050406030204" pitchFamily="18" charset="0"/>
                          </a:rPr>
                          <m:t>𝑗</m:t>
                        </m:r>
                      </m:sub>
                    </m:sSub>
                  </m:oMath>
                </a14:m>
                <a:r>
                  <a:rPr lang="en-US" dirty="0"/>
                  <a:t>: Output of machine </a:t>
                </a:r>
                <a14:m>
                  <m:oMath xmlns:m="http://schemas.openxmlformats.org/officeDocument/2006/math">
                    <m:r>
                      <a:rPr lang="en-US" b="0" i="1" smtClean="0">
                        <a:latin typeface="Cambria Math" panose="02040503050406030204" pitchFamily="18" charset="0"/>
                      </a:rPr>
                      <m:t>𝑖</m:t>
                    </m:r>
                  </m:oMath>
                </a14:m>
                <a:r>
                  <a:rPr lang="en-US" dirty="0"/>
                  <a:t> for jellybean </a:t>
                </a:r>
                <a14:m>
                  <m:oMath xmlns:m="http://schemas.openxmlformats.org/officeDocument/2006/math">
                    <m:r>
                      <a:rPr lang="en-US" b="0" i="1" smtClean="0">
                        <a:latin typeface="Cambria Math" panose="02040503050406030204" pitchFamily="18" charset="0"/>
                      </a:rPr>
                      <m:t>𝑗</m:t>
                    </m:r>
                  </m:oMath>
                </a14:m>
                <a:r>
                  <a:rPr lang="en-US" dirty="0"/>
                  <a:t> (jellybeans)</a:t>
                </a:r>
              </a:p>
              <a:p>
                <a:pPr marL="0" indent="0">
                  <a:buNone/>
                </a:pPr>
                <a14:m>
                  <m:oMath xmlns:m="http://schemas.openxmlformats.org/officeDocument/2006/math">
                    <m:r>
                      <a:rPr lang="en-US" b="0" i="1" smtClean="0">
                        <a:latin typeface="Cambria Math" panose="02040503050406030204" pitchFamily="18" charset="0"/>
                      </a:rPr>
                      <m:t>𝜋</m:t>
                    </m:r>
                  </m:oMath>
                </a14:m>
                <a:r>
                  <a:rPr lang="en-US" dirty="0"/>
                  <a:t>: Profit ($s)</a:t>
                </a:r>
              </a:p>
              <a:p>
                <a:pPr marL="0" indent="0">
                  <a:buNone/>
                </a:pPr>
                <a:endParaRPr lang="en-US" dirty="0"/>
              </a:p>
              <a:p>
                <a:pPr marL="0" indent="0">
                  <a:buNone/>
                </a:pPr>
                <a:r>
                  <a:rPr lang="en-US" b="1" dirty="0"/>
                  <a:t>Objective</a:t>
                </a:r>
                <a:r>
                  <a:rPr lang="en-US" dirty="0"/>
                  <a:t>:</a:t>
                </a:r>
              </a:p>
              <a:p>
                <a:pPr marL="0" indent="0">
                  <a:buNone/>
                </a:pPr>
                <a14:m>
                  <m:oMathPara xmlns:m="http://schemas.openxmlformats.org/officeDocument/2006/math">
                    <m:oMathParaPr>
                      <m:jc m:val="centerGroup"/>
                    </m:oMathParaPr>
                    <m:oMath xmlns:m="http://schemas.openxmlformats.org/officeDocument/2006/math">
                      <m:m>
                        <m:mPr>
                          <m:mcs>
                            <m:mc>
                              <m:mcPr>
                                <m:count m:val="1"/>
                                <m:mcJc m:val="center"/>
                              </m:mcPr>
                            </m:mc>
                          </m:mcs>
                          <m:ctrlPr>
                            <a:rPr lang="en-US" i="1" smtClean="0">
                              <a:latin typeface="Cambria Math" panose="02040503050406030204" pitchFamily="18" charset="0"/>
                            </a:rPr>
                          </m:ctrlPr>
                        </m:mPr>
                        <m:mr>
                          <m:e>
                            <m:r>
                              <m:rPr>
                                <m:brk m:alnAt="7"/>
                              </m:rPr>
                              <a:rPr lang="en-US" b="0" i="1" smtClean="0">
                                <a:latin typeface="Cambria Math" panose="02040503050406030204" pitchFamily="18" charset="0"/>
                              </a:rPr>
                              <m:t>𝑀</m:t>
                            </m:r>
                            <m:r>
                              <a:rPr lang="en-US" b="0" i="1" smtClean="0">
                                <a:latin typeface="Cambria Math" panose="02040503050406030204" pitchFamily="18" charset="0"/>
                              </a:rPr>
                              <m:t>𝑎𝑥</m:t>
                            </m:r>
                          </m:e>
                        </m:mr>
                        <m:m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𝑋</m:t>
                                </m:r>
                              </m:e>
                              <m:sub>
                                <m:r>
                                  <a:rPr lang="en-US" b="0" i="1" smtClean="0">
                                    <a:latin typeface="Cambria Math" panose="02040503050406030204" pitchFamily="18" charset="0"/>
                                  </a:rPr>
                                  <m:t>𝑖</m:t>
                                </m:r>
                                <m:r>
                                  <a:rPr lang="en-US" b="0" i="1" smtClean="0">
                                    <a:latin typeface="Cambria Math" panose="02040503050406030204" pitchFamily="18" charset="0"/>
                                  </a:rPr>
                                  <m:t>,</m:t>
                                </m:r>
                                <m:r>
                                  <a:rPr lang="en-US" b="0" i="1" smtClean="0">
                                    <a:latin typeface="Cambria Math" panose="02040503050406030204" pitchFamily="18" charset="0"/>
                                  </a:rPr>
                                  <m:t>𝑗</m:t>
                                </m:r>
                              </m:sub>
                            </m:sSub>
                          </m:e>
                        </m:mr>
                      </m:m>
                      <m:r>
                        <a:rPr lang="en-US" b="0" i="1" smtClean="0">
                          <a:latin typeface="Cambria Math" panose="02040503050406030204" pitchFamily="18" charset="0"/>
                        </a:rPr>
                        <m:t>𝜋</m:t>
                      </m:r>
                      <m:r>
                        <a:rPr lang="en-US" b="0" i="1" smtClean="0">
                          <a:latin typeface="Cambria Math" panose="02040503050406030204" pitchFamily="18" charset="0"/>
                        </a:rPr>
                        <m:t>=</m:t>
                      </m:r>
                      <m:nary>
                        <m:naryPr>
                          <m:chr m:val="∑"/>
                          <m:supHide m:val="on"/>
                          <m:ctrlPr>
                            <a:rPr lang="en-US" b="0" i="1" smtClean="0">
                              <a:latin typeface="Cambria Math" panose="02040503050406030204" pitchFamily="18" charset="0"/>
                            </a:rPr>
                          </m:ctrlPr>
                        </m:naryPr>
                        <m:sub>
                          <m:r>
                            <a:rPr lang="en-US" b="0" i="1" smtClean="0">
                              <a:latin typeface="Cambria Math" panose="02040503050406030204" pitchFamily="18" charset="0"/>
                            </a:rPr>
                            <m:t>𝑖</m:t>
                          </m:r>
                          <m:r>
                            <a:rPr lang="en-US" b="0" i="1" smtClean="0">
                              <a:latin typeface="Cambria Math" panose="02040503050406030204" pitchFamily="18" charset="0"/>
                            </a:rPr>
                            <m:t>,</m:t>
                          </m:r>
                          <m:r>
                            <a:rPr lang="en-US" b="0" i="1" smtClean="0">
                              <a:latin typeface="Cambria Math" panose="02040503050406030204" pitchFamily="18" charset="0"/>
                            </a:rPr>
                            <m:t>𝑗</m:t>
                          </m:r>
                          <m:r>
                            <a:rPr lang="en-US" b="0" i="1" smtClean="0">
                              <a:latin typeface="Cambria Math" panose="02040503050406030204" pitchFamily="18" charset="0"/>
                            </a:rPr>
                            <m:t>∈</m:t>
                          </m:r>
                          <m:r>
                            <a:rPr lang="en-US" b="0" i="1" smtClean="0">
                              <a:latin typeface="Cambria Math" panose="02040503050406030204" pitchFamily="18" charset="0"/>
                            </a:rPr>
                            <m:t>𝑣</m:t>
                          </m:r>
                        </m:sub>
                        <m:sup/>
                        <m:e>
                          <m:sSub>
                            <m:sSubPr>
                              <m:ctrlPr>
                                <a:rPr lang="en-US" b="0" i="1" smtClean="0">
                                  <a:latin typeface="Cambria Math" panose="02040503050406030204" pitchFamily="18" charset="0"/>
                                </a:rPr>
                              </m:ctrlPr>
                            </m:sSub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𝑟</m:t>
                                  </m:r>
                                </m:e>
                                <m:sub>
                                  <m:r>
                                    <a:rPr lang="en-US" b="0" i="1" smtClean="0">
                                      <a:latin typeface="Cambria Math" panose="02040503050406030204" pitchFamily="18" charset="0"/>
                                    </a:rPr>
                                    <m:t>𝑗</m:t>
                                  </m:r>
                                </m:sub>
                              </m:sSub>
                              <m:r>
                                <a:rPr lang="en-US" b="0" i="1" smtClean="0">
                                  <a:latin typeface="Cambria Math" panose="02040503050406030204" pitchFamily="18" charset="0"/>
                                </a:rPr>
                                <m:t>𝑋</m:t>
                              </m:r>
                            </m:e>
                            <m:sub>
                              <m:r>
                                <a:rPr lang="en-US" b="0" i="1" smtClean="0">
                                  <a:latin typeface="Cambria Math" panose="02040503050406030204" pitchFamily="18" charset="0"/>
                                </a:rPr>
                                <m:t>𝑖</m:t>
                              </m:r>
                              <m:r>
                                <a:rPr lang="en-US" b="0" i="1" smtClean="0">
                                  <a:latin typeface="Cambria Math" panose="02040503050406030204" pitchFamily="18" charset="0"/>
                                </a:rPr>
                                <m:t>,</m:t>
                              </m:r>
                              <m:r>
                                <a:rPr lang="en-US" b="0" i="1" smtClean="0">
                                  <a:latin typeface="Cambria Math" panose="02040503050406030204" pitchFamily="18" charset="0"/>
                                </a:rPr>
                                <m:t>𝑗</m:t>
                              </m:r>
                            </m:sub>
                          </m:sSub>
                        </m:e>
                      </m:nary>
                    </m:oMath>
                  </m:oMathPara>
                </a14:m>
                <a:endParaRPr lang="en-US" dirty="0"/>
              </a:p>
              <a:p>
                <a:pPr marL="0" indent="0">
                  <a:buNone/>
                </a:pPr>
                <a:r>
                  <a:rPr lang="en-US" b="1" dirty="0"/>
                  <a:t>Constraint</a:t>
                </a:r>
                <a:r>
                  <a:rPr lang="en-US" dirty="0"/>
                  <a:t>:</a:t>
                </a:r>
              </a:p>
              <a:p>
                <a:pPr marL="0" indent="0">
                  <a:buNone/>
                </a:pPr>
                <a14:m>
                  <m:oMathPara xmlns:m="http://schemas.openxmlformats.org/officeDocument/2006/math">
                    <m:oMathParaPr>
                      <m:jc m:val="centerGroup"/>
                    </m:oMathParaPr>
                    <m:oMath xmlns:m="http://schemas.openxmlformats.org/officeDocument/2006/math">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h</m:t>
                          </m:r>
                        </m:e>
                      </m:acc>
                      <m:r>
                        <a:rPr lang="en-US" b="0" i="1" smtClean="0">
                          <a:latin typeface="Cambria Math" panose="02040503050406030204" pitchFamily="18" charset="0"/>
                        </a:rPr>
                        <m:t>∗</m:t>
                      </m:r>
                      <m:r>
                        <a:rPr lang="en-US" b="0" i="1" smtClean="0">
                          <a:latin typeface="Cambria Math" panose="02040503050406030204" pitchFamily="18" charset="0"/>
                        </a:rPr>
                        <m:t>h</m:t>
                      </m:r>
                      <m:r>
                        <a:rPr lang="en-US" b="0" i="1" dirty="0" smtClean="0">
                          <a:latin typeface="Cambria Math" panose="02040503050406030204" pitchFamily="18" charset="0"/>
                        </a:rPr>
                        <m:t>≥</m:t>
                      </m:r>
                      <m:nary>
                        <m:naryPr>
                          <m:chr m:val="∑"/>
                          <m:supHide m:val="on"/>
                          <m:ctrlPr>
                            <a:rPr lang="en-US" b="0" i="1" dirty="0" smtClean="0">
                              <a:latin typeface="Cambria Math" panose="02040503050406030204" pitchFamily="18" charset="0"/>
                            </a:rPr>
                          </m:ctrlPr>
                        </m:naryPr>
                        <m:sub>
                          <m:r>
                            <a:rPr lang="en-US" b="0" i="1" dirty="0" smtClean="0">
                              <a:latin typeface="Cambria Math" panose="02040503050406030204" pitchFamily="18" charset="0"/>
                            </a:rPr>
                            <m:t>𝑗</m:t>
                          </m:r>
                          <m:r>
                            <a:rPr lang="en-US" b="0" i="1" dirty="0" smtClean="0">
                              <a:latin typeface="Cambria Math" panose="02040503050406030204" pitchFamily="18" charset="0"/>
                            </a:rPr>
                            <m:t>∈</m:t>
                          </m:r>
                          <m:sSub>
                            <m:sSubPr>
                              <m:ctrlPr>
                                <a:rPr lang="en-US" b="0" i="1" dirty="0" smtClean="0">
                                  <a:latin typeface="Cambria Math" panose="02040503050406030204" pitchFamily="18" charset="0"/>
                                </a:rPr>
                              </m:ctrlPr>
                            </m:sSubPr>
                            <m:e>
                              <m:r>
                                <a:rPr lang="en-US" b="0" i="1" dirty="0" smtClean="0">
                                  <a:latin typeface="Cambria Math" panose="02040503050406030204" pitchFamily="18" charset="0"/>
                                </a:rPr>
                                <m:t>𝑣</m:t>
                              </m:r>
                            </m:e>
                            <m:sub>
                              <m:r>
                                <a:rPr lang="en-US" b="0" i="1" dirty="0" smtClean="0">
                                  <a:latin typeface="Cambria Math" panose="02040503050406030204" pitchFamily="18" charset="0"/>
                                </a:rPr>
                                <m:t>𝑖</m:t>
                              </m:r>
                              <m:r>
                                <a:rPr lang="en-US" b="0" i="1" dirty="0" smtClean="0">
                                  <a:latin typeface="Cambria Math" panose="02040503050406030204" pitchFamily="18" charset="0"/>
                                </a:rPr>
                                <m:t>,</m:t>
                              </m:r>
                              <m:r>
                                <a:rPr lang="en-US" b="0" i="1" dirty="0" smtClean="0">
                                  <a:latin typeface="Cambria Math" panose="02040503050406030204" pitchFamily="18" charset="0"/>
                                </a:rPr>
                                <m:t>𝑗</m:t>
                              </m:r>
                            </m:sub>
                          </m:sSub>
                        </m:sub>
                        <m:sup/>
                        <m:e>
                          <m:sSub>
                            <m:sSubPr>
                              <m:ctrlPr>
                                <a:rPr lang="en-US" b="0" i="1" dirty="0" smtClean="0">
                                  <a:latin typeface="Cambria Math" panose="02040503050406030204" pitchFamily="18" charset="0"/>
                                </a:rPr>
                              </m:ctrlPr>
                            </m:sSubPr>
                            <m:e>
                              <m:r>
                                <a:rPr lang="en-US" b="0" i="1" dirty="0" smtClean="0">
                                  <a:latin typeface="Cambria Math" panose="02040503050406030204" pitchFamily="18" charset="0"/>
                                </a:rPr>
                                <m:t>𝑋</m:t>
                              </m:r>
                            </m:e>
                            <m:sub>
                              <m:r>
                                <a:rPr lang="en-US" b="0" i="1" dirty="0" smtClean="0">
                                  <a:latin typeface="Cambria Math" panose="02040503050406030204" pitchFamily="18" charset="0"/>
                                </a:rPr>
                                <m:t>𝑖</m:t>
                              </m:r>
                              <m:r>
                                <a:rPr lang="en-US" b="0" i="1" dirty="0" smtClean="0">
                                  <a:latin typeface="Cambria Math" panose="02040503050406030204" pitchFamily="18" charset="0"/>
                                </a:rPr>
                                <m:t>,</m:t>
                              </m:r>
                              <m:r>
                                <a:rPr lang="en-US" b="0" i="1" dirty="0" smtClean="0">
                                  <a:latin typeface="Cambria Math" panose="02040503050406030204" pitchFamily="18" charset="0"/>
                                </a:rPr>
                                <m:t>𝑗</m:t>
                              </m:r>
                            </m:sub>
                          </m:sSub>
                        </m:e>
                      </m:nary>
                      <m:r>
                        <a:rPr lang="en-US" b="0" i="1" dirty="0" smtClean="0">
                          <a:latin typeface="Cambria Math" panose="02040503050406030204" pitchFamily="18" charset="0"/>
                        </a:rPr>
                        <m:t>  ∀ </m:t>
                      </m:r>
                      <m:r>
                        <a:rPr lang="en-US" b="0" i="1" dirty="0" smtClean="0">
                          <a:latin typeface="Cambria Math" panose="02040503050406030204" pitchFamily="18" charset="0"/>
                        </a:rPr>
                        <m:t>𝑖</m:t>
                      </m:r>
                    </m:oMath>
                  </m:oMathPara>
                </a14:m>
                <a:endParaRPr lang="en-US" dirty="0"/>
              </a:p>
            </p:txBody>
          </p:sp>
        </mc:Choice>
        <mc:Fallback>
          <p:sp>
            <p:nvSpPr>
              <p:cNvPr id="3" name="Content Placeholder 2">
                <a:extLst>
                  <a:ext uri="{FF2B5EF4-FFF2-40B4-BE49-F238E27FC236}">
                    <a16:creationId xmlns:a16="http://schemas.microsoft.com/office/drawing/2014/main" id="{1DA89DC5-2951-4B54-DD5F-4A9CD4925D92}"/>
                  </a:ext>
                </a:extLst>
              </p:cNvPr>
              <p:cNvSpPr>
                <a:spLocks noGrp="1" noRot="1" noChangeAspect="1" noMove="1" noResize="1" noEditPoints="1" noAdjustHandles="1" noChangeArrowheads="1" noChangeShapeType="1" noTextEdit="1"/>
              </p:cNvSpPr>
              <p:nvPr>
                <p:ph idx="1"/>
              </p:nvPr>
            </p:nvSpPr>
            <p:spPr>
              <a:blipFill>
                <a:blip r:embed="rId2"/>
                <a:stretch>
                  <a:fillRect l="-1086" t="-3488" b="-41860"/>
                </a:stretch>
              </a:blipFill>
            </p:spPr>
            <p:txBody>
              <a:bodyPr/>
              <a:lstStyle/>
              <a:p>
                <a:r>
                  <a:rPr lang="en-US">
                    <a:noFill/>
                  </a:rPr>
                  <a:t> </a:t>
                </a:r>
              </a:p>
            </p:txBody>
          </p:sp>
        </mc:Fallback>
      </mc:AlternateContent>
    </p:spTree>
    <p:extLst>
      <p:ext uri="{BB962C8B-B14F-4D97-AF65-F5344CB8AC3E}">
        <p14:creationId xmlns:p14="http://schemas.microsoft.com/office/powerpoint/2010/main" val="192969980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E44DFD-8BBC-B02C-775D-E1A111EFC33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76ECB09-B097-5530-3BC7-4BF8062B27E2}"/>
              </a:ext>
            </a:extLst>
          </p:cNvPr>
          <p:cNvSpPr>
            <a:spLocks noGrp="1"/>
          </p:cNvSpPr>
          <p:nvPr>
            <p:ph type="title"/>
          </p:nvPr>
        </p:nvSpPr>
        <p:spPr/>
        <p:txBody>
          <a:bodyPr/>
          <a:lstStyle/>
          <a:p>
            <a:r>
              <a:rPr lang="en-US" dirty="0"/>
              <a:t>Q2b – write the model in GAMS</a:t>
            </a:r>
          </a:p>
        </p:txBody>
      </p:sp>
      <p:sp>
        <p:nvSpPr>
          <p:cNvPr id="3" name="Content Placeholder 2">
            <a:extLst>
              <a:ext uri="{FF2B5EF4-FFF2-40B4-BE49-F238E27FC236}">
                <a16:creationId xmlns:a16="http://schemas.microsoft.com/office/drawing/2014/main" id="{6B610D49-3F7A-600E-48D6-C9666F069639}"/>
              </a:ext>
            </a:extLst>
          </p:cNvPr>
          <p:cNvSpPr>
            <a:spLocks noGrp="1"/>
          </p:cNvSpPr>
          <p:nvPr>
            <p:ph idx="1"/>
          </p:nvPr>
        </p:nvSpPr>
        <p:spPr/>
        <p:txBody>
          <a:bodyPr>
            <a:normAutofit/>
          </a:bodyPr>
          <a:lstStyle/>
          <a:p>
            <a:pPr marL="0" indent="0">
              <a:buNone/>
            </a:pPr>
            <a:r>
              <a:rPr lang="en-US" dirty="0"/>
              <a:t>Starting with [repo]/HW1/</a:t>
            </a:r>
            <a:r>
              <a:rPr lang="en-US" dirty="0" err="1"/>
              <a:t>junes_jellybeans.gms</a:t>
            </a:r>
            <a:endParaRPr lang="en-US" dirty="0"/>
          </a:p>
          <a:p>
            <a:pPr marL="0" indent="0">
              <a:buNone/>
            </a:pPr>
            <a:endParaRPr lang="en-US" dirty="0"/>
          </a:p>
          <a:p>
            <a:pPr marL="0" indent="0">
              <a:buNone/>
            </a:pPr>
            <a:endParaRPr lang="en-US" dirty="0"/>
          </a:p>
        </p:txBody>
      </p:sp>
    </p:spTree>
    <p:extLst>
      <p:ext uri="{BB962C8B-B14F-4D97-AF65-F5344CB8AC3E}">
        <p14:creationId xmlns:p14="http://schemas.microsoft.com/office/powerpoint/2010/main" val="248128813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ECC63D-D9F6-E31D-C15B-B081787C6EE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1985D0D-0347-3321-7F5B-FB8F2E31C947}"/>
              </a:ext>
            </a:extLst>
          </p:cNvPr>
          <p:cNvSpPr>
            <a:spLocks noGrp="1"/>
          </p:cNvSpPr>
          <p:nvPr>
            <p:ph type="title"/>
          </p:nvPr>
        </p:nvSpPr>
        <p:spPr/>
        <p:txBody>
          <a:bodyPr/>
          <a:lstStyle/>
          <a:p>
            <a:r>
              <a:rPr lang="en-US" dirty="0"/>
              <a:t>Q2c – Maximum deviation</a:t>
            </a:r>
          </a:p>
        </p:txBody>
      </p:sp>
      <p:sp>
        <p:nvSpPr>
          <p:cNvPr id="3" name="Content Placeholder 2">
            <a:extLst>
              <a:ext uri="{FF2B5EF4-FFF2-40B4-BE49-F238E27FC236}">
                <a16:creationId xmlns:a16="http://schemas.microsoft.com/office/drawing/2014/main" id="{8EE960B5-8AFB-26A5-056A-D63716953904}"/>
              </a:ext>
            </a:extLst>
          </p:cNvPr>
          <p:cNvSpPr>
            <a:spLocks noGrp="1"/>
          </p:cNvSpPr>
          <p:nvPr>
            <p:ph idx="1"/>
          </p:nvPr>
        </p:nvSpPr>
        <p:spPr/>
        <p:txBody>
          <a:bodyPr>
            <a:normAutofit/>
          </a:bodyPr>
          <a:lstStyle/>
          <a:p>
            <a:pPr marL="0" marR="0" lvl="0" indent="0">
              <a:spcBef>
                <a:spcPts val="0"/>
              </a:spcBef>
              <a:spcAft>
                <a:spcPts val="0"/>
              </a:spcAft>
              <a:buNone/>
            </a:pPr>
            <a:r>
              <a:rPr lang="en-US" sz="2400" kern="100" dirty="0">
                <a:effectLst/>
                <a:latin typeface="Aptos" panose="020B0004020202020204" pitchFamily="34" charset="0"/>
                <a:ea typeface="Aptos" panose="020B0004020202020204" pitchFamily="34" charset="0"/>
                <a:cs typeface="Times New Roman" panose="02020603050405020304" pitchFamily="18" charset="0"/>
              </a:rPr>
              <a:t>Now, June must produce jellybeans in nearly equal amounts. For all jellybean colors, there can only be 5% deviation across all production amounts relative to other colors. For example, if June produces 100 green jellybeans, she has to produce between 95 and 105 orange jellybeans. If she produces 105 orange jellybeans, she has to produce between (0.95 * 105 =) 99.75 and (1.05 * 105 =) 110.25 yellow jellybeans.</a:t>
            </a:r>
          </a:p>
          <a:p>
            <a:pPr marL="0" indent="0">
              <a:buNone/>
            </a:pPr>
            <a:endParaRPr lang="en-US" sz="3600" dirty="0"/>
          </a:p>
          <a:p>
            <a:pPr marL="0" indent="0">
              <a:buNone/>
            </a:pPr>
            <a:endParaRPr lang="en-US" sz="3600" dirty="0"/>
          </a:p>
        </p:txBody>
      </p:sp>
    </p:spTree>
    <p:extLst>
      <p:ext uri="{BB962C8B-B14F-4D97-AF65-F5344CB8AC3E}">
        <p14:creationId xmlns:p14="http://schemas.microsoft.com/office/powerpoint/2010/main" val="121777667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8FB1DC-9CA4-6690-7806-DF69525F641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92D7368-E6BB-9D92-1249-439B1E7360CB}"/>
              </a:ext>
            </a:extLst>
          </p:cNvPr>
          <p:cNvSpPr>
            <a:spLocks noGrp="1"/>
          </p:cNvSpPr>
          <p:nvPr>
            <p:ph type="title"/>
          </p:nvPr>
        </p:nvSpPr>
        <p:spPr/>
        <p:txBody>
          <a:bodyPr/>
          <a:lstStyle/>
          <a:p>
            <a:r>
              <a:rPr lang="en-US" dirty="0"/>
              <a:t>Q2c – Maximum deviation</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B56EE594-D2FC-26A6-88C2-F41E1E5F610B}"/>
                  </a:ext>
                </a:extLst>
              </p:cNvPr>
              <p:cNvSpPr>
                <a:spLocks noGrp="1"/>
              </p:cNvSpPr>
              <p:nvPr>
                <p:ph idx="1"/>
              </p:nvPr>
            </p:nvSpPr>
            <p:spPr/>
            <p:txBody>
              <a:bodyPr>
                <a:normAutofit fontScale="85000" lnSpcReduction="20000"/>
              </a:bodyPr>
              <a:lstStyle/>
              <a:p>
                <a:pPr marL="0" indent="0">
                  <a:buNone/>
                </a:pPr>
                <a:r>
                  <a:rPr lang="en-US" sz="3600" b="1" dirty="0"/>
                  <a:t>New parameter:</a:t>
                </a:r>
              </a:p>
              <a:p>
                <a:pPr marL="0" indent="0">
                  <a:buNone/>
                </a:pPr>
                <a14:m>
                  <m:oMath xmlns:m="http://schemas.openxmlformats.org/officeDocument/2006/math">
                    <m:r>
                      <a:rPr lang="en-US" sz="3600" b="0" i="1" smtClean="0">
                        <a:latin typeface="Cambria Math" panose="02040503050406030204" pitchFamily="18" charset="0"/>
                      </a:rPr>
                      <m:t>𝛿</m:t>
                    </m:r>
                  </m:oMath>
                </a14:m>
                <a:r>
                  <a:rPr lang="en-US" sz="3600" dirty="0"/>
                  <a:t>: maximum deviation (assumed at 5%)</a:t>
                </a:r>
              </a:p>
              <a:p>
                <a:pPr marL="0" indent="0">
                  <a:buNone/>
                </a:pPr>
                <a:endParaRPr lang="en-US" sz="3600" dirty="0"/>
              </a:p>
              <a:p>
                <a:pPr marL="0" indent="0">
                  <a:buNone/>
                </a:pPr>
                <a:r>
                  <a:rPr lang="en-US" sz="3600" b="1" dirty="0"/>
                  <a:t>New constraints</a:t>
                </a:r>
                <a:r>
                  <a:rPr lang="en-US" sz="3600" dirty="0"/>
                  <a:t>:</a:t>
                </a:r>
              </a:p>
              <a:p>
                <a:pPr marL="0" indent="0">
                  <a:buNone/>
                </a:pPr>
                <a14:m>
                  <m:oMathPara xmlns:m="http://schemas.openxmlformats.org/officeDocument/2006/math">
                    <m:oMathParaPr>
                      <m:jc m:val="centerGroup"/>
                    </m:oMathParaPr>
                    <m:oMath xmlns:m="http://schemas.openxmlformats.org/officeDocument/2006/math">
                      <m:nary>
                        <m:naryPr>
                          <m:chr m:val="∑"/>
                          <m:supHide m:val="on"/>
                          <m:ctrlPr>
                            <a:rPr lang="en-US" sz="3600" b="0" i="1" smtClean="0">
                              <a:latin typeface="Cambria Math" panose="02040503050406030204" pitchFamily="18" charset="0"/>
                            </a:rPr>
                          </m:ctrlPr>
                        </m:naryPr>
                        <m:sub>
                          <m:r>
                            <a:rPr lang="en-US" sz="3600" b="0" i="1" smtClean="0">
                              <a:latin typeface="Cambria Math" panose="02040503050406030204" pitchFamily="18" charset="0"/>
                            </a:rPr>
                            <m:t>𝑖</m:t>
                          </m:r>
                          <m:r>
                            <a:rPr lang="en-US" sz="3600" b="0" i="1" smtClean="0">
                              <a:latin typeface="Cambria Math" panose="02040503050406030204" pitchFamily="18" charset="0"/>
                            </a:rPr>
                            <m:t>∈</m:t>
                          </m:r>
                          <m:r>
                            <a:rPr lang="en-US" sz="3600" b="0" i="1" smtClean="0">
                              <a:latin typeface="Cambria Math" panose="02040503050406030204" pitchFamily="18" charset="0"/>
                            </a:rPr>
                            <m:t>𝑣</m:t>
                          </m:r>
                        </m:sub>
                        <m:sup/>
                        <m:e>
                          <m:sSub>
                            <m:sSubPr>
                              <m:ctrlPr>
                                <a:rPr lang="en-US" sz="3600" b="0" i="1" smtClean="0">
                                  <a:latin typeface="Cambria Math" panose="02040503050406030204" pitchFamily="18" charset="0"/>
                                </a:rPr>
                              </m:ctrlPr>
                            </m:sSubPr>
                            <m:e>
                              <m:r>
                                <a:rPr lang="en-US" sz="3600" b="0" i="1" smtClean="0">
                                  <a:latin typeface="Cambria Math" panose="02040503050406030204" pitchFamily="18" charset="0"/>
                                </a:rPr>
                                <m:t>𝑋</m:t>
                              </m:r>
                            </m:e>
                            <m:sub>
                              <m:r>
                                <a:rPr lang="en-US" sz="3600" b="0" i="1" smtClean="0">
                                  <a:latin typeface="Cambria Math" panose="02040503050406030204" pitchFamily="18" charset="0"/>
                                </a:rPr>
                                <m:t>𝑖</m:t>
                              </m:r>
                              <m:r>
                                <a:rPr lang="en-US" sz="3600" b="0" i="1" smtClean="0">
                                  <a:latin typeface="Cambria Math" panose="02040503050406030204" pitchFamily="18" charset="0"/>
                                </a:rPr>
                                <m:t>,</m:t>
                              </m:r>
                              <m:r>
                                <a:rPr lang="en-US" sz="3600" b="0" i="1" smtClean="0">
                                  <a:latin typeface="Cambria Math" panose="02040503050406030204" pitchFamily="18" charset="0"/>
                                </a:rPr>
                                <m:t>𝑗</m:t>
                              </m:r>
                            </m:sub>
                          </m:sSub>
                        </m:e>
                      </m:nary>
                      <m:r>
                        <a:rPr lang="en-US" sz="3600" b="0" i="1" smtClean="0">
                          <a:latin typeface="Cambria Math" panose="02040503050406030204" pitchFamily="18" charset="0"/>
                        </a:rPr>
                        <m:t>≥</m:t>
                      </m:r>
                      <m:d>
                        <m:dPr>
                          <m:ctrlPr>
                            <a:rPr lang="en-US" sz="3600" b="0" i="1" smtClean="0">
                              <a:latin typeface="Cambria Math" panose="02040503050406030204" pitchFamily="18" charset="0"/>
                            </a:rPr>
                          </m:ctrlPr>
                        </m:dPr>
                        <m:e>
                          <m:r>
                            <a:rPr lang="en-US" sz="3600" b="0" i="1" smtClean="0">
                              <a:latin typeface="Cambria Math" panose="02040503050406030204" pitchFamily="18" charset="0"/>
                            </a:rPr>
                            <m:t>1−</m:t>
                          </m:r>
                          <m:r>
                            <a:rPr lang="en-US" sz="3600" b="0" i="1" smtClean="0">
                              <a:latin typeface="Cambria Math" panose="02040503050406030204" pitchFamily="18" charset="0"/>
                            </a:rPr>
                            <m:t>𝛿</m:t>
                          </m:r>
                        </m:e>
                      </m:d>
                      <m:nary>
                        <m:naryPr>
                          <m:chr m:val="∑"/>
                          <m:supHide m:val="on"/>
                          <m:ctrlPr>
                            <a:rPr lang="en-US" sz="3600" b="0" i="1" smtClean="0">
                              <a:latin typeface="Cambria Math" panose="02040503050406030204" pitchFamily="18" charset="0"/>
                            </a:rPr>
                          </m:ctrlPr>
                        </m:naryPr>
                        <m:sub>
                          <m:r>
                            <a:rPr lang="en-US" sz="3600" b="0" i="1" smtClean="0">
                              <a:latin typeface="Cambria Math" panose="02040503050406030204" pitchFamily="18" charset="0"/>
                            </a:rPr>
                            <m:t>𝑖</m:t>
                          </m:r>
                          <m:r>
                            <a:rPr lang="en-US" sz="3600" b="0" i="1" smtClean="0">
                              <a:latin typeface="Cambria Math" panose="02040503050406030204" pitchFamily="18" charset="0"/>
                            </a:rPr>
                            <m:t>∈</m:t>
                          </m:r>
                          <m:r>
                            <a:rPr lang="en-US" sz="3600" b="0" i="1" smtClean="0">
                              <a:latin typeface="Cambria Math" panose="02040503050406030204" pitchFamily="18" charset="0"/>
                            </a:rPr>
                            <m:t>𝑣</m:t>
                          </m:r>
                        </m:sub>
                        <m:sup/>
                        <m:e>
                          <m:sSub>
                            <m:sSubPr>
                              <m:ctrlPr>
                                <a:rPr lang="en-US" sz="3600" b="0" i="1" smtClean="0">
                                  <a:latin typeface="Cambria Math" panose="02040503050406030204" pitchFamily="18" charset="0"/>
                                </a:rPr>
                              </m:ctrlPr>
                            </m:sSubPr>
                            <m:e>
                              <m:r>
                                <a:rPr lang="en-US" sz="3600" b="0" i="1" smtClean="0">
                                  <a:latin typeface="Cambria Math" panose="02040503050406030204" pitchFamily="18" charset="0"/>
                                </a:rPr>
                                <m:t>𝑋</m:t>
                              </m:r>
                            </m:e>
                            <m:sub>
                              <m:r>
                                <a:rPr lang="en-US" sz="3600" b="0" i="1" smtClean="0">
                                  <a:latin typeface="Cambria Math" panose="02040503050406030204" pitchFamily="18" charset="0"/>
                                </a:rPr>
                                <m:t>𝑖</m:t>
                              </m:r>
                              <m:r>
                                <a:rPr lang="en-US" sz="3600" b="0" i="1" smtClean="0">
                                  <a:latin typeface="Cambria Math" panose="02040503050406030204" pitchFamily="18" charset="0"/>
                                </a:rPr>
                                <m:t>,</m:t>
                              </m:r>
                              <m:sSup>
                                <m:sSupPr>
                                  <m:ctrlPr>
                                    <a:rPr lang="en-US" sz="3600" b="0" i="1" smtClean="0">
                                      <a:latin typeface="Cambria Math" panose="02040503050406030204" pitchFamily="18" charset="0"/>
                                    </a:rPr>
                                  </m:ctrlPr>
                                </m:sSupPr>
                                <m:e>
                                  <m:r>
                                    <a:rPr lang="en-US" sz="3600" b="0" i="1" smtClean="0">
                                      <a:latin typeface="Cambria Math" panose="02040503050406030204" pitchFamily="18" charset="0"/>
                                    </a:rPr>
                                    <m:t>𝑗</m:t>
                                  </m:r>
                                </m:e>
                                <m:sup>
                                  <m:r>
                                    <a:rPr lang="en-US" sz="3600" b="0" i="1" smtClean="0">
                                      <a:latin typeface="Cambria Math" panose="02040503050406030204" pitchFamily="18" charset="0"/>
                                    </a:rPr>
                                    <m:t>′</m:t>
                                  </m:r>
                                </m:sup>
                              </m:sSup>
                            </m:sub>
                          </m:sSub>
                        </m:e>
                      </m:nary>
                      <m:r>
                        <a:rPr lang="en-US" sz="3600" b="0" i="1" smtClean="0">
                          <a:latin typeface="Cambria Math" panose="02040503050406030204" pitchFamily="18" charset="0"/>
                        </a:rPr>
                        <m:t>∀ </m:t>
                      </m:r>
                      <m:r>
                        <a:rPr lang="en-US" sz="3600" b="0" i="1" smtClean="0">
                          <a:latin typeface="Cambria Math" panose="02040503050406030204" pitchFamily="18" charset="0"/>
                        </a:rPr>
                        <m:t>𝑗</m:t>
                      </m:r>
                      <m:r>
                        <a:rPr lang="en-US" sz="3600" b="0" i="1" smtClean="0">
                          <a:latin typeface="Cambria Math" panose="02040503050406030204" pitchFamily="18" charset="0"/>
                        </a:rPr>
                        <m:t>≠</m:t>
                      </m:r>
                      <m:r>
                        <a:rPr lang="en-US" sz="3600" b="0" i="1" smtClean="0">
                          <a:latin typeface="Cambria Math" panose="02040503050406030204" pitchFamily="18" charset="0"/>
                        </a:rPr>
                        <m:t>𝑗</m:t>
                      </m:r>
                      <m:r>
                        <a:rPr lang="en-US" sz="3600" b="0" i="1" smtClean="0">
                          <a:latin typeface="Cambria Math" panose="02040503050406030204" pitchFamily="18" charset="0"/>
                        </a:rPr>
                        <m:t>′</m:t>
                      </m:r>
                    </m:oMath>
                  </m:oMathPara>
                </a14:m>
                <a:endParaRPr lang="en-US" sz="3600" dirty="0"/>
              </a:p>
              <a:p>
                <a:pPr marL="0" indent="0">
                  <a:buNone/>
                </a:pPr>
                <a:endParaRPr lang="en-US" sz="3600" dirty="0"/>
              </a:p>
              <a:p>
                <a:pPr marL="0" indent="0">
                  <a:buNone/>
                </a:pPr>
                <a14:m>
                  <m:oMathPara xmlns:m="http://schemas.openxmlformats.org/officeDocument/2006/math">
                    <m:oMathParaPr>
                      <m:jc m:val="centerGroup"/>
                    </m:oMathParaPr>
                    <m:oMath xmlns:m="http://schemas.openxmlformats.org/officeDocument/2006/math">
                      <m:d>
                        <m:dPr>
                          <m:ctrlPr>
                            <a:rPr lang="en-US" sz="3600" b="0" i="1" smtClean="0">
                              <a:latin typeface="Cambria Math" panose="02040503050406030204" pitchFamily="18" charset="0"/>
                            </a:rPr>
                          </m:ctrlPr>
                        </m:dPr>
                        <m:e>
                          <m:r>
                            <a:rPr lang="en-US" sz="3600" b="0" i="1" smtClean="0">
                              <a:latin typeface="Cambria Math" panose="02040503050406030204" pitchFamily="18" charset="0"/>
                            </a:rPr>
                            <m:t>1+</m:t>
                          </m:r>
                          <m:r>
                            <a:rPr lang="en-US" sz="3600" b="0" i="1" smtClean="0">
                              <a:latin typeface="Cambria Math" panose="02040503050406030204" pitchFamily="18" charset="0"/>
                            </a:rPr>
                            <m:t>𝛿</m:t>
                          </m:r>
                        </m:e>
                      </m:d>
                      <m:nary>
                        <m:naryPr>
                          <m:chr m:val="∑"/>
                          <m:supHide m:val="on"/>
                          <m:ctrlPr>
                            <a:rPr lang="en-US" sz="3600" b="0" i="1" smtClean="0">
                              <a:latin typeface="Cambria Math" panose="02040503050406030204" pitchFamily="18" charset="0"/>
                            </a:rPr>
                          </m:ctrlPr>
                        </m:naryPr>
                        <m:sub>
                          <m:r>
                            <a:rPr lang="en-US" sz="3600" b="0" i="1" smtClean="0">
                              <a:latin typeface="Cambria Math" panose="02040503050406030204" pitchFamily="18" charset="0"/>
                            </a:rPr>
                            <m:t>𝑖</m:t>
                          </m:r>
                          <m:r>
                            <a:rPr lang="en-US" sz="3600" b="0" i="1" smtClean="0">
                              <a:latin typeface="Cambria Math" panose="02040503050406030204" pitchFamily="18" charset="0"/>
                            </a:rPr>
                            <m:t>∈</m:t>
                          </m:r>
                          <m:r>
                            <a:rPr lang="en-US" sz="3600" b="0" i="1" smtClean="0">
                              <a:latin typeface="Cambria Math" panose="02040503050406030204" pitchFamily="18" charset="0"/>
                            </a:rPr>
                            <m:t>𝑣</m:t>
                          </m:r>
                        </m:sub>
                        <m:sup/>
                        <m:e>
                          <m:sSub>
                            <m:sSubPr>
                              <m:ctrlPr>
                                <a:rPr lang="en-US" sz="3600" b="0" i="1" smtClean="0">
                                  <a:latin typeface="Cambria Math" panose="02040503050406030204" pitchFamily="18" charset="0"/>
                                </a:rPr>
                              </m:ctrlPr>
                            </m:sSubPr>
                            <m:e>
                              <m:r>
                                <a:rPr lang="en-US" sz="3600" b="0" i="1" smtClean="0">
                                  <a:latin typeface="Cambria Math" panose="02040503050406030204" pitchFamily="18" charset="0"/>
                                </a:rPr>
                                <m:t>𝑋</m:t>
                              </m:r>
                            </m:e>
                            <m:sub>
                              <m:r>
                                <a:rPr lang="en-US" sz="3600" b="0" i="1" smtClean="0">
                                  <a:latin typeface="Cambria Math" panose="02040503050406030204" pitchFamily="18" charset="0"/>
                                </a:rPr>
                                <m:t>𝑖</m:t>
                              </m:r>
                              <m:r>
                                <a:rPr lang="en-US" sz="3600" b="0" i="1" smtClean="0">
                                  <a:latin typeface="Cambria Math" panose="02040503050406030204" pitchFamily="18" charset="0"/>
                                </a:rPr>
                                <m:t>,</m:t>
                              </m:r>
                              <m:sSup>
                                <m:sSupPr>
                                  <m:ctrlPr>
                                    <a:rPr lang="en-US" sz="3600" b="0" i="1" smtClean="0">
                                      <a:latin typeface="Cambria Math" panose="02040503050406030204" pitchFamily="18" charset="0"/>
                                    </a:rPr>
                                  </m:ctrlPr>
                                </m:sSupPr>
                                <m:e>
                                  <m:r>
                                    <a:rPr lang="en-US" sz="3600" b="0" i="1" smtClean="0">
                                      <a:latin typeface="Cambria Math" panose="02040503050406030204" pitchFamily="18" charset="0"/>
                                    </a:rPr>
                                    <m:t>𝑗</m:t>
                                  </m:r>
                                </m:e>
                                <m:sup>
                                  <m:r>
                                    <a:rPr lang="en-US" sz="3600" b="0" i="1" smtClean="0">
                                      <a:latin typeface="Cambria Math" panose="02040503050406030204" pitchFamily="18" charset="0"/>
                                    </a:rPr>
                                    <m:t>′</m:t>
                                  </m:r>
                                </m:sup>
                              </m:sSup>
                            </m:sub>
                          </m:sSub>
                        </m:e>
                      </m:nary>
                      <m:r>
                        <a:rPr lang="en-US" sz="3600" b="0" i="1" smtClean="0">
                          <a:latin typeface="Cambria Math" panose="02040503050406030204" pitchFamily="18" charset="0"/>
                        </a:rPr>
                        <m:t>≥</m:t>
                      </m:r>
                      <m:nary>
                        <m:naryPr>
                          <m:chr m:val="∑"/>
                          <m:supHide m:val="on"/>
                          <m:ctrlPr>
                            <a:rPr lang="en-US" sz="3600" i="1">
                              <a:latin typeface="Cambria Math" panose="02040503050406030204" pitchFamily="18" charset="0"/>
                            </a:rPr>
                          </m:ctrlPr>
                        </m:naryPr>
                        <m:sub>
                          <m:r>
                            <a:rPr lang="en-US" sz="3600" i="1">
                              <a:latin typeface="Cambria Math" panose="02040503050406030204" pitchFamily="18" charset="0"/>
                            </a:rPr>
                            <m:t>𝑖</m:t>
                          </m:r>
                          <m:r>
                            <a:rPr lang="en-US" sz="3600" b="0" i="1" smtClean="0">
                              <a:latin typeface="Cambria Math" panose="02040503050406030204" pitchFamily="18" charset="0"/>
                            </a:rPr>
                            <m:t>∈</m:t>
                          </m:r>
                          <m:r>
                            <a:rPr lang="en-US" sz="3600" b="0" i="1" smtClean="0">
                              <a:latin typeface="Cambria Math" panose="02040503050406030204" pitchFamily="18" charset="0"/>
                            </a:rPr>
                            <m:t>𝑣</m:t>
                          </m:r>
                        </m:sub>
                        <m:sup/>
                        <m:e>
                          <m:sSub>
                            <m:sSubPr>
                              <m:ctrlPr>
                                <a:rPr lang="en-US" sz="3600" i="1">
                                  <a:latin typeface="Cambria Math" panose="02040503050406030204" pitchFamily="18" charset="0"/>
                                </a:rPr>
                              </m:ctrlPr>
                            </m:sSubPr>
                            <m:e>
                              <m:r>
                                <a:rPr lang="en-US" sz="3600" i="1">
                                  <a:latin typeface="Cambria Math" panose="02040503050406030204" pitchFamily="18" charset="0"/>
                                </a:rPr>
                                <m:t>𝑋</m:t>
                              </m:r>
                            </m:e>
                            <m:sub>
                              <m:r>
                                <a:rPr lang="en-US" sz="3600" i="1">
                                  <a:latin typeface="Cambria Math" panose="02040503050406030204" pitchFamily="18" charset="0"/>
                                </a:rPr>
                                <m:t>𝑖</m:t>
                              </m:r>
                              <m:r>
                                <a:rPr lang="en-US" sz="3600" i="1">
                                  <a:latin typeface="Cambria Math" panose="02040503050406030204" pitchFamily="18" charset="0"/>
                                </a:rPr>
                                <m:t>,</m:t>
                              </m:r>
                              <m:r>
                                <a:rPr lang="en-US" sz="3600" b="0" i="1" smtClean="0">
                                  <a:latin typeface="Cambria Math" panose="02040503050406030204" pitchFamily="18" charset="0"/>
                                </a:rPr>
                                <m:t>𝑗</m:t>
                              </m:r>
                            </m:sub>
                          </m:sSub>
                        </m:e>
                      </m:nary>
                      <m:r>
                        <a:rPr lang="en-US" sz="3600" b="0" i="1" smtClean="0">
                          <a:latin typeface="Cambria Math" panose="02040503050406030204" pitchFamily="18" charset="0"/>
                        </a:rPr>
                        <m:t>∀ </m:t>
                      </m:r>
                      <m:r>
                        <a:rPr lang="en-US" sz="3600" b="0" i="1" smtClean="0">
                          <a:latin typeface="Cambria Math" panose="02040503050406030204" pitchFamily="18" charset="0"/>
                        </a:rPr>
                        <m:t>𝑗</m:t>
                      </m:r>
                      <m:r>
                        <a:rPr lang="en-US" sz="3600" b="0" i="1" smtClean="0">
                          <a:latin typeface="Cambria Math" panose="02040503050406030204" pitchFamily="18" charset="0"/>
                        </a:rPr>
                        <m:t>≠</m:t>
                      </m:r>
                      <m:r>
                        <a:rPr lang="en-US" sz="3600" b="0" i="1" smtClean="0">
                          <a:latin typeface="Cambria Math" panose="02040503050406030204" pitchFamily="18" charset="0"/>
                        </a:rPr>
                        <m:t>𝑗</m:t>
                      </m:r>
                      <m:r>
                        <a:rPr lang="en-US" sz="3600" b="0" i="1" smtClean="0">
                          <a:latin typeface="Cambria Math" panose="02040503050406030204" pitchFamily="18" charset="0"/>
                        </a:rPr>
                        <m:t>′</m:t>
                      </m:r>
                    </m:oMath>
                  </m:oMathPara>
                </a14:m>
                <a:endParaRPr lang="en-US" sz="3600" dirty="0"/>
              </a:p>
              <a:p>
                <a:pPr marL="0" indent="0">
                  <a:buNone/>
                </a:pPr>
                <a:endParaRPr lang="en-US" sz="3600" dirty="0"/>
              </a:p>
              <a:p>
                <a:pPr marL="0" indent="0">
                  <a:buNone/>
                </a:pPr>
                <a:endParaRPr lang="en-US" sz="3600" dirty="0"/>
              </a:p>
            </p:txBody>
          </p:sp>
        </mc:Choice>
        <mc:Fallback>
          <p:sp>
            <p:nvSpPr>
              <p:cNvPr id="3" name="Content Placeholder 2">
                <a:extLst>
                  <a:ext uri="{FF2B5EF4-FFF2-40B4-BE49-F238E27FC236}">
                    <a16:creationId xmlns:a16="http://schemas.microsoft.com/office/drawing/2014/main" id="{B56EE594-D2FC-26A6-88C2-F41E1E5F610B}"/>
                  </a:ext>
                </a:extLst>
              </p:cNvPr>
              <p:cNvSpPr>
                <a:spLocks noGrp="1" noRot="1" noChangeAspect="1" noMove="1" noResize="1" noEditPoints="1" noAdjustHandles="1" noChangeArrowheads="1" noChangeShapeType="1" noTextEdit="1"/>
              </p:cNvSpPr>
              <p:nvPr>
                <p:ph idx="1"/>
              </p:nvPr>
            </p:nvSpPr>
            <p:spPr>
              <a:blipFill>
                <a:blip r:embed="rId2"/>
                <a:stretch>
                  <a:fillRect l="-1448" t="-4360" b="-53488"/>
                </a:stretch>
              </a:blipFill>
            </p:spPr>
            <p:txBody>
              <a:bodyPr/>
              <a:lstStyle/>
              <a:p>
                <a:r>
                  <a:rPr lang="en-US">
                    <a:noFill/>
                  </a:rPr>
                  <a:t> </a:t>
                </a:r>
              </a:p>
            </p:txBody>
          </p:sp>
        </mc:Fallback>
      </mc:AlternateContent>
    </p:spTree>
    <p:extLst>
      <p:ext uri="{BB962C8B-B14F-4D97-AF65-F5344CB8AC3E}">
        <p14:creationId xmlns:p14="http://schemas.microsoft.com/office/powerpoint/2010/main" val="223369777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BDFD35-1005-EEB5-34D5-F8D226B8BE5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D6DA49C-C5D7-6027-6165-42F7109D0D35}"/>
              </a:ext>
            </a:extLst>
          </p:cNvPr>
          <p:cNvSpPr>
            <a:spLocks noGrp="1"/>
          </p:cNvSpPr>
          <p:nvPr>
            <p:ph type="title"/>
          </p:nvPr>
        </p:nvSpPr>
        <p:spPr/>
        <p:txBody>
          <a:bodyPr/>
          <a:lstStyle/>
          <a:p>
            <a:r>
              <a:rPr lang="en-US" dirty="0"/>
              <a:t>Q2d – Conditional on production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BF0CE0BB-F5A4-6F57-5270-C35D97D5FB9B}"/>
                  </a:ext>
                </a:extLst>
              </p:cNvPr>
              <p:cNvSpPr>
                <a:spLocks noGrp="1"/>
              </p:cNvSpPr>
              <p:nvPr>
                <p:ph idx="1"/>
              </p:nvPr>
            </p:nvSpPr>
            <p:spPr/>
            <p:txBody>
              <a:bodyPr>
                <a:normAutofit/>
              </a:bodyPr>
              <a:lstStyle/>
              <a:p>
                <a:pPr marL="0" marR="0" lvl="0" indent="0">
                  <a:spcBef>
                    <a:spcPts val="0"/>
                  </a:spcBef>
                  <a:spcAft>
                    <a:spcPts val="0"/>
                  </a:spcAft>
                  <a:buNone/>
                </a:pPr>
                <a:r>
                  <a:rPr lang="en-US" kern="100" dirty="0">
                    <a:effectLst/>
                    <a:latin typeface="Aptos" panose="020B0004020202020204" pitchFamily="34" charset="0"/>
                    <a:ea typeface="Aptos" panose="020B0004020202020204" pitchFamily="34" charset="0"/>
                    <a:cs typeface="Times New Roman" panose="02020603050405020304" pitchFamily="18" charset="0"/>
                  </a:rPr>
                  <a:t>Now, in addition to part </a:t>
                </a:r>
                <a:r>
                  <a:rPr lang="en-US" i="1" kern="100" dirty="0">
                    <a:effectLst/>
                    <a:latin typeface="Aptos" panose="020B0004020202020204" pitchFamily="34" charset="0"/>
                    <a:ea typeface="Aptos" panose="020B0004020202020204" pitchFamily="34" charset="0"/>
                    <a:cs typeface="Times New Roman" panose="02020603050405020304" pitchFamily="18" charset="0"/>
                  </a:rPr>
                  <a:t>b</a:t>
                </a:r>
                <a:r>
                  <a:rPr lang="en-US" kern="100" dirty="0">
                    <a:effectLst/>
                    <a:latin typeface="Aptos" panose="020B0004020202020204" pitchFamily="34" charset="0"/>
                    <a:ea typeface="Aptos" panose="020B0004020202020204" pitchFamily="34" charset="0"/>
                    <a:cs typeface="Times New Roman" panose="02020603050405020304" pitchFamily="18" charset="0"/>
                  </a:rPr>
                  <a:t>, the first machine only produces yellow, blue, and green jellybeans. The second machine only produces yellow, orange, and purple jellybeans.  </a:t>
                </a:r>
              </a:p>
              <a:p>
                <a:pPr marL="0" marR="0" lvl="0" indent="0">
                  <a:spcBef>
                    <a:spcPts val="0"/>
                  </a:spcBef>
                  <a:spcAft>
                    <a:spcPts val="0"/>
                  </a:spcAft>
                  <a:buNone/>
                </a:pPr>
                <a:endParaRPr lang="en-US" kern="100" dirty="0">
                  <a:effectLst/>
                  <a:latin typeface="Aptos" panose="020B0004020202020204" pitchFamily="34" charset="0"/>
                  <a:ea typeface="Aptos" panose="020B0004020202020204" pitchFamily="34" charset="0"/>
                  <a:cs typeface="Times New Roman" panose="02020603050405020304" pitchFamily="18" charset="0"/>
                </a:endParaRPr>
              </a:p>
              <a:p>
                <a:pPr marL="0" marR="0" lvl="0" indent="0">
                  <a:spcBef>
                    <a:spcPts val="0"/>
                  </a:spcBef>
                  <a:spcAft>
                    <a:spcPts val="0"/>
                  </a:spcAft>
                  <a:buNone/>
                </a:pPr>
                <a:r>
                  <a:rPr lang="en-US" kern="100" dirty="0">
                    <a:effectLst/>
                    <a:latin typeface="Aptos" panose="020B0004020202020204" pitchFamily="34" charset="0"/>
                    <a:ea typeface="Aptos" panose="020B0004020202020204" pitchFamily="34" charset="0"/>
                    <a:cs typeface="Times New Roman" panose="02020603050405020304" pitchFamily="18" charset="0"/>
                  </a:rPr>
                  <a:t>How does June’s production profile and profits change with this restriction?</a:t>
                </a:r>
              </a:p>
              <a:p>
                <a:pPr marL="0" marR="0" lvl="0" indent="0">
                  <a:spcBef>
                    <a:spcPts val="0"/>
                  </a:spcBef>
                  <a:spcAft>
                    <a:spcPts val="0"/>
                  </a:spcAft>
                  <a:buNone/>
                </a:pPr>
                <a:endParaRPr lang="en-US" kern="100" dirty="0">
                  <a:latin typeface="Aptos" panose="020B0004020202020204" pitchFamily="34" charset="0"/>
                  <a:ea typeface="Aptos" panose="020B0004020202020204" pitchFamily="34" charset="0"/>
                  <a:cs typeface="Times New Roman" panose="02020603050405020304" pitchFamily="18" charset="0"/>
                </a:endParaRPr>
              </a:p>
              <a:p>
                <a:pPr marL="0" marR="0" lvl="0" indent="0">
                  <a:spcBef>
                    <a:spcPts val="0"/>
                  </a:spcBef>
                  <a:spcAft>
                    <a:spcPts val="0"/>
                  </a:spcAft>
                  <a:buNone/>
                </a:pPr>
                <a:r>
                  <a:rPr lang="en-US" b="1" i="1" kern="100" dirty="0">
                    <a:effectLst/>
                    <a:latin typeface="Aptos" panose="020B0004020202020204" pitchFamily="34" charset="0"/>
                    <a:ea typeface="Aptos" panose="020B0004020202020204" pitchFamily="34" charset="0"/>
                    <a:cs typeface="Times New Roman" panose="02020603050405020304" pitchFamily="18" charset="0"/>
                  </a:rPr>
                  <a:t>How to do this? </a:t>
                </a:r>
                <a:r>
                  <a:rPr lang="en-US" b="1" i="1" kern="100" dirty="0">
                    <a:latin typeface="Aptos" panose="020B0004020202020204" pitchFamily="34" charset="0"/>
                    <a:ea typeface="Aptos" panose="020B0004020202020204" pitchFamily="34" charset="0"/>
                    <a:cs typeface="Times New Roman" panose="02020603050405020304" pitchFamily="18" charset="0"/>
                  </a:rPr>
                  <a:t>Adjust the </a:t>
                </a:r>
                <a14:m>
                  <m:oMath xmlns:m="http://schemas.openxmlformats.org/officeDocument/2006/math">
                    <m:sSub>
                      <m:sSubPr>
                        <m:ctrlPr>
                          <a:rPr lang="en-US" b="1" i="1" kern="100" smtClean="0">
                            <a:latin typeface="Cambria Math" panose="02040503050406030204" pitchFamily="18" charset="0"/>
                            <a:ea typeface="Aptos" panose="020B0004020202020204" pitchFamily="34" charset="0"/>
                            <a:cs typeface="Times New Roman" panose="02020603050405020304" pitchFamily="18" charset="0"/>
                          </a:rPr>
                        </m:ctrlPr>
                      </m:sSubPr>
                      <m:e>
                        <m:r>
                          <a:rPr lang="en-US" b="1" i="1" kern="100" smtClean="0">
                            <a:latin typeface="Cambria Math" panose="02040503050406030204" pitchFamily="18" charset="0"/>
                            <a:ea typeface="Aptos" panose="020B0004020202020204" pitchFamily="34" charset="0"/>
                            <a:cs typeface="Times New Roman" panose="02020603050405020304" pitchFamily="18" charset="0"/>
                          </a:rPr>
                          <m:t>𝒗</m:t>
                        </m:r>
                      </m:e>
                      <m:sub>
                        <m:r>
                          <a:rPr lang="en-US" b="1" i="1" kern="100" smtClean="0">
                            <a:latin typeface="Cambria Math" panose="02040503050406030204" pitchFamily="18" charset="0"/>
                            <a:ea typeface="Aptos" panose="020B0004020202020204" pitchFamily="34" charset="0"/>
                            <a:cs typeface="Times New Roman" panose="02020603050405020304" pitchFamily="18" charset="0"/>
                          </a:rPr>
                          <m:t>𝒊</m:t>
                        </m:r>
                        <m:r>
                          <a:rPr lang="en-US" b="1" i="1" kern="100" smtClean="0">
                            <a:latin typeface="Cambria Math" panose="02040503050406030204" pitchFamily="18" charset="0"/>
                            <a:ea typeface="Aptos" panose="020B0004020202020204" pitchFamily="34" charset="0"/>
                            <a:cs typeface="Times New Roman" panose="02020603050405020304" pitchFamily="18" charset="0"/>
                          </a:rPr>
                          <m:t>,</m:t>
                        </m:r>
                        <m:r>
                          <a:rPr lang="en-US" b="1" i="1" kern="100" smtClean="0">
                            <a:latin typeface="Cambria Math" panose="02040503050406030204" pitchFamily="18" charset="0"/>
                            <a:ea typeface="Aptos" panose="020B0004020202020204" pitchFamily="34" charset="0"/>
                            <a:cs typeface="Times New Roman" panose="02020603050405020304" pitchFamily="18" charset="0"/>
                          </a:rPr>
                          <m:t>𝒋</m:t>
                        </m:r>
                      </m:sub>
                    </m:sSub>
                  </m:oMath>
                </a14:m>
                <a:r>
                  <a:rPr lang="en-US" b="1" i="1" kern="100" dirty="0">
                    <a:effectLst/>
                    <a:latin typeface="Aptos" panose="020B0004020202020204" pitchFamily="34" charset="0"/>
                    <a:ea typeface="Aptos" panose="020B0004020202020204" pitchFamily="34" charset="0"/>
                    <a:cs typeface="Times New Roman" panose="02020603050405020304" pitchFamily="18" charset="0"/>
                  </a:rPr>
                  <a:t> set</a:t>
                </a:r>
              </a:p>
              <a:p>
                <a:pPr marR="0" indent="0">
                  <a:spcBef>
                    <a:spcPts val="0"/>
                  </a:spcBef>
                  <a:spcAft>
                    <a:spcPts val="0"/>
                  </a:spcAft>
                  <a:buNone/>
                </a:pPr>
                <a:endParaRPr lang="en-US" kern="100" dirty="0">
                  <a:effectLst/>
                  <a:latin typeface="Aptos" panose="020B0004020202020204" pitchFamily="34" charset="0"/>
                  <a:ea typeface="Aptos" panose="020B0004020202020204" pitchFamily="34" charset="0"/>
                  <a:cs typeface="Times New Roman" panose="02020603050405020304" pitchFamily="18" charset="0"/>
                </a:endParaRPr>
              </a:p>
              <a:p>
                <a:pPr marL="0" indent="0">
                  <a:buNone/>
                </a:pPr>
                <a:endParaRPr lang="en-US" sz="4800" dirty="0"/>
              </a:p>
            </p:txBody>
          </p:sp>
        </mc:Choice>
        <mc:Fallback xmlns="">
          <p:sp>
            <p:nvSpPr>
              <p:cNvPr id="3" name="Content Placeholder 2">
                <a:extLst>
                  <a:ext uri="{FF2B5EF4-FFF2-40B4-BE49-F238E27FC236}">
                    <a16:creationId xmlns:a16="http://schemas.microsoft.com/office/drawing/2014/main" id="{BF0CE0BB-F5A4-6F57-5270-C35D97D5FB9B}"/>
                  </a:ext>
                </a:extLst>
              </p:cNvPr>
              <p:cNvSpPr>
                <a:spLocks noGrp="1" noRot="1" noChangeAspect="1" noMove="1" noResize="1" noEditPoints="1" noAdjustHandles="1" noChangeArrowheads="1" noChangeShapeType="1" noTextEdit="1"/>
              </p:cNvSpPr>
              <p:nvPr>
                <p:ph idx="1"/>
              </p:nvPr>
            </p:nvSpPr>
            <p:spPr>
              <a:blipFill>
                <a:blip r:embed="rId2"/>
                <a:stretch>
                  <a:fillRect l="-1206" t="-2326"/>
                </a:stretch>
              </a:blipFill>
            </p:spPr>
            <p:txBody>
              <a:bodyPr/>
              <a:lstStyle/>
              <a:p>
                <a:r>
                  <a:rPr lang="en-US">
                    <a:noFill/>
                  </a:rPr>
                  <a:t> </a:t>
                </a:r>
              </a:p>
            </p:txBody>
          </p:sp>
        </mc:Fallback>
      </mc:AlternateContent>
    </p:spTree>
    <p:extLst>
      <p:ext uri="{BB962C8B-B14F-4D97-AF65-F5344CB8AC3E}">
        <p14:creationId xmlns:p14="http://schemas.microsoft.com/office/powerpoint/2010/main" val="322303248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AAFDD4-AE14-A5F4-1AD7-DCEA68BC8A05}"/>
              </a:ext>
            </a:extLst>
          </p:cNvPr>
          <p:cNvSpPr>
            <a:spLocks noGrp="1"/>
          </p:cNvSpPr>
          <p:nvPr>
            <p:ph type="title"/>
          </p:nvPr>
        </p:nvSpPr>
        <p:spPr/>
        <p:txBody>
          <a:bodyPr/>
          <a:lstStyle/>
          <a:p>
            <a:r>
              <a:rPr lang="en-US" dirty="0"/>
              <a:t>Now… Models of resource management</a:t>
            </a:r>
          </a:p>
        </p:txBody>
      </p:sp>
      <p:sp>
        <p:nvSpPr>
          <p:cNvPr id="3" name="Content Placeholder 2">
            <a:extLst>
              <a:ext uri="{FF2B5EF4-FFF2-40B4-BE49-F238E27FC236}">
                <a16:creationId xmlns:a16="http://schemas.microsoft.com/office/drawing/2014/main" id="{4BA037D7-4F94-550B-08EF-F04E0F08360B}"/>
              </a:ext>
            </a:extLst>
          </p:cNvPr>
          <p:cNvSpPr>
            <a:spLocks noGrp="1"/>
          </p:cNvSpPr>
          <p:nvPr>
            <p:ph idx="1"/>
          </p:nvPr>
        </p:nvSpPr>
        <p:spPr>
          <a:xfrm>
            <a:off x="445168" y="1825625"/>
            <a:ext cx="10908632" cy="4351338"/>
          </a:xfrm>
        </p:spPr>
        <p:txBody>
          <a:bodyPr/>
          <a:lstStyle/>
          <a:p>
            <a:endParaRPr lang="en-US" dirty="0"/>
          </a:p>
          <a:p>
            <a:r>
              <a:rPr lang="en-US" dirty="0"/>
              <a:t>Non-renewable resource management via Hotelling (review)</a:t>
            </a:r>
          </a:p>
          <a:p>
            <a:r>
              <a:rPr lang="en-US" dirty="0"/>
              <a:t>Renewable resource management </a:t>
            </a:r>
          </a:p>
          <a:p>
            <a:pPr lvl="1"/>
            <a:r>
              <a:rPr lang="en-US" dirty="0"/>
              <a:t>Fisheries</a:t>
            </a:r>
          </a:p>
          <a:p>
            <a:pPr lvl="1"/>
            <a:r>
              <a:rPr lang="en-US" dirty="0"/>
              <a:t>Forestry</a:t>
            </a:r>
          </a:p>
          <a:p>
            <a:pPr lvl="1"/>
            <a:endParaRPr lang="en-US" dirty="0"/>
          </a:p>
          <a:p>
            <a:r>
              <a:rPr lang="en-US" dirty="0"/>
              <a:t>Why? They’re classic econ examples and fun/easy to code in GAMS</a:t>
            </a:r>
          </a:p>
        </p:txBody>
      </p:sp>
    </p:spTree>
    <p:extLst>
      <p:ext uri="{BB962C8B-B14F-4D97-AF65-F5344CB8AC3E}">
        <p14:creationId xmlns:p14="http://schemas.microsoft.com/office/powerpoint/2010/main" val="296160434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A2018F-FFA6-C6A5-629F-D4E4D2C6F3B8}"/>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D758F071-9CB3-5D25-21F7-EC23B078EE98}"/>
              </a:ext>
            </a:extLst>
          </p:cNvPr>
          <p:cNvPicPr>
            <a:picLocks noChangeAspect="1"/>
          </p:cNvPicPr>
          <p:nvPr/>
        </p:nvPicPr>
        <p:blipFill>
          <a:blip r:embed="rId2"/>
          <a:stretch>
            <a:fillRect/>
          </a:stretch>
        </p:blipFill>
        <p:spPr>
          <a:xfrm>
            <a:off x="3968261" y="1027906"/>
            <a:ext cx="7772400" cy="5425636"/>
          </a:xfrm>
          <a:prstGeom prst="rect">
            <a:avLst/>
          </a:prstGeom>
        </p:spPr>
      </p:pic>
      <p:sp>
        <p:nvSpPr>
          <p:cNvPr id="2" name="Title 1">
            <a:extLst>
              <a:ext uri="{FF2B5EF4-FFF2-40B4-BE49-F238E27FC236}">
                <a16:creationId xmlns:a16="http://schemas.microsoft.com/office/drawing/2014/main" id="{FD9A7171-D618-4E9A-74C4-050CDEEA4491}"/>
              </a:ext>
            </a:extLst>
          </p:cNvPr>
          <p:cNvSpPr>
            <a:spLocks noGrp="1"/>
          </p:cNvSpPr>
          <p:nvPr>
            <p:ph type="title"/>
          </p:nvPr>
        </p:nvSpPr>
        <p:spPr/>
        <p:txBody>
          <a:bodyPr/>
          <a:lstStyle/>
          <a:p>
            <a:r>
              <a:rPr lang="en-US" dirty="0"/>
              <a:t>OARs and PPGs</a:t>
            </a:r>
          </a:p>
        </p:txBody>
      </p:sp>
      <p:sp>
        <p:nvSpPr>
          <p:cNvPr id="5" name="Content Placeholder 2">
            <a:extLst>
              <a:ext uri="{FF2B5EF4-FFF2-40B4-BE49-F238E27FC236}">
                <a16:creationId xmlns:a16="http://schemas.microsoft.com/office/drawing/2014/main" id="{73D04024-E7E7-6335-45DC-968ED99C8496}"/>
              </a:ext>
            </a:extLst>
          </p:cNvPr>
          <p:cNvSpPr txBox="1">
            <a:spLocks/>
          </p:cNvSpPr>
          <p:nvPr/>
        </p:nvSpPr>
        <p:spPr>
          <a:xfrm>
            <a:off x="239486" y="1868993"/>
            <a:ext cx="4330840" cy="4137148"/>
          </a:xfrm>
          <a:prstGeom prst="rect">
            <a:avLst/>
          </a:prstGeom>
        </p:spPr>
        <p:txBody>
          <a:bodyPr vert="horz" lIns="91440" tIns="45720" rIns="91440" bIns="45720" rtlCol="0">
            <a:normAutofit fontScale="925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dirty="0"/>
              <a:t>Main focus is now on…</a:t>
            </a:r>
          </a:p>
          <a:p>
            <a:pPr marL="285750" indent="-285750"/>
            <a:r>
              <a:rPr lang="en-US" dirty="0"/>
              <a:t>Private goods</a:t>
            </a:r>
          </a:p>
          <a:p>
            <a:pPr marL="742950" lvl="1" indent="-285750"/>
            <a:r>
              <a:rPr lang="en-US" b="1" i="1" dirty="0"/>
              <a:t>Privately-owned mine, an oil-field, ..</a:t>
            </a:r>
          </a:p>
          <a:p>
            <a:pPr marL="742950" lvl="1" indent="-285750"/>
            <a:r>
              <a:rPr lang="en-US" dirty="0"/>
              <a:t>Personal farm</a:t>
            </a:r>
          </a:p>
          <a:p>
            <a:pPr marL="285750" indent="-285750"/>
            <a:endParaRPr lang="en-US" dirty="0"/>
          </a:p>
          <a:p>
            <a:pPr marL="285750" indent="-285750"/>
            <a:r>
              <a:rPr lang="en-US" dirty="0"/>
              <a:t>Open access resources</a:t>
            </a:r>
          </a:p>
          <a:p>
            <a:pPr marL="742950" lvl="1" indent="-285750"/>
            <a:r>
              <a:rPr lang="en-US" dirty="0"/>
              <a:t>Common-pool oil field</a:t>
            </a:r>
          </a:p>
          <a:p>
            <a:pPr marL="742950" lvl="1" indent="-285750"/>
            <a:r>
              <a:rPr lang="en-US" b="1" i="1" dirty="0"/>
              <a:t>Fisheries</a:t>
            </a:r>
          </a:p>
          <a:p>
            <a:pPr marL="742950" lvl="1" indent="-285750"/>
            <a:r>
              <a:rPr lang="en-US" dirty="0"/>
              <a:t>Groundwater</a:t>
            </a:r>
          </a:p>
          <a:p>
            <a:pPr marL="742950" lvl="1" indent="-285750"/>
            <a:r>
              <a:rPr lang="en-US" b="1" i="1" dirty="0"/>
              <a:t>Forests</a:t>
            </a:r>
          </a:p>
          <a:p>
            <a:pPr marL="285750" indent="-285750"/>
            <a:endParaRPr lang="en-US" dirty="0"/>
          </a:p>
        </p:txBody>
      </p:sp>
      <p:sp>
        <p:nvSpPr>
          <p:cNvPr id="6" name="TextBox 5">
            <a:extLst>
              <a:ext uri="{FF2B5EF4-FFF2-40B4-BE49-F238E27FC236}">
                <a16:creationId xmlns:a16="http://schemas.microsoft.com/office/drawing/2014/main" id="{9454894B-88C1-34D8-5FD9-06F3DCC983E8}"/>
              </a:ext>
            </a:extLst>
          </p:cNvPr>
          <p:cNvSpPr txBox="1"/>
          <p:nvPr/>
        </p:nvSpPr>
        <p:spPr>
          <a:xfrm>
            <a:off x="9073661" y="3140559"/>
            <a:ext cx="1627833" cy="1200329"/>
          </a:xfrm>
          <a:prstGeom prst="rect">
            <a:avLst/>
          </a:prstGeom>
          <a:solidFill>
            <a:schemeClr val="tx2">
              <a:lumMod val="10000"/>
              <a:lumOff val="90000"/>
            </a:schemeClr>
          </a:solidFill>
          <a:ln>
            <a:solidFill>
              <a:schemeClr val="tx1"/>
            </a:solidFill>
          </a:ln>
        </p:spPr>
        <p:txBody>
          <a:bodyPr wrap="square" rtlCol="0">
            <a:spAutoFit/>
          </a:bodyPr>
          <a:lstStyle/>
          <a:p>
            <a:pPr algn="ctr"/>
            <a:r>
              <a:rPr lang="en-US" b="1" i="1" dirty="0"/>
              <a:t>Require different management strategies</a:t>
            </a:r>
          </a:p>
        </p:txBody>
      </p:sp>
      <p:cxnSp>
        <p:nvCxnSpPr>
          <p:cNvPr id="7" name="Straight Connector 6">
            <a:extLst>
              <a:ext uri="{FF2B5EF4-FFF2-40B4-BE49-F238E27FC236}">
                <a16:creationId xmlns:a16="http://schemas.microsoft.com/office/drawing/2014/main" id="{8CC655B5-C238-539F-EDC6-D2D7F7B34AB8}"/>
              </a:ext>
            </a:extLst>
          </p:cNvPr>
          <p:cNvCxnSpPr>
            <a:cxnSpLocks/>
          </p:cNvCxnSpPr>
          <p:nvPr/>
        </p:nvCxnSpPr>
        <p:spPr>
          <a:xfrm>
            <a:off x="8661679" y="1328894"/>
            <a:ext cx="0" cy="4489102"/>
          </a:xfrm>
          <a:prstGeom prst="line">
            <a:avLst/>
          </a:prstGeom>
          <a:ln w="38100">
            <a:prstDash val="dash"/>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22414598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068744-A35A-881D-BA76-C01514C16651}"/>
              </a:ext>
            </a:extLst>
          </p:cNvPr>
          <p:cNvSpPr>
            <a:spLocks noGrp="1"/>
          </p:cNvSpPr>
          <p:nvPr>
            <p:ph type="title"/>
          </p:nvPr>
        </p:nvSpPr>
        <p:spPr/>
        <p:txBody>
          <a:bodyPr/>
          <a:lstStyle/>
          <a:p>
            <a:r>
              <a:rPr lang="en-US" dirty="0"/>
              <a:t>Three models for resources management</a:t>
            </a:r>
          </a:p>
        </p:txBody>
      </p:sp>
      <p:sp>
        <p:nvSpPr>
          <p:cNvPr id="3" name="Content Placeholder 2">
            <a:extLst>
              <a:ext uri="{FF2B5EF4-FFF2-40B4-BE49-F238E27FC236}">
                <a16:creationId xmlns:a16="http://schemas.microsoft.com/office/drawing/2014/main" id="{4FFFB140-5BFD-65AF-3167-167A09B6CD8F}"/>
              </a:ext>
            </a:extLst>
          </p:cNvPr>
          <p:cNvSpPr>
            <a:spLocks noGrp="1"/>
          </p:cNvSpPr>
          <p:nvPr>
            <p:ph idx="1"/>
          </p:nvPr>
        </p:nvSpPr>
        <p:spPr>
          <a:xfrm>
            <a:off x="522514" y="1825625"/>
            <a:ext cx="10831286" cy="4351338"/>
          </a:xfrm>
        </p:spPr>
        <p:txBody>
          <a:bodyPr>
            <a:normAutofit fontScale="92500" lnSpcReduction="10000"/>
          </a:bodyPr>
          <a:lstStyle/>
          <a:p>
            <a:r>
              <a:rPr lang="en-US" dirty="0"/>
              <a:t>Hotelling model (non-renewable resources)</a:t>
            </a:r>
          </a:p>
          <a:p>
            <a:pPr lvl="1"/>
            <a:r>
              <a:rPr lang="en-US" dirty="0"/>
              <a:t>How resource owners decide extraction rates</a:t>
            </a:r>
          </a:p>
          <a:p>
            <a:pPr lvl="1"/>
            <a:r>
              <a:rPr lang="en-US" dirty="0"/>
              <a:t>Main point: price of resource should rise at the rate of interest</a:t>
            </a:r>
          </a:p>
          <a:p>
            <a:pPr lvl="1"/>
            <a:r>
              <a:rPr lang="en-US" dirty="0"/>
              <a:t>Policy relevance: how do subsidies and regulation alter extraction paths?</a:t>
            </a:r>
          </a:p>
          <a:p>
            <a:pPr lvl="1"/>
            <a:endParaRPr lang="en-US" dirty="0"/>
          </a:p>
          <a:p>
            <a:r>
              <a:rPr lang="en-US" dirty="0"/>
              <a:t>Gordon-Schaefer model (for Fisheries Management)</a:t>
            </a:r>
          </a:p>
          <a:p>
            <a:pPr lvl="1"/>
            <a:r>
              <a:rPr lang="en-US" dirty="0"/>
              <a:t>Models relationships between fishing effort, stocks, and sustainable harvest levels</a:t>
            </a:r>
          </a:p>
          <a:p>
            <a:pPr lvl="1"/>
            <a:r>
              <a:rPr lang="en-US" dirty="0"/>
              <a:t>Main point: Maximum Sustainable Yield determines largest harvest w/o depleting fish stocks</a:t>
            </a:r>
          </a:p>
          <a:p>
            <a:pPr lvl="1"/>
            <a:r>
              <a:rPr lang="en-US" dirty="0"/>
              <a:t>Policy relevance: quotas, property rights </a:t>
            </a:r>
          </a:p>
          <a:p>
            <a:pPr lvl="1"/>
            <a:endParaRPr lang="en-US" dirty="0"/>
          </a:p>
          <a:p>
            <a:r>
              <a:rPr lang="en-US" dirty="0"/>
              <a:t>Faustmann model (for Forestry management)</a:t>
            </a:r>
          </a:p>
        </p:txBody>
      </p:sp>
    </p:spTree>
    <p:extLst>
      <p:ext uri="{BB962C8B-B14F-4D97-AF65-F5344CB8AC3E}">
        <p14:creationId xmlns:p14="http://schemas.microsoft.com/office/powerpoint/2010/main" val="414815511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8AB517-F4E0-CEC5-B4B0-BDDD4E339C23}"/>
              </a:ext>
            </a:extLst>
          </p:cNvPr>
          <p:cNvSpPr>
            <a:spLocks noGrp="1"/>
          </p:cNvSpPr>
          <p:nvPr>
            <p:ph type="title"/>
          </p:nvPr>
        </p:nvSpPr>
        <p:spPr/>
        <p:txBody>
          <a:bodyPr/>
          <a:lstStyle/>
          <a:p>
            <a:r>
              <a:rPr lang="en-US" dirty="0"/>
              <a:t>Characteristics of non-renewable resources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E6977A84-F74E-CC56-7B1B-4B4A16E79167}"/>
                  </a:ext>
                </a:extLst>
              </p:cNvPr>
              <p:cNvSpPr>
                <a:spLocks noGrp="1"/>
              </p:cNvSpPr>
              <p:nvPr>
                <p:ph idx="1"/>
              </p:nvPr>
            </p:nvSpPr>
            <p:spPr/>
            <p:txBody>
              <a:bodyPr/>
              <a:lstStyle/>
              <a:p>
                <a:r>
                  <a:rPr lang="en-US" dirty="0"/>
                  <a:t>Generally: it does not renew lol</a:t>
                </a:r>
              </a:p>
              <a:p>
                <a:pPr marL="0" indent="0">
                  <a:buNone/>
                </a:pPr>
                <a:endParaRPr lang="en-US" dirty="0"/>
              </a:p>
              <a:p>
                <a:r>
                  <a:rPr lang="en-US" dirty="0"/>
                  <a:t>Assumptions needed for Hotelling rule derivation:</a:t>
                </a:r>
              </a:p>
              <a:p>
                <a:pPr lvl="1"/>
                <a:r>
                  <a:rPr lang="en-US" dirty="0"/>
                  <a:t>Competitive markets (many firms, price-taking behavior)</a:t>
                </a:r>
              </a:p>
              <a:p>
                <a:pPr lvl="2"/>
                <a:r>
                  <a:rPr lang="en-US" dirty="0"/>
                  <a:t>We’ll compare this with a monopolist</a:t>
                </a:r>
              </a:p>
              <a:p>
                <a:pPr lvl="1"/>
                <a:r>
                  <a:rPr lang="en-US" dirty="0"/>
                  <a:t>No extraction costs (simplified case – we’ll add these later)</a:t>
                </a:r>
              </a:p>
              <a:p>
                <a:pPr lvl="1"/>
                <a:r>
                  <a:rPr lang="en-US" dirty="0"/>
                  <a:t>Resource owners seek to maximize present value of profits.</a:t>
                </a:r>
              </a:p>
              <a:p>
                <a:pPr lvl="1"/>
                <a:r>
                  <a:rPr lang="en-US" dirty="0"/>
                  <a:t>Interest rate </a:t>
                </a:r>
                <a14:m>
                  <m:oMath xmlns:m="http://schemas.openxmlformats.org/officeDocument/2006/math">
                    <m:r>
                      <a:rPr lang="en-US" b="0" i="1" smtClean="0">
                        <a:latin typeface="Cambria Math" panose="02040503050406030204" pitchFamily="18" charset="0"/>
                      </a:rPr>
                      <m:t>𝑟</m:t>
                    </m:r>
                  </m:oMath>
                </a14:m>
                <a:r>
                  <a:rPr lang="en-US" dirty="0"/>
                  <a:t> represents the opportunity cost of leaving the resource in the ground.</a:t>
                </a:r>
              </a:p>
            </p:txBody>
          </p:sp>
        </mc:Choice>
        <mc:Fallback xmlns="">
          <p:sp>
            <p:nvSpPr>
              <p:cNvPr id="3" name="Content Placeholder 2">
                <a:extLst>
                  <a:ext uri="{FF2B5EF4-FFF2-40B4-BE49-F238E27FC236}">
                    <a16:creationId xmlns:a16="http://schemas.microsoft.com/office/drawing/2014/main" id="{E6977A84-F74E-CC56-7B1B-4B4A16E79167}"/>
                  </a:ext>
                </a:extLst>
              </p:cNvPr>
              <p:cNvSpPr>
                <a:spLocks noGrp="1" noRot="1" noChangeAspect="1" noMove="1" noResize="1" noEditPoints="1" noAdjustHandles="1" noChangeArrowheads="1" noChangeShapeType="1" noTextEdit="1"/>
              </p:cNvSpPr>
              <p:nvPr>
                <p:ph idx="1"/>
              </p:nvPr>
            </p:nvSpPr>
            <p:spPr>
              <a:blipFill>
                <a:blip r:embed="rId2"/>
                <a:stretch>
                  <a:fillRect l="-1086" t="-2326"/>
                </a:stretch>
              </a:blipFill>
            </p:spPr>
            <p:txBody>
              <a:bodyPr/>
              <a:lstStyle/>
              <a:p>
                <a:r>
                  <a:rPr lang="en-US">
                    <a:noFill/>
                  </a:rPr>
                  <a:t> </a:t>
                </a:r>
              </a:p>
            </p:txBody>
          </p:sp>
        </mc:Fallback>
      </mc:AlternateContent>
    </p:spTree>
    <p:extLst>
      <p:ext uri="{BB962C8B-B14F-4D97-AF65-F5344CB8AC3E}">
        <p14:creationId xmlns:p14="http://schemas.microsoft.com/office/powerpoint/2010/main" val="246080268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6C1BB0-1D79-AACC-C8F5-636355381B1B}"/>
              </a:ext>
            </a:extLst>
          </p:cNvPr>
          <p:cNvSpPr>
            <a:spLocks noGrp="1"/>
          </p:cNvSpPr>
          <p:nvPr>
            <p:ph type="title"/>
          </p:nvPr>
        </p:nvSpPr>
        <p:spPr/>
        <p:txBody>
          <a:bodyPr/>
          <a:lstStyle/>
          <a:p>
            <a:r>
              <a:rPr lang="en-US" dirty="0"/>
              <a:t>Prompt</a:t>
            </a:r>
          </a:p>
        </p:txBody>
      </p:sp>
      <p:sp>
        <p:nvSpPr>
          <p:cNvPr id="3" name="Content Placeholder 2">
            <a:extLst>
              <a:ext uri="{FF2B5EF4-FFF2-40B4-BE49-F238E27FC236}">
                <a16:creationId xmlns:a16="http://schemas.microsoft.com/office/drawing/2014/main" id="{E252C710-7830-9A9E-B93F-3F590089D4A9}"/>
              </a:ext>
            </a:extLst>
          </p:cNvPr>
          <p:cNvSpPr>
            <a:spLocks noGrp="1"/>
          </p:cNvSpPr>
          <p:nvPr>
            <p:ph idx="1"/>
          </p:nvPr>
        </p:nvSpPr>
        <p:spPr>
          <a:xfrm>
            <a:off x="1792374" y="2506662"/>
            <a:ext cx="8607251" cy="4351338"/>
          </a:xfrm>
        </p:spPr>
        <p:txBody>
          <a:bodyPr/>
          <a:lstStyle/>
          <a:p>
            <a:pPr marL="0" indent="0" algn="ctr">
              <a:buNone/>
            </a:pPr>
            <a:r>
              <a:rPr lang="en-US" dirty="0"/>
              <a:t>If you owned an exhaustible resource (oil field, or coal mine, or lithium mine, or natural gas well, …), how would you choose when to extract and how much?</a:t>
            </a:r>
          </a:p>
        </p:txBody>
      </p:sp>
    </p:spTree>
    <p:extLst>
      <p:ext uri="{BB962C8B-B14F-4D97-AF65-F5344CB8AC3E}">
        <p14:creationId xmlns:p14="http://schemas.microsoft.com/office/powerpoint/2010/main" val="40409325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9F8611-6A81-AFC7-E262-17334BF44F7A}"/>
              </a:ext>
            </a:extLst>
          </p:cNvPr>
          <p:cNvSpPr>
            <a:spLocks noGrp="1"/>
          </p:cNvSpPr>
          <p:nvPr>
            <p:ph type="title"/>
          </p:nvPr>
        </p:nvSpPr>
        <p:spPr/>
        <p:txBody>
          <a:bodyPr/>
          <a:lstStyle/>
          <a:p>
            <a:r>
              <a:rPr lang="en-US" dirty="0"/>
              <a:t>Review of Hotelling’s model</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EE5D0384-12B7-4E24-1169-45D7E366E0D9}"/>
                  </a:ext>
                </a:extLst>
              </p:cNvPr>
              <p:cNvSpPr>
                <a:spLocks noGrp="1"/>
              </p:cNvSpPr>
              <p:nvPr>
                <p:ph idx="1"/>
              </p:nvPr>
            </p:nvSpPr>
            <p:spPr/>
            <p:txBody>
              <a:bodyPr/>
              <a:lstStyle/>
              <a:p>
                <a:pPr marL="0" indent="0">
                  <a:buNone/>
                </a:pPr>
                <a:r>
                  <a:rPr lang="en-US" dirty="0"/>
                  <a:t>Goal is to maximize value of the resource by choosing extraction:</a:t>
                </a:r>
              </a:p>
              <a:p>
                <a:endParaRPr lang="en-US" dirty="0"/>
              </a:p>
              <a:p>
                <a:pPr marL="0" indent="0">
                  <a:buNone/>
                </a:pPr>
                <a14:m>
                  <m:oMathPara xmlns:m="http://schemas.openxmlformats.org/officeDocument/2006/math">
                    <m:oMathParaPr>
                      <m:jc m:val="centerGroup"/>
                    </m:oMathParaPr>
                    <m:oMath xmlns:m="http://schemas.openxmlformats.org/officeDocument/2006/math">
                      <m:m>
                        <m:mPr>
                          <m:mcs>
                            <m:mc>
                              <m:mcPr>
                                <m:count m:val="1"/>
                                <m:mcJc m:val="center"/>
                              </m:mcPr>
                            </m:mc>
                          </m:mcs>
                          <m:ctrlPr>
                            <a:rPr lang="en-US" b="0" i="1" smtClean="0">
                              <a:latin typeface="Cambria Math" panose="02040503050406030204" pitchFamily="18" charset="0"/>
                            </a:rPr>
                          </m:ctrlPr>
                        </m:mPr>
                        <m:mr>
                          <m:e>
                            <m:r>
                              <m:rPr>
                                <m:brk m:alnAt="7"/>
                              </m:rPr>
                              <a:rPr lang="en-US" b="0" i="1" smtClean="0">
                                <a:latin typeface="Cambria Math" panose="02040503050406030204" pitchFamily="18" charset="0"/>
                              </a:rPr>
                              <m:t>𝑀</m:t>
                            </m:r>
                            <m:r>
                              <a:rPr lang="en-US" b="0" i="1" smtClean="0">
                                <a:latin typeface="Cambria Math" panose="02040503050406030204" pitchFamily="18" charset="0"/>
                              </a:rPr>
                              <m:t>𝑎𝑥</m:t>
                            </m:r>
                          </m:e>
                        </m:mr>
                        <m:m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𝑄</m:t>
                                </m:r>
                              </m:e>
                              <m:sub>
                                <m:r>
                                  <a:rPr lang="en-US" b="0" i="1" smtClean="0">
                                    <a:latin typeface="Cambria Math" panose="02040503050406030204" pitchFamily="18" charset="0"/>
                                  </a:rPr>
                                  <m:t>𝑡</m:t>
                                </m:r>
                              </m:sub>
                            </m:sSub>
                          </m:e>
                        </m:mr>
                      </m:m>
                      <m:r>
                        <a:rPr lang="en-US" b="0" i="1" smtClean="0">
                          <a:latin typeface="Cambria Math" panose="02040503050406030204" pitchFamily="18" charset="0"/>
                        </a:rPr>
                        <m:t> </m:t>
                      </m:r>
                      <m:nary>
                        <m:naryPr>
                          <m:chr m:val="∑"/>
                          <m:supHide m:val="on"/>
                          <m:ctrlPr>
                            <a:rPr lang="en-US" b="0" i="1" smtClean="0">
                              <a:latin typeface="Cambria Math" panose="02040503050406030204" pitchFamily="18" charset="0"/>
                            </a:rPr>
                          </m:ctrlPr>
                        </m:naryPr>
                        <m:sub>
                          <m:r>
                            <a:rPr lang="en-US" b="0" i="1" smtClean="0">
                              <a:latin typeface="Cambria Math" panose="02040503050406030204" pitchFamily="18" charset="0"/>
                            </a:rPr>
                            <m:t>𝑡</m:t>
                          </m:r>
                        </m:sub>
                        <m:sup/>
                        <m:e>
                          <m:sSub>
                            <m:sSubPr>
                              <m:ctrlPr>
                                <a:rPr lang="en-US" i="1">
                                  <a:latin typeface="Cambria Math" panose="02040503050406030204" pitchFamily="18" charset="0"/>
                                </a:rPr>
                              </m:ctrlPr>
                            </m:sSubPr>
                            <m:e>
                              <m:r>
                                <a:rPr lang="en-US" i="1">
                                  <a:latin typeface="Cambria Math" panose="02040503050406030204" pitchFamily="18" charset="0"/>
                                </a:rPr>
                                <m:t>𝛿</m:t>
                              </m:r>
                            </m:e>
                            <m:sub>
                              <m:r>
                                <a:rPr lang="en-US" i="1">
                                  <a:latin typeface="Cambria Math" panose="02040503050406030204" pitchFamily="18" charset="0"/>
                                </a:rPr>
                                <m:t>𝑡</m:t>
                              </m:r>
                            </m:sub>
                          </m:sSub>
                          <m:r>
                            <a:rPr lang="en-US" i="1">
                              <a:latin typeface="Cambria Math" panose="02040503050406030204" pitchFamily="18" charset="0"/>
                            </a:rPr>
                            <m:t>𝑃</m:t>
                          </m:r>
                          <m:d>
                            <m:dPr>
                              <m:ctrlPr>
                                <a:rPr lang="en-US" i="1">
                                  <a:latin typeface="Cambria Math" panose="02040503050406030204" pitchFamily="18" charset="0"/>
                                </a:rPr>
                              </m:ctrlPr>
                            </m:dPr>
                            <m:e>
                              <m:r>
                                <a:rPr lang="en-US" i="1">
                                  <a:latin typeface="Cambria Math" panose="02040503050406030204" pitchFamily="18" charset="0"/>
                                </a:rPr>
                                <m:t>𝑡</m:t>
                              </m:r>
                            </m:e>
                          </m:d>
                          <m:sSub>
                            <m:sSubPr>
                              <m:ctrlPr>
                                <a:rPr lang="en-US" i="1">
                                  <a:latin typeface="Cambria Math" panose="02040503050406030204" pitchFamily="18" charset="0"/>
                                </a:rPr>
                              </m:ctrlPr>
                            </m:sSubPr>
                            <m:e>
                              <m:r>
                                <a:rPr lang="en-US" i="1">
                                  <a:latin typeface="Cambria Math" panose="02040503050406030204" pitchFamily="18" charset="0"/>
                                </a:rPr>
                                <m:t>𝑄</m:t>
                              </m:r>
                            </m:e>
                            <m:sub>
                              <m:r>
                                <a:rPr lang="en-US" i="1">
                                  <a:latin typeface="Cambria Math" panose="02040503050406030204" pitchFamily="18" charset="0"/>
                                </a:rPr>
                                <m:t>𝑡</m:t>
                              </m:r>
                            </m:sub>
                          </m:sSub>
                          <m:r>
                            <a:rPr lang="en-US" i="1">
                              <a:latin typeface="Cambria Math" panose="02040503050406030204" pitchFamily="18" charset="0"/>
                            </a:rPr>
                            <m:t>−</m:t>
                          </m:r>
                          <m:r>
                            <a:rPr lang="en-US" i="1">
                              <a:latin typeface="Cambria Math" panose="02040503050406030204" pitchFamily="18" charset="0"/>
                            </a:rPr>
                            <m:t>𝐶</m:t>
                          </m:r>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𝑄</m:t>
                                  </m:r>
                                </m:e>
                                <m:sub>
                                  <m:r>
                                    <a:rPr lang="en-US" i="1">
                                      <a:latin typeface="Cambria Math" panose="02040503050406030204" pitchFamily="18" charset="0"/>
                                    </a:rPr>
                                    <m:t>𝑡</m:t>
                                  </m:r>
                                </m:sub>
                              </m:sSub>
                            </m:e>
                          </m:d>
                          <m:r>
                            <a:rPr lang="en-US" i="1">
                              <a:latin typeface="Cambria Math" panose="02040503050406030204" pitchFamily="18" charset="0"/>
                            </a:rPr>
                            <m:t> </m:t>
                          </m:r>
                        </m:e>
                      </m:nary>
                    </m:oMath>
                  </m:oMathPara>
                </a14:m>
                <a:endParaRPr lang="en-US" dirty="0"/>
              </a:p>
              <a:p>
                <a:pPr marL="0" indent="0">
                  <a:buNone/>
                </a:pPr>
                <a:endParaRPr lang="en-US" dirty="0"/>
              </a:p>
              <a:p>
                <a:pPr marL="0" indent="0">
                  <a:buNone/>
                </a:pPr>
                <a:r>
                  <a:rPr lang="en-US" dirty="0"/>
                  <a:t>Subject to a resource constraint:</a:t>
                </a:r>
              </a:p>
              <a:p>
                <a:pPr marL="0" indent="0">
                  <a:buNone/>
                </a:pPr>
                <a14:m>
                  <m:oMathPara xmlns:m="http://schemas.openxmlformats.org/officeDocument/2006/math">
                    <m:oMathParaPr>
                      <m:jc m:val="centerGroup"/>
                    </m:oMathParaPr>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panose="02040503050406030204" pitchFamily="18" charset="0"/>
                            </a:rPr>
                            <m:t>𝑅</m:t>
                          </m:r>
                        </m:e>
                        <m:sup>
                          <m:r>
                            <a:rPr lang="en-US" b="0" i="1" smtClean="0">
                              <a:latin typeface="Cambria Math" panose="02040503050406030204" pitchFamily="18" charset="0"/>
                            </a:rPr>
                            <m:t>0</m:t>
                          </m:r>
                        </m:sup>
                      </m:sSup>
                      <m:r>
                        <a:rPr lang="en-US" b="0" i="1" smtClean="0">
                          <a:latin typeface="Cambria Math" panose="02040503050406030204" pitchFamily="18" charset="0"/>
                        </a:rPr>
                        <m:t>≥</m:t>
                      </m:r>
                      <m:nary>
                        <m:naryPr>
                          <m:chr m:val="∑"/>
                          <m:supHide m:val="on"/>
                          <m:ctrlPr>
                            <a:rPr lang="en-US" b="0" i="1" smtClean="0">
                              <a:latin typeface="Cambria Math" panose="02040503050406030204" pitchFamily="18" charset="0"/>
                            </a:rPr>
                          </m:ctrlPr>
                        </m:naryPr>
                        <m:sub>
                          <m:r>
                            <a:rPr lang="en-US" b="0" i="1" smtClean="0">
                              <a:latin typeface="Cambria Math" panose="02040503050406030204" pitchFamily="18" charset="0"/>
                            </a:rPr>
                            <m:t>𝑡</m:t>
                          </m:r>
                        </m:sub>
                        <m:sup/>
                        <m:e>
                          <m:sSub>
                            <m:sSubPr>
                              <m:ctrlPr>
                                <a:rPr lang="en-US" b="0" i="1" smtClean="0">
                                  <a:latin typeface="Cambria Math" panose="02040503050406030204" pitchFamily="18" charset="0"/>
                                </a:rPr>
                              </m:ctrlPr>
                            </m:sSubPr>
                            <m:e>
                              <m:r>
                                <a:rPr lang="en-US" b="0" i="1" smtClean="0">
                                  <a:latin typeface="Cambria Math" panose="02040503050406030204" pitchFamily="18" charset="0"/>
                                </a:rPr>
                                <m:t>𝑄</m:t>
                              </m:r>
                            </m:e>
                            <m:sub>
                              <m:r>
                                <a:rPr lang="en-US" b="0" i="1" smtClean="0">
                                  <a:latin typeface="Cambria Math" panose="02040503050406030204" pitchFamily="18" charset="0"/>
                                </a:rPr>
                                <m:t>𝑡</m:t>
                              </m:r>
                            </m:sub>
                          </m:sSub>
                        </m:e>
                      </m:nary>
                      <m:r>
                        <a:rPr lang="en-US" b="0" i="1" smtClean="0">
                          <a:latin typeface="Cambria Math" panose="02040503050406030204" pitchFamily="18" charset="0"/>
                        </a:rPr>
                        <m:t>⊥</m:t>
                      </m:r>
                      <m:r>
                        <a:rPr lang="en-US" b="0" i="1" smtClean="0">
                          <a:latin typeface="Cambria Math" panose="02040503050406030204" pitchFamily="18" charset="0"/>
                        </a:rPr>
                        <m:t>𝜆</m:t>
                      </m:r>
                    </m:oMath>
                  </m:oMathPara>
                </a14:m>
                <a:endParaRPr lang="en-US" dirty="0"/>
              </a:p>
            </p:txBody>
          </p:sp>
        </mc:Choice>
        <mc:Fallback xmlns="">
          <p:sp>
            <p:nvSpPr>
              <p:cNvPr id="3" name="Content Placeholder 2">
                <a:extLst>
                  <a:ext uri="{FF2B5EF4-FFF2-40B4-BE49-F238E27FC236}">
                    <a16:creationId xmlns:a16="http://schemas.microsoft.com/office/drawing/2014/main" id="{EE5D0384-12B7-4E24-1169-45D7E366E0D9}"/>
                  </a:ext>
                </a:extLst>
              </p:cNvPr>
              <p:cNvSpPr>
                <a:spLocks noGrp="1" noRot="1" noChangeAspect="1" noMove="1" noResize="1" noEditPoints="1" noAdjustHandles="1" noChangeArrowheads="1" noChangeShapeType="1" noTextEdit="1"/>
              </p:cNvSpPr>
              <p:nvPr>
                <p:ph idx="1"/>
              </p:nvPr>
            </p:nvSpPr>
            <p:spPr>
              <a:blipFill>
                <a:blip r:embed="rId2"/>
                <a:stretch>
                  <a:fillRect l="-1206" t="-15407" b="-37500"/>
                </a:stretch>
              </a:blipFill>
            </p:spPr>
            <p:txBody>
              <a:bodyPr/>
              <a:lstStyle/>
              <a:p>
                <a:r>
                  <a:rPr lang="en-US">
                    <a:noFill/>
                  </a:rPr>
                  <a:t> </a:t>
                </a:r>
              </a:p>
            </p:txBody>
          </p:sp>
        </mc:Fallback>
      </mc:AlternateContent>
    </p:spTree>
    <p:extLst>
      <p:ext uri="{BB962C8B-B14F-4D97-AF65-F5344CB8AC3E}">
        <p14:creationId xmlns:p14="http://schemas.microsoft.com/office/powerpoint/2010/main" val="415117388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17769D-A324-5F6D-4D08-4B466628F84B}"/>
              </a:ext>
            </a:extLst>
          </p:cNvPr>
          <p:cNvSpPr>
            <a:spLocks noGrp="1"/>
          </p:cNvSpPr>
          <p:nvPr>
            <p:ph type="title"/>
          </p:nvPr>
        </p:nvSpPr>
        <p:spPr/>
        <p:txBody>
          <a:bodyPr/>
          <a:lstStyle/>
          <a:p>
            <a:r>
              <a:rPr lang="en-US" dirty="0"/>
              <a:t>Importance of Hotelling’s rule</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68ECD06E-2E8B-797D-3A55-CFDF8A223454}"/>
                  </a:ext>
                </a:extLst>
              </p:cNvPr>
              <p:cNvSpPr>
                <a:spLocks noGrp="1"/>
              </p:cNvSpPr>
              <p:nvPr>
                <p:ph idx="1"/>
              </p:nvPr>
            </p:nvSpPr>
            <p:spPr>
              <a:xfrm>
                <a:off x="170823" y="1825625"/>
                <a:ext cx="11676184" cy="4351338"/>
              </a:xfrm>
            </p:spPr>
            <p:txBody>
              <a:bodyPr>
                <a:normAutofit fontScale="92500" lnSpcReduction="20000"/>
              </a:bodyPr>
              <a:lstStyle/>
              <a:p>
                <a:pPr marL="0" indent="0">
                  <a:buNone/>
                </a:pPr>
                <a14:m>
                  <m:oMathPara xmlns:m="http://schemas.openxmlformats.org/officeDocument/2006/math">
                    <m:oMathParaPr>
                      <m:jc m:val="centerGroup"/>
                    </m:oMathParaPr>
                    <m:oMath xmlns:m="http://schemas.openxmlformats.org/officeDocument/2006/math">
                      <m:f>
                        <m:fPr>
                          <m:ctrlPr>
                            <a:rPr lang="en-US" b="0" i="1" smtClean="0">
                              <a:latin typeface="Cambria Math" panose="02040503050406030204" pitchFamily="18" charset="0"/>
                            </a:rPr>
                          </m:ctrlPr>
                        </m:fPr>
                        <m:num>
                          <m:r>
                            <a:rPr lang="en-US" b="0" i="1" smtClean="0">
                              <a:latin typeface="Cambria Math" panose="02040503050406030204" pitchFamily="18" charset="0"/>
                            </a:rPr>
                            <m:t>𝑑</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𝑃</m:t>
                              </m:r>
                            </m:e>
                            <m:sub>
                              <m:r>
                                <a:rPr lang="en-US" b="0" i="1" smtClean="0">
                                  <a:latin typeface="Cambria Math" panose="02040503050406030204" pitchFamily="18" charset="0"/>
                                </a:rPr>
                                <m:t>𝑡</m:t>
                              </m:r>
                            </m:sub>
                          </m:sSub>
                        </m:num>
                        <m:den>
                          <m:r>
                            <a:rPr lang="en-US" b="0" i="1" smtClean="0">
                              <a:latin typeface="Cambria Math" panose="02040503050406030204" pitchFamily="18" charset="0"/>
                            </a:rPr>
                            <m:t>𝑑𝑡</m:t>
                          </m:r>
                        </m:den>
                      </m:f>
                      <m:r>
                        <a:rPr lang="en-US" b="0" i="1" smtClean="0">
                          <a:latin typeface="Cambria Math" panose="02040503050406030204" pitchFamily="18" charset="0"/>
                        </a:rPr>
                        <m:t>=</m:t>
                      </m:r>
                      <m:r>
                        <a:rPr lang="en-US" b="0" i="1" smtClean="0">
                          <a:latin typeface="Cambria Math" panose="02040503050406030204" pitchFamily="18" charset="0"/>
                        </a:rPr>
                        <m:t>𝑟</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𝑃</m:t>
                          </m:r>
                        </m:e>
                        <m:sub>
                          <m:r>
                            <a:rPr lang="en-US" b="0" i="1" smtClean="0">
                              <a:latin typeface="Cambria Math" panose="02040503050406030204" pitchFamily="18" charset="0"/>
                            </a:rPr>
                            <m:t>𝑡</m:t>
                          </m:r>
                        </m:sub>
                      </m:sSub>
                    </m:oMath>
                  </m:oMathPara>
                </a14:m>
                <a:endParaRPr lang="en-US" dirty="0"/>
              </a:p>
              <a:p>
                <a:endParaRPr lang="en-US" dirty="0"/>
              </a:p>
              <a:p>
                <a:r>
                  <a:rPr lang="en-US" dirty="0"/>
                  <a:t>In words: the price of a scarce, non-renewable resource </a:t>
                </a:r>
                <a:r>
                  <a:rPr lang="en-US" b="1" i="1" dirty="0"/>
                  <a:t>should</a:t>
                </a:r>
                <a:r>
                  <a:rPr lang="en-US" dirty="0"/>
                  <a:t> rise at the rate of interest</a:t>
                </a:r>
              </a:p>
              <a:p>
                <a:endParaRPr lang="en-US" dirty="0"/>
              </a:p>
              <a:p>
                <a:r>
                  <a:rPr lang="en-US" dirty="0"/>
                  <a:t>Ensures intertemporal efficiency (maximization of profits!)</a:t>
                </a:r>
              </a:p>
              <a:p>
                <a:pPr lvl="1"/>
                <a:r>
                  <a:rPr lang="en-US" dirty="0"/>
                  <a:t>Resources are not extracted too soon or left unused too long</a:t>
                </a:r>
              </a:p>
              <a:p>
                <a:pPr lvl="1"/>
                <a:endParaRPr lang="en-US" dirty="0"/>
              </a:p>
              <a:p>
                <a:r>
                  <a:rPr lang="en-US" dirty="0"/>
                  <a:t>If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𝑃</m:t>
                        </m:r>
                      </m:e>
                      <m:sub>
                        <m:r>
                          <a:rPr lang="en-US" b="0" i="1" smtClean="0">
                            <a:latin typeface="Cambria Math" panose="02040503050406030204" pitchFamily="18" charset="0"/>
                          </a:rPr>
                          <m:t>𝑡</m:t>
                        </m:r>
                      </m:sub>
                    </m:sSub>
                  </m:oMath>
                </a14:m>
                <a:r>
                  <a:rPr lang="en-US" dirty="0"/>
                  <a:t> grows faster than r, firms would wait</a:t>
                </a:r>
              </a:p>
              <a:p>
                <a:r>
                  <a:rPr lang="en-US" dirty="0"/>
                  <a:t>If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𝑃</m:t>
                        </m:r>
                      </m:e>
                      <m:sub>
                        <m:r>
                          <a:rPr lang="en-US" b="0" i="1" smtClean="0">
                            <a:latin typeface="Cambria Math" panose="02040503050406030204" pitchFamily="18" charset="0"/>
                          </a:rPr>
                          <m:t>𝑡</m:t>
                        </m:r>
                      </m:sub>
                    </m:sSub>
                  </m:oMath>
                </a14:m>
                <a:r>
                  <a:rPr lang="en-US" dirty="0"/>
                  <a:t> grows slower than r, firms would extract today and invest that money</a:t>
                </a:r>
              </a:p>
              <a:p>
                <a:pPr lvl="1"/>
                <a:endParaRPr lang="en-US" dirty="0"/>
              </a:p>
            </p:txBody>
          </p:sp>
        </mc:Choice>
        <mc:Fallback xmlns="">
          <p:sp>
            <p:nvSpPr>
              <p:cNvPr id="3" name="Content Placeholder 2">
                <a:extLst>
                  <a:ext uri="{FF2B5EF4-FFF2-40B4-BE49-F238E27FC236}">
                    <a16:creationId xmlns:a16="http://schemas.microsoft.com/office/drawing/2014/main" id="{68ECD06E-2E8B-797D-3A55-CFDF8A223454}"/>
                  </a:ext>
                </a:extLst>
              </p:cNvPr>
              <p:cNvSpPr>
                <a:spLocks noGrp="1" noRot="1" noChangeAspect="1" noMove="1" noResize="1" noEditPoints="1" noAdjustHandles="1" noChangeArrowheads="1" noChangeShapeType="1" noTextEdit="1"/>
              </p:cNvSpPr>
              <p:nvPr>
                <p:ph idx="1"/>
              </p:nvPr>
            </p:nvSpPr>
            <p:spPr>
              <a:xfrm>
                <a:off x="170823" y="1825625"/>
                <a:ext cx="11676184" cy="4351338"/>
              </a:xfrm>
              <a:blipFill>
                <a:blip r:embed="rId2"/>
                <a:stretch>
                  <a:fillRect l="-870" t="-291"/>
                </a:stretch>
              </a:blipFill>
            </p:spPr>
            <p:txBody>
              <a:bodyPr/>
              <a:lstStyle/>
              <a:p>
                <a:r>
                  <a:rPr lang="en-US">
                    <a:noFill/>
                  </a:rPr>
                  <a:t> </a:t>
                </a:r>
              </a:p>
            </p:txBody>
          </p:sp>
        </mc:Fallback>
      </mc:AlternateContent>
    </p:spTree>
    <p:extLst>
      <p:ext uri="{BB962C8B-B14F-4D97-AF65-F5344CB8AC3E}">
        <p14:creationId xmlns:p14="http://schemas.microsoft.com/office/powerpoint/2010/main" val="301531354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6C82C1-E35C-CA67-AE99-4EE45D66F42C}"/>
              </a:ext>
            </a:extLst>
          </p:cNvPr>
          <p:cNvSpPr>
            <a:spLocks noGrp="1"/>
          </p:cNvSpPr>
          <p:nvPr>
            <p:ph type="title"/>
          </p:nvPr>
        </p:nvSpPr>
        <p:spPr/>
        <p:txBody>
          <a:bodyPr/>
          <a:lstStyle/>
          <a:p>
            <a:r>
              <a:rPr lang="en-US" dirty="0"/>
              <a:t>Another important rule</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BE80851F-75B9-A6F7-F089-0FAE73C4003A}"/>
                  </a:ext>
                </a:extLst>
              </p:cNvPr>
              <p:cNvSpPr>
                <a:spLocks noGrp="1"/>
              </p:cNvSpPr>
              <p:nvPr>
                <p:ph idx="1"/>
              </p:nvPr>
            </p:nvSpPr>
            <p:spPr/>
            <p:txBody>
              <a:bodyPr/>
              <a:lstStyle/>
              <a:p>
                <a:r>
                  <a:rPr lang="en-US" dirty="0"/>
                  <a:t>[without price control] Profit maximization is where the net revenue equals the shadow price of the resource:</a:t>
                </a:r>
              </a:p>
              <a:p>
                <a:pPr marL="0" indent="0">
                  <a:buNone/>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𝑝</m:t>
                          </m:r>
                        </m:e>
                        <m:sub>
                          <m:r>
                            <a:rPr lang="en-US" b="0" i="1" smtClean="0">
                              <a:latin typeface="Cambria Math" panose="02040503050406030204" pitchFamily="18" charset="0"/>
                            </a:rPr>
                            <m:t>𝑡</m:t>
                          </m:r>
                        </m:sub>
                      </m:sSub>
                      <m:r>
                        <a:rPr lang="en-US" b="0" i="1" smtClean="0">
                          <a:latin typeface="Cambria Math" panose="02040503050406030204" pitchFamily="18" charset="0"/>
                        </a:rPr>
                        <m:t>−</m:t>
                      </m:r>
                      <m:r>
                        <a:rPr lang="en-US" b="0" i="1" smtClean="0">
                          <a:latin typeface="Cambria Math" panose="02040503050406030204" pitchFamily="18" charset="0"/>
                        </a:rPr>
                        <m:t>𝑐</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𝜆</m:t>
                          </m:r>
                        </m:e>
                        <m:sub>
                          <m:r>
                            <a:rPr lang="en-US" b="0" i="1" smtClean="0">
                              <a:latin typeface="Cambria Math" panose="02040503050406030204" pitchFamily="18" charset="0"/>
                            </a:rPr>
                            <m:t>𝑡</m:t>
                          </m:r>
                        </m:sub>
                      </m:sSub>
                    </m:oMath>
                  </m:oMathPara>
                </a14:m>
                <a:endParaRPr lang="en-US" dirty="0"/>
              </a:p>
              <a:p>
                <a:pPr marL="0" indent="0">
                  <a:buNone/>
                </a:pPr>
                <a:endParaRPr lang="en-US" dirty="0"/>
              </a:p>
              <a:p>
                <a:pPr marL="0" indent="0">
                  <a:buNone/>
                </a:pPr>
                <a:r>
                  <a:rPr lang="en-US" dirty="0"/>
                  <a:t>.. That is, net revenue is set at the value of the remaining amount of stock</a:t>
                </a:r>
              </a:p>
            </p:txBody>
          </p:sp>
        </mc:Choice>
        <mc:Fallback xmlns="">
          <p:sp>
            <p:nvSpPr>
              <p:cNvPr id="3" name="Content Placeholder 2">
                <a:extLst>
                  <a:ext uri="{FF2B5EF4-FFF2-40B4-BE49-F238E27FC236}">
                    <a16:creationId xmlns:a16="http://schemas.microsoft.com/office/drawing/2014/main" id="{BE80851F-75B9-A6F7-F089-0FAE73C4003A}"/>
                  </a:ext>
                </a:extLst>
              </p:cNvPr>
              <p:cNvSpPr>
                <a:spLocks noGrp="1" noRot="1" noChangeAspect="1" noMove="1" noResize="1" noEditPoints="1" noAdjustHandles="1" noChangeArrowheads="1" noChangeShapeType="1" noTextEdit="1"/>
              </p:cNvSpPr>
              <p:nvPr>
                <p:ph idx="1"/>
              </p:nvPr>
            </p:nvSpPr>
            <p:spPr>
              <a:blipFill>
                <a:blip r:embed="rId2"/>
                <a:stretch>
                  <a:fillRect l="-1206" t="-2326" r="-121"/>
                </a:stretch>
              </a:blipFill>
            </p:spPr>
            <p:txBody>
              <a:bodyPr/>
              <a:lstStyle/>
              <a:p>
                <a:r>
                  <a:rPr lang="en-US">
                    <a:noFill/>
                  </a:rPr>
                  <a:t> </a:t>
                </a:r>
              </a:p>
            </p:txBody>
          </p:sp>
        </mc:Fallback>
      </mc:AlternateContent>
    </p:spTree>
    <p:extLst>
      <p:ext uri="{BB962C8B-B14F-4D97-AF65-F5344CB8AC3E}">
        <p14:creationId xmlns:p14="http://schemas.microsoft.com/office/powerpoint/2010/main" val="42748605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ED0A48-F830-45BF-4EB3-ED30A417F48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8610047-4C71-FCE8-6BDA-61BFED02D922}"/>
              </a:ext>
            </a:extLst>
          </p:cNvPr>
          <p:cNvSpPr>
            <a:spLocks noGrp="1"/>
          </p:cNvSpPr>
          <p:nvPr>
            <p:ph type="title"/>
          </p:nvPr>
        </p:nvSpPr>
        <p:spPr/>
        <p:txBody>
          <a:bodyPr/>
          <a:lstStyle/>
          <a:p>
            <a:r>
              <a:rPr lang="en-US" dirty="0"/>
              <a:t>New Prompt</a:t>
            </a:r>
          </a:p>
        </p:txBody>
      </p:sp>
      <p:sp>
        <p:nvSpPr>
          <p:cNvPr id="3" name="Content Placeholder 2">
            <a:extLst>
              <a:ext uri="{FF2B5EF4-FFF2-40B4-BE49-F238E27FC236}">
                <a16:creationId xmlns:a16="http://schemas.microsoft.com/office/drawing/2014/main" id="{938B1C7C-F9EB-A7E5-0E80-965CB2B8FF51}"/>
              </a:ext>
            </a:extLst>
          </p:cNvPr>
          <p:cNvSpPr>
            <a:spLocks noGrp="1"/>
          </p:cNvSpPr>
          <p:nvPr>
            <p:ph idx="1"/>
          </p:nvPr>
        </p:nvSpPr>
        <p:spPr>
          <a:xfrm>
            <a:off x="1792374" y="2506662"/>
            <a:ext cx="8607251" cy="4351338"/>
          </a:xfrm>
        </p:spPr>
        <p:txBody>
          <a:bodyPr/>
          <a:lstStyle/>
          <a:p>
            <a:pPr marL="0" indent="0" algn="ctr">
              <a:buNone/>
            </a:pPr>
            <a:r>
              <a:rPr lang="en-US" dirty="0"/>
              <a:t>If you </a:t>
            </a:r>
            <a:r>
              <a:rPr lang="en-US" b="1" i="1" dirty="0"/>
              <a:t>were the only one </a:t>
            </a:r>
            <a:r>
              <a:rPr lang="en-US" dirty="0"/>
              <a:t>that owned an exhaustible resource (oil field, or coal mine, or lithium mine, or natural gas well, …), how would you choose when to extract and how much?</a:t>
            </a:r>
          </a:p>
        </p:txBody>
      </p:sp>
    </p:spTree>
    <p:extLst>
      <p:ext uri="{BB962C8B-B14F-4D97-AF65-F5344CB8AC3E}">
        <p14:creationId xmlns:p14="http://schemas.microsoft.com/office/powerpoint/2010/main" val="200120432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57375E-CEEB-9C9A-4332-E979DE461642}"/>
              </a:ext>
            </a:extLst>
          </p:cNvPr>
          <p:cNvSpPr>
            <a:spLocks noGrp="1"/>
          </p:cNvSpPr>
          <p:nvPr>
            <p:ph type="title"/>
          </p:nvPr>
        </p:nvSpPr>
        <p:spPr/>
        <p:txBody>
          <a:bodyPr/>
          <a:lstStyle/>
          <a:p>
            <a:r>
              <a:rPr lang="en-US" dirty="0"/>
              <a:t>Now – what if we had price control?</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D35CB6B4-84C8-664D-35CD-B3796EC49AA5}"/>
                  </a:ext>
                </a:extLst>
              </p:cNvPr>
              <p:cNvSpPr>
                <a:spLocks noGrp="1"/>
              </p:cNvSpPr>
              <p:nvPr>
                <p:ph idx="1"/>
              </p:nvPr>
            </p:nvSpPr>
            <p:spPr/>
            <p:txBody>
              <a:bodyPr>
                <a:normAutofit fontScale="92500" lnSpcReduction="20000"/>
              </a:bodyPr>
              <a:lstStyle/>
              <a:p>
                <a:pPr marL="0" indent="0">
                  <a:buNone/>
                </a:pPr>
                <a:r>
                  <a:rPr lang="en-US" dirty="0"/>
                  <a:t>That is – what if we were a monopolist and not in perfect competition</a:t>
                </a:r>
              </a:p>
              <a:p>
                <a:endParaRPr lang="en-US" dirty="0"/>
              </a:p>
              <a:p>
                <a:pPr marL="0" indent="0">
                  <a:buNone/>
                </a:pPr>
                <a:r>
                  <a:rPr lang="en-US" dirty="0"/>
                  <a:t>Goal is to maximize value of the resource by choosing extraction:</a:t>
                </a:r>
              </a:p>
              <a:p>
                <a:endParaRPr lang="en-US" dirty="0"/>
              </a:p>
              <a:p>
                <a:pPr marL="0" indent="0">
                  <a:buNone/>
                </a:pPr>
                <a14:m>
                  <m:oMathPara xmlns:m="http://schemas.openxmlformats.org/officeDocument/2006/math">
                    <m:oMathParaPr>
                      <m:jc m:val="centerGroup"/>
                    </m:oMathParaPr>
                    <m:oMath xmlns:m="http://schemas.openxmlformats.org/officeDocument/2006/math">
                      <m:m>
                        <m:mPr>
                          <m:mcs>
                            <m:mc>
                              <m:mcPr>
                                <m:count m:val="1"/>
                                <m:mcJc m:val="center"/>
                              </m:mcPr>
                            </m:mc>
                          </m:mcs>
                          <m:ctrlPr>
                            <a:rPr lang="en-US" b="0" i="1" smtClean="0">
                              <a:latin typeface="Cambria Math" panose="02040503050406030204" pitchFamily="18" charset="0"/>
                            </a:rPr>
                          </m:ctrlPr>
                        </m:mPr>
                        <m:mr>
                          <m:e>
                            <m:r>
                              <m:rPr>
                                <m:brk m:alnAt="7"/>
                              </m:rPr>
                              <a:rPr lang="en-US" b="0" i="1" smtClean="0">
                                <a:latin typeface="Cambria Math" panose="02040503050406030204" pitchFamily="18" charset="0"/>
                              </a:rPr>
                              <m:t>𝑀</m:t>
                            </m:r>
                            <m:r>
                              <a:rPr lang="en-US" b="0" i="1" smtClean="0">
                                <a:latin typeface="Cambria Math" panose="02040503050406030204" pitchFamily="18" charset="0"/>
                              </a:rPr>
                              <m:t>𝑎𝑥</m:t>
                            </m:r>
                          </m:e>
                        </m:mr>
                        <m:m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𝑄</m:t>
                                </m:r>
                              </m:e>
                              <m:sub>
                                <m:r>
                                  <a:rPr lang="en-US" b="0" i="1" smtClean="0">
                                    <a:latin typeface="Cambria Math" panose="02040503050406030204" pitchFamily="18" charset="0"/>
                                  </a:rPr>
                                  <m:t>𝑡</m:t>
                                </m:r>
                              </m:sub>
                            </m:sSub>
                          </m:e>
                        </m:mr>
                      </m:m>
                      <m:r>
                        <a:rPr lang="en-US" b="0" i="1" smtClean="0">
                          <a:latin typeface="Cambria Math" panose="02040503050406030204" pitchFamily="18" charset="0"/>
                        </a:rPr>
                        <m:t> </m:t>
                      </m:r>
                      <m:nary>
                        <m:naryPr>
                          <m:chr m:val="∑"/>
                          <m:supHide m:val="on"/>
                          <m:ctrlPr>
                            <a:rPr lang="en-US" b="0" i="1" smtClean="0">
                              <a:latin typeface="Cambria Math" panose="02040503050406030204" pitchFamily="18" charset="0"/>
                            </a:rPr>
                          </m:ctrlPr>
                        </m:naryPr>
                        <m:sub>
                          <m:r>
                            <a:rPr lang="en-US" b="0" i="1" smtClean="0">
                              <a:latin typeface="Cambria Math" panose="02040503050406030204" pitchFamily="18" charset="0"/>
                            </a:rPr>
                            <m:t>𝑡</m:t>
                          </m:r>
                        </m:sub>
                        <m:sup/>
                        <m:e>
                          <m:sSub>
                            <m:sSubPr>
                              <m:ctrlPr>
                                <a:rPr lang="en-US" i="1">
                                  <a:latin typeface="Cambria Math" panose="02040503050406030204" pitchFamily="18" charset="0"/>
                                </a:rPr>
                              </m:ctrlPr>
                            </m:sSubPr>
                            <m:e>
                              <m:r>
                                <a:rPr lang="en-US" i="1">
                                  <a:latin typeface="Cambria Math" panose="02040503050406030204" pitchFamily="18" charset="0"/>
                                </a:rPr>
                                <m:t>𝛿</m:t>
                              </m:r>
                            </m:e>
                            <m:sub>
                              <m:r>
                                <a:rPr lang="en-US" i="1">
                                  <a:latin typeface="Cambria Math" panose="02040503050406030204" pitchFamily="18" charset="0"/>
                                </a:rPr>
                                <m:t>𝑡</m:t>
                              </m:r>
                            </m:sub>
                          </m:sSub>
                          <m:r>
                            <a:rPr lang="en-US" i="1">
                              <a:latin typeface="Cambria Math" panose="02040503050406030204" pitchFamily="18" charset="0"/>
                            </a:rPr>
                            <m:t>𝑃</m:t>
                          </m:r>
                          <m:d>
                            <m:dPr>
                              <m:ctrlPr>
                                <a:rPr lang="en-US" i="1">
                                  <a:latin typeface="Cambria Math" panose="02040503050406030204" pitchFamily="18" charset="0"/>
                                </a:rPr>
                              </m:ctrlPr>
                            </m:dPr>
                            <m:e>
                              <m:sSub>
                                <m:sSubPr>
                                  <m:ctrlPr>
                                    <a:rPr lang="en-US" b="1" i="1">
                                      <a:highlight>
                                        <a:srgbClr val="FFFF00"/>
                                      </a:highlight>
                                      <a:latin typeface="Cambria Math" panose="02040503050406030204" pitchFamily="18" charset="0"/>
                                    </a:rPr>
                                  </m:ctrlPr>
                                </m:sSubPr>
                                <m:e>
                                  <m:r>
                                    <a:rPr lang="en-US" b="1" i="1">
                                      <a:highlight>
                                        <a:srgbClr val="FFFF00"/>
                                      </a:highlight>
                                      <a:latin typeface="Cambria Math" panose="02040503050406030204" pitchFamily="18" charset="0"/>
                                    </a:rPr>
                                    <m:t>𝑸</m:t>
                                  </m:r>
                                </m:e>
                                <m:sub>
                                  <m:r>
                                    <a:rPr lang="en-US" b="1" i="1">
                                      <a:highlight>
                                        <a:srgbClr val="FFFF00"/>
                                      </a:highlight>
                                      <a:latin typeface="Cambria Math" panose="02040503050406030204" pitchFamily="18" charset="0"/>
                                    </a:rPr>
                                    <m:t>𝒕</m:t>
                                  </m:r>
                                </m:sub>
                              </m:sSub>
                            </m:e>
                          </m:d>
                          <m:sSub>
                            <m:sSubPr>
                              <m:ctrlPr>
                                <a:rPr lang="en-US" i="1">
                                  <a:latin typeface="Cambria Math" panose="02040503050406030204" pitchFamily="18" charset="0"/>
                                </a:rPr>
                              </m:ctrlPr>
                            </m:sSubPr>
                            <m:e>
                              <m:r>
                                <a:rPr lang="en-US" i="1">
                                  <a:latin typeface="Cambria Math" panose="02040503050406030204" pitchFamily="18" charset="0"/>
                                </a:rPr>
                                <m:t>𝑄</m:t>
                              </m:r>
                            </m:e>
                            <m:sub>
                              <m:r>
                                <a:rPr lang="en-US" i="1">
                                  <a:latin typeface="Cambria Math" panose="02040503050406030204" pitchFamily="18" charset="0"/>
                                </a:rPr>
                                <m:t>𝑡</m:t>
                              </m:r>
                            </m:sub>
                          </m:sSub>
                          <m:r>
                            <a:rPr lang="en-US" i="1">
                              <a:latin typeface="Cambria Math" panose="02040503050406030204" pitchFamily="18" charset="0"/>
                            </a:rPr>
                            <m:t>−</m:t>
                          </m:r>
                          <m:r>
                            <a:rPr lang="en-US" i="1">
                              <a:latin typeface="Cambria Math" panose="02040503050406030204" pitchFamily="18" charset="0"/>
                            </a:rPr>
                            <m:t>𝐶</m:t>
                          </m:r>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𝑄</m:t>
                                  </m:r>
                                </m:e>
                                <m:sub>
                                  <m:r>
                                    <a:rPr lang="en-US" i="1">
                                      <a:latin typeface="Cambria Math" panose="02040503050406030204" pitchFamily="18" charset="0"/>
                                    </a:rPr>
                                    <m:t>𝑡</m:t>
                                  </m:r>
                                </m:sub>
                              </m:sSub>
                            </m:e>
                          </m:d>
                          <m:r>
                            <a:rPr lang="en-US" i="1">
                              <a:latin typeface="Cambria Math" panose="02040503050406030204" pitchFamily="18" charset="0"/>
                            </a:rPr>
                            <m:t> </m:t>
                          </m:r>
                        </m:e>
                      </m:nary>
                    </m:oMath>
                  </m:oMathPara>
                </a14:m>
                <a:endParaRPr lang="en-US" dirty="0"/>
              </a:p>
              <a:p>
                <a:pPr marL="0" indent="0">
                  <a:buNone/>
                </a:pPr>
                <a:endParaRPr lang="en-US" dirty="0"/>
              </a:p>
              <a:p>
                <a:pPr marL="0" indent="0">
                  <a:buNone/>
                </a:pPr>
                <a:r>
                  <a:rPr lang="en-US" dirty="0"/>
                  <a:t>Subject to a resource constraint:</a:t>
                </a:r>
              </a:p>
              <a:p>
                <a:pPr marL="0" indent="0">
                  <a:buNone/>
                </a:pPr>
                <a14:m>
                  <m:oMathPara xmlns:m="http://schemas.openxmlformats.org/officeDocument/2006/math">
                    <m:oMathParaPr>
                      <m:jc m:val="centerGroup"/>
                    </m:oMathParaPr>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panose="02040503050406030204" pitchFamily="18" charset="0"/>
                            </a:rPr>
                            <m:t>𝑅</m:t>
                          </m:r>
                        </m:e>
                        <m:sup>
                          <m:r>
                            <a:rPr lang="en-US" b="0" i="1" smtClean="0">
                              <a:latin typeface="Cambria Math" panose="02040503050406030204" pitchFamily="18" charset="0"/>
                            </a:rPr>
                            <m:t>0</m:t>
                          </m:r>
                        </m:sup>
                      </m:sSup>
                      <m:r>
                        <a:rPr lang="en-US" b="0" i="1" smtClean="0">
                          <a:latin typeface="Cambria Math" panose="02040503050406030204" pitchFamily="18" charset="0"/>
                        </a:rPr>
                        <m:t>≥</m:t>
                      </m:r>
                      <m:nary>
                        <m:naryPr>
                          <m:chr m:val="∑"/>
                          <m:supHide m:val="on"/>
                          <m:ctrlPr>
                            <a:rPr lang="en-US" b="0" i="1" smtClean="0">
                              <a:latin typeface="Cambria Math" panose="02040503050406030204" pitchFamily="18" charset="0"/>
                            </a:rPr>
                          </m:ctrlPr>
                        </m:naryPr>
                        <m:sub>
                          <m:r>
                            <a:rPr lang="en-US" b="0" i="1" smtClean="0">
                              <a:latin typeface="Cambria Math" panose="02040503050406030204" pitchFamily="18" charset="0"/>
                            </a:rPr>
                            <m:t>𝑡</m:t>
                          </m:r>
                        </m:sub>
                        <m:sup/>
                        <m:e>
                          <m:sSub>
                            <m:sSubPr>
                              <m:ctrlPr>
                                <a:rPr lang="en-US" b="0" i="1" smtClean="0">
                                  <a:latin typeface="Cambria Math" panose="02040503050406030204" pitchFamily="18" charset="0"/>
                                </a:rPr>
                              </m:ctrlPr>
                            </m:sSubPr>
                            <m:e>
                              <m:r>
                                <a:rPr lang="en-US" b="0" i="1" smtClean="0">
                                  <a:latin typeface="Cambria Math" panose="02040503050406030204" pitchFamily="18" charset="0"/>
                                </a:rPr>
                                <m:t>𝑄</m:t>
                              </m:r>
                            </m:e>
                            <m:sub>
                              <m:r>
                                <a:rPr lang="en-US" b="0" i="1" smtClean="0">
                                  <a:latin typeface="Cambria Math" panose="02040503050406030204" pitchFamily="18" charset="0"/>
                                </a:rPr>
                                <m:t>𝑡</m:t>
                              </m:r>
                            </m:sub>
                          </m:sSub>
                        </m:e>
                      </m:nary>
                    </m:oMath>
                  </m:oMathPara>
                </a14:m>
                <a:endParaRPr lang="en-US" dirty="0"/>
              </a:p>
              <a:p>
                <a:endParaRPr lang="en-US" dirty="0"/>
              </a:p>
            </p:txBody>
          </p:sp>
        </mc:Choice>
        <mc:Fallback xmlns="">
          <p:sp>
            <p:nvSpPr>
              <p:cNvPr id="3" name="Content Placeholder 2">
                <a:extLst>
                  <a:ext uri="{FF2B5EF4-FFF2-40B4-BE49-F238E27FC236}">
                    <a16:creationId xmlns:a16="http://schemas.microsoft.com/office/drawing/2014/main" id="{D35CB6B4-84C8-664D-35CD-B3796EC49AA5}"/>
                  </a:ext>
                </a:extLst>
              </p:cNvPr>
              <p:cNvSpPr>
                <a:spLocks noGrp="1" noRot="1" noChangeAspect="1" noMove="1" noResize="1" noEditPoints="1" noAdjustHandles="1" noChangeArrowheads="1" noChangeShapeType="1" noTextEdit="1"/>
              </p:cNvSpPr>
              <p:nvPr>
                <p:ph idx="1"/>
              </p:nvPr>
            </p:nvSpPr>
            <p:spPr>
              <a:blipFill>
                <a:blip r:embed="rId2"/>
                <a:stretch>
                  <a:fillRect l="-1086" t="-3488" b="-40698"/>
                </a:stretch>
              </a:blipFill>
            </p:spPr>
            <p:txBody>
              <a:bodyPr/>
              <a:lstStyle/>
              <a:p>
                <a:r>
                  <a:rPr lang="en-US">
                    <a:noFill/>
                  </a:rPr>
                  <a:t> </a:t>
                </a:r>
              </a:p>
            </p:txBody>
          </p:sp>
        </mc:Fallback>
      </mc:AlternateContent>
    </p:spTree>
    <p:extLst>
      <p:ext uri="{BB962C8B-B14F-4D97-AF65-F5344CB8AC3E}">
        <p14:creationId xmlns:p14="http://schemas.microsoft.com/office/powerpoint/2010/main" val="144722279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2B2DD7-6350-C729-C457-1D6953CF37DC}"/>
              </a:ext>
            </a:extLst>
          </p:cNvPr>
          <p:cNvSpPr>
            <a:spLocks noGrp="1"/>
          </p:cNvSpPr>
          <p:nvPr>
            <p:ph type="title"/>
          </p:nvPr>
        </p:nvSpPr>
        <p:spPr/>
        <p:txBody>
          <a:bodyPr/>
          <a:lstStyle/>
          <a:p>
            <a:r>
              <a:rPr lang="en-US" dirty="0"/>
              <a:t>Monopolistic Resource Extraction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C0D8921C-8365-997A-673B-C2B396287864}"/>
                  </a:ext>
                </a:extLst>
              </p:cNvPr>
              <p:cNvSpPr>
                <a:spLocks noGrp="1"/>
              </p:cNvSpPr>
              <p:nvPr>
                <p:ph idx="1"/>
              </p:nvPr>
            </p:nvSpPr>
            <p:spPr/>
            <p:txBody>
              <a:bodyPr/>
              <a:lstStyle/>
              <a:p>
                <a:pPr marL="0" indent="0">
                  <a:buNone/>
                </a:pPr>
                <a:endParaRPr lang="en-US" b="0" i="1" dirty="0">
                  <a:latin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m>
                        <m:mPr>
                          <m:mcs>
                            <m:mc>
                              <m:mcPr>
                                <m:count m:val="1"/>
                                <m:mcJc m:val="center"/>
                              </m:mcPr>
                            </m:mc>
                          </m:mcs>
                          <m:ctrlPr>
                            <a:rPr lang="en-US" b="0" i="1" smtClean="0">
                              <a:latin typeface="Cambria Math" panose="02040503050406030204" pitchFamily="18" charset="0"/>
                            </a:rPr>
                          </m:ctrlPr>
                        </m:mPr>
                        <m:mr>
                          <m:e>
                            <m:r>
                              <m:rPr>
                                <m:brk m:alnAt="7"/>
                              </m:rPr>
                              <a:rPr lang="en-US" b="0" i="1" smtClean="0">
                                <a:latin typeface="Cambria Math" panose="02040503050406030204" pitchFamily="18" charset="0"/>
                              </a:rPr>
                              <m:t>𝑀</m:t>
                            </m:r>
                            <m:r>
                              <a:rPr lang="en-US" b="0" i="1" smtClean="0">
                                <a:latin typeface="Cambria Math" panose="02040503050406030204" pitchFamily="18" charset="0"/>
                              </a:rPr>
                              <m:t>𝑎𝑥</m:t>
                            </m:r>
                          </m:e>
                        </m:mr>
                        <m:m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𝑄</m:t>
                                </m:r>
                              </m:e>
                              <m:sub>
                                <m:r>
                                  <a:rPr lang="en-US" b="0" i="1" smtClean="0">
                                    <a:latin typeface="Cambria Math" panose="02040503050406030204" pitchFamily="18" charset="0"/>
                                  </a:rPr>
                                  <m:t>𝑡</m:t>
                                </m:r>
                              </m:sub>
                            </m:sSub>
                            <m:r>
                              <a:rPr lang="en-US" b="0" i="1" smtClean="0">
                                <a:latin typeface="Cambria Math" panose="02040503050406030204" pitchFamily="18" charset="0"/>
                              </a:rPr>
                              <m:t> </m:t>
                            </m:r>
                          </m:e>
                        </m:mr>
                      </m:m>
                      <m:r>
                        <a:rPr lang="en-US" b="0" i="1" smtClean="0">
                          <a:latin typeface="Cambria Math" panose="02040503050406030204" pitchFamily="18" charset="0"/>
                        </a:rPr>
                        <m:t> </m:t>
                      </m:r>
                      <m:nary>
                        <m:naryPr>
                          <m:chr m:val="∑"/>
                          <m:supHide m:val="on"/>
                          <m:ctrlPr>
                            <a:rPr lang="en-US" i="1">
                              <a:latin typeface="Cambria Math" panose="02040503050406030204" pitchFamily="18" charset="0"/>
                            </a:rPr>
                          </m:ctrlPr>
                        </m:naryPr>
                        <m:sub>
                          <m:r>
                            <a:rPr lang="en-US" i="1">
                              <a:latin typeface="Cambria Math" panose="02040503050406030204" pitchFamily="18" charset="0"/>
                            </a:rPr>
                            <m:t>𝑡</m:t>
                          </m:r>
                        </m:sub>
                        <m:sup/>
                        <m:e>
                          <m:sSub>
                            <m:sSubPr>
                              <m:ctrlPr>
                                <a:rPr lang="en-US" i="1">
                                  <a:latin typeface="Cambria Math" panose="02040503050406030204" pitchFamily="18" charset="0"/>
                                </a:rPr>
                              </m:ctrlPr>
                            </m:sSubPr>
                            <m:e>
                              <m:r>
                                <a:rPr lang="en-US" i="1">
                                  <a:latin typeface="Cambria Math" panose="02040503050406030204" pitchFamily="18" charset="0"/>
                                </a:rPr>
                                <m:t>𝛿</m:t>
                              </m:r>
                            </m:e>
                            <m:sub>
                              <m:r>
                                <a:rPr lang="en-US" i="1">
                                  <a:latin typeface="Cambria Math" panose="02040503050406030204" pitchFamily="18" charset="0"/>
                                </a:rPr>
                                <m:t>𝑡</m:t>
                              </m:r>
                            </m:sub>
                          </m:sSub>
                          <m:r>
                            <a:rPr lang="en-US" i="1">
                              <a:latin typeface="Cambria Math" panose="02040503050406030204" pitchFamily="18" charset="0"/>
                            </a:rPr>
                            <m:t>𝑃</m:t>
                          </m:r>
                          <m:d>
                            <m:dPr>
                              <m:ctrlPr>
                                <a:rPr lang="en-US" i="1">
                                  <a:latin typeface="Cambria Math" panose="02040503050406030204" pitchFamily="18" charset="0"/>
                                </a:rPr>
                              </m:ctrlPr>
                            </m:dPr>
                            <m:e>
                              <m:sSub>
                                <m:sSubPr>
                                  <m:ctrlPr>
                                    <a:rPr lang="en-US" b="1" i="1">
                                      <a:highlight>
                                        <a:srgbClr val="FFFF00"/>
                                      </a:highlight>
                                      <a:latin typeface="Cambria Math" panose="02040503050406030204" pitchFamily="18" charset="0"/>
                                    </a:rPr>
                                  </m:ctrlPr>
                                </m:sSubPr>
                                <m:e>
                                  <m:r>
                                    <a:rPr lang="en-US" b="1" i="1">
                                      <a:highlight>
                                        <a:srgbClr val="FFFF00"/>
                                      </a:highlight>
                                      <a:latin typeface="Cambria Math" panose="02040503050406030204" pitchFamily="18" charset="0"/>
                                    </a:rPr>
                                    <m:t>𝑸</m:t>
                                  </m:r>
                                </m:e>
                                <m:sub>
                                  <m:r>
                                    <a:rPr lang="en-US" b="1" i="1">
                                      <a:highlight>
                                        <a:srgbClr val="FFFF00"/>
                                      </a:highlight>
                                      <a:latin typeface="Cambria Math" panose="02040503050406030204" pitchFamily="18" charset="0"/>
                                    </a:rPr>
                                    <m:t>𝒕</m:t>
                                  </m:r>
                                </m:sub>
                              </m:sSub>
                            </m:e>
                          </m:d>
                          <m:sSub>
                            <m:sSubPr>
                              <m:ctrlPr>
                                <a:rPr lang="en-US" i="1">
                                  <a:latin typeface="Cambria Math" panose="02040503050406030204" pitchFamily="18" charset="0"/>
                                </a:rPr>
                              </m:ctrlPr>
                            </m:sSubPr>
                            <m:e>
                              <m:r>
                                <a:rPr lang="en-US" i="1">
                                  <a:latin typeface="Cambria Math" panose="02040503050406030204" pitchFamily="18" charset="0"/>
                                </a:rPr>
                                <m:t>𝑄</m:t>
                              </m:r>
                            </m:e>
                            <m:sub>
                              <m:r>
                                <a:rPr lang="en-US" i="1">
                                  <a:latin typeface="Cambria Math" panose="02040503050406030204" pitchFamily="18" charset="0"/>
                                </a:rPr>
                                <m:t>𝑡</m:t>
                              </m:r>
                            </m:sub>
                          </m:sSub>
                          <m:r>
                            <a:rPr lang="en-US" i="1">
                              <a:latin typeface="Cambria Math" panose="02040503050406030204" pitchFamily="18" charset="0"/>
                            </a:rPr>
                            <m:t>−</m:t>
                          </m:r>
                          <m:r>
                            <a:rPr lang="en-US" i="1">
                              <a:latin typeface="Cambria Math" panose="02040503050406030204" pitchFamily="18" charset="0"/>
                            </a:rPr>
                            <m:t>𝐶</m:t>
                          </m:r>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𝑄</m:t>
                                  </m:r>
                                </m:e>
                                <m:sub>
                                  <m:r>
                                    <a:rPr lang="en-US" i="1">
                                      <a:latin typeface="Cambria Math" panose="02040503050406030204" pitchFamily="18" charset="0"/>
                                    </a:rPr>
                                    <m:t>𝑡</m:t>
                                  </m:r>
                                </m:sub>
                              </m:sSub>
                            </m:e>
                          </m:d>
                          <m:r>
                            <a:rPr lang="en-US" i="1">
                              <a:latin typeface="Cambria Math" panose="02040503050406030204" pitchFamily="18" charset="0"/>
                            </a:rPr>
                            <m:t> </m:t>
                          </m:r>
                        </m:e>
                      </m:nary>
                    </m:oMath>
                  </m:oMathPara>
                </a14:m>
                <a:endParaRPr lang="en-US" dirty="0"/>
              </a:p>
              <a:p>
                <a:pPr marL="0" indent="0">
                  <a:buNone/>
                </a:pPr>
                <a:endParaRPr lang="en-US" dirty="0"/>
              </a:p>
              <a:p>
                <a:pPr marL="0" indent="0">
                  <a:buNone/>
                </a:pPr>
                <a:endParaRPr lang="en-US" dirty="0"/>
              </a:p>
              <a:p>
                <a:pPr marL="0" indent="0">
                  <a:buNone/>
                </a:pPr>
                <a:r>
                  <a:rPr lang="en-US" dirty="0"/>
                  <a:t>Now: Marginal revenue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a:rPr lang="en-US" b="0" i="1" smtClean="0">
                        <a:latin typeface="Cambria Math" panose="02040503050406030204" pitchFamily="18" charset="0"/>
                      </a:rPr>
                      <m:t>𝜕</m:t>
                    </m:r>
                    <m:r>
                      <a:rPr lang="en-US" b="0" i="1" smtClean="0">
                        <a:latin typeface="Cambria Math" panose="02040503050406030204" pitchFamily="18" charset="0"/>
                      </a:rPr>
                      <m:t>𝑄</m:t>
                    </m:r>
                  </m:oMath>
                </a14:m>
                <a:r>
                  <a:rPr lang="en-US" dirty="0"/>
                  <a:t>) replaces price in the FOC:</a:t>
                </a:r>
              </a:p>
              <a:p>
                <a:pPr marL="0"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𝑀𝑅</m:t>
                      </m:r>
                      <m:r>
                        <a:rPr lang="en-US" b="0" i="1" smtClean="0">
                          <a:latin typeface="Cambria Math" panose="02040503050406030204" pitchFamily="18" charset="0"/>
                        </a:rPr>
                        <m:t>−</m:t>
                      </m:r>
                      <m:r>
                        <a:rPr lang="en-US" b="0" i="1" smtClean="0">
                          <a:latin typeface="Cambria Math" panose="02040503050406030204" pitchFamily="18" charset="0"/>
                        </a:rPr>
                        <m:t>𝑀𝐶</m:t>
                      </m:r>
                      <m:r>
                        <a:rPr lang="en-US" b="0" i="1" smtClean="0">
                          <a:latin typeface="Cambria Math" panose="02040503050406030204" pitchFamily="18" charset="0"/>
                        </a:rPr>
                        <m:t>=</m:t>
                      </m:r>
                      <m:r>
                        <a:rPr lang="en-US" b="0" i="1" smtClean="0">
                          <a:latin typeface="Cambria Math" panose="02040503050406030204" pitchFamily="18" charset="0"/>
                        </a:rPr>
                        <m:t>𝜆</m:t>
                      </m:r>
                    </m:oMath>
                  </m:oMathPara>
                </a14:m>
                <a:endParaRPr lang="en-US" dirty="0"/>
              </a:p>
            </p:txBody>
          </p:sp>
        </mc:Choice>
        <mc:Fallback xmlns="">
          <p:sp>
            <p:nvSpPr>
              <p:cNvPr id="3" name="Content Placeholder 2">
                <a:extLst>
                  <a:ext uri="{FF2B5EF4-FFF2-40B4-BE49-F238E27FC236}">
                    <a16:creationId xmlns:a16="http://schemas.microsoft.com/office/drawing/2014/main" id="{C0D8921C-8365-997A-673B-C2B396287864}"/>
                  </a:ext>
                </a:extLst>
              </p:cNvPr>
              <p:cNvSpPr>
                <a:spLocks noGrp="1" noRot="1" noChangeAspect="1" noMove="1" noResize="1" noEditPoints="1" noAdjustHandles="1" noChangeArrowheads="1" noChangeShapeType="1" noTextEdit="1"/>
              </p:cNvSpPr>
              <p:nvPr>
                <p:ph idx="1"/>
              </p:nvPr>
            </p:nvSpPr>
            <p:spPr>
              <a:blipFill>
                <a:blip r:embed="rId2"/>
                <a:stretch>
                  <a:fillRect l="-1206" t="-27326"/>
                </a:stretch>
              </a:blipFill>
            </p:spPr>
            <p:txBody>
              <a:bodyPr/>
              <a:lstStyle/>
              <a:p>
                <a:r>
                  <a:rPr lang="en-US">
                    <a:noFill/>
                  </a:rPr>
                  <a:t> </a:t>
                </a:r>
              </a:p>
            </p:txBody>
          </p:sp>
        </mc:Fallback>
      </mc:AlternateContent>
    </p:spTree>
    <p:extLst>
      <p:ext uri="{BB962C8B-B14F-4D97-AF65-F5344CB8AC3E}">
        <p14:creationId xmlns:p14="http://schemas.microsoft.com/office/powerpoint/2010/main" val="169309295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6B8292-0FCB-1C24-BCC1-CBBA143B4BEB}"/>
              </a:ext>
            </a:extLst>
          </p:cNvPr>
          <p:cNvSpPr>
            <a:spLocks noGrp="1"/>
          </p:cNvSpPr>
          <p:nvPr>
            <p:ph type="title"/>
          </p:nvPr>
        </p:nvSpPr>
        <p:spPr/>
        <p:txBody>
          <a:bodyPr/>
          <a:lstStyle/>
          <a:p>
            <a:r>
              <a:rPr lang="en-US" dirty="0"/>
              <a:t>Let’s code up the models in GAMS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C24B3225-7BB1-4BB4-D985-DF301B3F8E45}"/>
                  </a:ext>
                </a:extLst>
              </p:cNvPr>
              <p:cNvSpPr>
                <a:spLocks noGrp="1"/>
              </p:cNvSpPr>
              <p:nvPr>
                <p:ph idx="1"/>
              </p:nvPr>
            </p:nvSpPr>
            <p:spPr>
              <a:xfrm>
                <a:off x="235299" y="1865818"/>
                <a:ext cx="10515600" cy="4351338"/>
              </a:xfrm>
            </p:spPr>
            <p:txBody>
              <a:bodyPr>
                <a:normAutofit fontScale="92500" lnSpcReduction="20000"/>
              </a:bodyPr>
              <a:lstStyle/>
              <a:p>
                <a:pPr marL="0" indent="0">
                  <a:buNone/>
                </a:pPr>
                <a:r>
                  <a:rPr lang="en-US" b="0" i="1" dirty="0">
                    <a:latin typeface="Cambria Math" panose="02040503050406030204" pitchFamily="18" charset="0"/>
                  </a:rPr>
                  <a:t>Indices</a:t>
                </a:r>
              </a:p>
              <a:p>
                <a:pPr marL="0" indent="0">
                  <a:buNone/>
                </a:pPr>
                <a14:m>
                  <m:oMath xmlns:m="http://schemas.openxmlformats.org/officeDocument/2006/math">
                    <m:r>
                      <a:rPr lang="en-US" b="0" i="1" smtClean="0">
                        <a:latin typeface="Cambria Math" panose="02040503050406030204" pitchFamily="18" charset="0"/>
                      </a:rPr>
                      <m:t>𝑡</m:t>
                    </m:r>
                  </m:oMath>
                </a14:m>
                <a:r>
                  <a:rPr lang="en-US" dirty="0"/>
                  <a:t>: time, </a:t>
                </a:r>
                <a14:m>
                  <m:oMath xmlns:m="http://schemas.openxmlformats.org/officeDocument/2006/math">
                    <m:r>
                      <a:rPr lang="en-US" b="0" i="1" smtClean="0">
                        <a:latin typeface="Cambria Math" panose="02040503050406030204" pitchFamily="18" charset="0"/>
                      </a:rPr>
                      <m:t>𝑡</m:t>
                    </m:r>
                    <m:r>
                      <a:rPr lang="en-US" b="0" i="1" smtClean="0">
                        <a:latin typeface="Cambria Math" panose="02040503050406030204" pitchFamily="18" charset="0"/>
                      </a:rPr>
                      <m:t>∈{1,…,50}</m:t>
                    </m:r>
                  </m:oMath>
                </a14:m>
                <a:endParaRPr lang="en-US" dirty="0"/>
              </a:p>
              <a:p>
                <a:pPr marL="0" indent="0">
                  <a:buNone/>
                </a:pPr>
                <a:endParaRPr lang="en-US" dirty="0"/>
              </a:p>
              <a:p>
                <a:pPr marL="0" indent="0">
                  <a:buNone/>
                </a:pPr>
                <a:r>
                  <a:rPr lang="en-US" i="1" dirty="0"/>
                  <a:t>Parameters</a:t>
                </a:r>
              </a:p>
              <a:p>
                <a:pPr marL="0" indent="0">
                  <a:buNone/>
                </a:pPr>
                <a:r>
                  <a:rPr lang="en-US" dirty="0"/>
                  <a:t>a</a:t>
                </a:r>
                <a:r>
                  <a:rPr lang="en-US" i="1" dirty="0"/>
                  <a:t>: vertical intercept of demand curve = 8</a:t>
                </a:r>
              </a:p>
              <a:p>
                <a:pPr marL="0" indent="0">
                  <a:buNone/>
                </a:pPr>
                <a:r>
                  <a:rPr lang="en-US" dirty="0"/>
                  <a:t>b: slope of demand curve  -0.4</a:t>
                </a:r>
              </a:p>
              <a:p>
                <a:pPr marL="0" indent="0">
                  <a:buNone/>
                </a:pPr>
                <a:r>
                  <a:rPr lang="en-US" dirty="0"/>
                  <a:t>r: discount rate = 0.1</a:t>
                </a:r>
              </a:p>
              <a:p>
                <a:pPr marL="0" indent="0">
                  <a:buNone/>
                </a:pP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𝑆</m:t>
                        </m:r>
                      </m:e>
                      <m:sub>
                        <m:r>
                          <a:rPr lang="en-US" b="0" i="1" smtClean="0">
                            <a:latin typeface="Cambria Math" panose="02040503050406030204" pitchFamily="18" charset="0"/>
                          </a:rPr>
                          <m:t>0</m:t>
                        </m:r>
                      </m:sub>
                    </m:sSub>
                  </m:oMath>
                </a14:m>
                <a:r>
                  <a:rPr lang="en-US" dirty="0"/>
                  <a:t>: initial stock = 40</a:t>
                </a:r>
              </a:p>
              <a:p>
                <a:pPr marL="0" indent="0">
                  <a:buNone/>
                </a:pP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𝑝</m:t>
                        </m:r>
                      </m:e>
                      <m:sub>
                        <m:r>
                          <a:rPr lang="en-US" b="0" i="1" smtClean="0">
                            <a:latin typeface="Cambria Math" panose="02040503050406030204" pitchFamily="18" charset="0"/>
                          </a:rPr>
                          <m:t>𝑡</m:t>
                        </m:r>
                      </m:sub>
                    </m:sSub>
                  </m:oMath>
                </a14:m>
                <a:r>
                  <a:rPr lang="en-US" dirty="0"/>
                  <a:t>: price (varied)</a:t>
                </a:r>
              </a:p>
              <a:p>
                <a:pPr marL="0" indent="0">
                  <a:buNone/>
                </a:pPr>
                <a14:m>
                  <m:oMath xmlns:m="http://schemas.openxmlformats.org/officeDocument/2006/math">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𝑐</m:t>
                        </m:r>
                      </m:e>
                    </m:acc>
                  </m:oMath>
                </a14:m>
                <a:r>
                  <a:rPr lang="en-US" dirty="0"/>
                  <a:t>: cost constant</a:t>
                </a:r>
              </a:p>
            </p:txBody>
          </p:sp>
        </mc:Choice>
        <mc:Fallback xmlns="">
          <p:sp>
            <p:nvSpPr>
              <p:cNvPr id="3" name="Content Placeholder 2">
                <a:extLst>
                  <a:ext uri="{FF2B5EF4-FFF2-40B4-BE49-F238E27FC236}">
                    <a16:creationId xmlns:a16="http://schemas.microsoft.com/office/drawing/2014/main" id="{C24B3225-7BB1-4BB4-D985-DF301B3F8E45}"/>
                  </a:ext>
                </a:extLst>
              </p:cNvPr>
              <p:cNvSpPr>
                <a:spLocks noGrp="1" noRot="1" noChangeAspect="1" noMove="1" noResize="1" noEditPoints="1" noAdjustHandles="1" noChangeArrowheads="1" noChangeShapeType="1" noTextEdit="1"/>
              </p:cNvSpPr>
              <p:nvPr>
                <p:ph idx="1"/>
              </p:nvPr>
            </p:nvSpPr>
            <p:spPr>
              <a:xfrm>
                <a:off x="235299" y="1865818"/>
                <a:ext cx="10515600" cy="4351338"/>
              </a:xfrm>
              <a:blipFill>
                <a:blip r:embed="rId2"/>
                <a:stretch>
                  <a:fillRect l="-965" t="-348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 name="Content Placeholder 2">
                <a:extLst>
                  <a:ext uri="{FF2B5EF4-FFF2-40B4-BE49-F238E27FC236}">
                    <a16:creationId xmlns:a16="http://schemas.microsoft.com/office/drawing/2014/main" id="{94125EE4-FE02-01D8-0562-7AB719BD60D1}"/>
                  </a:ext>
                </a:extLst>
              </p:cNvPr>
              <p:cNvSpPr txBox="1">
                <a:spLocks/>
              </p:cNvSpPr>
              <p:nvPr/>
            </p:nvSpPr>
            <p:spPr>
              <a:xfrm>
                <a:off x="7152753" y="1864318"/>
                <a:ext cx="4803948"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i="1" dirty="0">
                    <a:latin typeface="Cambria Math" panose="02040503050406030204" pitchFamily="18" charset="0"/>
                  </a:rPr>
                  <a:t>Variables</a:t>
                </a:r>
              </a:p>
              <a:p>
                <a:pPr marL="0" indent="0">
                  <a:buFont typeface="Arial" panose="020B0604020202020204" pitchFamily="34" charset="0"/>
                  <a:buNone/>
                </a:pP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𝑞</m:t>
                        </m:r>
                      </m:e>
                      <m:sub>
                        <m:r>
                          <a:rPr lang="en-US" b="0" i="1" smtClean="0">
                            <a:latin typeface="Cambria Math" panose="02040503050406030204" pitchFamily="18" charset="0"/>
                          </a:rPr>
                          <m:t>𝑡</m:t>
                        </m:r>
                      </m:sub>
                    </m:sSub>
                  </m:oMath>
                </a14:m>
                <a:r>
                  <a:rPr lang="en-US" dirty="0"/>
                  <a:t>: quantity extracted at time t</a:t>
                </a:r>
              </a:p>
              <a:p>
                <a:pPr marL="0" indent="0">
                  <a:buFont typeface="Arial" panose="020B0604020202020204" pitchFamily="34" charset="0"/>
                  <a:buNone/>
                </a:pP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𝑝</m:t>
                        </m:r>
                      </m:e>
                      <m:sub>
                        <m:r>
                          <a:rPr lang="en-US" b="0" i="1" smtClean="0">
                            <a:latin typeface="Cambria Math" panose="02040503050406030204" pitchFamily="18" charset="0"/>
                          </a:rPr>
                          <m:t>𝑡</m:t>
                        </m:r>
                      </m:sub>
                    </m:sSub>
                  </m:oMath>
                </a14:m>
                <a:r>
                  <a:rPr lang="en-US" dirty="0"/>
                  <a:t>: price at time t</a:t>
                </a:r>
              </a:p>
              <a:p>
                <a:pPr marL="0" indent="0">
                  <a:buFont typeface="Arial" panose="020B0604020202020204" pitchFamily="34" charset="0"/>
                  <a:buNone/>
                </a:pPr>
                <a14:m>
                  <m:oMath xmlns:m="http://schemas.openxmlformats.org/officeDocument/2006/math">
                    <m:r>
                      <a:rPr lang="en-US" b="0" i="1" smtClean="0">
                        <a:latin typeface="Cambria Math" panose="02040503050406030204" pitchFamily="18" charset="0"/>
                      </a:rPr>
                      <m:t>𝜆</m:t>
                    </m:r>
                  </m:oMath>
                </a14:m>
                <a:r>
                  <a:rPr lang="en-US" dirty="0"/>
                  <a:t>: marginal cost</a:t>
                </a:r>
              </a:p>
              <a:p>
                <a:pPr marL="0" indent="0">
                  <a:buFont typeface="Arial" panose="020B0604020202020204" pitchFamily="34" charset="0"/>
                  <a:buNone/>
                </a:pPr>
                <a14:m>
                  <m:oMath xmlns:m="http://schemas.openxmlformats.org/officeDocument/2006/math">
                    <m:r>
                      <a:rPr lang="en-US" b="0" i="1" smtClean="0">
                        <a:latin typeface="Cambria Math" panose="02040503050406030204" pitchFamily="18" charset="0"/>
                      </a:rPr>
                      <m:t>𝜋</m:t>
                    </m:r>
                  </m:oMath>
                </a14:m>
                <a:r>
                  <a:rPr lang="en-US" dirty="0"/>
                  <a:t>: profit </a:t>
                </a:r>
              </a:p>
            </p:txBody>
          </p:sp>
        </mc:Choice>
        <mc:Fallback xmlns="">
          <p:sp>
            <p:nvSpPr>
              <p:cNvPr id="4" name="Content Placeholder 2">
                <a:extLst>
                  <a:ext uri="{FF2B5EF4-FFF2-40B4-BE49-F238E27FC236}">
                    <a16:creationId xmlns:a16="http://schemas.microsoft.com/office/drawing/2014/main" id="{94125EE4-FE02-01D8-0562-7AB719BD60D1}"/>
                  </a:ext>
                </a:extLst>
              </p:cNvPr>
              <p:cNvSpPr txBox="1">
                <a:spLocks noRot="1" noChangeAspect="1" noMove="1" noResize="1" noEditPoints="1" noAdjustHandles="1" noChangeArrowheads="1" noChangeShapeType="1" noTextEdit="1"/>
              </p:cNvSpPr>
              <p:nvPr/>
            </p:nvSpPr>
            <p:spPr>
              <a:xfrm>
                <a:off x="7152753" y="1864318"/>
                <a:ext cx="4803948" cy="4351338"/>
              </a:xfrm>
              <a:prstGeom prst="rect">
                <a:avLst/>
              </a:prstGeom>
              <a:blipFill>
                <a:blip r:embed="rId3"/>
                <a:stretch>
                  <a:fillRect l="-2902" t="-2326" r="-1847"/>
                </a:stretch>
              </a:blipFill>
            </p:spPr>
            <p:txBody>
              <a:bodyPr/>
              <a:lstStyle/>
              <a:p>
                <a:r>
                  <a:rPr lang="en-US">
                    <a:noFill/>
                  </a:rPr>
                  <a:t> </a:t>
                </a:r>
              </a:p>
            </p:txBody>
          </p:sp>
        </mc:Fallback>
      </mc:AlternateContent>
    </p:spTree>
    <p:extLst>
      <p:ext uri="{BB962C8B-B14F-4D97-AF65-F5344CB8AC3E}">
        <p14:creationId xmlns:p14="http://schemas.microsoft.com/office/powerpoint/2010/main" val="78360060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94E722-1D86-EC41-483E-3D5B6BC33F6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5B3E62B-1021-8772-9F44-8BEB7AAA5AF7}"/>
              </a:ext>
            </a:extLst>
          </p:cNvPr>
          <p:cNvSpPr>
            <a:spLocks noGrp="1"/>
          </p:cNvSpPr>
          <p:nvPr>
            <p:ph type="title"/>
          </p:nvPr>
        </p:nvSpPr>
        <p:spPr/>
        <p:txBody>
          <a:bodyPr/>
          <a:lstStyle/>
          <a:p>
            <a:r>
              <a:rPr lang="en-US" dirty="0"/>
              <a:t>GAMS model - PC</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5CD61118-CE56-4519-4C4A-9E6E7F77FFAE}"/>
                  </a:ext>
                </a:extLst>
              </p:cNvPr>
              <p:cNvSpPr>
                <a:spLocks noGrp="1"/>
              </p:cNvSpPr>
              <p:nvPr>
                <p:ph idx="1"/>
              </p:nvPr>
            </p:nvSpPr>
            <p:spPr/>
            <p:txBody>
              <a:bodyPr>
                <a:normAutofit/>
              </a:bodyPr>
              <a:lstStyle/>
              <a:p>
                <a:pPr marL="0" indent="0">
                  <a:buNone/>
                </a:pPr>
                <a:r>
                  <a:rPr lang="en-US" i="1" dirty="0">
                    <a:latin typeface="Cambria Math" panose="02040503050406030204" pitchFamily="18" charset="0"/>
                  </a:rPr>
                  <a:t>Arbitrary cost function, it just works…</a:t>
                </a:r>
              </a:p>
              <a:p>
                <a:pPr marL="0" indent="0">
                  <a:buNone/>
                </a:pPr>
                <a:endParaRPr lang="en-US" i="1" dirty="0">
                  <a:latin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m>
                        <m:mPr>
                          <m:mcs>
                            <m:mc>
                              <m:mcPr>
                                <m:count m:val="1"/>
                                <m:mcJc m:val="center"/>
                              </m:mcPr>
                            </m:mc>
                          </m:mcs>
                          <m:ctrlPr>
                            <a:rPr lang="en-US" i="1">
                              <a:latin typeface="Cambria Math" panose="02040503050406030204" pitchFamily="18" charset="0"/>
                            </a:rPr>
                          </m:ctrlPr>
                        </m:mPr>
                        <m:mr>
                          <m:e>
                            <m:r>
                              <m:rPr>
                                <m:brk m:alnAt="7"/>
                              </m:rPr>
                              <a:rPr lang="en-US" i="1">
                                <a:latin typeface="Cambria Math" panose="02040503050406030204" pitchFamily="18" charset="0"/>
                              </a:rPr>
                              <m:t>𝑀</m:t>
                            </m:r>
                            <m:r>
                              <a:rPr lang="en-US" i="1">
                                <a:latin typeface="Cambria Math" panose="02040503050406030204" pitchFamily="18" charset="0"/>
                              </a:rPr>
                              <m:t>𝑎𝑥</m:t>
                            </m:r>
                          </m:e>
                        </m:mr>
                        <m:mr>
                          <m:e>
                            <m:sSub>
                              <m:sSubPr>
                                <m:ctrlPr>
                                  <a:rPr lang="en-US" i="1">
                                    <a:latin typeface="Cambria Math" panose="02040503050406030204" pitchFamily="18" charset="0"/>
                                  </a:rPr>
                                </m:ctrlPr>
                              </m:sSubPr>
                              <m:e>
                                <m:r>
                                  <a:rPr lang="en-US" i="1">
                                    <a:latin typeface="Cambria Math" panose="02040503050406030204" pitchFamily="18" charset="0"/>
                                  </a:rPr>
                                  <m:t>𝑄</m:t>
                                </m:r>
                              </m:e>
                              <m:sub>
                                <m:r>
                                  <a:rPr lang="en-US" i="1">
                                    <a:latin typeface="Cambria Math" panose="02040503050406030204" pitchFamily="18" charset="0"/>
                                  </a:rPr>
                                  <m:t>𝑡</m:t>
                                </m:r>
                              </m:sub>
                            </m:sSub>
                          </m:e>
                        </m:mr>
                      </m:m>
                      <m:r>
                        <a:rPr lang="en-US" i="1">
                          <a:latin typeface="Cambria Math" panose="02040503050406030204" pitchFamily="18" charset="0"/>
                        </a:rPr>
                        <m:t> </m:t>
                      </m:r>
                      <m:nary>
                        <m:naryPr>
                          <m:chr m:val="∑"/>
                          <m:supHide m:val="on"/>
                          <m:ctrlPr>
                            <a:rPr lang="en-US" i="1">
                              <a:latin typeface="Cambria Math" panose="02040503050406030204" pitchFamily="18" charset="0"/>
                            </a:rPr>
                          </m:ctrlPr>
                        </m:naryPr>
                        <m:sub>
                          <m:r>
                            <a:rPr lang="en-US" i="1">
                              <a:latin typeface="Cambria Math" panose="02040503050406030204" pitchFamily="18" charset="0"/>
                            </a:rPr>
                            <m:t>𝑡</m:t>
                          </m:r>
                        </m:sub>
                        <m:sup/>
                        <m:e>
                          <m:sSub>
                            <m:sSubPr>
                              <m:ctrlPr>
                                <a:rPr lang="en-US" i="1">
                                  <a:latin typeface="Cambria Math" panose="02040503050406030204" pitchFamily="18" charset="0"/>
                                </a:rPr>
                              </m:ctrlPr>
                            </m:sSubPr>
                            <m:e>
                              <m:r>
                                <a:rPr lang="en-US" i="1">
                                  <a:latin typeface="Cambria Math" panose="02040503050406030204" pitchFamily="18" charset="0"/>
                                </a:rPr>
                                <m:t>𝛿</m:t>
                              </m:r>
                            </m:e>
                            <m:sub>
                              <m:r>
                                <a:rPr lang="en-US" i="1">
                                  <a:latin typeface="Cambria Math" panose="02040503050406030204" pitchFamily="18" charset="0"/>
                                </a:rPr>
                                <m:t>𝑡</m:t>
                              </m:r>
                            </m:sub>
                          </m:sSub>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𝑝</m:t>
                              </m:r>
                            </m:e>
                          </m:acc>
                          <m:sSub>
                            <m:sSubPr>
                              <m:ctrlPr>
                                <a:rPr lang="en-US" i="1">
                                  <a:latin typeface="Cambria Math" panose="02040503050406030204" pitchFamily="18" charset="0"/>
                                </a:rPr>
                              </m:ctrlPr>
                            </m:sSubPr>
                            <m:e>
                              <m:r>
                                <a:rPr lang="en-US" i="1">
                                  <a:latin typeface="Cambria Math" panose="02040503050406030204" pitchFamily="18" charset="0"/>
                                </a:rPr>
                                <m:t>𝑄</m:t>
                              </m:r>
                            </m:e>
                            <m:sub>
                              <m:r>
                                <a:rPr lang="en-US" i="1">
                                  <a:latin typeface="Cambria Math" panose="02040503050406030204" pitchFamily="18" charset="0"/>
                                </a:rPr>
                                <m:t>𝑡</m:t>
                              </m:r>
                            </m:sub>
                          </m:sSub>
                          <m:r>
                            <a:rPr lang="en-US" i="1">
                              <a:latin typeface="Cambria Math" panose="02040503050406030204" pitchFamily="18" charset="0"/>
                            </a:rPr>
                            <m:t>−</m:t>
                          </m:r>
                          <m:f>
                            <m:fPr>
                              <m:ctrlPr>
                                <a:rPr lang="en-US" b="0" i="1" smtClean="0">
                                  <a:latin typeface="Cambria Math" panose="02040503050406030204" pitchFamily="18" charset="0"/>
                                </a:rPr>
                              </m:ctrlPr>
                            </m:fPr>
                            <m:num>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𝑐</m:t>
                                  </m:r>
                                </m:e>
                              </m:acc>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𝑄</m:t>
                                  </m:r>
                                </m:e>
                                <m:sub>
                                  <m:r>
                                    <a:rPr lang="en-US" b="0" i="1" smtClean="0">
                                      <a:latin typeface="Cambria Math" panose="02040503050406030204" pitchFamily="18" charset="0"/>
                                    </a:rPr>
                                    <m:t>𝑡</m:t>
                                  </m:r>
                                </m:sub>
                                <m:sup>
                                  <m:r>
                                    <a:rPr lang="en-US" b="0" i="1" smtClean="0">
                                      <a:latin typeface="Cambria Math" panose="02040503050406030204" pitchFamily="18" charset="0"/>
                                    </a:rPr>
                                    <m:t>2</m:t>
                                  </m:r>
                                </m:sup>
                              </m:sSubSup>
                            </m:num>
                            <m:den>
                              <m:sSub>
                                <m:sSubPr>
                                  <m:ctrlPr>
                                    <a:rPr lang="en-US" b="0" i="1" smtClean="0">
                                      <a:latin typeface="Cambria Math" panose="02040503050406030204" pitchFamily="18" charset="0"/>
                                    </a:rPr>
                                  </m:ctrlPr>
                                </m:sSubPr>
                                <m:e>
                                  <m:r>
                                    <a:rPr lang="en-US" b="0" i="1" smtClean="0">
                                      <a:latin typeface="Cambria Math" panose="02040503050406030204" pitchFamily="18" charset="0"/>
                                    </a:rPr>
                                    <m:t>𝑆</m:t>
                                  </m:r>
                                </m:e>
                                <m:sub>
                                  <m:r>
                                    <a:rPr lang="en-US" b="0" i="1" smtClean="0">
                                      <a:latin typeface="Cambria Math" panose="02040503050406030204" pitchFamily="18" charset="0"/>
                                    </a:rPr>
                                    <m:t>0</m:t>
                                  </m:r>
                                </m:sub>
                              </m:sSub>
                            </m:den>
                          </m:f>
                          <m:r>
                            <a:rPr lang="en-US" i="1">
                              <a:latin typeface="Cambria Math" panose="02040503050406030204" pitchFamily="18" charset="0"/>
                            </a:rPr>
                            <m:t> </m:t>
                          </m:r>
                        </m:e>
                      </m:nary>
                    </m:oMath>
                  </m:oMathPara>
                </a14:m>
                <a:endParaRPr lang="en-US" dirty="0"/>
              </a:p>
              <a:p>
                <a:pPr marL="0" indent="0">
                  <a:buNone/>
                </a:pPr>
                <a:r>
                  <a:rPr lang="en-US" dirty="0"/>
                  <a:t>S.T. </a:t>
                </a:r>
              </a:p>
              <a:p>
                <a:pPr marL="0" indent="0">
                  <a:buNone/>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𝑆</m:t>
                          </m:r>
                        </m:e>
                        <m:sub>
                          <m:r>
                            <a:rPr lang="en-US" b="0" i="1" smtClean="0">
                              <a:latin typeface="Cambria Math" panose="02040503050406030204" pitchFamily="18" charset="0"/>
                            </a:rPr>
                            <m:t>0</m:t>
                          </m:r>
                        </m:sub>
                      </m:sSub>
                      <m:r>
                        <a:rPr lang="en-US" b="0" i="1" smtClean="0">
                          <a:latin typeface="Cambria Math" panose="02040503050406030204" pitchFamily="18" charset="0"/>
                        </a:rPr>
                        <m:t>≥</m:t>
                      </m:r>
                      <m:nary>
                        <m:naryPr>
                          <m:chr m:val="∑"/>
                          <m:supHide m:val="on"/>
                          <m:ctrlPr>
                            <a:rPr lang="en-US" b="0" i="1" smtClean="0">
                              <a:latin typeface="Cambria Math" panose="02040503050406030204" pitchFamily="18" charset="0"/>
                            </a:rPr>
                          </m:ctrlPr>
                        </m:naryPr>
                        <m:sub>
                          <m:r>
                            <a:rPr lang="en-US" b="0" i="1" smtClean="0">
                              <a:latin typeface="Cambria Math" panose="02040503050406030204" pitchFamily="18" charset="0"/>
                            </a:rPr>
                            <m:t>𝑡</m:t>
                          </m:r>
                        </m:sub>
                        <m:sup/>
                        <m:e>
                          <m:sSub>
                            <m:sSubPr>
                              <m:ctrlPr>
                                <a:rPr lang="en-US" b="0" i="1" smtClean="0">
                                  <a:latin typeface="Cambria Math" panose="02040503050406030204" pitchFamily="18" charset="0"/>
                                </a:rPr>
                              </m:ctrlPr>
                            </m:sSubPr>
                            <m:e>
                              <m:r>
                                <a:rPr lang="en-US" b="0" i="1" smtClean="0">
                                  <a:latin typeface="Cambria Math" panose="02040503050406030204" pitchFamily="18" charset="0"/>
                                </a:rPr>
                                <m:t>𝑄</m:t>
                              </m:r>
                            </m:e>
                            <m:sub>
                              <m:r>
                                <a:rPr lang="en-US" b="0" i="1" smtClean="0">
                                  <a:latin typeface="Cambria Math" panose="02040503050406030204" pitchFamily="18" charset="0"/>
                                </a:rPr>
                                <m:t>𝑡</m:t>
                              </m:r>
                            </m:sub>
                          </m:sSub>
                        </m:e>
                      </m:nary>
                    </m:oMath>
                  </m:oMathPara>
                </a14:m>
                <a:endParaRPr lang="en-US" dirty="0"/>
              </a:p>
              <a:p>
                <a:pPr marL="0" indent="0">
                  <a:buNone/>
                </a:pPr>
                <a:endParaRPr lang="en-US" dirty="0"/>
              </a:p>
            </p:txBody>
          </p:sp>
        </mc:Choice>
        <mc:Fallback xmlns="">
          <p:sp>
            <p:nvSpPr>
              <p:cNvPr id="3" name="Content Placeholder 2">
                <a:extLst>
                  <a:ext uri="{FF2B5EF4-FFF2-40B4-BE49-F238E27FC236}">
                    <a16:creationId xmlns:a16="http://schemas.microsoft.com/office/drawing/2014/main" id="{5CD61118-CE56-4519-4C4A-9E6E7F77FFAE}"/>
                  </a:ext>
                </a:extLst>
              </p:cNvPr>
              <p:cNvSpPr>
                <a:spLocks noGrp="1" noRot="1" noChangeAspect="1" noMove="1" noResize="1" noEditPoints="1" noAdjustHandles="1" noChangeArrowheads="1" noChangeShapeType="1" noTextEdit="1"/>
              </p:cNvSpPr>
              <p:nvPr>
                <p:ph idx="1"/>
              </p:nvPr>
            </p:nvSpPr>
            <p:spPr>
              <a:blipFill>
                <a:blip r:embed="rId2"/>
                <a:stretch>
                  <a:fillRect l="-1206" t="-14535" b="-26453"/>
                </a:stretch>
              </a:blipFill>
            </p:spPr>
            <p:txBody>
              <a:bodyPr/>
              <a:lstStyle/>
              <a:p>
                <a:r>
                  <a:rPr lang="en-US">
                    <a:noFill/>
                  </a:rPr>
                  <a:t> </a:t>
                </a:r>
              </a:p>
            </p:txBody>
          </p:sp>
        </mc:Fallback>
      </mc:AlternateContent>
    </p:spTree>
    <p:extLst>
      <p:ext uri="{BB962C8B-B14F-4D97-AF65-F5344CB8AC3E}">
        <p14:creationId xmlns:p14="http://schemas.microsoft.com/office/powerpoint/2010/main" val="370049912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DEE279-C61C-9AF1-0EB5-4B454D9A1FCF}"/>
              </a:ext>
            </a:extLst>
          </p:cNvPr>
          <p:cNvSpPr>
            <a:spLocks noGrp="1"/>
          </p:cNvSpPr>
          <p:nvPr>
            <p:ph type="title"/>
          </p:nvPr>
        </p:nvSpPr>
        <p:spPr/>
        <p:txBody>
          <a:bodyPr/>
          <a:lstStyle/>
          <a:p>
            <a:r>
              <a:rPr lang="en-US" dirty="0"/>
              <a:t>GAMS model - monopolist, continued</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DB4D49DC-DB95-6777-3066-FEC21D28CF10}"/>
                  </a:ext>
                </a:extLst>
              </p:cNvPr>
              <p:cNvSpPr>
                <a:spLocks noGrp="1"/>
              </p:cNvSpPr>
              <p:nvPr>
                <p:ph idx="1"/>
              </p:nvPr>
            </p:nvSpPr>
            <p:spPr/>
            <p:txBody>
              <a:bodyPr>
                <a:normAutofit fontScale="85000" lnSpcReduction="10000"/>
              </a:bodyPr>
              <a:lstStyle/>
              <a:p>
                <a:pPr marL="0" indent="0">
                  <a:buNone/>
                </a:pPr>
                <a:r>
                  <a:rPr lang="en-US" dirty="0"/>
                  <a:t>Noting: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𝑝</m:t>
                        </m:r>
                      </m:e>
                      <m:sub>
                        <m:r>
                          <a:rPr lang="en-US" b="0" i="1" smtClean="0">
                            <a:latin typeface="Cambria Math" panose="02040503050406030204" pitchFamily="18" charset="0"/>
                          </a:rPr>
                          <m:t>𝑡</m:t>
                        </m:r>
                      </m:sub>
                    </m:sSub>
                    <m:r>
                      <a:rPr lang="en-US" b="0" i="1" smtClean="0">
                        <a:latin typeface="Cambria Math" panose="02040503050406030204" pitchFamily="18" charset="0"/>
                      </a:rPr>
                      <m:t>=</m:t>
                    </m:r>
                    <m:r>
                      <a:rPr lang="en-US" b="0" i="1" smtClean="0">
                        <a:latin typeface="Cambria Math" panose="02040503050406030204" pitchFamily="18" charset="0"/>
                      </a:rPr>
                      <m:t>𝑎</m:t>
                    </m:r>
                    <m:r>
                      <a:rPr lang="en-US" b="0" i="1" smtClean="0">
                        <a:latin typeface="Cambria Math" panose="02040503050406030204" pitchFamily="18" charset="0"/>
                      </a:rPr>
                      <m:t>+</m:t>
                    </m:r>
                    <m:r>
                      <a:rPr lang="en-US" b="0" i="1" smtClean="0">
                        <a:latin typeface="Cambria Math" panose="02040503050406030204" pitchFamily="18" charset="0"/>
                      </a:rPr>
                      <m:t>𝑏</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𝑄</m:t>
                        </m:r>
                      </m:e>
                      <m:sub>
                        <m:r>
                          <a:rPr lang="en-US" b="0" i="1" smtClean="0">
                            <a:latin typeface="Cambria Math" panose="02040503050406030204" pitchFamily="18" charset="0"/>
                          </a:rPr>
                          <m:t>𝑡</m:t>
                        </m:r>
                      </m:sub>
                    </m:sSub>
                  </m:oMath>
                </a14:m>
                <a:endParaRPr lang="en-US" dirty="0"/>
              </a:p>
              <a:p>
                <a:pPr marL="0" indent="0">
                  <a:buNone/>
                </a:pPr>
                <a:r>
                  <a:rPr lang="en-US" dirty="0"/>
                  <a:t>Goal is to maximize profits choosing extraction level:</a:t>
                </a:r>
              </a:p>
              <a:p>
                <a:pPr marL="0" indent="0">
                  <a:buNone/>
                </a:pPr>
                <a14:m>
                  <m:oMathPara xmlns:m="http://schemas.openxmlformats.org/officeDocument/2006/math">
                    <m:oMathParaPr>
                      <m:jc m:val="centerGroup"/>
                    </m:oMathParaPr>
                    <m:oMath xmlns:m="http://schemas.openxmlformats.org/officeDocument/2006/math">
                      <m:m>
                        <m:mPr>
                          <m:mcs>
                            <m:mc>
                              <m:mcPr>
                                <m:count m:val="1"/>
                                <m:mcJc m:val="center"/>
                              </m:mcPr>
                            </m:mc>
                          </m:mcs>
                          <m:ctrlPr>
                            <a:rPr lang="en-US" i="1" smtClean="0">
                              <a:latin typeface="Cambria Math" panose="02040503050406030204" pitchFamily="18" charset="0"/>
                            </a:rPr>
                          </m:ctrlPr>
                        </m:mPr>
                        <m:mr>
                          <m:e>
                            <m:r>
                              <m:rPr>
                                <m:brk m:alnAt="7"/>
                              </m:rPr>
                              <a:rPr lang="en-US" b="0" i="1" smtClean="0">
                                <a:latin typeface="Cambria Math" panose="02040503050406030204" pitchFamily="18" charset="0"/>
                              </a:rPr>
                              <m:t>𝑚</m:t>
                            </m:r>
                            <m:r>
                              <a:rPr lang="en-US" b="0" i="1" smtClean="0">
                                <a:latin typeface="Cambria Math" panose="02040503050406030204" pitchFamily="18" charset="0"/>
                              </a:rPr>
                              <m:t>𝑎𝑥</m:t>
                            </m:r>
                          </m:e>
                        </m:mr>
                        <m:m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𝑄</m:t>
                                </m:r>
                              </m:e>
                              <m:sub>
                                <m:r>
                                  <a:rPr lang="en-US" b="0" i="1" smtClean="0">
                                    <a:latin typeface="Cambria Math" panose="02040503050406030204" pitchFamily="18" charset="0"/>
                                  </a:rPr>
                                  <m:t>𝑡</m:t>
                                </m:r>
                              </m:sub>
                            </m:sSub>
                          </m:e>
                        </m:mr>
                      </m:m>
                      <m:r>
                        <a:rPr lang="en-US" b="0" i="1" smtClean="0">
                          <a:latin typeface="Cambria Math" panose="02040503050406030204" pitchFamily="18" charset="0"/>
                        </a:rPr>
                        <m:t>  </m:t>
                      </m:r>
                      <m:r>
                        <a:rPr lang="en-US" b="0" i="1" smtClean="0">
                          <a:latin typeface="Cambria Math" panose="02040503050406030204" pitchFamily="18" charset="0"/>
                        </a:rPr>
                        <m:t>𝜋</m:t>
                      </m:r>
                      <m:r>
                        <a:rPr lang="en-US" b="0" i="1" smtClean="0">
                          <a:latin typeface="Cambria Math" panose="02040503050406030204" pitchFamily="18" charset="0"/>
                        </a:rPr>
                        <m:t>=</m:t>
                      </m:r>
                      <m:nary>
                        <m:naryPr>
                          <m:chr m:val="∑"/>
                          <m:supHide m:val="on"/>
                          <m:ctrlPr>
                            <a:rPr lang="en-US" b="0" i="1" smtClean="0">
                              <a:latin typeface="Cambria Math" panose="02040503050406030204" pitchFamily="18" charset="0"/>
                            </a:rPr>
                          </m:ctrlPr>
                        </m:naryPr>
                        <m:sub>
                          <m:r>
                            <a:rPr lang="en-US" b="0" i="1" smtClean="0">
                              <a:latin typeface="Cambria Math" panose="02040503050406030204" pitchFamily="18" charset="0"/>
                            </a:rPr>
                            <m:t>𝑡</m:t>
                          </m:r>
                        </m:sub>
                        <m:sup/>
                        <m:e>
                          <m:sSub>
                            <m:sSubPr>
                              <m:ctrlPr>
                                <a:rPr lang="en-US" i="1">
                                  <a:latin typeface="Cambria Math" panose="02040503050406030204" pitchFamily="18" charset="0"/>
                                </a:rPr>
                              </m:ctrlPr>
                            </m:sSubPr>
                            <m:e>
                              <m:r>
                                <a:rPr lang="en-US" i="1">
                                  <a:latin typeface="Cambria Math" panose="02040503050406030204" pitchFamily="18" charset="0"/>
                                </a:rPr>
                                <m:t>𝛿</m:t>
                              </m:r>
                            </m:e>
                            <m:sub>
                              <m:r>
                                <a:rPr lang="en-US" i="1">
                                  <a:latin typeface="Cambria Math" panose="02040503050406030204" pitchFamily="18" charset="0"/>
                                </a:rPr>
                                <m:t>𝑡</m:t>
                              </m:r>
                            </m:sub>
                          </m:sSub>
                          <m:d>
                            <m:dPr>
                              <m:ctrlPr>
                                <a:rPr lang="en-US" i="1">
                                  <a:latin typeface="Cambria Math" panose="02040503050406030204" pitchFamily="18" charset="0"/>
                                </a:rPr>
                              </m:ctrlPr>
                            </m:dPr>
                            <m:e>
                              <m:r>
                                <a:rPr lang="en-US" i="1">
                                  <a:latin typeface="Cambria Math" panose="02040503050406030204" pitchFamily="18" charset="0"/>
                                </a:rPr>
                                <m:t>𝑎</m:t>
                              </m:r>
                              <m:sSub>
                                <m:sSubPr>
                                  <m:ctrlPr>
                                    <a:rPr lang="en-US" i="1">
                                      <a:latin typeface="Cambria Math" panose="02040503050406030204" pitchFamily="18" charset="0"/>
                                    </a:rPr>
                                  </m:ctrlPr>
                                </m:sSubPr>
                                <m:e>
                                  <m:r>
                                    <a:rPr lang="en-US" i="1">
                                      <a:latin typeface="Cambria Math" panose="02040503050406030204" pitchFamily="18" charset="0"/>
                                    </a:rPr>
                                    <m:t>𝑄</m:t>
                                  </m:r>
                                </m:e>
                                <m:sub>
                                  <m:r>
                                    <a:rPr lang="en-US" i="1">
                                      <a:latin typeface="Cambria Math" panose="02040503050406030204" pitchFamily="18" charset="0"/>
                                    </a:rPr>
                                    <m:t>𝑡</m:t>
                                  </m:r>
                                </m:sub>
                              </m:sSub>
                              <m:r>
                                <a:rPr lang="en-US" i="1">
                                  <a:latin typeface="Cambria Math" panose="02040503050406030204" pitchFamily="18" charset="0"/>
                                </a:rPr>
                                <m:t>+</m:t>
                              </m:r>
                              <m:f>
                                <m:fPr>
                                  <m:ctrlPr>
                                    <a:rPr lang="en-US" i="1">
                                      <a:latin typeface="Cambria Math" panose="02040503050406030204" pitchFamily="18" charset="0"/>
                                    </a:rPr>
                                  </m:ctrlPr>
                                </m:fPr>
                                <m:num>
                                  <m:r>
                                    <a:rPr lang="en-US" i="1">
                                      <a:latin typeface="Cambria Math" panose="02040503050406030204" pitchFamily="18" charset="0"/>
                                    </a:rPr>
                                    <m:t>𝑏</m:t>
                                  </m:r>
                                  <m:sSubSup>
                                    <m:sSubSupPr>
                                      <m:ctrlPr>
                                        <a:rPr lang="en-US" i="1">
                                          <a:latin typeface="Cambria Math" panose="02040503050406030204" pitchFamily="18" charset="0"/>
                                        </a:rPr>
                                      </m:ctrlPr>
                                    </m:sSubSupPr>
                                    <m:e>
                                      <m:r>
                                        <a:rPr lang="en-US" i="1">
                                          <a:latin typeface="Cambria Math" panose="02040503050406030204" pitchFamily="18" charset="0"/>
                                        </a:rPr>
                                        <m:t>𝑄</m:t>
                                      </m:r>
                                    </m:e>
                                    <m:sub>
                                      <m:r>
                                        <a:rPr lang="en-US" i="1">
                                          <a:latin typeface="Cambria Math" panose="02040503050406030204" pitchFamily="18" charset="0"/>
                                        </a:rPr>
                                        <m:t>𝑡</m:t>
                                      </m:r>
                                    </m:sub>
                                    <m:sup>
                                      <m:r>
                                        <a:rPr lang="en-US" i="1">
                                          <a:latin typeface="Cambria Math" panose="02040503050406030204" pitchFamily="18" charset="0"/>
                                        </a:rPr>
                                        <m:t>2</m:t>
                                      </m:r>
                                    </m:sup>
                                  </m:sSubSup>
                                </m:num>
                                <m:den>
                                  <m:r>
                                    <a:rPr lang="en-US" i="1">
                                      <a:latin typeface="Cambria Math" panose="02040503050406030204" pitchFamily="18" charset="0"/>
                                    </a:rPr>
                                    <m:t>2</m:t>
                                  </m:r>
                                </m:den>
                              </m:f>
                            </m:e>
                          </m:d>
                        </m:e>
                      </m:nary>
                      <m:r>
                        <a:rPr lang="en-US" i="1">
                          <a:latin typeface="Cambria Math" panose="02040503050406030204" pitchFamily="18" charset="0"/>
                        </a:rPr>
                        <m:t>−</m:t>
                      </m:r>
                      <m:f>
                        <m:fPr>
                          <m:ctrlPr>
                            <a:rPr lang="en-US" i="1">
                              <a:latin typeface="Cambria Math" panose="02040503050406030204" pitchFamily="18" charset="0"/>
                            </a:rPr>
                          </m:ctrlPr>
                        </m:fPr>
                        <m:num>
                          <m:acc>
                            <m:accPr>
                              <m:chr m:val="̅"/>
                              <m:ctrlPr>
                                <a:rPr lang="en-US" i="1">
                                  <a:latin typeface="Cambria Math" panose="02040503050406030204" pitchFamily="18" charset="0"/>
                                </a:rPr>
                              </m:ctrlPr>
                            </m:accPr>
                            <m:e>
                              <m:r>
                                <a:rPr lang="en-US" i="1">
                                  <a:latin typeface="Cambria Math" panose="02040503050406030204" pitchFamily="18" charset="0"/>
                                </a:rPr>
                                <m:t>𝑐</m:t>
                              </m:r>
                            </m:e>
                          </m:acc>
                          <m:sSubSup>
                            <m:sSubSupPr>
                              <m:ctrlPr>
                                <a:rPr lang="en-US" i="1">
                                  <a:latin typeface="Cambria Math" panose="02040503050406030204" pitchFamily="18" charset="0"/>
                                </a:rPr>
                              </m:ctrlPr>
                            </m:sSubSupPr>
                            <m:e>
                              <m:r>
                                <a:rPr lang="en-US" i="1">
                                  <a:latin typeface="Cambria Math" panose="02040503050406030204" pitchFamily="18" charset="0"/>
                                </a:rPr>
                                <m:t>𝑄</m:t>
                              </m:r>
                            </m:e>
                            <m:sub>
                              <m:r>
                                <a:rPr lang="en-US" i="1">
                                  <a:latin typeface="Cambria Math" panose="02040503050406030204" pitchFamily="18" charset="0"/>
                                </a:rPr>
                                <m:t>𝑡</m:t>
                              </m:r>
                            </m:sub>
                            <m:sup>
                              <m:r>
                                <a:rPr lang="en-US" i="1">
                                  <a:latin typeface="Cambria Math" panose="02040503050406030204" pitchFamily="18" charset="0"/>
                                </a:rPr>
                                <m:t>2</m:t>
                              </m:r>
                            </m:sup>
                          </m:sSubSup>
                        </m:num>
                        <m:den>
                          <m:sSub>
                            <m:sSubPr>
                              <m:ctrlPr>
                                <a:rPr lang="en-US" i="1">
                                  <a:latin typeface="Cambria Math" panose="02040503050406030204" pitchFamily="18" charset="0"/>
                                </a:rPr>
                              </m:ctrlPr>
                            </m:sSubPr>
                            <m:e>
                              <m:r>
                                <a:rPr lang="en-US" i="1">
                                  <a:latin typeface="Cambria Math" panose="02040503050406030204" pitchFamily="18" charset="0"/>
                                </a:rPr>
                                <m:t>𝑆</m:t>
                              </m:r>
                            </m:e>
                            <m:sub>
                              <m:r>
                                <a:rPr lang="en-US" i="1">
                                  <a:latin typeface="Cambria Math" panose="02040503050406030204" pitchFamily="18" charset="0"/>
                                </a:rPr>
                                <m:t>0</m:t>
                              </m:r>
                            </m:sub>
                          </m:sSub>
                        </m:den>
                      </m:f>
                    </m:oMath>
                  </m:oMathPara>
                </a14:m>
                <a:endParaRPr lang="en-US" dirty="0"/>
              </a:p>
              <a:p>
                <a:pPr marL="0" indent="0">
                  <a:buNone/>
                </a:pPr>
                <a:endParaRPr lang="en-US" dirty="0"/>
              </a:p>
              <a:p>
                <a:pPr marL="0" indent="0">
                  <a:buNone/>
                </a:pPr>
                <a:r>
                  <a:rPr lang="en-US" dirty="0"/>
                  <a:t>S.T. </a:t>
                </a:r>
              </a:p>
              <a:p>
                <a:pPr marL="0" indent="0">
                  <a:buNone/>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𝑆</m:t>
                          </m:r>
                        </m:e>
                        <m:sub>
                          <m:r>
                            <a:rPr lang="en-US" b="0" i="1" smtClean="0">
                              <a:latin typeface="Cambria Math" panose="02040503050406030204" pitchFamily="18" charset="0"/>
                            </a:rPr>
                            <m:t>0</m:t>
                          </m:r>
                        </m:sub>
                      </m:sSub>
                      <m:r>
                        <a:rPr lang="en-US" b="0" i="1" smtClean="0">
                          <a:latin typeface="Cambria Math" panose="02040503050406030204" pitchFamily="18" charset="0"/>
                        </a:rPr>
                        <m:t>≥</m:t>
                      </m:r>
                      <m:nary>
                        <m:naryPr>
                          <m:chr m:val="∑"/>
                          <m:supHide m:val="on"/>
                          <m:ctrlPr>
                            <a:rPr lang="en-US" b="0" i="1" smtClean="0">
                              <a:latin typeface="Cambria Math" panose="02040503050406030204" pitchFamily="18" charset="0"/>
                            </a:rPr>
                          </m:ctrlPr>
                        </m:naryPr>
                        <m:sub>
                          <m:r>
                            <a:rPr lang="en-US" b="0" i="1" smtClean="0">
                              <a:latin typeface="Cambria Math" panose="02040503050406030204" pitchFamily="18" charset="0"/>
                            </a:rPr>
                            <m:t>𝑡</m:t>
                          </m:r>
                        </m:sub>
                        <m:sup/>
                        <m:e>
                          <m:sSub>
                            <m:sSubPr>
                              <m:ctrlPr>
                                <a:rPr lang="en-US" b="0" i="1" smtClean="0">
                                  <a:latin typeface="Cambria Math" panose="02040503050406030204" pitchFamily="18" charset="0"/>
                                </a:rPr>
                              </m:ctrlPr>
                            </m:sSubPr>
                            <m:e>
                              <m:r>
                                <a:rPr lang="en-US" b="0" i="1" smtClean="0">
                                  <a:latin typeface="Cambria Math" panose="02040503050406030204" pitchFamily="18" charset="0"/>
                                </a:rPr>
                                <m:t>𝑄</m:t>
                              </m:r>
                            </m:e>
                            <m:sub>
                              <m:r>
                                <a:rPr lang="en-US" b="0" i="1" smtClean="0">
                                  <a:latin typeface="Cambria Math" panose="02040503050406030204" pitchFamily="18" charset="0"/>
                                </a:rPr>
                                <m:t>𝑡</m:t>
                              </m:r>
                            </m:sub>
                          </m:sSub>
                        </m:e>
                      </m:nary>
                    </m:oMath>
                  </m:oMathPara>
                </a14:m>
                <a:endParaRPr lang="en-US" dirty="0"/>
              </a:p>
              <a:p>
                <a:pPr marL="0" indent="0">
                  <a:buNone/>
                </a:pPr>
                <a:endParaRPr lang="en-US" dirty="0"/>
              </a:p>
              <a:p>
                <a:pPr marL="0" indent="0">
                  <a:buNone/>
                </a:pPr>
                <a:r>
                  <a:rPr lang="en-US" dirty="0"/>
                  <a:t>As parameterized: admittedly a contrived comparison to illustrate a point</a:t>
                </a:r>
              </a:p>
            </p:txBody>
          </p:sp>
        </mc:Choice>
        <mc:Fallback xmlns="">
          <p:sp>
            <p:nvSpPr>
              <p:cNvPr id="3" name="Content Placeholder 2">
                <a:extLst>
                  <a:ext uri="{FF2B5EF4-FFF2-40B4-BE49-F238E27FC236}">
                    <a16:creationId xmlns:a16="http://schemas.microsoft.com/office/drawing/2014/main" id="{DB4D49DC-DB95-6777-3066-FEC21D28CF10}"/>
                  </a:ext>
                </a:extLst>
              </p:cNvPr>
              <p:cNvSpPr>
                <a:spLocks noGrp="1" noRot="1" noChangeAspect="1" noMove="1" noResize="1" noEditPoints="1" noAdjustHandles="1" noChangeArrowheads="1" noChangeShapeType="1" noTextEdit="1"/>
              </p:cNvSpPr>
              <p:nvPr>
                <p:ph idx="1"/>
              </p:nvPr>
            </p:nvSpPr>
            <p:spPr>
              <a:blipFill>
                <a:blip r:embed="rId2"/>
                <a:stretch>
                  <a:fillRect l="-965" t="-14244" b="-17151"/>
                </a:stretch>
              </a:blipFill>
            </p:spPr>
            <p:txBody>
              <a:bodyPr/>
              <a:lstStyle/>
              <a:p>
                <a:r>
                  <a:rPr lang="en-US">
                    <a:noFill/>
                  </a:rPr>
                  <a:t> </a:t>
                </a:r>
              </a:p>
            </p:txBody>
          </p:sp>
        </mc:Fallback>
      </mc:AlternateContent>
    </p:spTree>
    <p:extLst>
      <p:ext uri="{BB962C8B-B14F-4D97-AF65-F5344CB8AC3E}">
        <p14:creationId xmlns:p14="http://schemas.microsoft.com/office/powerpoint/2010/main" val="350849295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8058F5-3D54-DAA9-86AB-00E857454662}"/>
              </a:ext>
            </a:extLst>
          </p:cNvPr>
          <p:cNvSpPr>
            <a:spLocks noGrp="1"/>
          </p:cNvSpPr>
          <p:nvPr>
            <p:ph type="title"/>
          </p:nvPr>
        </p:nvSpPr>
        <p:spPr>
          <a:xfrm>
            <a:off x="838200" y="724647"/>
            <a:ext cx="10515600" cy="1325563"/>
          </a:xfrm>
        </p:spPr>
        <p:txBody>
          <a:bodyPr/>
          <a:lstStyle/>
          <a:p>
            <a:r>
              <a:rPr lang="en-US" dirty="0"/>
              <a:t>Bigger picture of Hotelling and non-renewable resource extraction</a:t>
            </a:r>
          </a:p>
        </p:txBody>
      </p:sp>
      <p:graphicFrame>
        <p:nvGraphicFramePr>
          <p:cNvPr id="10" name="Table 9">
            <a:extLst>
              <a:ext uri="{FF2B5EF4-FFF2-40B4-BE49-F238E27FC236}">
                <a16:creationId xmlns:a16="http://schemas.microsoft.com/office/drawing/2014/main" id="{043A90A0-6557-4A45-9E01-A144442A912F}"/>
              </a:ext>
            </a:extLst>
          </p:cNvPr>
          <p:cNvGraphicFramePr>
            <a:graphicFrameLocks noGrp="1"/>
          </p:cNvGraphicFramePr>
          <p:nvPr/>
        </p:nvGraphicFramePr>
        <p:xfrm>
          <a:off x="838201" y="2727371"/>
          <a:ext cx="10671312" cy="2743200"/>
        </p:xfrm>
        <a:graphic>
          <a:graphicData uri="http://schemas.openxmlformats.org/drawingml/2006/table">
            <a:tbl>
              <a:tblPr firstRow="1" bandRow="1">
                <a:tableStyleId>{5C22544A-7EE6-4342-B048-85BDC9FD1C3A}</a:tableStyleId>
              </a:tblPr>
              <a:tblGrid>
                <a:gridCol w="3557104">
                  <a:extLst>
                    <a:ext uri="{9D8B030D-6E8A-4147-A177-3AD203B41FA5}">
                      <a16:colId xmlns:a16="http://schemas.microsoft.com/office/drawing/2014/main" val="2923460607"/>
                    </a:ext>
                  </a:extLst>
                </a:gridCol>
                <a:gridCol w="2581965">
                  <a:extLst>
                    <a:ext uri="{9D8B030D-6E8A-4147-A177-3AD203B41FA5}">
                      <a16:colId xmlns:a16="http://schemas.microsoft.com/office/drawing/2014/main" val="1057207179"/>
                    </a:ext>
                  </a:extLst>
                </a:gridCol>
                <a:gridCol w="4532243">
                  <a:extLst>
                    <a:ext uri="{9D8B030D-6E8A-4147-A177-3AD203B41FA5}">
                      <a16:colId xmlns:a16="http://schemas.microsoft.com/office/drawing/2014/main" val="3516289911"/>
                    </a:ext>
                  </a:extLst>
                </a:gridCol>
              </a:tblGrid>
              <a:tr h="370840">
                <a:tc>
                  <a:txBody>
                    <a:bodyPr/>
                    <a:lstStyle/>
                    <a:p>
                      <a:r>
                        <a:rPr lang="en-US" sz="2400" dirty="0"/>
                        <a:t>Aspect</a:t>
                      </a:r>
                    </a:p>
                  </a:txBody>
                  <a:tcPr/>
                </a:tc>
                <a:tc>
                  <a:txBody>
                    <a:bodyPr/>
                    <a:lstStyle/>
                    <a:p>
                      <a:r>
                        <a:rPr lang="en-US" sz="2400" dirty="0"/>
                        <a:t>PC</a:t>
                      </a:r>
                    </a:p>
                  </a:txBody>
                  <a:tcPr/>
                </a:tc>
                <a:tc>
                  <a:txBody>
                    <a:bodyPr/>
                    <a:lstStyle/>
                    <a:p>
                      <a:r>
                        <a:rPr lang="en-US" sz="2400" dirty="0"/>
                        <a:t>Monopoly</a:t>
                      </a:r>
                    </a:p>
                  </a:txBody>
                  <a:tcPr/>
                </a:tc>
                <a:extLst>
                  <a:ext uri="{0D108BD9-81ED-4DB2-BD59-A6C34878D82A}">
                    <a16:rowId xmlns:a16="http://schemas.microsoft.com/office/drawing/2014/main" val="2977063147"/>
                  </a:ext>
                </a:extLst>
              </a:tr>
              <a:tr h="370840">
                <a:tc>
                  <a:txBody>
                    <a:bodyPr/>
                    <a:lstStyle/>
                    <a:p>
                      <a:r>
                        <a:rPr lang="en-US" sz="2400" dirty="0"/>
                        <a:t>Price Path</a:t>
                      </a:r>
                    </a:p>
                  </a:txBody>
                  <a:tcPr/>
                </a:tc>
                <a:tc>
                  <a:txBody>
                    <a:bodyPr/>
                    <a:lstStyle/>
                    <a:p>
                      <a:r>
                        <a:rPr lang="en-US" sz="2400" dirty="0"/>
                        <a:t>Rises at r</a:t>
                      </a:r>
                    </a:p>
                  </a:txBody>
                  <a:tcPr/>
                </a:tc>
                <a:tc>
                  <a:txBody>
                    <a:bodyPr/>
                    <a:lstStyle/>
                    <a:p>
                      <a:r>
                        <a:rPr lang="en-US" sz="2400" dirty="0"/>
                        <a:t>Rises slower than r</a:t>
                      </a:r>
                    </a:p>
                  </a:txBody>
                  <a:tcPr/>
                </a:tc>
                <a:extLst>
                  <a:ext uri="{0D108BD9-81ED-4DB2-BD59-A6C34878D82A}">
                    <a16:rowId xmlns:a16="http://schemas.microsoft.com/office/drawing/2014/main" val="781514734"/>
                  </a:ext>
                </a:extLst>
              </a:tr>
              <a:tr h="370840">
                <a:tc>
                  <a:txBody>
                    <a:bodyPr/>
                    <a:lstStyle/>
                    <a:p>
                      <a:r>
                        <a:rPr lang="en-US" sz="2400" dirty="0"/>
                        <a:t>Extraction</a:t>
                      </a:r>
                    </a:p>
                  </a:txBody>
                  <a:tcPr/>
                </a:tc>
                <a:tc>
                  <a:txBody>
                    <a:bodyPr/>
                    <a:lstStyle/>
                    <a:p>
                      <a:r>
                        <a:rPr lang="en-US" sz="2400" dirty="0"/>
                        <a:t>Faster</a:t>
                      </a:r>
                    </a:p>
                  </a:txBody>
                  <a:tcPr/>
                </a:tc>
                <a:tc>
                  <a:txBody>
                    <a:bodyPr/>
                    <a:lstStyle/>
                    <a:p>
                      <a:r>
                        <a:rPr lang="en-US" sz="2400" dirty="0"/>
                        <a:t>Slower</a:t>
                      </a:r>
                    </a:p>
                  </a:txBody>
                  <a:tcPr/>
                </a:tc>
                <a:extLst>
                  <a:ext uri="{0D108BD9-81ED-4DB2-BD59-A6C34878D82A}">
                    <a16:rowId xmlns:a16="http://schemas.microsoft.com/office/drawing/2014/main" val="2887966476"/>
                  </a:ext>
                </a:extLst>
              </a:tr>
              <a:tr h="370840">
                <a:tc>
                  <a:txBody>
                    <a:bodyPr/>
                    <a:lstStyle/>
                    <a:p>
                      <a:r>
                        <a:rPr lang="en-US" sz="2400" dirty="0"/>
                        <a:t>Initial Price</a:t>
                      </a:r>
                    </a:p>
                  </a:txBody>
                  <a:tcPr/>
                </a:tc>
                <a:tc>
                  <a:txBody>
                    <a:bodyPr/>
                    <a:lstStyle/>
                    <a:p>
                      <a:r>
                        <a:rPr lang="en-US" sz="2400" dirty="0"/>
                        <a:t>Lower</a:t>
                      </a:r>
                    </a:p>
                  </a:txBody>
                  <a:tcPr/>
                </a:tc>
                <a:tc>
                  <a:txBody>
                    <a:bodyPr/>
                    <a:lstStyle/>
                    <a:p>
                      <a:r>
                        <a:rPr lang="en-US" sz="2400" dirty="0"/>
                        <a:t>Higher</a:t>
                      </a:r>
                    </a:p>
                  </a:txBody>
                  <a:tcPr/>
                </a:tc>
                <a:extLst>
                  <a:ext uri="{0D108BD9-81ED-4DB2-BD59-A6C34878D82A}">
                    <a16:rowId xmlns:a16="http://schemas.microsoft.com/office/drawing/2014/main" val="1034948507"/>
                  </a:ext>
                </a:extLst>
              </a:tr>
              <a:tr h="370840">
                <a:tc>
                  <a:txBody>
                    <a:bodyPr/>
                    <a:lstStyle/>
                    <a:p>
                      <a:r>
                        <a:rPr lang="en-US" sz="2400" dirty="0"/>
                        <a:t>Resource lifetime</a:t>
                      </a:r>
                    </a:p>
                  </a:txBody>
                  <a:tcPr/>
                </a:tc>
                <a:tc>
                  <a:txBody>
                    <a:bodyPr/>
                    <a:lstStyle/>
                    <a:p>
                      <a:r>
                        <a:rPr lang="en-US" sz="2400" dirty="0"/>
                        <a:t>Shorter</a:t>
                      </a:r>
                    </a:p>
                  </a:txBody>
                  <a:tcPr/>
                </a:tc>
                <a:tc>
                  <a:txBody>
                    <a:bodyPr/>
                    <a:lstStyle/>
                    <a:p>
                      <a:r>
                        <a:rPr lang="en-US" sz="2400" dirty="0"/>
                        <a:t>Longer</a:t>
                      </a:r>
                    </a:p>
                  </a:txBody>
                  <a:tcPr/>
                </a:tc>
                <a:extLst>
                  <a:ext uri="{0D108BD9-81ED-4DB2-BD59-A6C34878D82A}">
                    <a16:rowId xmlns:a16="http://schemas.microsoft.com/office/drawing/2014/main" val="1780849425"/>
                  </a:ext>
                </a:extLst>
              </a:tr>
              <a:tr h="370840">
                <a:tc>
                  <a:txBody>
                    <a:bodyPr/>
                    <a:lstStyle/>
                    <a:p>
                      <a:r>
                        <a:rPr lang="en-US" sz="2400" dirty="0"/>
                        <a:t>Extraction</a:t>
                      </a:r>
                    </a:p>
                  </a:txBody>
                  <a:tcPr/>
                </a:tc>
                <a:tc>
                  <a:txBody>
                    <a:bodyPr/>
                    <a:lstStyle/>
                    <a:p>
                      <a:r>
                        <a:rPr lang="en-US" sz="2400" dirty="0"/>
                        <a:t>Complete</a:t>
                      </a:r>
                    </a:p>
                  </a:txBody>
                  <a:tcPr/>
                </a:tc>
                <a:tc>
                  <a:txBody>
                    <a:bodyPr/>
                    <a:lstStyle/>
                    <a:p>
                      <a:r>
                        <a:rPr lang="en-US" sz="2400" dirty="0"/>
                        <a:t>May not fully exhaust resource</a:t>
                      </a:r>
                    </a:p>
                  </a:txBody>
                  <a:tcPr/>
                </a:tc>
                <a:extLst>
                  <a:ext uri="{0D108BD9-81ED-4DB2-BD59-A6C34878D82A}">
                    <a16:rowId xmlns:a16="http://schemas.microsoft.com/office/drawing/2014/main" val="2469561270"/>
                  </a:ext>
                </a:extLst>
              </a:tr>
            </a:tbl>
          </a:graphicData>
        </a:graphic>
      </p:graphicFrame>
    </p:spTree>
    <p:extLst>
      <p:ext uri="{BB962C8B-B14F-4D97-AF65-F5344CB8AC3E}">
        <p14:creationId xmlns:p14="http://schemas.microsoft.com/office/powerpoint/2010/main" val="47193869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3C54F4CE-85F0-46ED-80DA-9518C9251A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Freeform: Shape 18">
            <a:extLst>
              <a:ext uri="{FF2B5EF4-FFF2-40B4-BE49-F238E27FC236}">
                <a16:creationId xmlns:a16="http://schemas.microsoft.com/office/drawing/2014/main" id="{DADD1FCA-8ACB-4958-81DD-4CDD6D3E192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0"/>
            <a:ext cx="5802086" cy="6858000"/>
          </a:xfrm>
          <a:custGeom>
            <a:avLst/>
            <a:gdLst>
              <a:gd name="connsiteX0" fmla="*/ 5734864 w 5734864"/>
              <a:gd name="connsiteY0" fmla="*/ 0 h 6858000"/>
              <a:gd name="connsiteX1" fmla="*/ 771611 w 5734864"/>
              <a:gd name="connsiteY1" fmla="*/ 0 h 6858000"/>
              <a:gd name="connsiteX2" fmla="*/ 771679 w 5734864"/>
              <a:gd name="connsiteY2" fmla="*/ 49108 h 6858000"/>
              <a:gd name="connsiteX3" fmla="*/ 794248 w 5734864"/>
              <a:gd name="connsiteY3" fmla="*/ 200968 h 6858000"/>
              <a:gd name="connsiteX4" fmla="*/ 801749 w 5734864"/>
              <a:gd name="connsiteY4" fmla="*/ 414071 h 6858000"/>
              <a:gd name="connsiteX5" fmla="*/ 818548 w 5734864"/>
              <a:gd name="connsiteY5" fmla="*/ 585467 h 6858000"/>
              <a:gd name="connsiteX6" fmla="*/ 857476 w 5734864"/>
              <a:gd name="connsiteY6" fmla="*/ 800623 h 6858000"/>
              <a:gd name="connsiteX7" fmla="*/ 851083 w 5734864"/>
              <a:gd name="connsiteY7" fmla="*/ 878903 h 6858000"/>
              <a:gd name="connsiteX8" fmla="*/ 873564 w 5734864"/>
              <a:gd name="connsiteY8" fmla="*/ 943826 h 6858000"/>
              <a:gd name="connsiteX9" fmla="*/ 864705 w 5734864"/>
              <a:gd name="connsiteY9" fmla="*/ 973328 h 6858000"/>
              <a:gd name="connsiteX10" fmla="*/ 862869 w 5734864"/>
              <a:gd name="connsiteY10" fmla="*/ 978457 h 6858000"/>
              <a:gd name="connsiteX11" fmla="*/ 862233 w 5734864"/>
              <a:gd name="connsiteY11" fmla="*/ 998041 h 6858000"/>
              <a:gd name="connsiteX12" fmla="*/ 853665 w 5734864"/>
              <a:gd name="connsiteY12" fmla="*/ 1004750 h 6858000"/>
              <a:gd name="connsiteX13" fmla="*/ 846695 w 5734864"/>
              <a:gd name="connsiteY13" fmla="*/ 1035077 h 6858000"/>
              <a:gd name="connsiteX14" fmla="*/ 847865 w 5734864"/>
              <a:gd name="connsiteY14" fmla="*/ 1070795 h 6858000"/>
              <a:gd name="connsiteX15" fmla="*/ 862786 w 5734864"/>
              <a:gd name="connsiteY15" fmla="*/ 1238994 h 6858000"/>
              <a:gd name="connsiteX16" fmla="*/ 859345 w 5734864"/>
              <a:gd name="connsiteY16" fmla="*/ 1380427 h 6858000"/>
              <a:gd name="connsiteX17" fmla="*/ 855172 w 5734864"/>
              <a:gd name="connsiteY17" fmla="*/ 1435262 h 6858000"/>
              <a:gd name="connsiteX18" fmla="*/ 860494 w 5734864"/>
              <a:gd name="connsiteY18" fmla="*/ 1453861 h 6858000"/>
              <a:gd name="connsiteX19" fmla="*/ 853731 w 5734864"/>
              <a:gd name="connsiteY19" fmla="*/ 1467047 h 6858000"/>
              <a:gd name="connsiteX20" fmla="*/ 845847 w 5734864"/>
              <a:gd name="connsiteY20" fmla="*/ 1502307 h 6858000"/>
              <a:gd name="connsiteX21" fmla="*/ 817613 w 5734864"/>
              <a:gd name="connsiteY21" fmla="*/ 1565166 h 6858000"/>
              <a:gd name="connsiteX22" fmla="*/ 804223 w 5734864"/>
              <a:gd name="connsiteY22" fmla="*/ 1601941 h 6858000"/>
              <a:gd name="connsiteX23" fmla="*/ 791773 w 5734864"/>
              <a:gd name="connsiteY23" fmla="*/ 1627005 h 6858000"/>
              <a:gd name="connsiteX24" fmla="*/ 774645 w 5734864"/>
              <a:gd name="connsiteY24" fmla="*/ 1699922 h 6858000"/>
              <a:gd name="connsiteX25" fmla="*/ 752343 w 5734864"/>
              <a:gd name="connsiteY25" fmla="*/ 1824604 h 6858000"/>
              <a:gd name="connsiteX26" fmla="*/ 746254 w 5734864"/>
              <a:gd name="connsiteY26" fmla="*/ 1850222 h 6858000"/>
              <a:gd name="connsiteX27" fmla="*/ 728600 w 5734864"/>
              <a:gd name="connsiteY27" fmla="*/ 1869603 h 6858000"/>
              <a:gd name="connsiteX28" fmla="*/ 724396 w 5734864"/>
              <a:gd name="connsiteY28" fmla="*/ 1883104 h 6858000"/>
              <a:gd name="connsiteX29" fmla="*/ 722165 w 5734864"/>
              <a:gd name="connsiteY29" fmla="*/ 1885924 h 6858000"/>
              <a:gd name="connsiteX30" fmla="*/ 721338 w 5734864"/>
              <a:gd name="connsiteY30" fmla="*/ 1887123 h 6858000"/>
              <a:gd name="connsiteX31" fmla="*/ 714840 w 5734864"/>
              <a:gd name="connsiteY31" fmla="*/ 1902274 h 6858000"/>
              <a:gd name="connsiteX32" fmla="*/ 722847 w 5734864"/>
              <a:gd name="connsiteY32" fmla="*/ 1929891 h 6858000"/>
              <a:gd name="connsiteX33" fmla="*/ 719647 w 5734864"/>
              <a:gd name="connsiteY33" fmla="*/ 1936120 h 6858000"/>
              <a:gd name="connsiteX34" fmla="*/ 714660 w 5734864"/>
              <a:gd name="connsiteY34" fmla="*/ 1982709 h 6858000"/>
              <a:gd name="connsiteX35" fmla="*/ 710759 w 5734864"/>
              <a:gd name="connsiteY35" fmla="*/ 2013010 h 6858000"/>
              <a:gd name="connsiteX36" fmla="*/ 697927 w 5734864"/>
              <a:gd name="connsiteY36" fmla="*/ 2069833 h 6858000"/>
              <a:gd name="connsiteX37" fmla="*/ 693594 w 5734864"/>
              <a:gd name="connsiteY37" fmla="*/ 2103731 h 6858000"/>
              <a:gd name="connsiteX38" fmla="*/ 691109 w 5734864"/>
              <a:gd name="connsiteY38" fmla="*/ 2124027 h 6858000"/>
              <a:gd name="connsiteX39" fmla="*/ 676593 w 5734864"/>
              <a:gd name="connsiteY39" fmla="*/ 2176182 h 6858000"/>
              <a:gd name="connsiteX40" fmla="*/ 633227 w 5734864"/>
              <a:gd name="connsiteY40" fmla="*/ 2258036 h 6858000"/>
              <a:gd name="connsiteX41" fmla="*/ 625564 w 5734864"/>
              <a:gd name="connsiteY41" fmla="*/ 2284567 h 6858000"/>
              <a:gd name="connsiteX42" fmla="*/ 627074 w 5734864"/>
              <a:gd name="connsiteY42" fmla="*/ 2289605 h 6858000"/>
              <a:gd name="connsiteX43" fmla="*/ 614574 w 5734864"/>
              <a:gd name="connsiteY43" fmla="*/ 2308717 h 6858000"/>
              <a:gd name="connsiteX44" fmla="*/ 606890 w 5734864"/>
              <a:gd name="connsiteY44" fmla="*/ 2320662 h 6858000"/>
              <a:gd name="connsiteX45" fmla="*/ 605558 w 5734864"/>
              <a:gd name="connsiteY45" fmla="*/ 2327897 h 6858000"/>
              <a:gd name="connsiteX46" fmla="*/ 602202 w 5734864"/>
              <a:gd name="connsiteY46" fmla="*/ 2357749 h 6858000"/>
              <a:gd name="connsiteX47" fmla="*/ 600213 w 5734864"/>
              <a:gd name="connsiteY47" fmla="*/ 2364905 h 6858000"/>
              <a:gd name="connsiteX48" fmla="*/ 597160 w 5734864"/>
              <a:gd name="connsiteY48" fmla="*/ 2388351 h 6858000"/>
              <a:gd name="connsiteX49" fmla="*/ 597982 w 5734864"/>
              <a:gd name="connsiteY49" fmla="*/ 2402296 h 6858000"/>
              <a:gd name="connsiteX50" fmla="*/ 593150 w 5734864"/>
              <a:gd name="connsiteY50" fmla="*/ 2420015 h 6858000"/>
              <a:gd name="connsiteX51" fmla="*/ 592833 w 5734864"/>
              <a:gd name="connsiteY51" fmla="*/ 2422749 h 6858000"/>
              <a:gd name="connsiteX52" fmla="*/ 594479 w 5734864"/>
              <a:gd name="connsiteY52" fmla="*/ 2426002 h 6858000"/>
              <a:gd name="connsiteX53" fmla="*/ 591963 w 5734864"/>
              <a:gd name="connsiteY53" fmla="*/ 2431950 h 6858000"/>
              <a:gd name="connsiteX54" fmla="*/ 591544 w 5734864"/>
              <a:gd name="connsiteY54" fmla="*/ 2433897 h 6858000"/>
              <a:gd name="connsiteX55" fmla="*/ 589519 w 5734864"/>
              <a:gd name="connsiteY55" fmla="*/ 2451398 h 6858000"/>
              <a:gd name="connsiteX56" fmla="*/ 590037 w 5734864"/>
              <a:gd name="connsiteY56" fmla="*/ 2455536 h 6858000"/>
              <a:gd name="connsiteX57" fmla="*/ 588179 w 5734864"/>
              <a:gd name="connsiteY57" fmla="*/ 2462981 h 6858000"/>
              <a:gd name="connsiteX58" fmla="*/ 583434 w 5734864"/>
              <a:gd name="connsiteY58" fmla="*/ 2503991 h 6858000"/>
              <a:gd name="connsiteX59" fmla="*/ 567942 w 5734864"/>
              <a:gd name="connsiteY59" fmla="*/ 2652936 h 6858000"/>
              <a:gd name="connsiteX60" fmla="*/ 573869 w 5734864"/>
              <a:gd name="connsiteY60" fmla="*/ 2670188 h 6858000"/>
              <a:gd name="connsiteX61" fmla="*/ 575243 w 5734864"/>
              <a:gd name="connsiteY61" fmla="*/ 2688114 h 6858000"/>
              <a:gd name="connsiteX62" fmla="*/ 573824 w 5734864"/>
              <a:gd name="connsiteY62" fmla="*/ 2689856 h 6858000"/>
              <a:gd name="connsiteX63" fmla="*/ 570699 w 5734864"/>
              <a:gd name="connsiteY63" fmla="*/ 2709353 h 6858000"/>
              <a:gd name="connsiteX64" fmla="*/ 573192 w 5734864"/>
              <a:gd name="connsiteY64" fmla="*/ 2714527 h 6858000"/>
              <a:gd name="connsiteX65" fmla="*/ 572044 w 5734864"/>
              <a:gd name="connsiteY65" fmla="*/ 2728187 h 6858000"/>
              <a:gd name="connsiteX66" fmla="*/ 572465 w 5734864"/>
              <a:gd name="connsiteY66" fmla="*/ 2755863 h 6858000"/>
              <a:gd name="connsiteX67" fmla="*/ 570028 w 5734864"/>
              <a:gd name="connsiteY67" fmla="*/ 2760324 h 6858000"/>
              <a:gd name="connsiteX68" fmla="*/ 566748 w 5734864"/>
              <a:gd name="connsiteY68" fmla="*/ 2800948 h 6858000"/>
              <a:gd name="connsiteX69" fmla="*/ 565509 w 5734864"/>
              <a:gd name="connsiteY69" fmla="*/ 2801167 h 6858000"/>
              <a:gd name="connsiteX70" fmla="*/ 559367 w 5734864"/>
              <a:gd name="connsiteY70" fmla="*/ 2811129 h 6858000"/>
              <a:gd name="connsiteX71" fmla="*/ 550354 w 5734864"/>
              <a:gd name="connsiteY71" fmla="*/ 2830949 h 6858000"/>
              <a:gd name="connsiteX72" fmla="*/ 514795 w 5734864"/>
              <a:gd name="connsiteY72" fmla="*/ 2872433 h 6858000"/>
              <a:gd name="connsiteX73" fmla="*/ 509875 w 5734864"/>
              <a:gd name="connsiteY73" fmla="*/ 2923099 h 6858000"/>
              <a:gd name="connsiteX74" fmla="*/ 509577 w 5734864"/>
              <a:gd name="connsiteY74" fmla="*/ 2923197 h 6858000"/>
              <a:gd name="connsiteX75" fmla="*/ 507597 w 5734864"/>
              <a:gd name="connsiteY75" fmla="*/ 2931868 h 6858000"/>
              <a:gd name="connsiteX76" fmla="*/ 507379 w 5734864"/>
              <a:gd name="connsiteY76" fmla="*/ 2938322 h 6858000"/>
              <a:gd name="connsiteX77" fmla="*/ 504725 w 5734864"/>
              <a:gd name="connsiteY77" fmla="*/ 2954519 h 6858000"/>
              <a:gd name="connsiteX78" fmla="*/ 502018 w 5734864"/>
              <a:gd name="connsiteY78" fmla="*/ 2959643 h 6858000"/>
              <a:gd name="connsiteX79" fmla="*/ 498360 w 5734864"/>
              <a:gd name="connsiteY79" fmla="*/ 2961019 h 6858000"/>
              <a:gd name="connsiteX80" fmla="*/ 498483 w 5734864"/>
              <a:gd name="connsiteY80" fmla="*/ 2962590 h 6858000"/>
              <a:gd name="connsiteX81" fmla="*/ 484403 w 5734864"/>
              <a:gd name="connsiteY81" fmla="*/ 2990538 h 6858000"/>
              <a:gd name="connsiteX82" fmla="*/ 463075 w 5734864"/>
              <a:gd name="connsiteY82" fmla="*/ 3055956 h 6858000"/>
              <a:gd name="connsiteX83" fmla="*/ 455013 w 5734864"/>
              <a:gd name="connsiteY83" fmla="*/ 3094482 h 6858000"/>
              <a:gd name="connsiteX84" fmla="*/ 428391 w 5734864"/>
              <a:gd name="connsiteY84" fmla="*/ 3198850 h 6858000"/>
              <a:gd name="connsiteX85" fmla="*/ 401440 w 5734864"/>
              <a:gd name="connsiteY85" fmla="*/ 3307560 h 6858000"/>
              <a:gd name="connsiteX86" fmla="*/ 386076 w 5734864"/>
              <a:gd name="connsiteY86" fmla="*/ 3373943 h 6858000"/>
              <a:gd name="connsiteX87" fmla="*/ 374726 w 5734864"/>
              <a:gd name="connsiteY87" fmla="*/ 3381364 h 6858000"/>
              <a:gd name="connsiteX88" fmla="*/ 369145 w 5734864"/>
              <a:gd name="connsiteY88" fmla="*/ 3383729 h 6858000"/>
              <a:gd name="connsiteX89" fmla="*/ 364294 w 5734864"/>
              <a:gd name="connsiteY89" fmla="*/ 3414159 h 6858000"/>
              <a:gd name="connsiteX90" fmla="*/ 366450 w 5734864"/>
              <a:gd name="connsiteY90" fmla="*/ 3436925 h 6858000"/>
              <a:gd name="connsiteX91" fmla="*/ 351743 w 5734864"/>
              <a:gd name="connsiteY91" fmla="*/ 3521619 h 6858000"/>
              <a:gd name="connsiteX92" fmla="*/ 345784 w 5734864"/>
              <a:gd name="connsiteY92" fmla="*/ 3603757 h 6858000"/>
              <a:gd name="connsiteX93" fmla="*/ 344198 w 5734864"/>
              <a:gd name="connsiteY93" fmla="*/ 3652424 h 6858000"/>
              <a:gd name="connsiteX94" fmla="*/ 352450 w 5734864"/>
              <a:gd name="connsiteY94" fmla="*/ 3665222 h 6858000"/>
              <a:gd name="connsiteX95" fmla="*/ 342621 w 5734864"/>
              <a:gd name="connsiteY95" fmla="*/ 3700804 h 6858000"/>
              <a:gd name="connsiteX96" fmla="*/ 341514 w 5734864"/>
              <a:gd name="connsiteY96" fmla="*/ 3734774 h 6858000"/>
              <a:gd name="connsiteX97" fmla="*/ 340607 w 5734864"/>
              <a:gd name="connsiteY97" fmla="*/ 3785153 h 6858000"/>
              <a:gd name="connsiteX98" fmla="*/ 340707 w 5734864"/>
              <a:gd name="connsiteY98" fmla="*/ 3788177 h 6858000"/>
              <a:gd name="connsiteX99" fmla="*/ 340361 w 5734864"/>
              <a:gd name="connsiteY99" fmla="*/ 3798803 h 6858000"/>
              <a:gd name="connsiteX100" fmla="*/ 339642 w 5734864"/>
              <a:gd name="connsiteY100" fmla="*/ 3838750 h 6858000"/>
              <a:gd name="connsiteX101" fmla="*/ 360295 w 5734864"/>
              <a:gd name="connsiteY101" fmla="*/ 4015196 h 6858000"/>
              <a:gd name="connsiteX102" fmla="*/ 339043 w 5734864"/>
              <a:gd name="connsiteY102" fmla="*/ 4052778 h 6858000"/>
              <a:gd name="connsiteX103" fmla="*/ 339343 w 5734864"/>
              <a:gd name="connsiteY103" fmla="*/ 4096257 h 6858000"/>
              <a:gd name="connsiteX104" fmla="*/ 340786 w 5734864"/>
              <a:gd name="connsiteY104" fmla="*/ 4321136 h 6858000"/>
              <a:gd name="connsiteX105" fmla="*/ 343158 w 5734864"/>
              <a:gd name="connsiteY105" fmla="*/ 4429174 h 6858000"/>
              <a:gd name="connsiteX106" fmla="*/ 334599 w 5734864"/>
              <a:gd name="connsiteY106" fmla="*/ 4449938 h 6858000"/>
              <a:gd name="connsiteX107" fmla="*/ 332890 w 5734864"/>
              <a:gd name="connsiteY107" fmla="*/ 4453515 h 6858000"/>
              <a:gd name="connsiteX108" fmla="*/ 331105 w 5734864"/>
              <a:gd name="connsiteY108" fmla="*/ 4467941 h 6858000"/>
              <a:gd name="connsiteX109" fmla="*/ 324289 w 5734864"/>
              <a:gd name="connsiteY109" fmla="*/ 4471861 h 6858000"/>
              <a:gd name="connsiteX110" fmla="*/ 317079 w 5734864"/>
              <a:gd name="connsiteY110" fmla="*/ 4493468 h 6858000"/>
              <a:gd name="connsiteX111" fmla="*/ 315557 w 5734864"/>
              <a:gd name="connsiteY111" fmla="*/ 4520067 h 6858000"/>
              <a:gd name="connsiteX112" fmla="*/ 315240 w 5734864"/>
              <a:gd name="connsiteY112" fmla="*/ 4536872 h 6858000"/>
              <a:gd name="connsiteX113" fmla="*/ 316200 w 5734864"/>
              <a:gd name="connsiteY113" fmla="*/ 4538297 h 6858000"/>
              <a:gd name="connsiteX114" fmla="*/ 317507 w 5734864"/>
              <a:gd name="connsiteY114" fmla="*/ 4547582 h 6858000"/>
              <a:gd name="connsiteX115" fmla="*/ 323078 w 5734864"/>
              <a:gd name="connsiteY115" fmla="*/ 4592102 h 6858000"/>
              <a:gd name="connsiteX116" fmla="*/ 328722 w 5734864"/>
              <a:gd name="connsiteY116" fmla="*/ 4667914 h 6858000"/>
              <a:gd name="connsiteX117" fmla="*/ 335597 w 5734864"/>
              <a:gd name="connsiteY117" fmla="*/ 4695035 h 6858000"/>
              <a:gd name="connsiteX118" fmla="*/ 339485 w 5734864"/>
              <a:gd name="connsiteY118" fmla="*/ 4695979 h 6858000"/>
              <a:gd name="connsiteX119" fmla="*/ 341089 w 5734864"/>
              <a:gd name="connsiteY119" fmla="*/ 4704268 h 6858000"/>
              <a:gd name="connsiteX120" fmla="*/ 342177 w 5734864"/>
              <a:gd name="connsiteY120" fmla="*/ 4706060 h 6858000"/>
              <a:gd name="connsiteX121" fmla="*/ 347751 w 5734864"/>
              <a:gd name="connsiteY121" fmla="*/ 4716754 h 6858000"/>
              <a:gd name="connsiteX122" fmla="*/ 344125 w 5734864"/>
              <a:gd name="connsiteY122" fmla="*/ 4764669 h 6858000"/>
              <a:gd name="connsiteX123" fmla="*/ 340188 w 5734864"/>
              <a:gd name="connsiteY123" fmla="*/ 4779386 h 6858000"/>
              <a:gd name="connsiteX124" fmla="*/ 335146 w 5734864"/>
              <a:gd name="connsiteY124" fmla="*/ 4787491 h 6858000"/>
              <a:gd name="connsiteX125" fmla="*/ 319124 w 5734864"/>
              <a:gd name="connsiteY125" fmla="*/ 4843514 h 6858000"/>
              <a:gd name="connsiteX126" fmla="*/ 305956 w 5734864"/>
              <a:gd name="connsiteY126" fmla="*/ 4881505 h 6858000"/>
              <a:gd name="connsiteX127" fmla="*/ 301062 w 5734864"/>
              <a:gd name="connsiteY127" fmla="*/ 4889332 h 6858000"/>
              <a:gd name="connsiteX128" fmla="*/ 302141 w 5734864"/>
              <a:gd name="connsiteY128" fmla="*/ 4899400 h 6858000"/>
              <a:gd name="connsiteX129" fmla="*/ 304424 w 5734864"/>
              <a:gd name="connsiteY129" fmla="*/ 4902664 h 6858000"/>
              <a:gd name="connsiteX130" fmla="*/ 293123 w 5734864"/>
              <a:gd name="connsiteY130" fmla="*/ 4932769 h 6858000"/>
              <a:gd name="connsiteX131" fmla="*/ 292275 w 5734864"/>
              <a:gd name="connsiteY131" fmla="*/ 4936482 h 6858000"/>
              <a:gd name="connsiteX132" fmla="*/ 288304 w 5734864"/>
              <a:gd name="connsiteY132" fmla="*/ 4962325 h 6858000"/>
              <a:gd name="connsiteX133" fmla="*/ 287420 w 5734864"/>
              <a:gd name="connsiteY133" fmla="*/ 5042193 h 6858000"/>
              <a:gd name="connsiteX134" fmla="*/ 287020 w 5734864"/>
              <a:gd name="connsiteY134" fmla="*/ 5065655 h 6858000"/>
              <a:gd name="connsiteX135" fmla="*/ 288488 w 5734864"/>
              <a:gd name="connsiteY135" fmla="*/ 5082216 h 6858000"/>
              <a:gd name="connsiteX136" fmla="*/ 282763 w 5734864"/>
              <a:gd name="connsiteY136" fmla="*/ 5127114 h 6858000"/>
              <a:gd name="connsiteX137" fmla="*/ 269316 w 5734864"/>
              <a:gd name="connsiteY137" fmla="*/ 5202682 h 6858000"/>
              <a:gd name="connsiteX138" fmla="*/ 269174 w 5734864"/>
              <a:gd name="connsiteY138" fmla="*/ 5230835 h 6858000"/>
              <a:gd name="connsiteX139" fmla="*/ 272679 w 5734864"/>
              <a:gd name="connsiteY139" fmla="*/ 5232660 h 6858000"/>
              <a:gd name="connsiteX140" fmla="*/ 272160 w 5734864"/>
              <a:gd name="connsiteY140" fmla="*/ 5241150 h 6858000"/>
              <a:gd name="connsiteX141" fmla="*/ 272760 w 5734864"/>
              <a:gd name="connsiteY141" fmla="*/ 5243156 h 6858000"/>
              <a:gd name="connsiteX142" fmla="*/ 275462 w 5734864"/>
              <a:gd name="connsiteY142" fmla="*/ 5254919 h 6858000"/>
              <a:gd name="connsiteX143" fmla="*/ 262897 w 5734864"/>
              <a:gd name="connsiteY143" fmla="*/ 5286259 h 6858000"/>
              <a:gd name="connsiteX144" fmla="*/ 252761 w 5734864"/>
              <a:gd name="connsiteY144" fmla="*/ 5357801 h 6858000"/>
              <a:gd name="connsiteX145" fmla="*/ 242360 w 5734864"/>
              <a:gd name="connsiteY145" fmla="*/ 5460080 h 6858000"/>
              <a:gd name="connsiteX146" fmla="*/ 229880 w 5734864"/>
              <a:gd name="connsiteY146" fmla="*/ 5539714 h 6858000"/>
              <a:gd name="connsiteX147" fmla="*/ 204283 w 5734864"/>
              <a:gd name="connsiteY147" fmla="*/ 5639080 h 6858000"/>
              <a:gd name="connsiteX148" fmla="*/ 198948 w 5734864"/>
              <a:gd name="connsiteY148" fmla="*/ 5710958 h 6858000"/>
              <a:gd name="connsiteX149" fmla="*/ 192367 w 5734864"/>
              <a:gd name="connsiteY149" fmla="*/ 5719859 h 6858000"/>
              <a:gd name="connsiteX150" fmla="*/ 188035 w 5734864"/>
              <a:gd name="connsiteY150" fmla="*/ 5729935 h 6858000"/>
              <a:gd name="connsiteX151" fmla="*/ 188428 w 5734864"/>
              <a:gd name="connsiteY151" fmla="*/ 5731182 h 6858000"/>
              <a:gd name="connsiteX152" fmla="*/ 181635 w 5734864"/>
              <a:gd name="connsiteY152" fmla="*/ 5753538 h 6858000"/>
              <a:gd name="connsiteX153" fmla="*/ 169744 w 5734864"/>
              <a:gd name="connsiteY153" fmla="*/ 5796307 h 6858000"/>
              <a:gd name="connsiteX154" fmla="*/ 170351 w 5734864"/>
              <a:gd name="connsiteY154" fmla="*/ 5796644 h 6858000"/>
              <a:gd name="connsiteX155" fmla="*/ 171559 w 5734864"/>
              <a:gd name="connsiteY155" fmla="*/ 5803435 h 6858000"/>
              <a:gd name="connsiteX156" fmla="*/ 172284 w 5734864"/>
              <a:gd name="connsiteY156" fmla="*/ 5816391 h 6858000"/>
              <a:gd name="connsiteX157" fmla="*/ 182542 w 5734864"/>
              <a:gd name="connsiteY157" fmla="*/ 5846382 h 6858000"/>
              <a:gd name="connsiteX158" fmla="*/ 175877 w 5734864"/>
              <a:gd name="connsiteY158" fmla="*/ 5871336 h 6858000"/>
              <a:gd name="connsiteX159" fmla="*/ 174910 w 5734864"/>
              <a:gd name="connsiteY159" fmla="*/ 5876376 h 6858000"/>
              <a:gd name="connsiteX160" fmla="*/ 175047 w 5734864"/>
              <a:gd name="connsiteY160" fmla="*/ 5876483 h 6858000"/>
              <a:gd name="connsiteX161" fmla="*/ 174335 w 5734864"/>
              <a:gd name="connsiteY161" fmla="*/ 5881814 h 6858000"/>
              <a:gd name="connsiteX162" fmla="*/ 171273 w 5734864"/>
              <a:gd name="connsiteY162" fmla="*/ 5895339 h 6858000"/>
              <a:gd name="connsiteX163" fmla="*/ 171658 w 5734864"/>
              <a:gd name="connsiteY163" fmla="*/ 5898749 h 6858000"/>
              <a:gd name="connsiteX164" fmla="*/ 174658 w 5734864"/>
              <a:gd name="connsiteY164" fmla="*/ 5919558 h 6858000"/>
              <a:gd name="connsiteX165" fmla="*/ 169099 w 5734864"/>
              <a:gd name="connsiteY165" fmla="*/ 5984417 h 6858000"/>
              <a:gd name="connsiteX166" fmla="*/ 162007 w 5734864"/>
              <a:gd name="connsiteY166" fmla="*/ 6049043 h 6858000"/>
              <a:gd name="connsiteX167" fmla="*/ 156875 w 5734864"/>
              <a:gd name="connsiteY167" fmla="*/ 6114000 h 6858000"/>
              <a:gd name="connsiteX168" fmla="*/ 165441 w 5734864"/>
              <a:gd name="connsiteY168" fmla="*/ 6146938 h 6858000"/>
              <a:gd name="connsiteX169" fmla="*/ 165177 w 5734864"/>
              <a:gd name="connsiteY169" fmla="*/ 6150658 h 6858000"/>
              <a:gd name="connsiteX170" fmla="*/ 161772 w 5734864"/>
              <a:gd name="connsiteY170" fmla="*/ 6160011 h 6858000"/>
              <a:gd name="connsiteX171" fmla="*/ 160051 w 5734864"/>
              <a:gd name="connsiteY171" fmla="*/ 6163393 h 6858000"/>
              <a:gd name="connsiteX172" fmla="*/ 158473 w 5734864"/>
              <a:gd name="connsiteY172" fmla="*/ 6168628 h 6858000"/>
              <a:gd name="connsiteX173" fmla="*/ 158573 w 5734864"/>
              <a:gd name="connsiteY173" fmla="*/ 6168799 h 6858000"/>
              <a:gd name="connsiteX174" fmla="*/ 146463 w 5734864"/>
              <a:gd name="connsiteY174" fmla="*/ 6196671 h 6858000"/>
              <a:gd name="connsiteX175" fmla="*/ 150209 w 5734864"/>
              <a:gd name="connsiteY175" fmla="*/ 6232365 h 6858000"/>
              <a:gd name="connsiteX176" fmla="*/ 148544 w 5734864"/>
              <a:gd name="connsiteY176" fmla="*/ 6246162 h 6858000"/>
              <a:gd name="connsiteX177" fmla="*/ 148403 w 5734864"/>
              <a:gd name="connsiteY177" fmla="*/ 6253754 h 6858000"/>
              <a:gd name="connsiteX178" fmla="*/ 138880 w 5734864"/>
              <a:gd name="connsiteY178" fmla="*/ 6276449 h 6858000"/>
              <a:gd name="connsiteX179" fmla="*/ 138683 w 5734864"/>
              <a:gd name="connsiteY179" fmla="*/ 6279721 h 6858000"/>
              <a:gd name="connsiteX180" fmla="*/ 130721 w 5734864"/>
              <a:gd name="connsiteY180" fmla="*/ 6293675 h 6858000"/>
              <a:gd name="connsiteX181" fmla="*/ 120717 w 5734864"/>
              <a:gd name="connsiteY181" fmla="*/ 6313967 h 6858000"/>
              <a:gd name="connsiteX182" fmla="*/ 120841 w 5734864"/>
              <a:gd name="connsiteY182" fmla="*/ 6315437 h 6858000"/>
              <a:gd name="connsiteX183" fmla="*/ 115208 w 5734864"/>
              <a:gd name="connsiteY183" fmla="*/ 6324024 h 6858000"/>
              <a:gd name="connsiteX184" fmla="*/ 101217 w 5734864"/>
              <a:gd name="connsiteY184" fmla="*/ 6365923 h 6858000"/>
              <a:gd name="connsiteX185" fmla="*/ 74946 w 5734864"/>
              <a:gd name="connsiteY185" fmla="*/ 6556817 h 6858000"/>
              <a:gd name="connsiteX186" fmla="*/ 16001 w 5734864"/>
              <a:gd name="connsiteY186" fmla="*/ 6808678 h 6858000"/>
              <a:gd name="connsiteX187" fmla="*/ 0 w 5734864"/>
              <a:gd name="connsiteY187" fmla="*/ 6858000 h 6858000"/>
              <a:gd name="connsiteX188" fmla="*/ 5734864 w 5734864"/>
              <a:gd name="connsiteY188" fmla="*/ 6858000 h 6858000"/>
              <a:gd name="connsiteX0" fmla="*/ 5734864 w 5734864"/>
              <a:gd name="connsiteY0" fmla="*/ 0 h 6858000"/>
              <a:gd name="connsiteX1" fmla="*/ 771611 w 5734864"/>
              <a:gd name="connsiteY1" fmla="*/ 0 h 6858000"/>
              <a:gd name="connsiteX2" fmla="*/ 771679 w 5734864"/>
              <a:gd name="connsiteY2" fmla="*/ 49108 h 6858000"/>
              <a:gd name="connsiteX3" fmla="*/ 794248 w 5734864"/>
              <a:gd name="connsiteY3" fmla="*/ 200968 h 6858000"/>
              <a:gd name="connsiteX4" fmla="*/ 801749 w 5734864"/>
              <a:gd name="connsiteY4" fmla="*/ 414071 h 6858000"/>
              <a:gd name="connsiteX5" fmla="*/ 818548 w 5734864"/>
              <a:gd name="connsiteY5" fmla="*/ 585467 h 6858000"/>
              <a:gd name="connsiteX6" fmla="*/ 857476 w 5734864"/>
              <a:gd name="connsiteY6" fmla="*/ 800623 h 6858000"/>
              <a:gd name="connsiteX7" fmla="*/ 851083 w 5734864"/>
              <a:gd name="connsiteY7" fmla="*/ 878903 h 6858000"/>
              <a:gd name="connsiteX8" fmla="*/ 873564 w 5734864"/>
              <a:gd name="connsiteY8" fmla="*/ 943826 h 6858000"/>
              <a:gd name="connsiteX9" fmla="*/ 864705 w 5734864"/>
              <a:gd name="connsiteY9" fmla="*/ 973328 h 6858000"/>
              <a:gd name="connsiteX10" fmla="*/ 862869 w 5734864"/>
              <a:gd name="connsiteY10" fmla="*/ 978457 h 6858000"/>
              <a:gd name="connsiteX11" fmla="*/ 862233 w 5734864"/>
              <a:gd name="connsiteY11" fmla="*/ 998041 h 6858000"/>
              <a:gd name="connsiteX12" fmla="*/ 853665 w 5734864"/>
              <a:gd name="connsiteY12" fmla="*/ 1004750 h 6858000"/>
              <a:gd name="connsiteX13" fmla="*/ 846695 w 5734864"/>
              <a:gd name="connsiteY13" fmla="*/ 1035077 h 6858000"/>
              <a:gd name="connsiteX14" fmla="*/ 847865 w 5734864"/>
              <a:gd name="connsiteY14" fmla="*/ 1070795 h 6858000"/>
              <a:gd name="connsiteX15" fmla="*/ 862786 w 5734864"/>
              <a:gd name="connsiteY15" fmla="*/ 1238994 h 6858000"/>
              <a:gd name="connsiteX16" fmla="*/ 859345 w 5734864"/>
              <a:gd name="connsiteY16" fmla="*/ 1380427 h 6858000"/>
              <a:gd name="connsiteX17" fmla="*/ 855172 w 5734864"/>
              <a:gd name="connsiteY17" fmla="*/ 1435262 h 6858000"/>
              <a:gd name="connsiteX18" fmla="*/ 860494 w 5734864"/>
              <a:gd name="connsiteY18" fmla="*/ 1453861 h 6858000"/>
              <a:gd name="connsiteX19" fmla="*/ 853731 w 5734864"/>
              <a:gd name="connsiteY19" fmla="*/ 1467047 h 6858000"/>
              <a:gd name="connsiteX20" fmla="*/ 845847 w 5734864"/>
              <a:gd name="connsiteY20" fmla="*/ 1502307 h 6858000"/>
              <a:gd name="connsiteX21" fmla="*/ 817613 w 5734864"/>
              <a:gd name="connsiteY21" fmla="*/ 1565166 h 6858000"/>
              <a:gd name="connsiteX22" fmla="*/ 804223 w 5734864"/>
              <a:gd name="connsiteY22" fmla="*/ 1601941 h 6858000"/>
              <a:gd name="connsiteX23" fmla="*/ 791773 w 5734864"/>
              <a:gd name="connsiteY23" fmla="*/ 1627005 h 6858000"/>
              <a:gd name="connsiteX24" fmla="*/ 774645 w 5734864"/>
              <a:gd name="connsiteY24" fmla="*/ 1699922 h 6858000"/>
              <a:gd name="connsiteX25" fmla="*/ 752343 w 5734864"/>
              <a:gd name="connsiteY25" fmla="*/ 1824604 h 6858000"/>
              <a:gd name="connsiteX26" fmla="*/ 746254 w 5734864"/>
              <a:gd name="connsiteY26" fmla="*/ 1850222 h 6858000"/>
              <a:gd name="connsiteX27" fmla="*/ 728600 w 5734864"/>
              <a:gd name="connsiteY27" fmla="*/ 1869603 h 6858000"/>
              <a:gd name="connsiteX28" fmla="*/ 724396 w 5734864"/>
              <a:gd name="connsiteY28" fmla="*/ 1883104 h 6858000"/>
              <a:gd name="connsiteX29" fmla="*/ 722165 w 5734864"/>
              <a:gd name="connsiteY29" fmla="*/ 1885924 h 6858000"/>
              <a:gd name="connsiteX30" fmla="*/ 721338 w 5734864"/>
              <a:gd name="connsiteY30" fmla="*/ 1887123 h 6858000"/>
              <a:gd name="connsiteX31" fmla="*/ 714840 w 5734864"/>
              <a:gd name="connsiteY31" fmla="*/ 1902274 h 6858000"/>
              <a:gd name="connsiteX32" fmla="*/ 722847 w 5734864"/>
              <a:gd name="connsiteY32" fmla="*/ 1929891 h 6858000"/>
              <a:gd name="connsiteX33" fmla="*/ 714660 w 5734864"/>
              <a:gd name="connsiteY33" fmla="*/ 1982709 h 6858000"/>
              <a:gd name="connsiteX34" fmla="*/ 710759 w 5734864"/>
              <a:gd name="connsiteY34" fmla="*/ 2013010 h 6858000"/>
              <a:gd name="connsiteX35" fmla="*/ 697927 w 5734864"/>
              <a:gd name="connsiteY35" fmla="*/ 2069833 h 6858000"/>
              <a:gd name="connsiteX36" fmla="*/ 693594 w 5734864"/>
              <a:gd name="connsiteY36" fmla="*/ 2103731 h 6858000"/>
              <a:gd name="connsiteX37" fmla="*/ 691109 w 5734864"/>
              <a:gd name="connsiteY37" fmla="*/ 2124027 h 6858000"/>
              <a:gd name="connsiteX38" fmla="*/ 676593 w 5734864"/>
              <a:gd name="connsiteY38" fmla="*/ 2176182 h 6858000"/>
              <a:gd name="connsiteX39" fmla="*/ 633227 w 5734864"/>
              <a:gd name="connsiteY39" fmla="*/ 2258036 h 6858000"/>
              <a:gd name="connsiteX40" fmla="*/ 625564 w 5734864"/>
              <a:gd name="connsiteY40" fmla="*/ 2284567 h 6858000"/>
              <a:gd name="connsiteX41" fmla="*/ 627074 w 5734864"/>
              <a:gd name="connsiteY41" fmla="*/ 2289605 h 6858000"/>
              <a:gd name="connsiteX42" fmla="*/ 614574 w 5734864"/>
              <a:gd name="connsiteY42" fmla="*/ 2308717 h 6858000"/>
              <a:gd name="connsiteX43" fmla="*/ 606890 w 5734864"/>
              <a:gd name="connsiteY43" fmla="*/ 2320662 h 6858000"/>
              <a:gd name="connsiteX44" fmla="*/ 605558 w 5734864"/>
              <a:gd name="connsiteY44" fmla="*/ 2327897 h 6858000"/>
              <a:gd name="connsiteX45" fmla="*/ 602202 w 5734864"/>
              <a:gd name="connsiteY45" fmla="*/ 2357749 h 6858000"/>
              <a:gd name="connsiteX46" fmla="*/ 600213 w 5734864"/>
              <a:gd name="connsiteY46" fmla="*/ 2364905 h 6858000"/>
              <a:gd name="connsiteX47" fmla="*/ 597160 w 5734864"/>
              <a:gd name="connsiteY47" fmla="*/ 2388351 h 6858000"/>
              <a:gd name="connsiteX48" fmla="*/ 597982 w 5734864"/>
              <a:gd name="connsiteY48" fmla="*/ 2402296 h 6858000"/>
              <a:gd name="connsiteX49" fmla="*/ 593150 w 5734864"/>
              <a:gd name="connsiteY49" fmla="*/ 2420015 h 6858000"/>
              <a:gd name="connsiteX50" fmla="*/ 592833 w 5734864"/>
              <a:gd name="connsiteY50" fmla="*/ 2422749 h 6858000"/>
              <a:gd name="connsiteX51" fmla="*/ 594479 w 5734864"/>
              <a:gd name="connsiteY51" fmla="*/ 2426002 h 6858000"/>
              <a:gd name="connsiteX52" fmla="*/ 591963 w 5734864"/>
              <a:gd name="connsiteY52" fmla="*/ 2431950 h 6858000"/>
              <a:gd name="connsiteX53" fmla="*/ 591544 w 5734864"/>
              <a:gd name="connsiteY53" fmla="*/ 2433897 h 6858000"/>
              <a:gd name="connsiteX54" fmla="*/ 589519 w 5734864"/>
              <a:gd name="connsiteY54" fmla="*/ 2451398 h 6858000"/>
              <a:gd name="connsiteX55" fmla="*/ 590037 w 5734864"/>
              <a:gd name="connsiteY55" fmla="*/ 2455536 h 6858000"/>
              <a:gd name="connsiteX56" fmla="*/ 588179 w 5734864"/>
              <a:gd name="connsiteY56" fmla="*/ 2462981 h 6858000"/>
              <a:gd name="connsiteX57" fmla="*/ 583434 w 5734864"/>
              <a:gd name="connsiteY57" fmla="*/ 2503991 h 6858000"/>
              <a:gd name="connsiteX58" fmla="*/ 567942 w 5734864"/>
              <a:gd name="connsiteY58" fmla="*/ 2652936 h 6858000"/>
              <a:gd name="connsiteX59" fmla="*/ 573869 w 5734864"/>
              <a:gd name="connsiteY59" fmla="*/ 2670188 h 6858000"/>
              <a:gd name="connsiteX60" fmla="*/ 575243 w 5734864"/>
              <a:gd name="connsiteY60" fmla="*/ 2688114 h 6858000"/>
              <a:gd name="connsiteX61" fmla="*/ 573824 w 5734864"/>
              <a:gd name="connsiteY61" fmla="*/ 2689856 h 6858000"/>
              <a:gd name="connsiteX62" fmla="*/ 570699 w 5734864"/>
              <a:gd name="connsiteY62" fmla="*/ 2709353 h 6858000"/>
              <a:gd name="connsiteX63" fmla="*/ 573192 w 5734864"/>
              <a:gd name="connsiteY63" fmla="*/ 2714527 h 6858000"/>
              <a:gd name="connsiteX64" fmla="*/ 572044 w 5734864"/>
              <a:gd name="connsiteY64" fmla="*/ 2728187 h 6858000"/>
              <a:gd name="connsiteX65" fmla="*/ 572465 w 5734864"/>
              <a:gd name="connsiteY65" fmla="*/ 2755863 h 6858000"/>
              <a:gd name="connsiteX66" fmla="*/ 570028 w 5734864"/>
              <a:gd name="connsiteY66" fmla="*/ 2760324 h 6858000"/>
              <a:gd name="connsiteX67" fmla="*/ 566748 w 5734864"/>
              <a:gd name="connsiteY67" fmla="*/ 2800948 h 6858000"/>
              <a:gd name="connsiteX68" fmla="*/ 565509 w 5734864"/>
              <a:gd name="connsiteY68" fmla="*/ 2801167 h 6858000"/>
              <a:gd name="connsiteX69" fmla="*/ 559367 w 5734864"/>
              <a:gd name="connsiteY69" fmla="*/ 2811129 h 6858000"/>
              <a:gd name="connsiteX70" fmla="*/ 550354 w 5734864"/>
              <a:gd name="connsiteY70" fmla="*/ 2830949 h 6858000"/>
              <a:gd name="connsiteX71" fmla="*/ 514795 w 5734864"/>
              <a:gd name="connsiteY71" fmla="*/ 2872433 h 6858000"/>
              <a:gd name="connsiteX72" fmla="*/ 509875 w 5734864"/>
              <a:gd name="connsiteY72" fmla="*/ 2923099 h 6858000"/>
              <a:gd name="connsiteX73" fmla="*/ 509577 w 5734864"/>
              <a:gd name="connsiteY73" fmla="*/ 2923197 h 6858000"/>
              <a:gd name="connsiteX74" fmla="*/ 507597 w 5734864"/>
              <a:gd name="connsiteY74" fmla="*/ 2931868 h 6858000"/>
              <a:gd name="connsiteX75" fmla="*/ 507379 w 5734864"/>
              <a:gd name="connsiteY75" fmla="*/ 2938322 h 6858000"/>
              <a:gd name="connsiteX76" fmla="*/ 504725 w 5734864"/>
              <a:gd name="connsiteY76" fmla="*/ 2954519 h 6858000"/>
              <a:gd name="connsiteX77" fmla="*/ 502018 w 5734864"/>
              <a:gd name="connsiteY77" fmla="*/ 2959643 h 6858000"/>
              <a:gd name="connsiteX78" fmla="*/ 498360 w 5734864"/>
              <a:gd name="connsiteY78" fmla="*/ 2961019 h 6858000"/>
              <a:gd name="connsiteX79" fmla="*/ 498483 w 5734864"/>
              <a:gd name="connsiteY79" fmla="*/ 2962590 h 6858000"/>
              <a:gd name="connsiteX80" fmla="*/ 484403 w 5734864"/>
              <a:gd name="connsiteY80" fmla="*/ 2990538 h 6858000"/>
              <a:gd name="connsiteX81" fmla="*/ 463075 w 5734864"/>
              <a:gd name="connsiteY81" fmla="*/ 3055956 h 6858000"/>
              <a:gd name="connsiteX82" fmla="*/ 455013 w 5734864"/>
              <a:gd name="connsiteY82" fmla="*/ 3094482 h 6858000"/>
              <a:gd name="connsiteX83" fmla="*/ 428391 w 5734864"/>
              <a:gd name="connsiteY83" fmla="*/ 3198850 h 6858000"/>
              <a:gd name="connsiteX84" fmla="*/ 401440 w 5734864"/>
              <a:gd name="connsiteY84" fmla="*/ 3307560 h 6858000"/>
              <a:gd name="connsiteX85" fmla="*/ 386076 w 5734864"/>
              <a:gd name="connsiteY85" fmla="*/ 3373943 h 6858000"/>
              <a:gd name="connsiteX86" fmla="*/ 374726 w 5734864"/>
              <a:gd name="connsiteY86" fmla="*/ 3381364 h 6858000"/>
              <a:gd name="connsiteX87" fmla="*/ 369145 w 5734864"/>
              <a:gd name="connsiteY87" fmla="*/ 3383729 h 6858000"/>
              <a:gd name="connsiteX88" fmla="*/ 364294 w 5734864"/>
              <a:gd name="connsiteY88" fmla="*/ 3414159 h 6858000"/>
              <a:gd name="connsiteX89" fmla="*/ 366450 w 5734864"/>
              <a:gd name="connsiteY89" fmla="*/ 3436925 h 6858000"/>
              <a:gd name="connsiteX90" fmla="*/ 351743 w 5734864"/>
              <a:gd name="connsiteY90" fmla="*/ 3521619 h 6858000"/>
              <a:gd name="connsiteX91" fmla="*/ 345784 w 5734864"/>
              <a:gd name="connsiteY91" fmla="*/ 3603757 h 6858000"/>
              <a:gd name="connsiteX92" fmla="*/ 344198 w 5734864"/>
              <a:gd name="connsiteY92" fmla="*/ 3652424 h 6858000"/>
              <a:gd name="connsiteX93" fmla="*/ 352450 w 5734864"/>
              <a:gd name="connsiteY93" fmla="*/ 3665222 h 6858000"/>
              <a:gd name="connsiteX94" fmla="*/ 342621 w 5734864"/>
              <a:gd name="connsiteY94" fmla="*/ 3700804 h 6858000"/>
              <a:gd name="connsiteX95" fmla="*/ 341514 w 5734864"/>
              <a:gd name="connsiteY95" fmla="*/ 3734774 h 6858000"/>
              <a:gd name="connsiteX96" fmla="*/ 340607 w 5734864"/>
              <a:gd name="connsiteY96" fmla="*/ 3785153 h 6858000"/>
              <a:gd name="connsiteX97" fmla="*/ 340707 w 5734864"/>
              <a:gd name="connsiteY97" fmla="*/ 3788177 h 6858000"/>
              <a:gd name="connsiteX98" fmla="*/ 340361 w 5734864"/>
              <a:gd name="connsiteY98" fmla="*/ 3798803 h 6858000"/>
              <a:gd name="connsiteX99" fmla="*/ 339642 w 5734864"/>
              <a:gd name="connsiteY99" fmla="*/ 3838750 h 6858000"/>
              <a:gd name="connsiteX100" fmla="*/ 360295 w 5734864"/>
              <a:gd name="connsiteY100" fmla="*/ 4015196 h 6858000"/>
              <a:gd name="connsiteX101" fmla="*/ 339043 w 5734864"/>
              <a:gd name="connsiteY101" fmla="*/ 4052778 h 6858000"/>
              <a:gd name="connsiteX102" fmla="*/ 339343 w 5734864"/>
              <a:gd name="connsiteY102" fmla="*/ 4096257 h 6858000"/>
              <a:gd name="connsiteX103" fmla="*/ 340786 w 5734864"/>
              <a:gd name="connsiteY103" fmla="*/ 4321136 h 6858000"/>
              <a:gd name="connsiteX104" fmla="*/ 343158 w 5734864"/>
              <a:gd name="connsiteY104" fmla="*/ 4429174 h 6858000"/>
              <a:gd name="connsiteX105" fmla="*/ 334599 w 5734864"/>
              <a:gd name="connsiteY105" fmla="*/ 4449938 h 6858000"/>
              <a:gd name="connsiteX106" fmla="*/ 332890 w 5734864"/>
              <a:gd name="connsiteY106" fmla="*/ 4453515 h 6858000"/>
              <a:gd name="connsiteX107" fmla="*/ 331105 w 5734864"/>
              <a:gd name="connsiteY107" fmla="*/ 4467941 h 6858000"/>
              <a:gd name="connsiteX108" fmla="*/ 324289 w 5734864"/>
              <a:gd name="connsiteY108" fmla="*/ 4471861 h 6858000"/>
              <a:gd name="connsiteX109" fmla="*/ 317079 w 5734864"/>
              <a:gd name="connsiteY109" fmla="*/ 4493468 h 6858000"/>
              <a:gd name="connsiteX110" fmla="*/ 315557 w 5734864"/>
              <a:gd name="connsiteY110" fmla="*/ 4520067 h 6858000"/>
              <a:gd name="connsiteX111" fmla="*/ 315240 w 5734864"/>
              <a:gd name="connsiteY111" fmla="*/ 4536872 h 6858000"/>
              <a:gd name="connsiteX112" fmla="*/ 316200 w 5734864"/>
              <a:gd name="connsiteY112" fmla="*/ 4538297 h 6858000"/>
              <a:gd name="connsiteX113" fmla="*/ 317507 w 5734864"/>
              <a:gd name="connsiteY113" fmla="*/ 4547582 h 6858000"/>
              <a:gd name="connsiteX114" fmla="*/ 323078 w 5734864"/>
              <a:gd name="connsiteY114" fmla="*/ 4592102 h 6858000"/>
              <a:gd name="connsiteX115" fmla="*/ 328722 w 5734864"/>
              <a:gd name="connsiteY115" fmla="*/ 4667914 h 6858000"/>
              <a:gd name="connsiteX116" fmla="*/ 335597 w 5734864"/>
              <a:gd name="connsiteY116" fmla="*/ 4695035 h 6858000"/>
              <a:gd name="connsiteX117" fmla="*/ 339485 w 5734864"/>
              <a:gd name="connsiteY117" fmla="*/ 4695979 h 6858000"/>
              <a:gd name="connsiteX118" fmla="*/ 341089 w 5734864"/>
              <a:gd name="connsiteY118" fmla="*/ 4704268 h 6858000"/>
              <a:gd name="connsiteX119" fmla="*/ 342177 w 5734864"/>
              <a:gd name="connsiteY119" fmla="*/ 4706060 h 6858000"/>
              <a:gd name="connsiteX120" fmla="*/ 347751 w 5734864"/>
              <a:gd name="connsiteY120" fmla="*/ 4716754 h 6858000"/>
              <a:gd name="connsiteX121" fmla="*/ 344125 w 5734864"/>
              <a:gd name="connsiteY121" fmla="*/ 4764669 h 6858000"/>
              <a:gd name="connsiteX122" fmla="*/ 340188 w 5734864"/>
              <a:gd name="connsiteY122" fmla="*/ 4779386 h 6858000"/>
              <a:gd name="connsiteX123" fmla="*/ 335146 w 5734864"/>
              <a:gd name="connsiteY123" fmla="*/ 4787491 h 6858000"/>
              <a:gd name="connsiteX124" fmla="*/ 319124 w 5734864"/>
              <a:gd name="connsiteY124" fmla="*/ 4843514 h 6858000"/>
              <a:gd name="connsiteX125" fmla="*/ 305956 w 5734864"/>
              <a:gd name="connsiteY125" fmla="*/ 4881505 h 6858000"/>
              <a:gd name="connsiteX126" fmla="*/ 301062 w 5734864"/>
              <a:gd name="connsiteY126" fmla="*/ 4889332 h 6858000"/>
              <a:gd name="connsiteX127" fmla="*/ 302141 w 5734864"/>
              <a:gd name="connsiteY127" fmla="*/ 4899400 h 6858000"/>
              <a:gd name="connsiteX128" fmla="*/ 304424 w 5734864"/>
              <a:gd name="connsiteY128" fmla="*/ 4902664 h 6858000"/>
              <a:gd name="connsiteX129" fmla="*/ 293123 w 5734864"/>
              <a:gd name="connsiteY129" fmla="*/ 4932769 h 6858000"/>
              <a:gd name="connsiteX130" fmla="*/ 292275 w 5734864"/>
              <a:gd name="connsiteY130" fmla="*/ 4936482 h 6858000"/>
              <a:gd name="connsiteX131" fmla="*/ 288304 w 5734864"/>
              <a:gd name="connsiteY131" fmla="*/ 4962325 h 6858000"/>
              <a:gd name="connsiteX132" fmla="*/ 287420 w 5734864"/>
              <a:gd name="connsiteY132" fmla="*/ 5042193 h 6858000"/>
              <a:gd name="connsiteX133" fmla="*/ 287020 w 5734864"/>
              <a:gd name="connsiteY133" fmla="*/ 5065655 h 6858000"/>
              <a:gd name="connsiteX134" fmla="*/ 288488 w 5734864"/>
              <a:gd name="connsiteY134" fmla="*/ 5082216 h 6858000"/>
              <a:gd name="connsiteX135" fmla="*/ 282763 w 5734864"/>
              <a:gd name="connsiteY135" fmla="*/ 5127114 h 6858000"/>
              <a:gd name="connsiteX136" fmla="*/ 269316 w 5734864"/>
              <a:gd name="connsiteY136" fmla="*/ 5202682 h 6858000"/>
              <a:gd name="connsiteX137" fmla="*/ 269174 w 5734864"/>
              <a:gd name="connsiteY137" fmla="*/ 5230835 h 6858000"/>
              <a:gd name="connsiteX138" fmla="*/ 272679 w 5734864"/>
              <a:gd name="connsiteY138" fmla="*/ 5232660 h 6858000"/>
              <a:gd name="connsiteX139" fmla="*/ 272160 w 5734864"/>
              <a:gd name="connsiteY139" fmla="*/ 5241150 h 6858000"/>
              <a:gd name="connsiteX140" fmla="*/ 272760 w 5734864"/>
              <a:gd name="connsiteY140" fmla="*/ 5243156 h 6858000"/>
              <a:gd name="connsiteX141" fmla="*/ 275462 w 5734864"/>
              <a:gd name="connsiteY141" fmla="*/ 5254919 h 6858000"/>
              <a:gd name="connsiteX142" fmla="*/ 262897 w 5734864"/>
              <a:gd name="connsiteY142" fmla="*/ 5286259 h 6858000"/>
              <a:gd name="connsiteX143" fmla="*/ 252761 w 5734864"/>
              <a:gd name="connsiteY143" fmla="*/ 5357801 h 6858000"/>
              <a:gd name="connsiteX144" fmla="*/ 242360 w 5734864"/>
              <a:gd name="connsiteY144" fmla="*/ 5460080 h 6858000"/>
              <a:gd name="connsiteX145" fmla="*/ 229880 w 5734864"/>
              <a:gd name="connsiteY145" fmla="*/ 5539714 h 6858000"/>
              <a:gd name="connsiteX146" fmla="*/ 204283 w 5734864"/>
              <a:gd name="connsiteY146" fmla="*/ 5639080 h 6858000"/>
              <a:gd name="connsiteX147" fmla="*/ 198948 w 5734864"/>
              <a:gd name="connsiteY147" fmla="*/ 5710958 h 6858000"/>
              <a:gd name="connsiteX148" fmla="*/ 192367 w 5734864"/>
              <a:gd name="connsiteY148" fmla="*/ 5719859 h 6858000"/>
              <a:gd name="connsiteX149" fmla="*/ 188035 w 5734864"/>
              <a:gd name="connsiteY149" fmla="*/ 5729935 h 6858000"/>
              <a:gd name="connsiteX150" fmla="*/ 188428 w 5734864"/>
              <a:gd name="connsiteY150" fmla="*/ 5731182 h 6858000"/>
              <a:gd name="connsiteX151" fmla="*/ 181635 w 5734864"/>
              <a:gd name="connsiteY151" fmla="*/ 5753538 h 6858000"/>
              <a:gd name="connsiteX152" fmla="*/ 169744 w 5734864"/>
              <a:gd name="connsiteY152" fmla="*/ 5796307 h 6858000"/>
              <a:gd name="connsiteX153" fmla="*/ 170351 w 5734864"/>
              <a:gd name="connsiteY153" fmla="*/ 5796644 h 6858000"/>
              <a:gd name="connsiteX154" fmla="*/ 171559 w 5734864"/>
              <a:gd name="connsiteY154" fmla="*/ 5803435 h 6858000"/>
              <a:gd name="connsiteX155" fmla="*/ 172284 w 5734864"/>
              <a:gd name="connsiteY155" fmla="*/ 5816391 h 6858000"/>
              <a:gd name="connsiteX156" fmla="*/ 182542 w 5734864"/>
              <a:gd name="connsiteY156" fmla="*/ 5846382 h 6858000"/>
              <a:gd name="connsiteX157" fmla="*/ 175877 w 5734864"/>
              <a:gd name="connsiteY157" fmla="*/ 5871336 h 6858000"/>
              <a:gd name="connsiteX158" fmla="*/ 174910 w 5734864"/>
              <a:gd name="connsiteY158" fmla="*/ 5876376 h 6858000"/>
              <a:gd name="connsiteX159" fmla="*/ 175047 w 5734864"/>
              <a:gd name="connsiteY159" fmla="*/ 5876483 h 6858000"/>
              <a:gd name="connsiteX160" fmla="*/ 174335 w 5734864"/>
              <a:gd name="connsiteY160" fmla="*/ 5881814 h 6858000"/>
              <a:gd name="connsiteX161" fmla="*/ 171273 w 5734864"/>
              <a:gd name="connsiteY161" fmla="*/ 5895339 h 6858000"/>
              <a:gd name="connsiteX162" fmla="*/ 171658 w 5734864"/>
              <a:gd name="connsiteY162" fmla="*/ 5898749 h 6858000"/>
              <a:gd name="connsiteX163" fmla="*/ 174658 w 5734864"/>
              <a:gd name="connsiteY163" fmla="*/ 5919558 h 6858000"/>
              <a:gd name="connsiteX164" fmla="*/ 169099 w 5734864"/>
              <a:gd name="connsiteY164" fmla="*/ 5984417 h 6858000"/>
              <a:gd name="connsiteX165" fmla="*/ 162007 w 5734864"/>
              <a:gd name="connsiteY165" fmla="*/ 6049043 h 6858000"/>
              <a:gd name="connsiteX166" fmla="*/ 156875 w 5734864"/>
              <a:gd name="connsiteY166" fmla="*/ 6114000 h 6858000"/>
              <a:gd name="connsiteX167" fmla="*/ 165441 w 5734864"/>
              <a:gd name="connsiteY167" fmla="*/ 6146938 h 6858000"/>
              <a:gd name="connsiteX168" fmla="*/ 165177 w 5734864"/>
              <a:gd name="connsiteY168" fmla="*/ 6150658 h 6858000"/>
              <a:gd name="connsiteX169" fmla="*/ 161772 w 5734864"/>
              <a:gd name="connsiteY169" fmla="*/ 6160011 h 6858000"/>
              <a:gd name="connsiteX170" fmla="*/ 160051 w 5734864"/>
              <a:gd name="connsiteY170" fmla="*/ 6163393 h 6858000"/>
              <a:gd name="connsiteX171" fmla="*/ 158473 w 5734864"/>
              <a:gd name="connsiteY171" fmla="*/ 6168628 h 6858000"/>
              <a:gd name="connsiteX172" fmla="*/ 158573 w 5734864"/>
              <a:gd name="connsiteY172" fmla="*/ 6168799 h 6858000"/>
              <a:gd name="connsiteX173" fmla="*/ 146463 w 5734864"/>
              <a:gd name="connsiteY173" fmla="*/ 6196671 h 6858000"/>
              <a:gd name="connsiteX174" fmla="*/ 150209 w 5734864"/>
              <a:gd name="connsiteY174" fmla="*/ 6232365 h 6858000"/>
              <a:gd name="connsiteX175" fmla="*/ 148544 w 5734864"/>
              <a:gd name="connsiteY175" fmla="*/ 6246162 h 6858000"/>
              <a:gd name="connsiteX176" fmla="*/ 148403 w 5734864"/>
              <a:gd name="connsiteY176" fmla="*/ 6253754 h 6858000"/>
              <a:gd name="connsiteX177" fmla="*/ 138880 w 5734864"/>
              <a:gd name="connsiteY177" fmla="*/ 6276449 h 6858000"/>
              <a:gd name="connsiteX178" fmla="*/ 138683 w 5734864"/>
              <a:gd name="connsiteY178" fmla="*/ 6279721 h 6858000"/>
              <a:gd name="connsiteX179" fmla="*/ 130721 w 5734864"/>
              <a:gd name="connsiteY179" fmla="*/ 6293675 h 6858000"/>
              <a:gd name="connsiteX180" fmla="*/ 120717 w 5734864"/>
              <a:gd name="connsiteY180" fmla="*/ 6313967 h 6858000"/>
              <a:gd name="connsiteX181" fmla="*/ 120841 w 5734864"/>
              <a:gd name="connsiteY181" fmla="*/ 6315437 h 6858000"/>
              <a:gd name="connsiteX182" fmla="*/ 115208 w 5734864"/>
              <a:gd name="connsiteY182" fmla="*/ 6324024 h 6858000"/>
              <a:gd name="connsiteX183" fmla="*/ 101217 w 5734864"/>
              <a:gd name="connsiteY183" fmla="*/ 6365923 h 6858000"/>
              <a:gd name="connsiteX184" fmla="*/ 74946 w 5734864"/>
              <a:gd name="connsiteY184" fmla="*/ 6556817 h 6858000"/>
              <a:gd name="connsiteX185" fmla="*/ 16001 w 5734864"/>
              <a:gd name="connsiteY185" fmla="*/ 6808678 h 6858000"/>
              <a:gd name="connsiteX186" fmla="*/ 0 w 5734864"/>
              <a:gd name="connsiteY186" fmla="*/ 6858000 h 6858000"/>
              <a:gd name="connsiteX187" fmla="*/ 5734864 w 5734864"/>
              <a:gd name="connsiteY187" fmla="*/ 6858000 h 6858000"/>
              <a:gd name="connsiteX188" fmla="*/ 5734864 w 5734864"/>
              <a:gd name="connsiteY188" fmla="*/ 0 h 6858000"/>
              <a:gd name="connsiteX0" fmla="*/ 5734864 w 5734864"/>
              <a:gd name="connsiteY0" fmla="*/ 0 h 6858000"/>
              <a:gd name="connsiteX1" fmla="*/ 771611 w 5734864"/>
              <a:gd name="connsiteY1" fmla="*/ 0 h 6858000"/>
              <a:gd name="connsiteX2" fmla="*/ 771679 w 5734864"/>
              <a:gd name="connsiteY2" fmla="*/ 49108 h 6858000"/>
              <a:gd name="connsiteX3" fmla="*/ 794248 w 5734864"/>
              <a:gd name="connsiteY3" fmla="*/ 200968 h 6858000"/>
              <a:gd name="connsiteX4" fmla="*/ 801749 w 5734864"/>
              <a:gd name="connsiteY4" fmla="*/ 414071 h 6858000"/>
              <a:gd name="connsiteX5" fmla="*/ 818548 w 5734864"/>
              <a:gd name="connsiteY5" fmla="*/ 585467 h 6858000"/>
              <a:gd name="connsiteX6" fmla="*/ 857476 w 5734864"/>
              <a:gd name="connsiteY6" fmla="*/ 800623 h 6858000"/>
              <a:gd name="connsiteX7" fmla="*/ 851083 w 5734864"/>
              <a:gd name="connsiteY7" fmla="*/ 878903 h 6858000"/>
              <a:gd name="connsiteX8" fmla="*/ 873564 w 5734864"/>
              <a:gd name="connsiteY8" fmla="*/ 943826 h 6858000"/>
              <a:gd name="connsiteX9" fmla="*/ 864705 w 5734864"/>
              <a:gd name="connsiteY9" fmla="*/ 973328 h 6858000"/>
              <a:gd name="connsiteX10" fmla="*/ 862869 w 5734864"/>
              <a:gd name="connsiteY10" fmla="*/ 978457 h 6858000"/>
              <a:gd name="connsiteX11" fmla="*/ 862233 w 5734864"/>
              <a:gd name="connsiteY11" fmla="*/ 998041 h 6858000"/>
              <a:gd name="connsiteX12" fmla="*/ 853665 w 5734864"/>
              <a:gd name="connsiteY12" fmla="*/ 1004750 h 6858000"/>
              <a:gd name="connsiteX13" fmla="*/ 847865 w 5734864"/>
              <a:gd name="connsiteY13" fmla="*/ 1070795 h 6858000"/>
              <a:gd name="connsiteX14" fmla="*/ 862786 w 5734864"/>
              <a:gd name="connsiteY14" fmla="*/ 1238994 h 6858000"/>
              <a:gd name="connsiteX15" fmla="*/ 859345 w 5734864"/>
              <a:gd name="connsiteY15" fmla="*/ 1380427 h 6858000"/>
              <a:gd name="connsiteX16" fmla="*/ 855172 w 5734864"/>
              <a:gd name="connsiteY16" fmla="*/ 1435262 h 6858000"/>
              <a:gd name="connsiteX17" fmla="*/ 860494 w 5734864"/>
              <a:gd name="connsiteY17" fmla="*/ 1453861 h 6858000"/>
              <a:gd name="connsiteX18" fmla="*/ 853731 w 5734864"/>
              <a:gd name="connsiteY18" fmla="*/ 1467047 h 6858000"/>
              <a:gd name="connsiteX19" fmla="*/ 845847 w 5734864"/>
              <a:gd name="connsiteY19" fmla="*/ 1502307 h 6858000"/>
              <a:gd name="connsiteX20" fmla="*/ 817613 w 5734864"/>
              <a:gd name="connsiteY20" fmla="*/ 1565166 h 6858000"/>
              <a:gd name="connsiteX21" fmla="*/ 804223 w 5734864"/>
              <a:gd name="connsiteY21" fmla="*/ 1601941 h 6858000"/>
              <a:gd name="connsiteX22" fmla="*/ 791773 w 5734864"/>
              <a:gd name="connsiteY22" fmla="*/ 1627005 h 6858000"/>
              <a:gd name="connsiteX23" fmla="*/ 774645 w 5734864"/>
              <a:gd name="connsiteY23" fmla="*/ 1699922 h 6858000"/>
              <a:gd name="connsiteX24" fmla="*/ 752343 w 5734864"/>
              <a:gd name="connsiteY24" fmla="*/ 1824604 h 6858000"/>
              <a:gd name="connsiteX25" fmla="*/ 746254 w 5734864"/>
              <a:gd name="connsiteY25" fmla="*/ 1850222 h 6858000"/>
              <a:gd name="connsiteX26" fmla="*/ 728600 w 5734864"/>
              <a:gd name="connsiteY26" fmla="*/ 1869603 h 6858000"/>
              <a:gd name="connsiteX27" fmla="*/ 724396 w 5734864"/>
              <a:gd name="connsiteY27" fmla="*/ 1883104 h 6858000"/>
              <a:gd name="connsiteX28" fmla="*/ 722165 w 5734864"/>
              <a:gd name="connsiteY28" fmla="*/ 1885924 h 6858000"/>
              <a:gd name="connsiteX29" fmla="*/ 721338 w 5734864"/>
              <a:gd name="connsiteY29" fmla="*/ 1887123 h 6858000"/>
              <a:gd name="connsiteX30" fmla="*/ 714840 w 5734864"/>
              <a:gd name="connsiteY30" fmla="*/ 1902274 h 6858000"/>
              <a:gd name="connsiteX31" fmla="*/ 722847 w 5734864"/>
              <a:gd name="connsiteY31" fmla="*/ 1929891 h 6858000"/>
              <a:gd name="connsiteX32" fmla="*/ 714660 w 5734864"/>
              <a:gd name="connsiteY32" fmla="*/ 1982709 h 6858000"/>
              <a:gd name="connsiteX33" fmla="*/ 710759 w 5734864"/>
              <a:gd name="connsiteY33" fmla="*/ 2013010 h 6858000"/>
              <a:gd name="connsiteX34" fmla="*/ 697927 w 5734864"/>
              <a:gd name="connsiteY34" fmla="*/ 2069833 h 6858000"/>
              <a:gd name="connsiteX35" fmla="*/ 693594 w 5734864"/>
              <a:gd name="connsiteY35" fmla="*/ 2103731 h 6858000"/>
              <a:gd name="connsiteX36" fmla="*/ 691109 w 5734864"/>
              <a:gd name="connsiteY36" fmla="*/ 2124027 h 6858000"/>
              <a:gd name="connsiteX37" fmla="*/ 676593 w 5734864"/>
              <a:gd name="connsiteY37" fmla="*/ 2176182 h 6858000"/>
              <a:gd name="connsiteX38" fmla="*/ 633227 w 5734864"/>
              <a:gd name="connsiteY38" fmla="*/ 2258036 h 6858000"/>
              <a:gd name="connsiteX39" fmla="*/ 625564 w 5734864"/>
              <a:gd name="connsiteY39" fmla="*/ 2284567 h 6858000"/>
              <a:gd name="connsiteX40" fmla="*/ 627074 w 5734864"/>
              <a:gd name="connsiteY40" fmla="*/ 2289605 h 6858000"/>
              <a:gd name="connsiteX41" fmla="*/ 614574 w 5734864"/>
              <a:gd name="connsiteY41" fmla="*/ 2308717 h 6858000"/>
              <a:gd name="connsiteX42" fmla="*/ 606890 w 5734864"/>
              <a:gd name="connsiteY42" fmla="*/ 2320662 h 6858000"/>
              <a:gd name="connsiteX43" fmla="*/ 605558 w 5734864"/>
              <a:gd name="connsiteY43" fmla="*/ 2327897 h 6858000"/>
              <a:gd name="connsiteX44" fmla="*/ 602202 w 5734864"/>
              <a:gd name="connsiteY44" fmla="*/ 2357749 h 6858000"/>
              <a:gd name="connsiteX45" fmla="*/ 600213 w 5734864"/>
              <a:gd name="connsiteY45" fmla="*/ 2364905 h 6858000"/>
              <a:gd name="connsiteX46" fmla="*/ 597160 w 5734864"/>
              <a:gd name="connsiteY46" fmla="*/ 2388351 h 6858000"/>
              <a:gd name="connsiteX47" fmla="*/ 597982 w 5734864"/>
              <a:gd name="connsiteY47" fmla="*/ 2402296 h 6858000"/>
              <a:gd name="connsiteX48" fmla="*/ 593150 w 5734864"/>
              <a:gd name="connsiteY48" fmla="*/ 2420015 h 6858000"/>
              <a:gd name="connsiteX49" fmla="*/ 592833 w 5734864"/>
              <a:gd name="connsiteY49" fmla="*/ 2422749 h 6858000"/>
              <a:gd name="connsiteX50" fmla="*/ 594479 w 5734864"/>
              <a:gd name="connsiteY50" fmla="*/ 2426002 h 6858000"/>
              <a:gd name="connsiteX51" fmla="*/ 591963 w 5734864"/>
              <a:gd name="connsiteY51" fmla="*/ 2431950 h 6858000"/>
              <a:gd name="connsiteX52" fmla="*/ 591544 w 5734864"/>
              <a:gd name="connsiteY52" fmla="*/ 2433897 h 6858000"/>
              <a:gd name="connsiteX53" fmla="*/ 589519 w 5734864"/>
              <a:gd name="connsiteY53" fmla="*/ 2451398 h 6858000"/>
              <a:gd name="connsiteX54" fmla="*/ 590037 w 5734864"/>
              <a:gd name="connsiteY54" fmla="*/ 2455536 h 6858000"/>
              <a:gd name="connsiteX55" fmla="*/ 588179 w 5734864"/>
              <a:gd name="connsiteY55" fmla="*/ 2462981 h 6858000"/>
              <a:gd name="connsiteX56" fmla="*/ 583434 w 5734864"/>
              <a:gd name="connsiteY56" fmla="*/ 2503991 h 6858000"/>
              <a:gd name="connsiteX57" fmla="*/ 567942 w 5734864"/>
              <a:gd name="connsiteY57" fmla="*/ 2652936 h 6858000"/>
              <a:gd name="connsiteX58" fmla="*/ 573869 w 5734864"/>
              <a:gd name="connsiteY58" fmla="*/ 2670188 h 6858000"/>
              <a:gd name="connsiteX59" fmla="*/ 575243 w 5734864"/>
              <a:gd name="connsiteY59" fmla="*/ 2688114 h 6858000"/>
              <a:gd name="connsiteX60" fmla="*/ 573824 w 5734864"/>
              <a:gd name="connsiteY60" fmla="*/ 2689856 h 6858000"/>
              <a:gd name="connsiteX61" fmla="*/ 570699 w 5734864"/>
              <a:gd name="connsiteY61" fmla="*/ 2709353 h 6858000"/>
              <a:gd name="connsiteX62" fmla="*/ 573192 w 5734864"/>
              <a:gd name="connsiteY62" fmla="*/ 2714527 h 6858000"/>
              <a:gd name="connsiteX63" fmla="*/ 572044 w 5734864"/>
              <a:gd name="connsiteY63" fmla="*/ 2728187 h 6858000"/>
              <a:gd name="connsiteX64" fmla="*/ 572465 w 5734864"/>
              <a:gd name="connsiteY64" fmla="*/ 2755863 h 6858000"/>
              <a:gd name="connsiteX65" fmla="*/ 570028 w 5734864"/>
              <a:gd name="connsiteY65" fmla="*/ 2760324 h 6858000"/>
              <a:gd name="connsiteX66" fmla="*/ 566748 w 5734864"/>
              <a:gd name="connsiteY66" fmla="*/ 2800948 h 6858000"/>
              <a:gd name="connsiteX67" fmla="*/ 565509 w 5734864"/>
              <a:gd name="connsiteY67" fmla="*/ 2801167 h 6858000"/>
              <a:gd name="connsiteX68" fmla="*/ 559367 w 5734864"/>
              <a:gd name="connsiteY68" fmla="*/ 2811129 h 6858000"/>
              <a:gd name="connsiteX69" fmla="*/ 550354 w 5734864"/>
              <a:gd name="connsiteY69" fmla="*/ 2830949 h 6858000"/>
              <a:gd name="connsiteX70" fmla="*/ 514795 w 5734864"/>
              <a:gd name="connsiteY70" fmla="*/ 2872433 h 6858000"/>
              <a:gd name="connsiteX71" fmla="*/ 509875 w 5734864"/>
              <a:gd name="connsiteY71" fmla="*/ 2923099 h 6858000"/>
              <a:gd name="connsiteX72" fmla="*/ 509577 w 5734864"/>
              <a:gd name="connsiteY72" fmla="*/ 2923197 h 6858000"/>
              <a:gd name="connsiteX73" fmla="*/ 507597 w 5734864"/>
              <a:gd name="connsiteY73" fmla="*/ 2931868 h 6858000"/>
              <a:gd name="connsiteX74" fmla="*/ 507379 w 5734864"/>
              <a:gd name="connsiteY74" fmla="*/ 2938322 h 6858000"/>
              <a:gd name="connsiteX75" fmla="*/ 504725 w 5734864"/>
              <a:gd name="connsiteY75" fmla="*/ 2954519 h 6858000"/>
              <a:gd name="connsiteX76" fmla="*/ 502018 w 5734864"/>
              <a:gd name="connsiteY76" fmla="*/ 2959643 h 6858000"/>
              <a:gd name="connsiteX77" fmla="*/ 498360 w 5734864"/>
              <a:gd name="connsiteY77" fmla="*/ 2961019 h 6858000"/>
              <a:gd name="connsiteX78" fmla="*/ 498483 w 5734864"/>
              <a:gd name="connsiteY78" fmla="*/ 2962590 h 6858000"/>
              <a:gd name="connsiteX79" fmla="*/ 484403 w 5734864"/>
              <a:gd name="connsiteY79" fmla="*/ 2990538 h 6858000"/>
              <a:gd name="connsiteX80" fmla="*/ 463075 w 5734864"/>
              <a:gd name="connsiteY80" fmla="*/ 3055956 h 6858000"/>
              <a:gd name="connsiteX81" fmla="*/ 455013 w 5734864"/>
              <a:gd name="connsiteY81" fmla="*/ 3094482 h 6858000"/>
              <a:gd name="connsiteX82" fmla="*/ 428391 w 5734864"/>
              <a:gd name="connsiteY82" fmla="*/ 3198850 h 6858000"/>
              <a:gd name="connsiteX83" fmla="*/ 401440 w 5734864"/>
              <a:gd name="connsiteY83" fmla="*/ 3307560 h 6858000"/>
              <a:gd name="connsiteX84" fmla="*/ 386076 w 5734864"/>
              <a:gd name="connsiteY84" fmla="*/ 3373943 h 6858000"/>
              <a:gd name="connsiteX85" fmla="*/ 374726 w 5734864"/>
              <a:gd name="connsiteY85" fmla="*/ 3381364 h 6858000"/>
              <a:gd name="connsiteX86" fmla="*/ 369145 w 5734864"/>
              <a:gd name="connsiteY86" fmla="*/ 3383729 h 6858000"/>
              <a:gd name="connsiteX87" fmla="*/ 364294 w 5734864"/>
              <a:gd name="connsiteY87" fmla="*/ 3414159 h 6858000"/>
              <a:gd name="connsiteX88" fmla="*/ 366450 w 5734864"/>
              <a:gd name="connsiteY88" fmla="*/ 3436925 h 6858000"/>
              <a:gd name="connsiteX89" fmla="*/ 351743 w 5734864"/>
              <a:gd name="connsiteY89" fmla="*/ 3521619 h 6858000"/>
              <a:gd name="connsiteX90" fmla="*/ 345784 w 5734864"/>
              <a:gd name="connsiteY90" fmla="*/ 3603757 h 6858000"/>
              <a:gd name="connsiteX91" fmla="*/ 344198 w 5734864"/>
              <a:gd name="connsiteY91" fmla="*/ 3652424 h 6858000"/>
              <a:gd name="connsiteX92" fmla="*/ 352450 w 5734864"/>
              <a:gd name="connsiteY92" fmla="*/ 3665222 h 6858000"/>
              <a:gd name="connsiteX93" fmla="*/ 342621 w 5734864"/>
              <a:gd name="connsiteY93" fmla="*/ 3700804 h 6858000"/>
              <a:gd name="connsiteX94" fmla="*/ 341514 w 5734864"/>
              <a:gd name="connsiteY94" fmla="*/ 3734774 h 6858000"/>
              <a:gd name="connsiteX95" fmla="*/ 340607 w 5734864"/>
              <a:gd name="connsiteY95" fmla="*/ 3785153 h 6858000"/>
              <a:gd name="connsiteX96" fmla="*/ 340707 w 5734864"/>
              <a:gd name="connsiteY96" fmla="*/ 3788177 h 6858000"/>
              <a:gd name="connsiteX97" fmla="*/ 340361 w 5734864"/>
              <a:gd name="connsiteY97" fmla="*/ 3798803 h 6858000"/>
              <a:gd name="connsiteX98" fmla="*/ 339642 w 5734864"/>
              <a:gd name="connsiteY98" fmla="*/ 3838750 h 6858000"/>
              <a:gd name="connsiteX99" fmla="*/ 360295 w 5734864"/>
              <a:gd name="connsiteY99" fmla="*/ 4015196 h 6858000"/>
              <a:gd name="connsiteX100" fmla="*/ 339043 w 5734864"/>
              <a:gd name="connsiteY100" fmla="*/ 4052778 h 6858000"/>
              <a:gd name="connsiteX101" fmla="*/ 339343 w 5734864"/>
              <a:gd name="connsiteY101" fmla="*/ 4096257 h 6858000"/>
              <a:gd name="connsiteX102" fmla="*/ 340786 w 5734864"/>
              <a:gd name="connsiteY102" fmla="*/ 4321136 h 6858000"/>
              <a:gd name="connsiteX103" fmla="*/ 343158 w 5734864"/>
              <a:gd name="connsiteY103" fmla="*/ 4429174 h 6858000"/>
              <a:gd name="connsiteX104" fmla="*/ 334599 w 5734864"/>
              <a:gd name="connsiteY104" fmla="*/ 4449938 h 6858000"/>
              <a:gd name="connsiteX105" fmla="*/ 332890 w 5734864"/>
              <a:gd name="connsiteY105" fmla="*/ 4453515 h 6858000"/>
              <a:gd name="connsiteX106" fmla="*/ 331105 w 5734864"/>
              <a:gd name="connsiteY106" fmla="*/ 4467941 h 6858000"/>
              <a:gd name="connsiteX107" fmla="*/ 324289 w 5734864"/>
              <a:gd name="connsiteY107" fmla="*/ 4471861 h 6858000"/>
              <a:gd name="connsiteX108" fmla="*/ 317079 w 5734864"/>
              <a:gd name="connsiteY108" fmla="*/ 4493468 h 6858000"/>
              <a:gd name="connsiteX109" fmla="*/ 315557 w 5734864"/>
              <a:gd name="connsiteY109" fmla="*/ 4520067 h 6858000"/>
              <a:gd name="connsiteX110" fmla="*/ 315240 w 5734864"/>
              <a:gd name="connsiteY110" fmla="*/ 4536872 h 6858000"/>
              <a:gd name="connsiteX111" fmla="*/ 316200 w 5734864"/>
              <a:gd name="connsiteY111" fmla="*/ 4538297 h 6858000"/>
              <a:gd name="connsiteX112" fmla="*/ 317507 w 5734864"/>
              <a:gd name="connsiteY112" fmla="*/ 4547582 h 6858000"/>
              <a:gd name="connsiteX113" fmla="*/ 323078 w 5734864"/>
              <a:gd name="connsiteY113" fmla="*/ 4592102 h 6858000"/>
              <a:gd name="connsiteX114" fmla="*/ 328722 w 5734864"/>
              <a:gd name="connsiteY114" fmla="*/ 4667914 h 6858000"/>
              <a:gd name="connsiteX115" fmla="*/ 335597 w 5734864"/>
              <a:gd name="connsiteY115" fmla="*/ 4695035 h 6858000"/>
              <a:gd name="connsiteX116" fmla="*/ 339485 w 5734864"/>
              <a:gd name="connsiteY116" fmla="*/ 4695979 h 6858000"/>
              <a:gd name="connsiteX117" fmla="*/ 341089 w 5734864"/>
              <a:gd name="connsiteY117" fmla="*/ 4704268 h 6858000"/>
              <a:gd name="connsiteX118" fmla="*/ 342177 w 5734864"/>
              <a:gd name="connsiteY118" fmla="*/ 4706060 h 6858000"/>
              <a:gd name="connsiteX119" fmla="*/ 347751 w 5734864"/>
              <a:gd name="connsiteY119" fmla="*/ 4716754 h 6858000"/>
              <a:gd name="connsiteX120" fmla="*/ 344125 w 5734864"/>
              <a:gd name="connsiteY120" fmla="*/ 4764669 h 6858000"/>
              <a:gd name="connsiteX121" fmla="*/ 340188 w 5734864"/>
              <a:gd name="connsiteY121" fmla="*/ 4779386 h 6858000"/>
              <a:gd name="connsiteX122" fmla="*/ 335146 w 5734864"/>
              <a:gd name="connsiteY122" fmla="*/ 4787491 h 6858000"/>
              <a:gd name="connsiteX123" fmla="*/ 319124 w 5734864"/>
              <a:gd name="connsiteY123" fmla="*/ 4843514 h 6858000"/>
              <a:gd name="connsiteX124" fmla="*/ 305956 w 5734864"/>
              <a:gd name="connsiteY124" fmla="*/ 4881505 h 6858000"/>
              <a:gd name="connsiteX125" fmla="*/ 301062 w 5734864"/>
              <a:gd name="connsiteY125" fmla="*/ 4889332 h 6858000"/>
              <a:gd name="connsiteX126" fmla="*/ 302141 w 5734864"/>
              <a:gd name="connsiteY126" fmla="*/ 4899400 h 6858000"/>
              <a:gd name="connsiteX127" fmla="*/ 304424 w 5734864"/>
              <a:gd name="connsiteY127" fmla="*/ 4902664 h 6858000"/>
              <a:gd name="connsiteX128" fmla="*/ 293123 w 5734864"/>
              <a:gd name="connsiteY128" fmla="*/ 4932769 h 6858000"/>
              <a:gd name="connsiteX129" fmla="*/ 292275 w 5734864"/>
              <a:gd name="connsiteY129" fmla="*/ 4936482 h 6858000"/>
              <a:gd name="connsiteX130" fmla="*/ 288304 w 5734864"/>
              <a:gd name="connsiteY130" fmla="*/ 4962325 h 6858000"/>
              <a:gd name="connsiteX131" fmla="*/ 287420 w 5734864"/>
              <a:gd name="connsiteY131" fmla="*/ 5042193 h 6858000"/>
              <a:gd name="connsiteX132" fmla="*/ 287020 w 5734864"/>
              <a:gd name="connsiteY132" fmla="*/ 5065655 h 6858000"/>
              <a:gd name="connsiteX133" fmla="*/ 288488 w 5734864"/>
              <a:gd name="connsiteY133" fmla="*/ 5082216 h 6858000"/>
              <a:gd name="connsiteX134" fmla="*/ 282763 w 5734864"/>
              <a:gd name="connsiteY134" fmla="*/ 5127114 h 6858000"/>
              <a:gd name="connsiteX135" fmla="*/ 269316 w 5734864"/>
              <a:gd name="connsiteY135" fmla="*/ 5202682 h 6858000"/>
              <a:gd name="connsiteX136" fmla="*/ 269174 w 5734864"/>
              <a:gd name="connsiteY136" fmla="*/ 5230835 h 6858000"/>
              <a:gd name="connsiteX137" fmla="*/ 272679 w 5734864"/>
              <a:gd name="connsiteY137" fmla="*/ 5232660 h 6858000"/>
              <a:gd name="connsiteX138" fmla="*/ 272160 w 5734864"/>
              <a:gd name="connsiteY138" fmla="*/ 5241150 h 6858000"/>
              <a:gd name="connsiteX139" fmla="*/ 272760 w 5734864"/>
              <a:gd name="connsiteY139" fmla="*/ 5243156 h 6858000"/>
              <a:gd name="connsiteX140" fmla="*/ 275462 w 5734864"/>
              <a:gd name="connsiteY140" fmla="*/ 5254919 h 6858000"/>
              <a:gd name="connsiteX141" fmla="*/ 262897 w 5734864"/>
              <a:gd name="connsiteY141" fmla="*/ 5286259 h 6858000"/>
              <a:gd name="connsiteX142" fmla="*/ 252761 w 5734864"/>
              <a:gd name="connsiteY142" fmla="*/ 5357801 h 6858000"/>
              <a:gd name="connsiteX143" fmla="*/ 242360 w 5734864"/>
              <a:gd name="connsiteY143" fmla="*/ 5460080 h 6858000"/>
              <a:gd name="connsiteX144" fmla="*/ 229880 w 5734864"/>
              <a:gd name="connsiteY144" fmla="*/ 5539714 h 6858000"/>
              <a:gd name="connsiteX145" fmla="*/ 204283 w 5734864"/>
              <a:gd name="connsiteY145" fmla="*/ 5639080 h 6858000"/>
              <a:gd name="connsiteX146" fmla="*/ 198948 w 5734864"/>
              <a:gd name="connsiteY146" fmla="*/ 5710958 h 6858000"/>
              <a:gd name="connsiteX147" fmla="*/ 192367 w 5734864"/>
              <a:gd name="connsiteY147" fmla="*/ 5719859 h 6858000"/>
              <a:gd name="connsiteX148" fmla="*/ 188035 w 5734864"/>
              <a:gd name="connsiteY148" fmla="*/ 5729935 h 6858000"/>
              <a:gd name="connsiteX149" fmla="*/ 188428 w 5734864"/>
              <a:gd name="connsiteY149" fmla="*/ 5731182 h 6858000"/>
              <a:gd name="connsiteX150" fmla="*/ 181635 w 5734864"/>
              <a:gd name="connsiteY150" fmla="*/ 5753538 h 6858000"/>
              <a:gd name="connsiteX151" fmla="*/ 169744 w 5734864"/>
              <a:gd name="connsiteY151" fmla="*/ 5796307 h 6858000"/>
              <a:gd name="connsiteX152" fmla="*/ 170351 w 5734864"/>
              <a:gd name="connsiteY152" fmla="*/ 5796644 h 6858000"/>
              <a:gd name="connsiteX153" fmla="*/ 171559 w 5734864"/>
              <a:gd name="connsiteY153" fmla="*/ 5803435 h 6858000"/>
              <a:gd name="connsiteX154" fmla="*/ 172284 w 5734864"/>
              <a:gd name="connsiteY154" fmla="*/ 5816391 h 6858000"/>
              <a:gd name="connsiteX155" fmla="*/ 182542 w 5734864"/>
              <a:gd name="connsiteY155" fmla="*/ 5846382 h 6858000"/>
              <a:gd name="connsiteX156" fmla="*/ 175877 w 5734864"/>
              <a:gd name="connsiteY156" fmla="*/ 5871336 h 6858000"/>
              <a:gd name="connsiteX157" fmla="*/ 174910 w 5734864"/>
              <a:gd name="connsiteY157" fmla="*/ 5876376 h 6858000"/>
              <a:gd name="connsiteX158" fmla="*/ 175047 w 5734864"/>
              <a:gd name="connsiteY158" fmla="*/ 5876483 h 6858000"/>
              <a:gd name="connsiteX159" fmla="*/ 174335 w 5734864"/>
              <a:gd name="connsiteY159" fmla="*/ 5881814 h 6858000"/>
              <a:gd name="connsiteX160" fmla="*/ 171273 w 5734864"/>
              <a:gd name="connsiteY160" fmla="*/ 5895339 h 6858000"/>
              <a:gd name="connsiteX161" fmla="*/ 171658 w 5734864"/>
              <a:gd name="connsiteY161" fmla="*/ 5898749 h 6858000"/>
              <a:gd name="connsiteX162" fmla="*/ 174658 w 5734864"/>
              <a:gd name="connsiteY162" fmla="*/ 5919558 h 6858000"/>
              <a:gd name="connsiteX163" fmla="*/ 169099 w 5734864"/>
              <a:gd name="connsiteY163" fmla="*/ 5984417 h 6858000"/>
              <a:gd name="connsiteX164" fmla="*/ 162007 w 5734864"/>
              <a:gd name="connsiteY164" fmla="*/ 6049043 h 6858000"/>
              <a:gd name="connsiteX165" fmla="*/ 156875 w 5734864"/>
              <a:gd name="connsiteY165" fmla="*/ 6114000 h 6858000"/>
              <a:gd name="connsiteX166" fmla="*/ 165441 w 5734864"/>
              <a:gd name="connsiteY166" fmla="*/ 6146938 h 6858000"/>
              <a:gd name="connsiteX167" fmla="*/ 165177 w 5734864"/>
              <a:gd name="connsiteY167" fmla="*/ 6150658 h 6858000"/>
              <a:gd name="connsiteX168" fmla="*/ 161772 w 5734864"/>
              <a:gd name="connsiteY168" fmla="*/ 6160011 h 6858000"/>
              <a:gd name="connsiteX169" fmla="*/ 160051 w 5734864"/>
              <a:gd name="connsiteY169" fmla="*/ 6163393 h 6858000"/>
              <a:gd name="connsiteX170" fmla="*/ 158473 w 5734864"/>
              <a:gd name="connsiteY170" fmla="*/ 6168628 h 6858000"/>
              <a:gd name="connsiteX171" fmla="*/ 158573 w 5734864"/>
              <a:gd name="connsiteY171" fmla="*/ 6168799 h 6858000"/>
              <a:gd name="connsiteX172" fmla="*/ 146463 w 5734864"/>
              <a:gd name="connsiteY172" fmla="*/ 6196671 h 6858000"/>
              <a:gd name="connsiteX173" fmla="*/ 150209 w 5734864"/>
              <a:gd name="connsiteY173" fmla="*/ 6232365 h 6858000"/>
              <a:gd name="connsiteX174" fmla="*/ 148544 w 5734864"/>
              <a:gd name="connsiteY174" fmla="*/ 6246162 h 6858000"/>
              <a:gd name="connsiteX175" fmla="*/ 148403 w 5734864"/>
              <a:gd name="connsiteY175" fmla="*/ 6253754 h 6858000"/>
              <a:gd name="connsiteX176" fmla="*/ 138880 w 5734864"/>
              <a:gd name="connsiteY176" fmla="*/ 6276449 h 6858000"/>
              <a:gd name="connsiteX177" fmla="*/ 138683 w 5734864"/>
              <a:gd name="connsiteY177" fmla="*/ 6279721 h 6858000"/>
              <a:gd name="connsiteX178" fmla="*/ 130721 w 5734864"/>
              <a:gd name="connsiteY178" fmla="*/ 6293675 h 6858000"/>
              <a:gd name="connsiteX179" fmla="*/ 120717 w 5734864"/>
              <a:gd name="connsiteY179" fmla="*/ 6313967 h 6858000"/>
              <a:gd name="connsiteX180" fmla="*/ 120841 w 5734864"/>
              <a:gd name="connsiteY180" fmla="*/ 6315437 h 6858000"/>
              <a:gd name="connsiteX181" fmla="*/ 115208 w 5734864"/>
              <a:gd name="connsiteY181" fmla="*/ 6324024 h 6858000"/>
              <a:gd name="connsiteX182" fmla="*/ 101217 w 5734864"/>
              <a:gd name="connsiteY182" fmla="*/ 6365923 h 6858000"/>
              <a:gd name="connsiteX183" fmla="*/ 74946 w 5734864"/>
              <a:gd name="connsiteY183" fmla="*/ 6556817 h 6858000"/>
              <a:gd name="connsiteX184" fmla="*/ 16001 w 5734864"/>
              <a:gd name="connsiteY184" fmla="*/ 6808678 h 6858000"/>
              <a:gd name="connsiteX185" fmla="*/ 0 w 5734864"/>
              <a:gd name="connsiteY185" fmla="*/ 6858000 h 6858000"/>
              <a:gd name="connsiteX186" fmla="*/ 5734864 w 5734864"/>
              <a:gd name="connsiteY186" fmla="*/ 6858000 h 6858000"/>
              <a:gd name="connsiteX187" fmla="*/ 5734864 w 5734864"/>
              <a:gd name="connsiteY187"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Lst>
            <a:rect l="l" t="t" r="r" b="b"/>
            <a:pathLst>
              <a:path w="5734864" h="6858000">
                <a:moveTo>
                  <a:pt x="5734864" y="0"/>
                </a:moveTo>
                <a:lnTo>
                  <a:pt x="771611" y="0"/>
                </a:lnTo>
                <a:cubicBezTo>
                  <a:pt x="771634" y="16369"/>
                  <a:pt x="771656" y="32739"/>
                  <a:pt x="771679" y="49108"/>
                </a:cubicBezTo>
                <a:cubicBezTo>
                  <a:pt x="775201" y="55622"/>
                  <a:pt x="788724" y="196721"/>
                  <a:pt x="794248" y="200968"/>
                </a:cubicBezTo>
                <a:lnTo>
                  <a:pt x="801749" y="414071"/>
                </a:lnTo>
                <a:cubicBezTo>
                  <a:pt x="807329" y="440933"/>
                  <a:pt x="835107" y="598697"/>
                  <a:pt x="818548" y="585467"/>
                </a:cubicBezTo>
                <a:cubicBezTo>
                  <a:pt x="856197" y="664140"/>
                  <a:pt x="837895" y="708473"/>
                  <a:pt x="857476" y="800623"/>
                </a:cubicBezTo>
                <a:cubicBezTo>
                  <a:pt x="822401" y="857344"/>
                  <a:pt x="855723" y="824571"/>
                  <a:pt x="851083" y="878903"/>
                </a:cubicBezTo>
                <a:cubicBezTo>
                  <a:pt x="884811" y="859448"/>
                  <a:pt x="834648" y="946397"/>
                  <a:pt x="873564" y="943826"/>
                </a:cubicBezTo>
                <a:cubicBezTo>
                  <a:pt x="871487" y="953795"/>
                  <a:pt x="868248" y="963533"/>
                  <a:pt x="864705" y="973328"/>
                </a:cubicBezTo>
                <a:lnTo>
                  <a:pt x="862869" y="978457"/>
                </a:lnTo>
                <a:lnTo>
                  <a:pt x="862233" y="998041"/>
                </a:lnTo>
                <a:lnTo>
                  <a:pt x="853665" y="1004750"/>
                </a:lnTo>
                <a:lnTo>
                  <a:pt x="847865" y="1070795"/>
                </a:lnTo>
                <a:cubicBezTo>
                  <a:pt x="870234" y="1110486"/>
                  <a:pt x="833172" y="1190441"/>
                  <a:pt x="862786" y="1238994"/>
                </a:cubicBezTo>
                <a:cubicBezTo>
                  <a:pt x="864699" y="1290599"/>
                  <a:pt x="860615" y="1347716"/>
                  <a:pt x="859345" y="1380427"/>
                </a:cubicBezTo>
                <a:cubicBezTo>
                  <a:pt x="845703" y="1396391"/>
                  <a:pt x="873184" y="1435525"/>
                  <a:pt x="855172" y="1435262"/>
                </a:cubicBezTo>
                <a:lnTo>
                  <a:pt x="860494" y="1453861"/>
                </a:lnTo>
                <a:lnTo>
                  <a:pt x="853731" y="1467047"/>
                </a:lnTo>
                <a:cubicBezTo>
                  <a:pt x="846549" y="1480528"/>
                  <a:pt x="841728" y="1491093"/>
                  <a:pt x="845847" y="1502307"/>
                </a:cubicBezTo>
                <a:lnTo>
                  <a:pt x="817613" y="1565166"/>
                </a:lnTo>
                <a:cubicBezTo>
                  <a:pt x="805468" y="1557258"/>
                  <a:pt x="816534" y="1596564"/>
                  <a:pt x="804223" y="1601941"/>
                </a:cubicBezTo>
                <a:cubicBezTo>
                  <a:pt x="794287" y="1604654"/>
                  <a:pt x="795328" y="1617209"/>
                  <a:pt x="791773" y="1627005"/>
                </a:cubicBezTo>
                <a:cubicBezTo>
                  <a:pt x="781684" y="1634393"/>
                  <a:pt x="772978" y="1683187"/>
                  <a:pt x="774645" y="1699922"/>
                </a:cubicBezTo>
                <a:cubicBezTo>
                  <a:pt x="785341" y="1746767"/>
                  <a:pt x="744845" y="1787099"/>
                  <a:pt x="752343" y="1824604"/>
                </a:cubicBezTo>
                <a:cubicBezTo>
                  <a:pt x="751502" y="1834578"/>
                  <a:pt x="749297" y="1842929"/>
                  <a:pt x="746254" y="1850222"/>
                </a:cubicBezTo>
                <a:lnTo>
                  <a:pt x="728600" y="1869603"/>
                </a:lnTo>
                <a:lnTo>
                  <a:pt x="724396" y="1883104"/>
                </a:lnTo>
                <a:lnTo>
                  <a:pt x="722165" y="1885924"/>
                </a:lnTo>
                <a:lnTo>
                  <a:pt x="721338" y="1887123"/>
                </a:lnTo>
                <a:lnTo>
                  <a:pt x="714840" y="1902274"/>
                </a:lnTo>
                <a:lnTo>
                  <a:pt x="722847" y="1929891"/>
                </a:lnTo>
                <a:lnTo>
                  <a:pt x="714660" y="1982709"/>
                </a:lnTo>
                <a:cubicBezTo>
                  <a:pt x="727725" y="2006201"/>
                  <a:pt x="714739" y="1997091"/>
                  <a:pt x="710759" y="2013010"/>
                </a:cubicBezTo>
                <a:cubicBezTo>
                  <a:pt x="707970" y="2027531"/>
                  <a:pt x="700788" y="2054714"/>
                  <a:pt x="697927" y="2069833"/>
                </a:cubicBezTo>
                <a:cubicBezTo>
                  <a:pt x="685211" y="2080229"/>
                  <a:pt x="698762" y="2088241"/>
                  <a:pt x="693594" y="2103731"/>
                </a:cubicBezTo>
                <a:cubicBezTo>
                  <a:pt x="688481" y="2110649"/>
                  <a:pt x="687183" y="2115973"/>
                  <a:pt x="691109" y="2124027"/>
                </a:cubicBezTo>
                <a:cubicBezTo>
                  <a:pt x="666413" y="2155740"/>
                  <a:pt x="688031" y="2144874"/>
                  <a:pt x="676593" y="2176182"/>
                </a:cubicBezTo>
                <a:cubicBezTo>
                  <a:pt x="665190" y="2202944"/>
                  <a:pt x="656416" y="2233857"/>
                  <a:pt x="633227" y="2258036"/>
                </a:cubicBezTo>
                <a:cubicBezTo>
                  <a:pt x="626930" y="2262191"/>
                  <a:pt x="623498" y="2274069"/>
                  <a:pt x="625564" y="2284567"/>
                </a:cubicBezTo>
                <a:cubicBezTo>
                  <a:pt x="625918" y="2286374"/>
                  <a:pt x="626427" y="2288071"/>
                  <a:pt x="627074" y="2289605"/>
                </a:cubicBezTo>
                <a:cubicBezTo>
                  <a:pt x="619029" y="2296628"/>
                  <a:pt x="616453" y="2303188"/>
                  <a:pt x="614574" y="2308717"/>
                </a:cubicBezTo>
                <a:lnTo>
                  <a:pt x="606890" y="2320662"/>
                </a:lnTo>
                <a:lnTo>
                  <a:pt x="605558" y="2327897"/>
                </a:lnTo>
                <a:lnTo>
                  <a:pt x="602202" y="2357749"/>
                </a:lnTo>
                <a:lnTo>
                  <a:pt x="600213" y="2364905"/>
                </a:lnTo>
                <a:lnTo>
                  <a:pt x="597160" y="2388351"/>
                </a:lnTo>
                <a:lnTo>
                  <a:pt x="597982" y="2402296"/>
                </a:lnTo>
                <a:lnTo>
                  <a:pt x="593150" y="2420015"/>
                </a:lnTo>
                <a:cubicBezTo>
                  <a:pt x="593044" y="2420926"/>
                  <a:pt x="592939" y="2421838"/>
                  <a:pt x="592833" y="2422749"/>
                </a:cubicBezTo>
                <a:lnTo>
                  <a:pt x="594479" y="2426002"/>
                </a:lnTo>
                <a:cubicBezTo>
                  <a:pt x="594168" y="2427683"/>
                  <a:pt x="593118" y="2429721"/>
                  <a:pt x="591963" y="2431950"/>
                </a:cubicBezTo>
                <a:cubicBezTo>
                  <a:pt x="591823" y="2432599"/>
                  <a:pt x="591684" y="2433248"/>
                  <a:pt x="591544" y="2433897"/>
                </a:cubicBezTo>
                <a:lnTo>
                  <a:pt x="589519" y="2451398"/>
                </a:lnTo>
                <a:cubicBezTo>
                  <a:pt x="589692" y="2452777"/>
                  <a:pt x="589864" y="2454157"/>
                  <a:pt x="590037" y="2455536"/>
                </a:cubicBezTo>
                <a:lnTo>
                  <a:pt x="588179" y="2462981"/>
                </a:lnTo>
                <a:lnTo>
                  <a:pt x="583434" y="2503991"/>
                </a:lnTo>
                <a:cubicBezTo>
                  <a:pt x="576530" y="2566058"/>
                  <a:pt x="570433" y="2625224"/>
                  <a:pt x="567942" y="2652936"/>
                </a:cubicBezTo>
                <a:cubicBezTo>
                  <a:pt x="570864" y="2658290"/>
                  <a:pt x="572739" y="2664095"/>
                  <a:pt x="573869" y="2670188"/>
                </a:cubicBezTo>
                <a:lnTo>
                  <a:pt x="575243" y="2688114"/>
                </a:lnTo>
                <a:lnTo>
                  <a:pt x="573824" y="2689856"/>
                </a:lnTo>
                <a:cubicBezTo>
                  <a:pt x="569972" y="2698471"/>
                  <a:pt x="569572" y="2704494"/>
                  <a:pt x="570699" y="2709353"/>
                </a:cubicBezTo>
                <a:lnTo>
                  <a:pt x="573192" y="2714527"/>
                </a:lnTo>
                <a:cubicBezTo>
                  <a:pt x="572809" y="2719080"/>
                  <a:pt x="572427" y="2723634"/>
                  <a:pt x="572044" y="2728187"/>
                </a:cubicBezTo>
                <a:cubicBezTo>
                  <a:pt x="572184" y="2737412"/>
                  <a:pt x="572325" y="2746638"/>
                  <a:pt x="572465" y="2755863"/>
                </a:cubicBezTo>
                <a:lnTo>
                  <a:pt x="570028" y="2760324"/>
                </a:lnTo>
                <a:lnTo>
                  <a:pt x="566748" y="2800948"/>
                </a:lnTo>
                <a:lnTo>
                  <a:pt x="565509" y="2801167"/>
                </a:lnTo>
                <a:cubicBezTo>
                  <a:pt x="562655" y="2802587"/>
                  <a:pt x="560408" y="2805381"/>
                  <a:pt x="559367" y="2811129"/>
                </a:cubicBezTo>
                <a:cubicBezTo>
                  <a:pt x="543471" y="2797318"/>
                  <a:pt x="552020" y="2812773"/>
                  <a:pt x="550354" y="2830949"/>
                </a:cubicBezTo>
                <a:cubicBezTo>
                  <a:pt x="525292" y="2813553"/>
                  <a:pt x="531129" y="2868192"/>
                  <a:pt x="514795" y="2872433"/>
                </a:cubicBezTo>
                <a:lnTo>
                  <a:pt x="509875" y="2923099"/>
                </a:lnTo>
                <a:lnTo>
                  <a:pt x="509577" y="2923197"/>
                </a:lnTo>
                <a:cubicBezTo>
                  <a:pt x="508704" y="2924865"/>
                  <a:pt x="508038" y="2927556"/>
                  <a:pt x="507597" y="2931868"/>
                </a:cubicBezTo>
                <a:cubicBezTo>
                  <a:pt x="507524" y="2934019"/>
                  <a:pt x="507452" y="2936171"/>
                  <a:pt x="507379" y="2938322"/>
                </a:cubicBezTo>
                <a:lnTo>
                  <a:pt x="504725" y="2954519"/>
                </a:lnTo>
                <a:lnTo>
                  <a:pt x="502018" y="2959643"/>
                </a:lnTo>
                <a:lnTo>
                  <a:pt x="498360" y="2961019"/>
                </a:lnTo>
                <a:lnTo>
                  <a:pt x="498483" y="2962590"/>
                </a:lnTo>
                <a:cubicBezTo>
                  <a:pt x="502388" y="2975027"/>
                  <a:pt x="510202" y="2980016"/>
                  <a:pt x="484403" y="2990538"/>
                </a:cubicBezTo>
                <a:cubicBezTo>
                  <a:pt x="489425" y="3018352"/>
                  <a:pt x="474337" y="3021029"/>
                  <a:pt x="463075" y="3055956"/>
                </a:cubicBezTo>
                <a:cubicBezTo>
                  <a:pt x="469487" y="3072485"/>
                  <a:pt x="464165" y="3083955"/>
                  <a:pt x="455013" y="3094482"/>
                </a:cubicBezTo>
                <a:cubicBezTo>
                  <a:pt x="453131" y="3130054"/>
                  <a:pt x="437643" y="3160106"/>
                  <a:pt x="428391" y="3198850"/>
                </a:cubicBezTo>
                <a:lnTo>
                  <a:pt x="401440" y="3307560"/>
                </a:lnTo>
                <a:lnTo>
                  <a:pt x="386076" y="3373943"/>
                </a:lnTo>
                <a:cubicBezTo>
                  <a:pt x="386236" y="3376061"/>
                  <a:pt x="380537" y="3378856"/>
                  <a:pt x="374726" y="3381364"/>
                </a:cubicBezTo>
                <a:lnTo>
                  <a:pt x="369145" y="3383729"/>
                </a:lnTo>
                <a:lnTo>
                  <a:pt x="364294" y="3414159"/>
                </a:lnTo>
                <a:lnTo>
                  <a:pt x="366450" y="3436925"/>
                </a:lnTo>
                <a:lnTo>
                  <a:pt x="351743" y="3521619"/>
                </a:lnTo>
                <a:lnTo>
                  <a:pt x="345784" y="3603757"/>
                </a:lnTo>
                <a:cubicBezTo>
                  <a:pt x="345255" y="3619979"/>
                  <a:pt x="344727" y="3636202"/>
                  <a:pt x="344198" y="3652424"/>
                </a:cubicBezTo>
                <a:lnTo>
                  <a:pt x="352450" y="3665222"/>
                </a:lnTo>
                <a:lnTo>
                  <a:pt x="342621" y="3700804"/>
                </a:lnTo>
                <a:lnTo>
                  <a:pt x="341514" y="3734774"/>
                </a:lnTo>
                <a:cubicBezTo>
                  <a:pt x="341212" y="3751567"/>
                  <a:pt x="340909" y="3768360"/>
                  <a:pt x="340607" y="3785153"/>
                </a:cubicBezTo>
                <a:cubicBezTo>
                  <a:pt x="340640" y="3786161"/>
                  <a:pt x="340674" y="3787169"/>
                  <a:pt x="340707" y="3788177"/>
                </a:cubicBezTo>
                <a:cubicBezTo>
                  <a:pt x="340592" y="3791719"/>
                  <a:pt x="340476" y="3795261"/>
                  <a:pt x="340361" y="3798803"/>
                </a:cubicBezTo>
                <a:cubicBezTo>
                  <a:pt x="340121" y="3812119"/>
                  <a:pt x="339882" y="3825434"/>
                  <a:pt x="339642" y="3838750"/>
                </a:cubicBezTo>
                <a:cubicBezTo>
                  <a:pt x="337363" y="3949044"/>
                  <a:pt x="361794" y="3960437"/>
                  <a:pt x="360295" y="4015196"/>
                </a:cubicBezTo>
                <a:lnTo>
                  <a:pt x="339043" y="4052778"/>
                </a:lnTo>
                <a:lnTo>
                  <a:pt x="339343" y="4096257"/>
                </a:lnTo>
                <a:cubicBezTo>
                  <a:pt x="362058" y="4159145"/>
                  <a:pt x="332404" y="4250479"/>
                  <a:pt x="340786" y="4321136"/>
                </a:cubicBezTo>
                <a:cubicBezTo>
                  <a:pt x="341421" y="4376624"/>
                  <a:pt x="344189" y="4407708"/>
                  <a:pt x="343158" y="4429174"/>
                </a:cubicBezTo>
                <a:cubicBezTo>
                  <a:pt x="340948" y="4436304"/>
                  <a:pt x="337887" y="4443121"/>
                  <a:pt x="334599" y="4449938"/>
                </a:cubicBezTo>
                <a:lnTo>
                  <a:pt x="332890" y="4453515"/>
                </a:lnTo>
                <a:lnTo>
                  <a:pt x="331105" y="4467941"/>
                </a:lnTo>
                <a:lnTo>
                  <a:pt x="324289" y="4471861"/>
                </a:lnTo>
                <a:lnTo>
                  <a:pt x="317079" y="4493468"/>
                </a:lnTo>
                <a:cubicBezTo>
                  <a:pt x="315353" y="4501584"/>
                  <a:pt x="314639" y="4510343"/>
                  <a:pt x="315557" y="4520067"/>
                </a:cubicBezTo>
                <a:cubicBezTo>
                  <a:pt x="315451" y="4525669"/>
                  <a:pt x="315346" y="4531270"/>
                  <a:pt x="315240" y="4536872"/>
                </a:cubicBezTo>
                <a:lnTo>
                  <a:pt x="316200" y="4538297"/>
                </a:lnTo>
                <a:cubicBezTo>
                  <a:pt x="316738" y="4541182"/>
                  <a:pt x="316785" y="4544563"/>
                  <a:pt x="317507" y="4547582"/>
                </a:cubicBezTo>
                <a:cubicBezTo>
                  <a:pt x="322716" y="4552468"/>
                  <a:pt x="324912" y="4582137"/>
                  <a:pt x="323078" y="4592102"/>
                </a:cubicBezTo>
                <a:cubicBezTo>
                  <a:pt x="314597" y="4619728"/>
                  <a:pt x="334923" y="4645745"/>
                  <a:pt x="328722" y="4667914"/>
                </a:cubicBezTo>
                <a:cubicBezTo>
                  <a:pt x="330810" y="4685069"/>
                  <a:pt x="333803" y="4690356"/>
                  <a:pt x="335597" y="4695035"/>
                </a:cubicBezTo>
                <a:lnTo>
                  <a:pt x="339485" y="4695979"/>
                </a:lnTo>
                <a:lnTo>
                  <a:pt x="341089" y="4704268"/>
                </a:lnTo>
                <a:lnTo>
                  <a:pt x="342177" y="4706060"/>
                </a:lnTo>
                <a:cubicBezTo>
                  <a:pt x="344268" y="4709474"/>
                  <a:pt x="346234" y="4712931"/>
                  <a:pt x="347751" y="4716754"/>
                </a:cubicBezTo>
                <a:lnTo>
                  <a:pt x="344125" y="4764669"/>
                </a:lnTo>
                <a:lnTo>
                  <a:pt x="340188" y="4779386"/>
                </a:lnTo>
                <a:lnTo>
                  <a:pt x="335146" y="4787491"/>
                </a:lnTo>
                <a:lnTo>
                  <a:pt x="319124" y="4843514"/>
                </a:lnTo>
                <a:lnTo>
                  <a:pt x="305956" y="4881505"/>
                </a:lnTo>
                <a:lnTo>
                  <a:pt x="301062" y="4889332"/>
                </a:lnTo>
                <a:lnTo>
                  <a:pt x="302141" y="4899400"/>
                </a:lnTo>
                <a:cubicBezTo>
                  <a:pt x="302767" y="4900706"/>
                  <a:pt x="303536" y="4901803"/>
                  <a:pt x="304424" y="4902664"/>
                </a:cubicBezTo>
                <a:lnTo>
                  <a:pt x="293123" y="4932769"/>
                </a:lnTo>
                <a:lnTo>
                  <a:pt x="292275" y="4936482"/>
                </a:lnTo>
                <a:lnTo>
                  <a:pt x="288304" y="4962325"/>
                </a:lnTo>
                <a:cubicBezTo>
                  <a:pt x="288009" y="4988948"/>
                  <a:pt x="287715" y="5015570"/>
                  <a:pt x="287420" y="5042193"/>
                </a:cubicBezTo>
                <a:cubicBezTo>
                  <a:pt x="295373" y="5039737"/>
                  <a:pt x="281659" y="5060438"/>
                  <a:pt x="287020" y="5065655"/>
                </a:cubicBezTo>
                <a:cubicBezTo>
                  <a:pt x="291675" y="5068928"/>
                  <a:pt x="288601" y="5075970"/>
                  <a:pt x="288488" y="5082216"/>
                </a:cubicBezTo>
                <a:cubicBezTo>
                  <a:pt x="292282" y="5088207"/>
                  <a:pt x="287008" y="5117775"/>
                  <a:pt x="282763" y="5127114"/>
                </a:cubicBezTo>
                <a:cubicBezTo>
                  <a:pt x="267723" y="5152218"/>
                  <a:pt x="280799" y="5182399"/>
                  <a:pt x="269316" y="5202682"/>
                </a:cubicBezTo>
                <a:cubicBezTo>
                  <a:pt x="267050" y="5219969"/>
                  <a:pt x="268614" y="5225841"/>
                  <a:pt x="269174" y="5230835"/>
                </a:cubicBezTo>
                <a:lnTo>
                  <a:pt x="272679" y="5232660"/>
                </a:lnTo>
                <a:lnTo>
                  <a:pt x="272160" y="5241150"/>
                </a:lnTo>
                <a:lnTo>
                  <a:pt x="272760" y="5243156"/>
                </a:lnTo>
                <a:cubicBezTo>
                  <a:pt x="273922" y="5246984"/>
                  <a:pt x="274952" y="5250824"/>
                  <a:pt x="275462" y="5254919"/>
                </a:cubicBezTo>
                <a:cubicBezTo>
                  <a:pt x="258407" y="5258851"/>
                  <a:pt x="276976" y="5290392"/>
                  <a:pt x="262897" y="5286259"/>
                </a:cubicBezTo>
                <a:cubicBezTo>
                  <a:pt x="262724" y="5309439"/>
                  <a:pt x="239612" y="5337531"/>
                  <a:pt x="252761" y="5357801"/>
                </a:cubicBezTo>
                <a:cubicBezTo>
                  <a:pt x="248775" y="5392256"/>
                  <a:pt x="247799" y="5423412"/>
                  <a:pt x="242360" y="5460080"/>
                </a:cubicBezTo>
                <a:cubicBezTo>
                  <a:pt x="232632" y="5488478"/>
                  <a:pt x="242025" y="5519143"/>
                  <a:pt x="229880" y="5539714"/>
                </a:cubicBezTo>
                <a:cubicBezTo>
                  <a:pt x="230558" y="5572454"/>
                  <a:pt x="222150" y="5613340"/>
                  <a:pt x="204283" y="5639080"/>
                </a:cubicBezTo>
                <a:cubicBezTo>
                  <a:pt x="201596" y="5674226"/>
                  <a:pt x="191051" y="5680198"/>
                  <a:pt x="198948" y="5710958"/>
                </a:cubicBezTo>
                <a:cubicBezTo>
                  <a:pt x="196338" y="5713534"/>
                  <a:pt x="194185" y="5716550"/>
                  <a:pt x="192367" y="5719859"/>
                </a:cubicBezTo>
                <a:lnTo>
                  <a:pt x="188035" y="5729935"/>
                </a:lnTo>
                <a:lnTo>
                  <a:pt x="188428" y="5731182"/>
                </a:lnTo>
                <a:lnTo>
                  <a:pt x="181635" y="5753538"/>
                </a:lnTo>
                <a:lnTo>
                  <a:pt x="169744" y="5796307"/>
                </a:lnTo>
                <a:lnTo>
                  <a:pt x="170351" y="5796644"/>
                </a:lnTo>
                <a:cubicBezTo>
                  <a:pt x="171558" y="5797954"/>
                  <a:pt x="172173" y="5799948"/>
                  <a:pt x="171559" y="5803435"/>
                </a:cubicBezTo>
                <a:cubicBezTo>
                  <a:pt x="182664" y="5798231"/>
                  <a:pt x="175075" y="5805646"/>
                  <a:pt x="172284" y="5816391"/>
                </a:cubicBezTo>
                <a:cubicBezTo>
                  <a:pt x="188911" y="5810703"/>
                  <a:pt x="174844" y="5841128"/>
                  <a:pt x="182542" y="5846382"/>
                </a:cubicBezTo>
                <a:cubicBezTo>
                  <a:pt x="180118" y="5854404"/>
                  <a:pt x="177856" y="5862781"/>
                  <a:pt x="175877" y="5871336"/>
                </a:cubicBezTo>
                <a:lnTo>
                  <a:pt x="174910" y="5876376"/>
                </a:lnTo>
                <a:lnTo>
                  <a:pt x="175047" y="5876483"/>
                </a:lnTo>
                <a:cubicBezTo>
                  <a:pt x="175167" y="5877594"/>
                  <a:pt x="174973" y="5879257"/>
                  <a:pt x="174335" y="5881814"/>
                </a:cubicBezTo>
                <a:lnTo>
                  <a:pt x="171273" y="5895339"/>
                </a:lnTo>
                <a:cubicBezTo>
                  <a:pt x="171401" y="5896476"/>
                  <a:pt x="171530" y="5897612"/>
                  <a:pt x="171658" y="5898749"/>
                </a:cubicBezTo>
                <a:lnTo>
                  <a:pt x="174658" y="5919558"/>
                </a:lnTo>
                <a:cubicBezTo>
                  <a:pt x="173958" y="5933601"/>
                  <a:pt x="171208" y="5962838"/>
                  <a:pt x="169099" y="5984417"/>
                </a:cubicBezTo>
                <a:cubicBezTo>
                  <a:pt x="162916" y="6005205"/>
                  <a:pt x="164971" y="6025162"/>
                  <a:pt x="162007" y="6049043"/>
                </a:cubicBezTo>
                <a:cubicBezTo>
                  <a:pt x="150795" y="6073830"/>
                  <a:pt x="160091" y="6088483"/>
                  <a:pt x="156875" y="6114000"/>
                </a:cubicBezTo>
                <a:cubicBezTo>
                  <a:pt x="141597" y="6134477"/>
                  <a:pt x="163381" y="6133378"/>
                  <a:pt x="165441" y="6146938"/>
                </a:cubicBezTo>
                <a:lnTo>
                  <a:pt x="165177" y="6150658"/>
                </a:lnTo>
                <a:lnTo>
                  <a:pt x="161772" y="6160011"/>
                </a:lnTo>
                <a:lnTo>
                  <a:pt x="160051" y="6163393"/>
                </a:lnTo>
                <a:cubicBezTo>
                  <a:pt x="159032" y="6165775"/>
                  <a:pt x="158564" y="6167421"/>
                  <a:pt x="158473" y="6168628"/>
                </a:cubicBezTo>
                <a:cubicBezTo>
                  <a:pt x="158506" y="6168685"/>
                  <a:pt x="158540" y="6168742"/>
                  <a:pt x="158573" y="6168799"/>
                </a:cubicBezTo>
                <a:lnTo>
                  <a:pt x="146463" y="6196671"/>
                </a:lnTo>
                <a:cubicBezTo>
                  <a:pt x="152348" y="6205503"/>
                  <a:pt x="134460" y="6231012"/>
                  <a:pt x="150209" y="6232365"/>
                </a:cubicBezTo>
                <a:cubicBezTo>
                  <a:pt x="145821" y="6242321"/>
                  <a:pt x="137774" y="6246719"/>
                  <a:pt x="148544" y="6246162"/>
                </a:cubicBezTo>
                <a:cubicBezTo>
                  <a:pt x="147378" y="6249522"/>
                  <a:pt x="147566" y="6251866"/>
                  <a:pt x="148403" y="6253754"/>
                </a:cubicBezTo>
                <a:lnTo>
                  <a:pt x="138880" y="6276449"/>
                </a:lnTo>
                <a:cubicBezTo>
                  <a:pt x="138814" y="6277540"/>
                  <a:pt x="138749" y="6278630"/>
                  <a:pt x="138683" y="6279721"/>
                </a:cubicBezTo>
                <a:lnTo>
                  <a:pt x="130721" y="6293675"/>
                </a:lnTo>
                <a:lnTo>
                  <a:pt x="120717" y="6313967"/>
                </a:lnTo>
                <a:cubicBezTo>
                  <a:pt x="120758" y="6314457"/>
                  <a:pt x="120800" y="6314947"/>
                  <a:pt x="120841" y="6315437"/>
                </a:cubicBezTo>
                <a:lnTo>
                  <a:pt x="115208" y="6324024"/>
                </a:lnTo>
                <a:cubicBezTo>
                  <a:pt x="113007" y="6326672"/>
                  <a:pt x="103991" y="6364381"/>
                  <a:pt x="101217" y="6365923"/>
                </a:cubicBezTo>
                <a:lnTo>
                  <a:pt x="74946" y="6556817"/>
                </a:lnTo>
                <a:cubicBezTo>
                  <a:pt x="55357" y="6665926"/>
                  <a:pt x="35695" y="6744075"/>
                  <a:pt x="16001" y="6808678"/>
                </a:cubicBezTo>
                <a:lnTo>
                  <a:pt x="0" y="6858000"/>
                </a:lnTo>
                <a:lnTo>
                  <a:pt x="5734864" y="6858000"/>
                </a:lnTo>
                <a:lnTo>
                  <a:pt x="5734864" y="0"/>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060A91A7-5EB5-AFD9-C83B-14DCA9BE92CB}"/>
              </a:ext>
            </a:extLst>
          </p:cNvPr>
          <p:cNvSpPr>
            <a:spLocks noGrp="1"/>
          </p:cNvSpPr>
          <p:nvPr>
            <p:ph type="title"/>
          </p:nvPr>
        </p:nvSpPr>
        <p:spPr>
          <a:xfrm>
            <a:off x="773408" y="992094"/>
            <a:ext cx="3616913" cy="2795160"/>
          </a:xfrm>
          <a:prstGeom prst="ellipse">
            <a:avLst/>
          </a:prstGeom>
        </p:spPr>
        <p:txBody>
          <a:bodyPr vert="horz" lIns="91440" tIns="45720" rIns="91440" bIns="45720" rtlCol="0" anchor="b">
            <a:normAutofit/>
          </a:bodyPr>
          <a:lstStyle/>
          <a:p>
            <a:pPr algn="ctr"/>
            <a:r>
              <a:rPr lang="en-US" kern="1200">
                <a:solidFill>
                  <a:schemeClr val="tx1"/>
                </a:solidFill>
                <a:latin typeface="+mj-lt"/>
                <a:ea typeface="+mj-ea"/>
                <a:cs typeface="+mj-cs"/>
              </a:rPr>
              <a:t>Meme break</a:t>
            </a:r>
          </a:p>
        </p:txBody>
      </p:sp>
      <p:pic>
        <p:nvPicPr>
          <p:cNvPr id="6" name="Picture 5" descr="A green bus on the road&#10;&#10;Description automatically generated">
            <a:extLst>
              <a:ext uri="{FF2B5EF4-FFF2-40B4-BE49-F238E27FC236}">
                <a16:creationId xmlns:a16="http://schemas.microsoft.com/office/drawing/2014/main" id="{0D3C51FA-7400-46EB-ED56-3917BB1CD352}"/>
              </a:ext>
            </a:extLst>
          </p:cNvPr>
          <p:cNvPicPr>
            <a:picLocks noChangeAspect="1"/>
          </p:cNvPicPr>
          <p:nvPr/>
        </p:nvPicPr>
        <p:blipFill>
          <a:blip r:embed="rId2"/>
          <a:stretch>
            <a:fillRect/>
          </a:stretch>
        </p:blipFill>
        <p:spPr>
          <a:xfrm>
            <a:off x="6875297" y="188557"/>
            <a:ext cx="4277385" cy="6480886"/>
          </a:xfrm>
          <a:prstGeom prst="rect">
            <a:avLst/>
          </a:prstGeom>
        </p:spPr>
      </p:pic>
    </p:spTree>
    <p:extLst>
      <p:ext uri="{BB962C8B-B14F-4D97-AF65-F5344CB8AC3E}">
        <p14:creationId xmlns:p14="http://schemas.microsoft.com/office/powerpoint/2010/main" val="156746426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B4B634-04E6-32D7-48A4-23AE65F533A5}"/>
              </a:ext>
            </a:extLst>
          </p:cNvPr>
          <p:cNvSpPr>
            <a:spLocks noGrp="1"/>
          </p:cNvSpPr>
          <p:nvPr>
            <p:ph type="title"/>
          </p:nvPr>
        </p:nvSpPr>
        <p:spPr/>
        <p:txBody>
          <a:bodyPr/>
          <a:lstStyle/>
          <a:p>
            <a:r>
              <a:rPr lang="en-US" dirty="0"/>
              <a:t>Short discussion</a:t>
            </a:r>
          </a:p>
        </p:txBody>
      </p:sp>
      <p:sp>
        <p:nvSpPr>
          <p:cNvPr id="3" name="Content Placeholder 2">
            <a:extLst>
              <a:ext uri="{FF2B5EF4-FFF2-40B4-BE49-F238E27FC236}">
                <a16:creationId xmlns:a16="http://schemas.microsoft.com/office/drawing/2014/main" id="{CB9BBBAA-6DBA-E9BE-22FA-2D5F5AB24BFD}"/>
              </a:ext>
            </a:extLst>
          </p:cNvPr>
          <p:cNvSpPr>
            <a:spLocks noGrp="1"/>
          </p:cNvSpPr>
          <p:nvPr>
            <p:ph idx="1"/>
          </p:nvPr>
        </p:nvSpPr>
        <p:spPr/>
        <p:txBody>
          <a:bodyPr>
            <a:normAutofit lnSpcReduction="10000"/>
          </a:bodyPr>
          <a:lstStyle/>
          <a:p>
            <a:r>
              <a:rPr lang="en-US" dirty="0"/>
              <a:t>Modelers, myself included, love to make things complicated</a:t>
            </a:r>
          </a:p>
          <a:p>
            <a:pPr lvl="1"/>
            <a:r>
              <a:rPr lang="en-US" dirty="0"/>
              <a:t>The biggest, </a:t>
            </a:r>
            <a:r>
              <a:rPr lang="en-US" dirty="0" err="1"/>
              <a:t>bestest</a:t>
            </a:r>
            <a:r>
              <a:rPr lang="en-US" dirty="0"/>
              <a:t>, most detailed model ever</a:t>
            </a:r>
          </a:p>
          <a:p>
            <a:endParaRPr lang="en-US" dirty="0"/>
          </a:p>
          <a:p>
            <a:r>
              <a:rPr lang="en-US" dirty="0"/>
              <a:t>Economists, however, try to draw broader and more generalizable conclusions from modeling efforts</a:t>
            </a:r>
          </a:p>
          <a:p>
            <a:pPr lvl="1"/>
            <a:r>
              <a:rPr lang="en-US" dirty="0"/>
              <a:t>e.g. named Lemmas (Shephard’s), rules (Hotelling), models (Gordon-Schaeffer, Faustman), methods (the Lagrangian), …</a:t>
            </a:r>
          </a:p>
          <a:p>
            <a:pPr lvl="1"/>
            <a:r>
              <a:rPr lang="en-US" dirty="0"/>
              <a:t>Have seen many high-quality econ articles with really poor modeling (esp as it relates to electricity)</a:t>
            </a:r>
          </a:p>
          <a:p>
            <a:pPr lvl="1"/>
            <a:endParaRPr lang="en-US" dirty="0"/>
          </a:p>
          <a:p>
            <a:r>
              <a:rPr lang="en-US" dirty="0"/>
              <a:t>Economists also love perverse policy incentives</a:t>
            </a:r>
          </a:p>
        </p:txBody>
      </p:sp>
    </p:spTree>
    <p:extLst>
      <p:ext uri="{BB962C8B-B14F-4D97-AF65-F5344CB8AC3E}">
        <p14:creationId xmlns:p14="http://schemas.microsoft.com/office/powerpoint/2010/main" val="230570336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7ECBAC-1B1D-7EC8-BD9E-C46EA7618E96}"/>
              </a:ext>
            </a:extLst>
          </p:cNvPr>
          <p:cNvSpPr>
            <a:spLocks noGrp="1"/>
          </p:cNvSpPr>
          <p:nvPr>
            <p:ph type="title"/>
          </p:nvPr>
        </p:nvSpPr>
        <p:spPr/>
        <p:txBody>
          <a:bodyPr/>
          <a:lstStyle/>
          <a:p>
            <a:r>
              <a:rPr lang="en-US" dirty="0"/>
              <a:t>Now – </a:t>
            </a:r>
            <a:r>
              <a:rPr lang="en-US" b="1" i="1" dirty="0"/>
              <a:t>renewable </a:t>
            </a:r>
            <a:r>
              <a:rPr lang="en-US" dirty="0"/>
              <a:t>resources</a:t>
            </a:r>
          </a:p>
        </p:txBody>
      </p:sp>
      <p:sp>
        <p:nvSpPr>
          <p:cNvPr id="3" name="Content Placeholder 2">
            <a:extLst>
              <a:ext uri="{FF2B5EF4-FFF2-40B4-BE49-F238E27FC236}">
                <a16:creationId xmlns:a16="http://schemas.microsoft.com/office/drawing/2014/main" id="{3AC7B3EC-3395-5128-7909-119FF0E3D5A0}"/>
              </a:ext>
            </a:extLst>
          </p:cNvPr>
          <p:cNvSpPr>
            <a:spLocks noGrp="1"/>
          </p:cNvSpPr>
          <p:nvPr>
            <p:ph idx="1"/>
          </p:nvPr>
        </p:nvSpPr>
        <p:spPr/>
        <p:txBody>
          <a:bodyPr/>
          <a:lstStyle/>
          <a:p>
            <a:pPr marL="0" indent="0">
              <a:buNone/>
            </a:pPr>
            <a:endParaRPr lang="en-US" dirty="0"/>
          </a:p>
          <a:p>
            <a:pPr marL="0" indent="0" algn="ctr">
              <a:buNone/>
            </a:pPr>
            <a:r>
              <a:rPr lang="en-US" dirty="0"/>
              <a:t>How does your management strategy change if </a:t>
            </a:r>
          </a:p>
          <a:p>
            <a:pPr marL="0" indent="0" algn="ctr">
              <a:buNone/>
            </a:pPr>
            <a:r>
              <a:rPr lang="en-US" dirty="0"/>
              <a:t>the resource regenerates over time?</a:t>
            </a:r>
          </a:p>
          <a:p>
            <a:pPr marL="0" indent="0">
              <a:buNone/>
            </a:pPr>
            <a:endParaRPr lang="en-US" dirty="0"/>
          </a:p>
          <a:p>
            <a:pPr>
              <a:buFontTx/>
              <a:buChar char="-"/>
            </a:pPr>
            <a:r>
              <a:rPr lang="en-US" dirty="0"/>
              <a:t>For fisheries, the population is ‘constantly’ multiplying</a:t>
            </a:r>
          </a:p>
          <a:p>
            <a:pPr lvl="1">
              <a:buFontTx/>
              <a:buChar char="-"/>
            </a:pPr>
            <a:r>
              <a:rPr lang="en-US" dirty="0"/>
              <a:t>Overharvest and they die out</a:t>
            </a:r>
          </a:p>
          <a:p>
            <a:pPr lvl="1">
              <a:buFontTx/>
              <a:buChar char="-"/>
            </a:pPr>
            <a:r>
              <a:rPr lang="en-US" dirty="0"/>
              <a:t>Underharvest and you’re leaving money on the table</a:t>
            </a:r>
          </a:p>
          <a:p>
            <a:pPr lvl="1">
              <a:buFontTx/>
              <a:buChar char="-"/>
            </a:pPr>
            <a:endParaRPr lang="en-US" dirty="0"/>
          </a:p>
          <a:p>
            <a:pPr marL="0" indent="0">
              <a:buNone/>
            </a:pPr>
            <a:r>
              <a:rPr lang="en-US" dirty="0"/>
              <a:t>- For forestry, it starts anew with each harvest</a:t>
            </a:r>
          </a:p>
        </p:txBody>
      </p:sp>
    </p:spTree>
    <p:extLst>
      <p:ext uri="{BB962C8B-B14F-4D97-AF65-F5344CB8AC3E}">
        <p14:creationId xmlns:p14="http://schemas.microsoft.com/office/powerpoint/2010/main" val="381504310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Slide Background">
            <a:extLst>
              <a:ext uri="{FF2B5EF4-FFF2-40B4-BE49-F238E27FC236}">
                <a16:creationId xmlns:a16="http://schemas.microsoft.com/office/drawing/2014/main" id="{C0763A76-9F1C-4FC5-82B7-DD475DA461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 y="0"/>
            <a:ext cx="1219199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useBgFill="1">
        <p:nvSpPr>
          <p:cNvPr id="11" name="Rectangle 10">
            <a:extLst>
              <a:ext uri="{FF2B5EF4-FFF2-40B4-BE49-F238E27FC236}">
                <a16:creationId xmlns:a16="http://schemas.microsoft.com/office/drawing/2014/main" id="{E81BF4F6-F2CF-4984-9D14-D6966D92F9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8522446" cy="2285999"/>
          </a:xfrm>
          <a:prstGeom prst="rect">
            <a:avLst/>
          </a:prstGeom>
          <a:ln>
            <a:noFill/>
          </a:ln>
          <a:effectLst>
            <a:outerShdw blurRad="596900" dist="304800" dir="7140000" sx="90000" sy="90000" algn="t" rotWithShape="0">
              <a:srgbClr val="000000">
                <a:alpha val="1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4279E50-8FFC-F246-B475-B9A5C5BA801B}"/>
              </a:ext>
            </a:extLst>
          </p:cNvPr>
          <p:cNvSpPr>
            <a:spLocks noGrp="1"/>
          </p:cNvSpPr>
          <p:nvPr>
            <p:ph type="title"/>
          </p:nvPr>
        </p:nvSpPr>
        <p:spPr>
          <a:xfrm>
            <a:off x="761803" y="350196"/>
            <a:ext cx="4646904" cy="1624520"/>
          </a:xfrm>
        </p:spPr>
        <p:txBody>
          <a:bodyPr anchor="ctr">
            <a:normAutofit/>
          </a:bodyPr>
          <a:lstStyle/>
          <a:p>
            <a:r>
              <a:rPr lang="en-US" sz="4000"/>
              <a:t>Specific to fisheries</a:t>
            </a:r>
          </a:p>
        </p:txBody>
      </p:sp>
      <p:sp>
        <p:nvSpPr>
          <p:cNvPr id="3" name="Content Placeholder 2">
            <a:extLst>
              <a:ext uri="{FF2B5EF4-FFF2-40B4-BE49-F238E27FC236}">
                <a16:creationId xmlns:a16="http://schemas.microsoft.com/office/drawing/2014/main" id="{7F03C57B-BEF8-7C16-6A86-C9CDA22437B5}"/>
              </a:ext>
            </a:extLst>
          </p:cNvPr>
          <p:cNvSpPr>
            <a:spLocks noGrp="1"/>
          </p:cNvSpPr>
          <p:nvPr>
            <p:ph idx="1"/>
          </p:nvPr>
        </p:nvSpPr>
        <p:spPr>
          <a:xfrm>
            <a:off x="194872" y="2143594"/>
            <a:ext cx="5213835" cy="4212756"/>
          </a:xfrm>
        </p:spPr>
        <p:txBody>
          <a:bodyPr anchor="ctr">
            <a:normAutofit fontScale="92500" lnSpcReduction="20000"/>
          </a:bodyPr>
          <a:lstStyle/>
          <a:p>
            <a:endParaRPr lang="en-US" dirty="0"/>
          </a:p>
          <a:p>
            <a:r>
              <a:rPr lang="en-US" dirty="0"/>
              <a:t>What level of fish stock is sustainable?</a:t>
            </a:r>
          </a:p>
          <a:p>
            <a:pPr lvl="1"/>
            <a:r>
              <a:rPr lang="en-US" sz="2800" dirty="0"/>
              <a:t>We do not want to overharvest and decimate stock</a:t>
            </a:r>
          </a:p>
          <a:p>
            <a:pPr lvl="1"/>
            <a:r>
              <a:rPr lang="en-US" sz="2800" dirty="0"/>
              <a:t>We do not want to underharvest and leave money/food in the water</a:t>
            </a:r>
          </a:p>
          <a:p>
            <a:pPr lvl="1"/>
            <a:endParaRPr lang="en-US" sz="2800" dirty="0"/>
          </a:p>
          <a:p>
            <a:r>
              <a:rPr lang="en-US" dirty="0"/>
              <a:t>Goal: manage the growth of a renewable resource to maximize profit</a:t>
            </a:r>
          </a:p>
        </p:txBody>
      </p:sp>
      <p:pic>
        <p:nvPicPr>
          <p:cNvPr id="5" name="Picture 4" descr="Yellowfish moving against the direction of a school of white fish">
            <a:extLst>
              <a:ext uri="{FF2B5EF4-FFF2-40B4-BE49-F238E27FC236}">
                <a16:creationId xmlns:a16="http://schemas.microsoft.com/office/drawing/2014/main" id="{8F9F5CC9-3B13-76DB-1F76-FFD3B0A4DF98}"/>
              </a:ext>
            </a:extLst>
          </p:cNvPr>
          <p:cNvPicPr>
            <a:picLocks noChangeAspect="1"/>
          </p:cNvPicPr>
          <p:nvPr/>
        </p:nvPicPr>
        <p:blipFill>
          <a:blip r:embed="rId2"/>
          <a:srcRect l="20562" r="20037" b="-2"/>
          <a:stretch>
            <a:fillRect/>
          </a:stretch>
        </p:blipFill>
        <p:spPr>
          <a:xfrm>
            <a:off x="6096000" y="1"/>
            <a:ext cx="6102825" cy="6858000"/>
          </a:xfrm>
          <a:prstGeom prst="rect">
            <a:avLst/>
          </a:prstGeom>
        </p:spPr>
      </p:pic>
    </p:spTree>
    <p:extLst>
      <p:ext uri="{BB962C8B-B14F-4D97-AF65-F5344CB8AC3E}">
        <p14:creationId xmlns:p14="http://schemas.microsoft.com/office/powerpoint/2010/main" val="110392683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C33EEE-CA45-AC6A-70D3-D18F1538715B}"/>
              </a:ext>
            </a:extLst>
          </p:cNvPr>
          <p:cNvSpPr>
            <a:spLocks noGrp="1"/>
          </p:cNvSpPr>
          <p:nvPr>
            <p:ph type="title"/>
          </p:nvPr>
        </p:nvSpPr>
        <p:spPr/>
        <p:txBody>
          <a:bodyPr/>
          <a:lstStyle/>
          <a:p>
            <a:r>
              <a:rPr lang="en-US" dirty="0"/>
              <a:t>Some terms we need to know…</a:t>
            </a:r>
          </a:p>
        </p:txBody>
      </p:sp>
      <p:sp>
        <p:nvSpPr>
          <p:cNvPr id="3" name="Content Placeholder 2">
            <a:extLst>
              <a:ext uri="{FF2B5EF4-FFF2-40B4-BE49-F238E27FC236}">
                <a16:creationId xmlns:a16="http://schemas.microsoft.com/office/drawing/2014/main" id="{EEB73C12-2D29-1CDD-E97A-80EEB3F16B20}"/>
              </a:ext>
            </a:extLst>
          </p:cNvPr>
          <p:cNvSpPr>
            <a:spLocks noGrp="1"/>
          </p:cNvSpPr>
          <p:nvPr>
            <p:ph idx="1"/>
          </p:nvPr>
        </p:nvSpPr>
        <p:spPr/>
        <p:txBody>
          <a:bodyPr>
            <a:normAutofit fontScale="92500" lnSpcReduction="10000"/>
          </a:bodyPr>
          <a:lstStyle/>
          <a:p>
            <a:r>
              <a:rPr lang="en-US" dirty="0"/>
              <a:t>Harvest: extraction of the renewable resource</a:t>
            </a:r>
          </a:p>
          <a:p>
            <a:endParaRPr lang="en-US" dirty="0"/>
          </a:p>
          <a:p>
            <a:r>
              <a:rPr lang="en-US" dirty="0"/>
              <a:t>Maximum sustainable yield (MSY): The maximum harvest we can </a:t>
            </a:r>
            <a:r>
              <a:rPr lang="en-US" i="1" dirty="0"/>
              <a:t>continuously/indefinitely</a:t>
            </a:r>
            <a:r>
              <a:rPr lang="en-US" dirty="0"/>
              <a:t> take without system collapse</a:t>
            </a:r>
          </a:p>
          <a:p>
            <a:endParaRPr lang="en-US" dirty="0"/>
          </a:p>
          <a:p>
            <a:r>
              <a:rPr lang="en-US" dirty="0"/>
              <a:t>Exponential growth: monotonically increasing rate of change</a:t>
            </a:r>
          </a:p>
          <a:p>
            <a:endParaRPr lang="en-US" dirty="0"/>
          </a:p>
          <a:p>
            <a:r>
              <a:rPr lang="en-US" dirty="0"/>
              <a:t>Logistic growth: think of an s-shapes curve</a:t>
            </a:r>
          </a:p>
          <a:p>
            <a:endParaRPr lang="en-US" dirty="0"/>
          </a:p>
          <a:p>
            <a:r>
              <a:rPr lang="en-US" dirty="0"/>
              <a:t>Carrying capacity: the natural limit to to an environment’s stock</a:t>
            </a:r>
          </a:p>
        </p:txBody>
      </p:sp>
    </p:spTree>
    <p:extLst>
      <p:ext uri="{BB962C8B-B14F-4D97-AF65-F5344CB8AC3E}">
        <p14:creationId xmlns:p14="http://schemas.microsoft.com/office/powerpoint/2010/main" val="261327641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89CE19-E729-F3E9-6494-4647B4C405E9}"/>
              </a:ext>
            </a:extLst>
          </p:cNvPr>
          <p:cNvSpPr>
            <a:spLocks noGrp="1"/>
          </p:cNvSpPr>
          <p:nvPr>
            <p:ph type="title"/>
          </p:nvPr>
        </p:nvSpPr>
        <p:spPr/>
        <p:txBody>
          <a:bodyPr/>
          <a:lstStyle/>
          <a:p>
            <a:r>
              <a:rPr lang="en-US" dirty="0"/>
              <a:t>The exponential growth function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A5733AA4-0550-09FB-C3BD-474A06E633CD}"/>
                  </a:ext>
                </a:extLst>
              </p:cNvPr>
              <p:cNvSpPr>
                <a:spLocks noGrp="1"/>
              </p:cNvSpPr>
              <p:nvPr>
                <p:ph idx="1"/>
              </p:nvPr>
            </p:nvSpPr>
            <p:spPr/>
            <p:txBody>
              <a:bodyPr/>
              <a:lstStyle/>
              <a:p>
                <a:pPr marL="0" indent="0">
                  <a:buNone/>
                </a:pPr>
                <a:endParaRPr lang="en-US" b="0" i="1" dirty="0">
                  <a:latin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f>
                        <m:fPr>
                          <m:ctrlPr>
                            <a:rPr lang="en-US" b="0" i="1" smtClean="0">
                              <a:latin typeface="Cambria Math" panose="02040503050406030204" pitchFamily="18" charset="0"/>
                            </a:rPr>
                          </m:ctrlPr>
                        </m:fPr>
                        <m:num>
                          <m:r>
                            <a:rPr lang="en-US" b="0" i="1" smtClean="0">
                              <a:latin typeface="Cambria Math" panose="02040503050406030204" pitchFamily="18" charset="0"/>
                            </a:rPr>
                            <m:t>𝑑</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𝑆</m:t>
                              </m:r>
                            </m:e>
                            <m:sub>
                              <m:r>
                                <a:rPr lang="en-US" b="0" i="1" smtClean="0">
                                  <a:latin typeface="Cambria Math" panose="02040503050406030204" pitchFamily="18" charset="0"/>
                                </a:rPr>
                                <m:t>𝑡</m:t>
                              </m:r>
                            </m:sub>
                          </m:sSub>
                        </m:num>
                        <m:den>
                          <m:r>
                            <a:rPr lang="en-US" b="0" i="1" smtClean="0">
                              <a:latin typeface="Cambria Math" panose="02040503050406030204" pitchFamily="18" charset="0"/>
                            </a:rPr>
                            <m:t>𝑑𝑡</m:t>
                          </m:r>
                        </m:den>
                      </m:f>
                      <m:r>
                        <a:rPr lang="en-US" b="0" i="1" smtClean="0">
                          <a:latin typeface="Cambria Math" panose="02040503050406030204" pitchFamily="18" charset="0"/>
                        </a:rPr>
                        <m:t>=</m:t>
                      </m:r>
                      <m:r>
                        <a:rPr lang="en-US" b="0" i="1" smtClean="0">
                          <a:latin typeface="Cambria Math" panose="02040503050406030204" pitchFamily="18" charset="0"/>
                        </a:rPr>
                        <m:t>𝑟</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𝑆</m:t>
                          </m:r>
                        </m:e>
                        <m:sub>
                          <m:r>
                            <a:rPr lang="en-US" b="0" i="1" smtClean="0">
                              <a:latin typeface="Cambria Math" panose="02040503050406030204" pitchFamily="18" charset="0"/>
                            </a:rPr>
                            <m:t>𝑡</m:t>
                          </m:r>
                        </m:sub>
                      </m:sSub>
                    </m:oMath>
                  </m:oMathPara>
                </a14:m>
                <a:endParaRPr lang="en-US" dirty="0"/>
              </a:p>
              <a:p>
                <a:pPr marL="0" indent="0">
                  <a:buNone/>
                </a:pPr>
                <a:endParaRPr lang="en-US" dirty="0"/>
              </a:p>
              <a:p>
                <a:pPr marL="0" indent="0">
                  <a:buNone/>
                </a:pPr>
                <a:endParaRPr lang="en-US" dirty="0"/>
              </a:p>
              <a:p>
                <a:pPr marL="0" indent="0">
                  <a:buNone/>
                </a:pPr>
                <a:r>
                  <a:rPr lang="en-US" dirty="0"/>
                  <a:t>Reads as: the change in the stock over the time is proportional to the stock at that time – looks very similar to Hotelling’s Rule and implies:</a:t>
                </a:r>
              </a:p>
              <a:p>
                <a:pPr marL="0" indent="0">
                  <a:buNone/>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𝑆</m:t>
                          </m:r>
                        </m:e>
                        <m:sub>
                          <m:r>
                            <a:rPr lang="en-US" b="0" i="1" smtClean="0">
                              <a:latin typeface="Cambria Math" panose="02040503050406030204" pitchFamily="18" charset="0"/>
                            </a:rPr>
                            <m:t>𝑡</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𝑆</m:t>
                          </m:r>
                        </m:e>
                        <m:sub>
                          <m:r>
                            <a:rPr lang="en-US" b="0" i="1" smtClean="0">
                              <a:latin typeface="Cambria Math" panose="02040503050406030204" pitchFamily="18" charset="0"/>
                            </a:rPr>
                            <m:t>0</m:t>
                          </m:r>
                        </m:sub>
                      </m:sSub>
                      <m:sSup>
                        <m:sSupPr>
                          <m:ctrlPr>
                            <a:rPr lang="en-US" b="0" i="1" smtClean="0">
                              <a:latin typeface="Cambria Math" panose="02040503050406030204" pitchFamily="18" charset="0"/>
                            </a:rPr>
                          </m:ctrlPr>
                        </m:sSupPr>
                        <m:e>
                          <m:r>
                            <a:rPr lang="en-US" b="0" i="1" smtClean="0">
                              <a:latin typeface="Cambria Math" panose="02040503050406030204" pitchFamily="18" charset="0"/>
                            </a:rPr>
                            <m:t>𝑒</m:t>
                          </m:r>
                        </m:e>
                        <m:sup>
                          <m:r>
                            <a:rPr lang="en-US" b="0" i="1" smtClean="0">
                              <a:latin typeface="Cambria Math" panose="02040503050406030204" pitchFamily="18" charset="0"/>
                            </a:rPr>
                            <m:t>𝑟𝑡</m:t>
                          </m:r>
                        </m:sup>
                      </m:sSup>
                    </m:oMath>
                  </m:oMathPara>
                </a14:m>
                <a:endParaRPr lang="en-US" dirty="0"/>
              </a:p>
            </p:txBody>
          </p:sp>
        </mc:Choice>
        <mc:Fallback xmlns="">
          <p:sp>
            <p:nvSpPr>
              <p:cNvPr id="3" name="Content Placeholder 2">
                <a:extLst>
                  <a:ext uri="{FF2B5EF4-FFF2-40B4-BE49-F238E27FC236}">
                    <a16:creationId xmlns:a16="http://schemas.microsoft.com/office/drawing/2014/main" id="{A5733AA4-0550-09FB-C3BD-474A06E633CD}"/>
                  </a:ext>
                </a:extLst>
              </p:cNvPr>
              <p:cNvSpPr>
                <a:spLocks noGrp="1" noRot="1" noChangeAspect="1" noMove="1" noResize="1" noEditPoints="1" noAdjustHandles="1" noChangeArrowheads="1" noChangeShapeType="1" noTextEdit="1"/>
              </p:cNvSpPr>
              <p:nvPr>
                <p:ph idx="1"/>
              </p:nvPr>
            </p:nvSpPr>
            <p:spPr>
              <a:blipFill>
                <a:blip r:embed="rId2"/>
                <a:stretch>
                  <a:fillRect l="-1206"/>
                </a:stretch>
              </a:blipFill>
            </p:spPr>
            <p:txBody>
              <a:bodyPr/>
              <a:lstStyle/>
              <a:p>
                <a:r>
                  <a:rPr lang="en-US">
                    <a:noFill/>
                  </a:rPr>
                  <a:t> </a:t>
                </a:r>
              </a:p>
            </p:txBody>
          </p:sp>
        </mc:Fallback>
      </mc:AlternateContent>
    </p:spTree>
    <p:extLst>
      <p:ext uri="{BB962C8B-B14F-4D97-AF65-F5344CB8AC3E}">
        <p14:creationId xmlns:p14="http://schemas.microsoft.com/office/powerpoint/2010/main" val="335622409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55" name="Rectangle 2054">
            <a:extLst>
              <a:ext uri="{FF2B5EF4-FFF2-40B4-BE49-F238E27FC236}">
                <a16:creationId xmlns:a16="http://schemas.microsoft.com/office/drawing/2014/main" id="{F13C74B1-5B17-4795-BED0-7140497B44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10D7110-8E09-3CE5-26E9-AAD607C63DA7}"/>
              </a:ext>
            </a:extLst>
          </p:cNvPr>
          <p:cNvSpPr>
            <a:spLocks noGrp="1"/>
          </p:cNvSpPr>
          <p:nvPr>
            <p:ph type="title"/>
          </p:nvPr>
        </p:nvSpPr>
        <p:spPr>
          <a:xfrm>
            <a:off x="640080" y="325369"/>
            <a:ext cx="4368602" cy="1956841"/>
          </a:xfrm>
        </p:spPr>
        <p:txBody>
          <a:bodyPr anchor="b">
            <a:normAutofit/>
          </a:bodyPr>
          <a:lstStyle/>
          <a:p>
            <a:r>
              <a:rPr lang="en-US" sz="4200"/>
              <a:t>Exponential growth not realistic though</a:t>
            </a:r>
          </a:p>
        </p:txBody>
      </p:sp>
      <p:sp>
        <p:nvSpPr>
          <p:cNvPr id="2057" name="sketchy line">
            <a:extLst>
              <a:ext uri="{FF2B5EF4-FFF2-40B4-BE49-F238E27FC236}">
                <a16:creationId xmlns:a16="http://schemas.microsoft.com/office/drawing/2014/main" id="{D4974D33-8DC5-464E-8C6D-BE58F0669C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80" y="2586994"/>
            <a:ext cx="3474720" cy="18288"/>
          </a:xfrm>
          <a:custGeom>
            <a:avLst/>
            <a:gdLst>
              <a:gd name="connsiteX0" fmla="*/ 0 w 3474720"/>
              <a:gd name="connsiteY0" fmla="*/ 0 h 18288"/>
              <a:gd name="connsiteX1" fmla="*/ 694944 w 3474720"/>
              <a:gd name="connsiteY1" fmla="*/ 0 h 18288"/>
              <a:gd name="connsiteX2" fmla="*/ 1355141 w 3474720"/>
              <a:gd name="connsiteY2" fmla="*/ 0 h 18288"/>
              <a:gd name="connsiteX3" fmla="*/ 2015338 w 3474720"/>
              <a:gd name="connsiteY3" fmla="*/ 0 h 18288"/>
              <a:gd name="connsiteX4" fmla="*/ 2779776 w 3474720"/>
              <a:gd name="connsiteY4" fmla="*/ 0 h 18288"/>
              <a:gd name="connsiteX5" fmla="*/ 3474720 w 3474720"/>
              <a:gd name="connsiteY5" fmla="*/ 0 h 18288"/>
              <a:gd name="connsiteX6" fmla="*/ 3474720 w 3474720"/>
              <a:gd name="connsiteY6" fmla="*/ 18288 h 18288"/>
              <a:gd name="connsiteX7" fmla="*/ 2779776 w 3474720"/>
              <a:gd name="connsiteY7" fmla="*/ 18288 h 18288"/>
              <a:gd name="connsiteX8" fmla="*/ 2189074 w 3474720"/>
              <a:gd name="connsiteY8" fmla="*/ 18288 h 18288"/>
              <a:gd name="connsiteX9" fmla="*/ 1528877 w 3474720"/>
              <a:gd name="connsiteY9" fmla="*/ 18288 h 18288"/>
              <a:gd name="connsiteX10" fmla="*/ 868680 w 3474720"/>
              <a:gd name="connsiteY10" fmla="*/ 18288 h 18288"/>
              <a:gd name="connsiteX11" fmla="*/ 0 w 3474720"/>
              <a:gd name="connsiteY11" fmla="*/ 18288 h 18288"/>
              <a:gd name="connsiteX12" fmla="*/ 0 w 3474720"/>
              <a:gd name="connsiteY12"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474720" h="18288" fill="none" extrusionOk="0">
                <a:moveTo>
                  <a:pt x="0" y="0"/>
                </a:moveTo>
                <a:cubicBezTo>
                  <a:pt x="224454" y="-14544"/>
                  <a:pt x="495407" y="26540"/>
                  <a:pt x="694944" y="0"/>
                </a:cubicBezTo>
                <a:cubicBezTo>
                  <a:pt x="894481" y="-26540"/>
                  <a:pt x="1130063" y="24713"/>
                  <a:pt x="1355141" y="0"/>
                </a:cubicBezTo>
                <a:cubicBezTo>
                  <a:pt x="1580219" y="-24713"/>
                  <a:pt x="1820099" y="26695"/>
                  <a:pt x="2015338" y="0"/>
                </a:cubicBezTo>
                <a:cubicBezTo>
                  <a:pt x="2210577" y="-26695"/>
                  <a:pt x="2402045" y="165"/>
                  <a:pt x="2779776" y="0"/>
                </a:cubicBezTo>
                <a:cubicBezTo>
                  <a:pt x="3157507" y="-165"/>
                  <a:pt x="3286859" y="-15571"/>
                  <a:pt x="3474720" y="0"/>
                </a:cubicBezTo>
                <a:cubicBezTo>
                  <a:pt x="3474286" y="7551"/>
                  <a:pt x="3474253" y="9822"/>
                  <a:pt x="3474720" y="18288"/>
                </a:cubicBezTo>
                <a:cubicBezTo>
                  <a:pt x="3233904" y="29845"/>
                  <a:pt x="2945134" y="-5256"/>
                  <a:pt x="2779776" y="18288"/>
                </a:cubicBezTo>
                <a:cubicBezTo>
                  <a:pt x="2614418" y="41832"/>
                  <a:pt x="2339768" y="22709"/>
                  <a:pt x="2189074" y="18288"/>
                </a:cubicBezTo>
                <a:cubicBezTo>
                  <a:pt x="2038380" y="13867"/>
                  <a:pt x="1817434" y="-4947"/>
                  <a:pt x="1528877" y="18288"/>
                </a:cubicBezTo>
                <a:cubicBezTo>
                  <a:pt x="1240320" y="41523"/>
                  <a:pt x="1042447" y="37198"/>
                  <a:pt x="868680" y="18288"/>
                </a:cubicBezTo>
                <a:cubicBezTo>
                  <a:pt x="694913" y="-622"/>
                  <a:pt x="233232" y="44909"/>
                  <a:pt x="0" y="18288"/>
                </a:cubicBezTo>
                <a:cubicBezTo>
                  <a:pt x="60" y="11696"/>
                  <a:pt x="66" y="3758"/>
                  <a:pt x="0" y="0"/>
                </a:cubicBezTo>
                <a:close/>
              </a:path>
              <a:path w="3474720" h="18288" stroke="0" extrusionOk="0">
                <a:moveTo>
                  <a:pt x="0" y="0"/>
                </a:moveTo>
                <a:cubicBezTo>
                  <a:pt x="202328" y="-14716"/>
                  <a:pt x="332722" y="-11499"/>
                  <a:pt x="625450" y="0"/>
                </a:cubicBezTo>
                <a:cubicBezTo>
                  <a:pt x="918178" y="11499"/>
                  <a:pt x="1096688" y="5123"/>
                  <a:pt x="1389888" y="0"/>
                </a:cubicBezTo>
                <a:cubicBezTo>
                  <a:pt x="1683088" y="-5123"/>
                  <a:pt x="1835981" y="-14038"/>
                  <a:pt x="1980590" y="0"/>
                </a:cubicBezTo>
                <a:cubicBezTo>
                  <a:pt x="2125199" y="14038"/>
                  <a:pt x="2396099" y="-7203"/>
                  <a:pt x="2571293" y="0"/>
                </a:cubicBezTo>
                <a:cubicBezTo>
                  <a:pt x="2746487" y="7203"/>
                  <a:pt x="3041609" y="-12036"/>
                  <a:pt x="3474720" y="0"/>
                </a:cubicBezTo>
                <a:cubicBezTo>
                  <a:pt x="3474638" y="4406"/>
                  <a:pt x="3474631" y="9982"/>
                  <a:pt x="3474720" y="18288"/>
                </a:cubicBezTo>
                <a:cubicBezTo>
                  <a:pt x="3324873" y="21876"/>
                  <a:pt x="3136771" y="12587"/>
                  <a:pt x="2814523" y="18288"/>
                </a:cubicBezTo>
                <a:cubicBezTo>
                  <a:pt x="2492275" y="23989"/>
                  <a:pt x="2294402" y="47111"/>
                  <a:pt x="2154326" y="18288"/>
                </a:cubicBezTo>
                <a:cubicBezTo>
                  <a:pt x="2014250" y="-10535"/>
                  <a:pt x="1820317" y="33903"/>
                  <a:pt x="1494130" y="18288"/>
                </a:cubicBezTo>
                <a:cubicBezTo>
                  <a:pt x="1167943" y="2673"/>
                  <a:pt x="948432" y="14868"/>
                  <a:pt x="729691" y="18288"/>
                </a:cubicBezTo>
                <a:cubicBezTo>
                  <a:pt x="510950" y="21708"/>
                  <a:pt x="264032" y="24354"/>
                  <a:pt x="0" y="18288"/>
                </a:cubicBezTo>
                <a:cubicBezTo>
                  <a:pt x="189" y="14288"/>
                  <a:pt x="-703" y="3747"/>
                  <a:pt x="0" y="0"/>
                </a:cubicBezTo>
                <a:close/>
              </a:path>
            </a:pathLst>
          </a:custGeom>
          <a:solidFill>
            <a:schemeClr val="accent2"/>
          </a:solidFill>
          <a:ln w="44450" cap="rnd">
            <a:solidFill>
              <a:schemeClr val="accent2"/>
            </a:solidFill>
            <a:round/>
            <a:extLst>
              <a:ext uri="{C807C97D-BFC1-408E-A445-0C87EB9F89A2}">
                <ask:lineSketchStyleProps xmlns:ask="http://schemas.microsoft.com/office/drawing/2018/sketchyshapes" sd="2863741219">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5A2981CA-91B0-EB2F-3C3F-1DBAB9E173C7}"/>
              </a:ext>
            </a:extLst>
          </p:cNvPr>
          <p:cNvSpPr>
            <a:spLocks noGrp="1"/>
          </p:cNvSpPr>
          <p:nvPr>
            <p:ph idx="1"/>
          </p:nvPr>
        </p:nvSpPr>
        <p:spPr>
          <a:xfrm>
            <a:off x="640080" y="2872899"/>
            <a:ext cx="4243589" cy="3320668"/>
          </a:xfrm>
        </p:spPr>
        <p:txBody>
          <a:bodyPr>
            <a:normAutofit/>
          </a:bodyPr>
          <a:lstStyle/>
          <a:p>
            <a:r>
              <a:rPr lang="en-US" sz="2200" dirty="0"/>
              <a:t>Limits to…</a:t>
            </a:r>
          </a:p>
          <a:p>
            <a:pPr lvl="1"/>
            <a:r>
              <a:rPr lang="en-US" sz="2200" dirty="0"/>
              <a:t>Food</a:t>
            </a:r>
          </a:p>
          <a:p>
            <a:pPr lvl="1"/>
            <a:r>
              <a:rPr lang="en-US" sz="2200" dirty="0"/>
              <a:t>Space</a:t>
            </a:r>
          </a:p>
          <a:p>
            <a:pPr lvl="1"/>
            <a:r>
              <a:rPr lang="en-US" sz="2200" dirty="0"/>
              <a:t>Environmental quality</a:t>
            </a:r>
          </a:p>
          <a:p>
            <a:pPr lvl="1"/>
            <a:r>
              <a:rPr lang="en-US" sz="2200" dirty="0"/>
              <a:t>Productivity of the resource</a:t>
            </a:r>
          </a:p>
        </p:txBody>
      </p:sp>
      <p:pic>
        <p:nvPicPr>
          <p:cNvPr id="2050" name="Picture 2" descr="Generated image">
            <a:extLst>
              <a:ext uri="{FF2B5EF4-FFF2-40B4-BE49-F238E27FC236}">
                <a16:creationId xmlns:a16="http://schemas.microsoft.com/office/drawing/2014/main" id="{0167A6BF-6232-3E0D-CD96-BA87EFEB63B4}"/>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11760" r="-1" b="21691"/>
          <a:stretch>
            <a:fillRect/>
          </a:stretch>
        </p:blipFill>
        <p:spPr bwMode="auto">
          <a:xfrm>
            <a:off x="5311702" y="10"/>
            <a:ext cx="6878775" cy="6857990"/>
          </a:xfrm>
          <a:custGeom>
            <a:avLst/>
            <a:gdLst/>
            <a:ahLst/>
            <a:cxnLst/>
            <a:rect l="l" t="t" r="r" b="b"/>
            <a:pathLst>
              <a:path w="6878775" h="6858000">
                <a:moveTo>
                  <a:pt x="1102973" y="0"/>
                </a:moveTo>
                <a:lnTo>
                  <a:pt x="1160688" y="0"/>
                </a:lnTo>
                <a:lnTo>
                  <a:pt x="983189" y="331786"/>
                </a:lnTo>
                <a:cubicBezTo>
                  <a:pt x="914866" y="469145"/>
                  <a:pt x="850355" y="608712"/>
                  <a:pt x="789261" y="750263"/>
                </a:cubicBezTo>
                <a:cubicBezTo>
                  <a:pt x="774307" y="784928"/>
                  <a:pt x="759992" y="819849"/>
                  <a:pt x="745295" y="854514"/>
                </a:cubicBezTo>
                <a:cubicBezTo>
                  <a:pt x="756682" y="845393"/>
                  <a:pt x="765489" y="833492"/>
                  <a:pt x="770857" y="819975"/>
                </a:cubicBezTo>
                <a:cubicBezTo>
                  <a:pt x="879943" y="589569"/>
                  <a:pt x="999605" y="365513"/>
                  <a:pt x="1131329" y="148742"/>
                </a:cubicBezTo>
                <a:lnTo>
                  <a:pt x="1227589" y="0"/>
                </a:lnTo>
                <a:lnTo>
                  <a:pt x="6878775" y="0"/>
                </a:lnTo>
                <a:lnTo>
                  <a:pt x="6878775" y="6858000"/>
                </a:lnTo>
                <a:lnTo>
                  <a:pt x="713521" y="6858000"/>
                </a:lnTo>
                <a:lnTo>
                  <a:pt x="625642" y="6670527"/>
                </a:lnTo>
                <a:cubicBezTo>
                  <a:pt x="507232" y="6398531"/>
                  <a:pt x="403083" y="6118381"/>
                  <a:pt x="312785" y="5830359"/>
                </a:cubicBezTo>
                <a:cubicBezTo>
                  <a:pt x="278149" y="5719759"/>
                  <a:pt x="248879" y="5607635"/>
                  <a:pt x="212198" y="5480401"/>
                </a:cubicBezTo>
                <a:cubicBezTo>
                  <a:pt x="212208" y="5491601"/>
                  <a:pt x="212803" y="5502788"/>
                  <a:pt x="213988" y="5513923"/>
                </a:cubicBezTo>
                <a:cubicBezTo>
                  <a:pt x="264089" y="5723695"/>
                  <a:pt x="307290" y="5935370"/>
                  <a:pt x="365826" y="6142729"/>
                </a:cubicBezTo>
                <a:cubicBezTo>
                  <a:pt x="433152" y="6380817"/>
                  <a:pt x="510068" y="6614016"/>
                  <a:pt x="597975" y="6841549"/>
                </a:cubicBezTo>
                <a:lnTo>
                  <a:pt x="604824" y="6858000"/>
                </a:lnTo>
                <a:lnTo>
                  <a:pt x="552056" y="6858000"/>
                </a:lnTo>
                <a:lnTo>
                  <a:pt x="539576" y="6828295"/>
                </a:lnTo>
                <a:cubicBezTo>
                  <a:pt x="380597" y="6414594"/>
                  <a:pt x="260223" y="5988893"/>
                  <a:pt x="171555" y="5552906"/>
                </a:cubicBezTo>
                <a:cubicBezTo>
                  <a:pt x="91163" y="5157998"/>
                  <a:pt x="43746" y="4758899"/>
                  <a:pt x="12305" y="4357388"/>
                </a:cubicBezTo>
                <a:cubicBezTo>
                  <a:pt x="-14281" y="4013908"/>
                  <a:pt x="4507" y="3672965"/>
                  <a:pt x="46684" y="3331516"/>
                </a:cubicBezTo>
                <a:cubicBezTo>
                  <a:pt x="127203" y="2664286"/>
                  <a:pt x="277819" y="2007265"/>
                  <a:pt x="496065" y="1371196"/>
                </a:cubicBezTo>
                <a:cubicBezTo>
                  <a:pt x="636273" y="966066"/>
                  <a:pt x="800445" y="573253"/>
                  <a:pt x="995723" y="196614"/>
                </a:cubicBez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6380641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DA732F-4D8A-97B9-94F6-C2F4FD6F551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5840991-2C5D-8CB3-9358-0766EC828620}"/>
              </a:ext>
            </a:extLst>
          </p:cNvPr>
          <p:cNvSpPr>
            <a:spLocks noGrp="1"/>
          </p:cNvSpPr>
          <p:nvPr>
            <p:ph type="title"/>
          </p:nvPr>
        </p:nvSpPr>
        <p:spPr/>
        <p:txBody>
          <a:bodyPr/>
          <a:lstStyle/>
          <a:p>
            <a:r>
              <a:rPr lang="en-US" dirty="0"/>
              <a:t>Exponential growth not realistic though</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2DCAE0D4-1B53-400A-853A-C8A138CD89D1}"/>
                  </a:ext>
                </a:extLst>
              </p:cNvPr>
              <p:cNvSpPr>
                <a:spLocks noGrp="1"/>
              </p:cNvSpPr>
              <p:nvPr>
                <p:ph idx="1"/>
              </p:nvPr>
            </p:nvSpPr>
            <p:spPr>
              <a:xfrm>
                <a:off x="838199" y="1591292"/>
                <a:ext cx="10075223" cy="4762007"/>
              </a:xfrm>
            </p:spPr>
            <p:txBody>
              <a:bodyPr>
                <a:normAutofit/>
              </a:bodyPr>
              <a:lstStyle/>
              <a:p>
                <a:r>
                  <a:rPr lang="en-US" dirty="0"/>
                  <a:t>Previous, not realistic:</a:t>
                </a:r>
              </a:p>
              <a:p>
                <a:pPr marL="0" indent="0">
                  <a:buNone/>
                </a:pPr>
                <a14:m>
                  <m:oMathPara xmlns:m="http://schemas.openxmlformats.org/officeDocument/2006/math">
                    <m:oMathParaPr>
                      <m:jc m:val="centerGroup"/>
                    </m:oMathParaPr>
                    <m:oMath xmlns:m="http://schemas.openxmlformats.org/officeDocument/2006/math">
                      <m:f>
                        <m:fPr>
                          <m:ctrlPr>
                            <a:rPr lang="en-US" b="0" i="1" smtClean="0">
                              <a:latin typeface="Cambria Math" panose="02040503050406030204" pitchFamily="18" charset="0"/>
                            </a:rPr>
                          </m:ctrlPr>
                        </m:fPr>
                        <m:num>
                          <m:r>
                            <a:rPr lang="en-US" b="0" i="1" smtClean="0">
                              <a:latin typeface="Cambria Math" panose="02040503050406030204" pitchFamily="18" charset="0"/>
                            </a:rPr>
                            <m:t>𝑑</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𝑆</m:t>
                              </m:r>
                            </m:e>
                            <m:sub>
                              <m:r>
                                <a:rPr lang="en-US" b="0" i="1" smtClean="0">
                                  <a:latin typeface="Cambria Math" panose="02040503050406030204" pitchFamily="18" charset="0"/>
                                </a:rPr>
                                <m:t>𝑡</m:t>
                              </m:r>
                            </m:sub>
                          </m:sSub>
                        </m:num>
                        <m:den>
                          <m:r>
                            <a:rPr lang="en-US" b="0" i="1" smtClean="0">
                              <a:latin typeface="Cambria Math" panose="02040503050406030204" pitchFamily="18" charset="0"/>
                            </a:rPr>
                            <m:t>𝑑𝑡</m:t>
                          </m:r>
                        </m:den>
                      </m:f>
                      <m:r>
                        <a:rPr lang="en-US" b="0" i="1" smtClean="0">
                          <a:latin typeface="Cambria Math" panose="02040503050406030204" pitchFamily="18" charset="0"/>
                        </a:rPr>
                        <m:t>=</m:t>
                      </m:r>
                      <m:r>
                        <a:rPr lang="en-US" b="0" i="1" smtClean="0">
                          <a:latin typeface="Cambria Math" panose="02040503050406030204" pitchFamily="18" charset="0"/>
                        </a:rPr>
                        <m:t>𝑟</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𝑆</m:t>
                          </m:r>
                        </m:e>
                        <m:sub>
                          <m:r>
                            <a:rPr lang="en-US" b="0" i="1" smtClean="0">
                              <a:latin typeface="Cambria Math" panose="02040503050406030204" pitchFamily="18" charset="0"/>
                            </a:rPr>
                            <m:t>𝑡</m:t>
                          </m:r>
                        </m:sub>
                      </m:sSub>
                    </m:oMath>
                  </m:oMathPara>
                </a14:m>
                <a:endParaRPr lang="en-US" dirty="0"/>
              </a:p>
              <a:p>
                <a:endParaRPr lang="en-US" dirty="0"/>
              </a:p>
              <a:p>
                <a:endParaRPr lang="en-US" dirty="0"/>
              </a:p>
              <a:p>
                <a:r>
                  <a:rPr lang="en-US" dirty="0"/>
                  <a:t>Thus, we introduce carrying capacity:</a:t>
                </a:r>
              </a:p>
              <a:p>
                <a:endParaRPr lang="en-US" dirty="0"/>
              </a:p>
              <a:p>
                <a:pPr marL="0" indent="0">
                  <a:buNone/>
                </a:pPr>
                <a14:m>
                  <m:oMathPara xmlns:m="http://schemas.openxmlformats.org/officeDocument/2006/math">
                    <m:oMathParaPr>
                      <m:jc m:val="centerGroup"/>
                    </m:oMathParaPr>
                    <m:oMath xmlns:m="http://schemas.openxmlformats.org/officeDocument/2006/math">
                      <m:f>
                        <m:fPr>
                          <m:ctrlPr>
                            <a:rPr lang="en-US" b="0" i="1" smtClean="0">
                              <a:latin typeface="Cambria Math" panose="02040503050406030204" pitchFamily="18" charset="0"/>
                            </a:rPr>
                          </m:ctrlPr>
                        </m:fPr>
                        <m:num>
                          <m:r>
                            <a:rPr lang="en-US" b="0" i="1" smtClean="0">
                              <a:latin typeface="Cambria Math" panose="02040503050406030204" pitchFamily="18" charset="0"/>
                            </a:rPr>
                            <m:t>𝑑</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𝑆</m:t>
                              </m:r>
                            </m:e>
                            <m:sub>
                              <m:r>
                                <a:rPr lang="en-US" b="0" i="1" smtClean="0">
                                  <a:latin typeface="Cambria Math" panose="02040503050406030204" pitchFamily="18" charset="0"/>
                                </a:rPr>
                                <m:t>𝑡</m:t>
                              </m:r>
                            </m:sub>
                          </m:sSub>
                        </m:num>
                        <m:den>
                          <m:r>
                            <a:rPr lang="en-US" b="0" i="1" smtClean="0">
                              <a:latin typeface="Cambria Math" panose="02040503050406030204" pitchFamily="18" charset="0"/>
                            </a:rPr>
                            <m:t>𝑑𝑡</m:t>
                          </m:r>
                        </m:den>
                      </m:f>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𝑟𝑆</m:t>
                          </m:r>
                        </m:e>
                        <m:sub>
                          <m:r>
                            <a:rPr lang="en-US" b="0" i="1" smtClean="0">
                              <a:latin typeface="Cambria Math" panose="02040503050406030204" pitchFamily="18" charset="0"/>
                            </a:rPr>
                            <m:t>𝑡</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1−</m:t>
                          </m:r>
                          <m:f>
                            <m:fPr>
                              <m:ctrlPr>
                                <a:rPr lang="en-US" b="0" i="1" smtClean="0">
                                  <a:latin typeface="Cambria Math" panose="02040503050406030204" pitchFamily="18" charset="0"/>
                                </a:rPr>
                              </m:ctrlPr>
                            </m:fPr>
                            <m:num>
                              <m:sSub>
                                <m:sSubPr>
                                  <m:ctrlPr>
                                    <a:rPr lang="en-US" b="0" i="1" smtClean="0">
                                      <a:latin typeface="Cambria Math" panose="02040503050406030204" pitchFamily="18" charset="0"/>
                                    </a:rPr>
                                  </m:ctrlPr>
                                </m:sSubPr>
                                <m:e>
                                  <m:r>
                                    <a:rPr lang="en-US" b="0" i="1" smtClean="0">
                                      <a:latin typeface="Cambria Math" panose="02040503050406030204" pitchFamily="18" charset="0"/>
                                    </a:rPr>
                                    <m:t>𝑆</m:t>
                                  </m:r>
                                </m:e>
                                <m:sub>
                                  <m:r>
                                    <a:rPr lang="en-US" b="0" i="1" smtClean="0">
                                      <a:latin typeface="Cambria Math" panose="02040503050406030204" pitchFamily="18" charset="0"/>
                                    </a:rPr>
                                    <m:t>𝑡</m:t>
                                  </m:r>
                                </m:sub>
                              </m:sSub>
                            </m:num>
                            <m:den>
                              <m:r>
                                <a:rPr lang="en-US" b="0" i="1" smtClean="0">
                                  <a:latin typeface="Cambria Math" panose="02040503050406030204" pitchFamily="18" charset="0"/>
                                </a:rPr>
                                <m:t>𝐾</m:t>
                              </m:r>
                            </m:den>
                          </m:f>
                        </m:e>
                      </m:d>
                    </m:oMath>
                  </m:oMathPara>
                </a14:m>
                <a:endParaRPr lang="en-US" i="1" dirty="0"/>
              </a:p>
              <a:p>
                <a:pPr marL="0" indent="0">
                  <a:buNone/>
                </a:pPr>
                <a:endParaRPr lang="en-US" i="1" dirty="0"/>
              </a:p>
              <a:p>
                <a:endParaRPr lang="en-US" dirty="0"/>
              </a:p>
              <a:p>
                <a:endParaRPr lang="en-US" dirty="0"/>
              </a:p>
            </p:txBody>
          </p:sp>
        </mc:Choice>
        <mc:Fallback>
          <p:sp>
            <p:nvSpPr>
              <p:cNvPr id="3" name="Content Placeholder 2">
                <a:extLst>
                  <a:ext uri="{FF2B5EF4-FFF2-40B4-BE49-F238E27FC236}">
                    <a16:creationId xmlns:a16="http://schemas.microsoft.com/office/drawing/2014/main" id="{2DCAE0D4-1B53-400A-853A-C8A138CD89D1}"/>
                  </a:ext>
                </a:extLst>
              </p:cNvPr>
              <p:cNvSpPr>
                <a:spLocks noGrp="1" noRot="1" noChangeAspect="1" noMove="1" noResize="1" noEditPoints="1" noAdjustHandles="1" noChangeArrowheads="1" noChangeShapeType="1" noTextEdit="1"/>
              </p:cNvSpPr>
              <p:nvPr>
                <p:ph idx="1"/>
              </p:nvPr>
            </p:nvSpPr>
            <p:spPr>
              <a:xfrm>
                <a:off x="838199" y="1591292"/>
                <a:ext cx="10075223" cy="4762007"/>
              </a:xfrm>
              <a:blipFill>
                <a:blip r:embed="rId2"/>
                <a:stretch>
                  <a:fillRect l="-1006" t="-2128"/>
                </a:stretch>
              </a:blipFill>
            </p:spPr>
            <p:txBody>
              <a:bodyPr/>
              <a:lstStyle/>
              <a:p>
                <a:r>
                  <a:rPr lang="en-US">
                    <a:noFill/>
                  </a:rPr>
                  <a:t> </a:t>
                </a:r>
              </a:p>
            </p:txBody>
          </p:sp>
        </mc:Fallback>
      </mc:AlternateContent>
    </p:spTree>
    <p:extLst>
      <p:ext uri="{BB962C8B-B14F-4D97-AF65-F5344CB8AC3E}">
        <p14:creationId xmlns:p14="http://schemas.microsoft.com/office/powerpoint/2010/main" val="241743997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64F69E-EDB2-0B89-5523-C974D2D4A95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1D74989-9B99-D13F-B194-A56D925445BC}"/>
              </a:ext>
            </a:extLst>
          </p:cNvPr>
          <p:cNvSpPr>
            <a:spLocks noGrp="1"/>
          </p:cNvSpPr>
          <p:nvPr>
            <p:ph type="title"/>
          </p:nvPr>
        </p:nvSpPr>
        <p:spPr/>
        <p:txBody>
          <a:bodyPr/>
          <a:lstStyle/>
          <a:p>
            <a:r>
              <a:rPr lang="en-US" dirty="0"/>
              <a:t>Exponential growth not realistic though</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2274DDE9-A8E9-C4B7-CBFD-2D0CAB00198D}"/>
                  </a:ext>
                </a:extLst>
              </p:cNvPr>
              <p:cNvSpPr>
                <a:spLocks noGrp="1"/>
              </p:cNvSpPr>
              <p:nvPr>
                <p:ph idx="1"/>
              </p:nvPr>
            </p:nvSpPr>
            <p:spPr>
              <a:xfrm>
                <a:off x="838199" y="1591292"/>
                <a:ext cx="10075223" cy="4762007"/>
              </a:xfrm>
            </p:spPr>
            <p:txBody>
              <a:bodyPr>
                <a:normAutofit/>
              </a:bodyPr>
              <a:lstStyle/>
              <a:p>
                <a:pPr marL="0" indent="0">
                  <a:buNone/>
                </a:pPr>
                <a:r>
                  <a:rPr lang="en-US" dirty="0"/>
                  <a:t>Thus, we introduce carrying capacity (becomes </a:t>
                </a:r>
                <a:r>
                  <a:rPr lang="en-US" i="1" dirty="0"/>
                  <a:t>logistic growth</a:t>
                </a:r>
                <a:r>
                  <a:rPr lang="en-US" dirty="0"/>
                  <a:t>):</a:t>
                </a:r>
              </a:p>
              <a:p>
                <a:endParaRPr lang="en-US" dirty="0"/>
              </a:p>
              <a:p>
                <a:pPr marL="0" indent="0">
                  <a:buNone/>
                </a:pPr>
                <a14:m>
                  <m:oMathPara xmlns:m="http://schemas.openxmlformats.org/officeDocument/2006/math">
                    <m:oMathParaPr>
                      <m:jc m:val="centerGroup"/>
                    </m:oMathParaPr>
                    <m:oMath xmlns:m="http://schemas.openxmlformats.org/officeDocument/2006/math">
                      <m:f>
                        <m:fPr>
                          <m:ctrlPr>
                            <a:rPr lang="en-US" b="0" i="1" smtClean="0">
                              <a:latin typeface="Cambria Math" panose="02040503050406030204" pitchFamily="18" charset="0"/>
                            </a:rPr>
                          </m:ctrlPr>
                        </m:fPr>
                        <m:num>
                          <m:r>
                            <a:rPr lang="en-US" b="0" i="1" smtClean="0">
                              <a:latin typeface="Cambria Math" panose="02040503050406030204" pitchFamily="18" charset="0"/>
                            </a:rPr>
                            <m:t>𝑑</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𝑆</m:t>
                              </m:r>
                            </m:e>
                            <m:sub>
                              <m:r>
                                <a:rPr lang="en-US" b="0" i="1" smtClean="0">
                                  <a:latin typeface="Cambria Math" panose="02040503050406030204" pitchFamily="18" charset="0"/>
                                </a:rPr>
                                <m:t>𝑡</m:t>
                              </m:r>
                            </m:sub>
                          </m:sSub>
                        </m:num>
                        <m:den>
                          <m:r>
                            <a:rPr lang="en-US" b="0" i="1" smtClean="0">
                              <a:latin typeface="Cambria Math" panose="02040503050406030204" pitchFamily="18" charset="0"/>
                            </a:rPr>
                            <m:t>𝑑𝑡</m:t>
                          </m:r>
                        </m:den>
                      </m:f>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𝑟𝑆</m:t>
                          </m:r>
                        </m:e>
                        <m:sub>
                          <m:r>
                            <a:rPr lang="en-US" b="0" i="1" smtClean="0">
                              <a:latin typeface="Cambria Math" panose="02040503050406030204" pitchFamily="18" charset="0"/>
                            </a:rPr>
                            <m:t>𝑡</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1−</m:t>
                          </m:r>
                          <m:f>
                            <m:fPr>
                              <m:ctrlPr>
                                <a:rPr lang="en-US" b="0" i="1" smtClean="0">
                                  <a:latin typeface="Cambria Math" panose="02040503050406030204" pitchFamily="18" charset="0"/>
                                </a:rPr>
                              </m:ctrlPr>
                            </m:fPr>
                            <m:num>
                              <m:sSub>
                                <m:sSubPr>
                                  <m:ctrlPr>
                                    <a:rPr lang="en-US" b="0" i="1" smtClean="0">
                                      <a:latin typeface="Cambria Math" panose="02040503050406030204" pitchFamily="18" charset="0"/>
                                    </a:rPr>
                                  </m:ctrlPr>
                                </m:sSubPr>
                                <m:e>
                                  <m:r>
                                    <a:rPr lang="en-US" b="0" i="1" smtClean="0">
                                      <a:latin typeface="Cambria Math" panose="02040503050406030204" pitchFamily="18" charset="0"/>
                                    </a:rPr>
                                    <m:t>𝑆</m:t>
                                  </m:r>
                                </m:e>
                                <m:sub>
                                  <m:r>
                                    <a:rPr lang="en-US" b="0" i="1" smtClean="0">
                                      <a:latin typeface="Cambria Math" panose="02040503050406030204" pitchFamily="18" charset="0"/>
                                    </a:rPr>
                                    <m:t>𝑡</m:t>
                                  </m:r>
                                </m:sub>
                              </m:sSub>
                            </m:num>
                            <m:den>
                              <m:r>
                                <a:rPr lang="en-US" b="0" i="1" smtClean="0">
                                  <a:latin typeface="Cambria Math" panose="02040503050406030204" pitchFamily="18" charset="0"/>
                                </a:rPr>
                                <m:t>𝐾</m:t>
                              </m:r>
                            </m:den>
                          </m:f>
                        </m:e>
                      </m:d>
                    </m:oMath>
                  </m:oMathPara>
                </a14:m>
                <a:endParaRPr lang="en-US" i="1" dirty="0"/>
              </a:p>
              <a:p>
                <a:pPr marL="0" indent="0">
                  <a:buNone/>
                </a:pPr>
                <a:endParaRPr lang="en-US" i="1" dirty="0"/>
              </a:p>
              <a:p>
                <a:pPr marL="0" indent="0">
                  <a:buNone/>
                </a:pPr>
                <a:r>
                  <a:rPr lang="en-US" i="1" dirty="0"/>
                  <a:t>At low levels -&gt; growth is exponential</a:t>
                </a:r>
              </a:p>
              <a:p>
                <a:pPr marL="0" indent="0">
                  <a:buNone/>
                </a:pPr>
                <a:r>
                  <a:rPr lang="en-US" i="1" dirty="0"/>
                  <a:t>At medium stock levels (K/2) -&gt; growth is fastest</a:t>
                </a:r>
              </a:p>
              <a:p>
                <a:pPr marL="0" indent="0">
                  <a:buNone/>
                </a:pPr>
                <a:r>
                  <a:rPr lang="en-US" i="1" dirty="0"/>
                  <a:t>At high stock levels (S near K) -&gt; growth slows down</a:t>
                </a:r>
              </a:p>
              <a:p>
                <a:endParaRPr lang="en-US" dirty="0"/>
              </a:p>
              <a:p>
                <a:endParaRPr lang="en-US" dirty="0"/>
              </a:p>
            </p:txBody>
          </p:sp>
        </mc:Choice>
        <mc:Fallback>
          <p:sp>
            <p:nvSpPr>
              <p:cNvPr id="3" name="Content Placeholder 2">
                <a:extLst>
                  <a:ext uri="{FF2B5EF4-FFF2-40B4-BE49-F238E27FC236}">
                    <a16:creationId xmlns:a16="http://schemas.microsoft.com/office/drawing/2014/main" id="{2274DDE9-A8E9-C4B7-CBFD-2D0CAB00198D}"/>
                  </a:ext>
                </a:extLst>
              </p:cNvPr>
              <p:cNvSpPr>
                <a:spLocks noGrp="1" noRot="1" noChangeAspect="1" noMove="1" noResize="1" noEditPoints="1" noAdjustHandles="1" noChangeArrowheads="1" noChangeShapeType="1" noTextEdit="1"/>
              </p:cNvSpPr>
              <p:nvPr>
                <p:ph idx="1"/>
              </p:nvPr>
            </p:nvSpPr>
            <p:spPr>
              <a:xfrm>
                <a:off x="838199" y="1591292"/>
                <a:ext cx="10075223" cy="4762007"/>
              </a:xfrm>
              <a:blipFill>
                <a:blip r:embed="rId2"/>
                <a:stretch>
                  <a:fillRect l="-1132" t="-2128"/>
                </a:stretch>
              </a:blipFill>
            </p:spPr>
            <p:txBody>
              <a:bodyPr/>
              <a:lstStyle/>
              <a:p>
                <a:r>
                  <a:rPr lang="en-US">
                    <a:noFill/>
                  </a:rPr>
                  <a:t> </a:t>
                </a:r>
              </a:p>
            </p:txBody>
          </p:sp>
        </mc:Fallback>
      </mc:AlternateContent>
    </p:spTree>
    <p:extLst>
      <p:ext uri="{BB962C8B-B14F-4D97-AF65-F5344CB8AC3E}">
        <p14:creationId xmlns:p14="http://schemas.microsoft.com/office/powerpoint/2010/main" val="234691358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83899A-4839-290B-9FFA-EB88176B400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F75A68C-ED29-E812-FEB7-E7BDE3867398}"/>
              </a:ext>
            </a:extLst>
          </p:cNvPr>
          <p:cNvSpPr>
            <a:spLocks noGrp="1"/>
          </p:cNvSpPr>
          <p:nvPr>
            <p:ph type="title"/>
          </p:nvPr>
        </p:nvSpPr>
        <p:spPr>
          <a:xfrm>
            <a:off x="838200" y="365125"/>
            <a:ext cx="11353800" cy="1325563"/>
          </a:xfrm>
        </p:spPr>
        <p:txBody>
          <a:bodyPr/>
          <a:lstStyle/>
          <a:p>
            <a:r>
              <a:rPr lang="en-US" dirty="0"/>
              <a:t>Logistic growth and Maximum Sustainable Yield</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D11DF588-5055-1F72-DA9B-51B02309C621}"/>
                  </a:ext>
                </a:extLst>
              </p:cNvPr>
              <p:cNvSpPr>
                <a:spLocks noGrp="1"/>
              </p:cNvSpPr>
              <p:nvPr>
                <p:ph idx="1"/>
              </p:nvPr>
            </p:nvSpPr>
            <p:spPr/>
            <p:txBody>
              <a:bodyPr>
                <a:normAutofit fontScale="92500" lnSpcReduction="10000"/>
              </a:bodyPr>
              <a:lstStyle/>
              <a:p>
                <a:pPr marL="0" indent="0">
                  <a:buNone/>
                </a:pPr>
                <a:r>
                  <a:rPr lang="en-US" dirty="0">
                    <a:latin typeface="Cambria Math" panose="02040503050406030204" pitchFamily="18" charset="0"/>
                  </a:rPr>
                  <a:t>Label growth function as:</a:t>
                </a:r>
                <a:endParaRPr lang="en-US" b="0" dirty="0">
                  <a:latin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𝐺</m:t>
                      </m:r>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𝑆</m:t>
                              </m:r>
                            </m:e>
                            <m:sub>
                              <m:r>
                                <a:rPr lang="en-US" b="0" i="1" smtClean="0">
                                  <a:latin typeface="Cambria Math" panose="02040503050406030204" pitchFamily="18" charset="0"/>
                                </a:rPr>
                                <m:t>𝑡</m:t>
                              </m:r>
                            </m:sub>
                          </m:sSub>
                        </m:e>
                      </m:d>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𝑟𝑆</m:t>
                          </m:r>
                        </m:e>
                        <m:sub>
                          <m:r>
                            <a:rPr lang="en-US" b="0" i="1" smtClean="0">
                              <a:latin typeface="Cambria Math" panose="02040503050406030204" pitchFamily="18" charset="0"/>
                            </a:rPr>
                            <m:t>𝑡</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1−</m:t>
                          </m:r>
                          <m:f>
                            <m:fPr>
                              <m:ctrlPr>
                                <a:rPr lang="en-US" b="0" i="1" smtClean="0">
                                  <a:latin typeface="Cambria Math" panose="02040503050406030204" pitchFamily="18" charset="0"/>
                                </a:rPr>
                              </m:ctrlPr>
                            </m:fPr>
                            <m:num>
                              <m:sSub>
                                <m:sSubPr>
                                  <m:ctrlPr>
                                    <a:rPr lang="en-US" b="0" i="1" smtClean="0">
                                      <a:latin typeface="Cambria Math" panose="02040503050406030204" pitchFamily="18" charset="0"/>
                                    </a:rPr>
                                  </m:ctrlPr>
                                </m:sSubPr>
                                <m:e>
                                  <m:r>
                                    <a:rPr lang="en-US" b="0" i="1" smtClean="0">
                                      <a:latin typeface="Cambria Math" panose="02040503050406030204" pitchFamily="18" charset="0"/>
                                    </a:rPr>
                                    <m:t>𝑆</m:t>
                                  </m:r>
                                </m:e>
                                <m:sub>
                                  <m:r>
                                    <a:rPr lang="en-US" b="0" i="1" smtClean="0">
                                      <a:latin typeface="Cambria Math" panose="02040503050406030204" pitchFamily="18" charset="0"/>
                                    </a:rPr>
                                    <m:t>𝑡</m:t>
                                  </m:r>
                                </m:sub>
                              </m:sSub>
                            </m:num>
                            <m:den>
                              <m:r>
                                <a:rPr lang="en-US" b="0" i="1" smtClean="0">
                                  <a:latin typeface="Cambria Math" panose="02040503050406030204" pitchFamily="18" charset="0"/>
                                </a:rPr>
                                <m:t>𝐾</m:t>
                              </m:r>
                            </m:den>
                          </m:f>
                        </m:e>
                      </m:d>
                    </m:oMath>
                  </m:oMathPara>
                </a14:m>
                <a:endParaRPr lang="en-US" b="0" dirty="0"/>
              </a:p>
              <a:p>
                <a:pPr marL="0" indent="0">
                  <a:buNone/>
                </a:pPr>
                <a:endParaRPr lang="en-US" dirty="0"/>
              </a:p>
              <a:p>
                <a:pPr marL="0" indent="0">
                  <a:buNone/>
                </a:pPr>
                <a:r>
                  <a:rPr lang="en-US" dirty="0"/>
                  <a:t>Again – find the maximum by setting derivative to zero:</a:t>
                </a:r>
              </a:p>
              <a:p>
                <a:pPr marL="0" indent="0">
                  <a:buNone/>
                </a:pPr>
                <a14:m>
                  <m:oMathPara xmlns:m="http://schemas.openxmlformats.org/officeDocument/2006/math">
                    <m:oMathParaPr>
                      <m:jc m:val="centerGroup"/>
                    </m:oMathParaPr>
                    <m:oMath xmlns:m="http://schemas.openxmlformats.org/officeDocument/2006/math">
                      <m:f>
                        <m:fPr>
                          <m:ctrlPr>
                            <a:rPr lang="en-US" b="0" i="1" smtClean="0">
                              <a:latin typeface="Cambria Math" panose="02040503050406030204" pitchFamily="18" charset="0"/>
                            </a:rPr>
                          </m:ctrlPr>
                        </m:fPr>
                        <m:num>
                          <m:r>
                            <a:rPr lang="en-US" b="0" i="1" smtClean="0">
                              <a:latin typeface="Cambria Math" panose="02040503050406030204" pitchFamily="18" charset="0"/>
                            </a:rPr>
                            <m:t>𝜕</m:t>
                          </m:r>
                          <m:r>
                            <a:rPr lang="en-US" b="0" i="1" smtClean="0">
                              <a:latin typeface="Cambria Math" panose="02040503050406030204" pitchFamily="18" charset="0"/>
                            </a:rPr>
                            <m:t>𝐺</m:t>
                          </m:r>
                        </m:num>
                        <m:den>
                          <m:r>
                            <a:rPr lang="en-US" b="0" i="1" smtClean="0">
                              <a:latin typeface="Cambria Math" panose="02040503050406030204" pitchFamily="18" charset="0"/>
                            </a:rPr>
                            <m:t>𝜕</m:t>
                          </m:r>
                          <m:r>
                            <a:rPr lang="en-US" b="0" i="1" smtClean="0">
                              <a:latin typeface="Cambria Math" panose="02040503050406030204" pitchFamily="18" charset="0"/>
                            </a:rPr>
                            <m:t>𝑆</m:t>
                          </m:r>
                        </m:den>
                      </m:f>
                      <m:r>
                        <a:rPr lang="en-US" b="0" i="1" smtClean="0">
                          <a:latin typeface="Cambria Math" panose="02040503050406030204" pitchFamily="18" charset="0"/>
                        </a:rPr>
                        <m:t>=</m:t>
                      </m:r>
                      <m:r>
                        <a:rPr lang="en-US" b="0" i="1" smtClean="0">
                          <a:latin typeface="Cambria Math" panose="02040503050406030204" pitchFamily="18" charset="0"/>
                        </a:rPr>
                        <m:t>𝑟</m:t>
                      </m:r>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2</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𝑟𝑆</m:t>
                              </m:r>
                            </m:e>
                            <m:sub>
                              <m:r>
                                <a:rPr lang="en-US" b="0" i="1" smtClean="0">
                                  <a:latin typeface="Cambria Math" panose="02040503050406030204" pitchFamily="18" charset="0"/>
                                </a:rPr>
                                <m:t>𝑡</m:t>
                              </m:r>
                            </m:sub>
                          </m:sSub>
                        </m:num>
                        <m:den>
                          <m:r>
                            <a:rPr lang="en-US" b="0" i="1" smtClean="0">
                              <a:latin typeface="Cambria Math" panose="02040503050406030204" pitchFamily="18" charset="0"/>
                            </a:rPr>
                            <m:t>𝐾</m:t>
                          </m:r>
                        </m:den>
                      </m:f>
                      <m:r>
                        <a:rPr lang="en-US" b="0" i="1" smtClean="0">
                          <a:latin typeface="Cambria Math" panose="02040503050406030204" pitchFamily="18" charset="0"/>
                        </a:rPr>
                        <m:t>=0</m:t>
                      </m:r>
                    </m:oMath>
                  </m:oMathPara>
                </a14:m>
                <a:endParaRPr lang="en-US" dirty="0"/>
              </a:p>
              <a:p>
                <a:pPr marL="0" indent="0">
                  <a:buNone/>
                </a:pPr>
                <a:endParaRPr lang="en-US" dirty="0"/>
              </a:p>
              <a:p>
                <a:pPr marL="0" indent="0">
                  <a:buNone/>
                </a:pPr>
                <a:r>
                  <a:rPr lang="en-US" dirty="0"/>
                  <a:t>.. Implies growth is maximized when: </a:t>
                </a:r>
              </a:p>
              <a:p>
                <a:pPr marL="0" indent="0">
                  <a:buNone/>
                </a:pPr>
                <a14:m>
                  <m:oMathPara xmlns:m="http://schemas.openxmlformats.org/officeDocument/2006/math">
                    <m:oMathParaPr>
                      <m:jc m:val="centerGroup"/>
                    </m:oMathParaPr>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panose="02040503050406030204" pitchFamily="18" charset="0"/>
                            </a:rPr>
                            <m:t>𝑆</m:t>
                          </m:r>
                        </m:e>
                        <m:sup>
                          <m:r>
                            <a:rPr lang="en-US" b="0" i="1" smtClean="0">
                              <a:latin typeface="Cambria Math" panose="02040503050406030204" pitchFamily="18" charset="0"/>
                            </a:rPr>
                            <m:t>𝑚𝑎𝑥</m:t>
                          </m:r>
                        </m:sup>
                      </m:sSup>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𝐾</m:t>
                          </m:r>
                        </m:num>
                        <m:den>
                          <m:r>
                            <a:rPr lang="en-US" b="0" i="1" smtClean="0">
                              <a:latin typeface="Cambria Math" panose="02040503050406030204" pitchFamily="18" charset="0"/>
                            </a:rPr>
                            <m:t>2</m:t>
                          </m:r>
                        </m:den>
                      </m:f>
                    </m:oMath>
                  </m:oMathPara>
                </a14:m>
                <a:endParaRPr lang="en-US" dirty="0"/>
              </a:p>
            </p:txBody>
          </p:sp>
        </mc:Choice>
        <mc:Fallback xmlns="">
          <p:sp>
            <p:nvSpPr>
              <p:cNvPr id="3" name="Content Placeholder 2">
                <a:extLst>
                  <a:ext uri="{FF2B5EF4-FFF2-40B4-BE49-F238E27FC236}">
                    <a16:creationId xmlns:a16="http://schemas.microsoft.com/office/drawing/2014/main" id="{D11DF588-5055-1F72-DA9B-51B02309C621}"/>
                  </a:ext>
                </a:extLst>
              </p:cNvPr>
              <p:cNvSpPr>
                <a:spLocks noGrp="1" noRot="1" noChangeAspect="1" noMove="1" noResize="1" noEditPoints="1" noAdjustHandles="1" noChangeArrowheads="1" noChangeShapeType="1" noTextEdit="1"/>
              </p:cNvSpPr>
              <p:nvPr>
                <p:ph idx="1"/>
              </p:nvPr>
            </p:nvSpPr>
            <p:spPr>
              <a:blipFill>
                <a:blip r:embed="rId2"/>
                <a:stretch>
                  <a:fillRect l="-1086" t="-2616"/>
                </a:stretch>
              </a:blipFill>
            </p:spPr>
            <p:txBody>
              <a:bodyPr/>
              <a:lstStyle/>
              <a:p>
                <a:r>
                  <a:rPr lang="en-US">
                    <a:noFill/>
                  </a:rPr>
                  <a:t> </a:t>
                </a:r>
              </a:p>
            </p:txBody>
          </p:sp>
        </mc:Fallback>
      </mc:AlternateContent>
    </p:spTree>
    <p:extLst>
      <p:ext uri="{BB962C8B-B14F-4D97-AF65-F5344CB8AC3E}">
        <p14:creationId xmlns:p14="http://schemas.microsoft.com/office/powerpoint/2010/main" val="152050075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3A52B3-8C42-4033-820C-9075BCE33BD5}"/>
              </a:ext>
            </a:extLst>
          </p:cNvPr>
          <p:cNvSpPr>
            <a:spLocks noGrp="1"/>
          </p:cNvSpPr>
          <p:nvPr>
            <p:ph type="title"/>
          </p:nvPr>
        </p:nvSpPr>
        <p:spPr>
          <a:xfrm>
            <a:off x="838200" y="365125"/>
            <a:ext cx="11353800" cy="1325563"/>
          </a:xfrm>
        </p:spPr>
        <p:txBody>
          <a:bodyPr/>
          <a:lstStyle/>
          <a:p>
            <a:r>
              <a:rPr lang="en-US" dirty="0"/>
              <a:t>Logistic growth and Maximum Sustainable Yield</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E77B623B-63DC-2DE4-07BC-26A75F6D237F}"/>
                  </a:ext>
                </a:extLst>
              </p:cNvPr>
              <p:cNvSpPr>
                <a:spLocks noGrp="1"/>
              </p:cNvSpPr>
              <p:nvPr>
                <p:ph idx="1"/>
              </p:nvPr>
            </p:nvSpPr>
            <p:spPr/>
            <p:txBody>
              <a:bodyPr>
                <a:normAutofit/>
              </a:bodyPr>
              <a:lstStyle/>
              <a:p>
                <a:pPr marL="0" indent="0">
                  <a:buNone/>
                </a:pPr>
                <a:r>
                  <a:rPr lang="en-US" dirty="0">
                    <a:latin typeface="Cambria Math" panose="02040503050406030204" pitchFamily="18" charset="0"/>
                  </a:rPr>
                  <a:t>Label growth function as:</a:t>
                </a:r>
                <a:endParaRPr lang="en-US" b="0" dirty="0">
                  <a:latin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𝐺</m:t>
                      </m:r>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𝑆</m:t>
                              </m:r>
                            </m:e>
                            <m:sub>
                              <m:r>
                                <a:rPr lang="en-US" b="0" i="1" smtClean="0">
                                  <a:latin typeface="Cambria Math" panose="02040503050406030204" pitchFamily="18" charset="0"/>
                                </a:rPr>
                                <m:t>𝑡</m:t>
                              </m:r>
                            </m:sub>
                          </m:sSub>
                        </m:e>
                      </m:d>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𝑟𝑆</m:t>
                          </m:r>
                        </m:e>
                        <m:sub>
                          <m:r>
                            <a:rPr lang="en-US" b="0" i="1" smtClean="0">
                              <a:latin typeface="Cambria Math" panose="02040503050406030204" pitchFamily="18" charset="0"/>
                            </a:rPr>
                            <m:t>𝑡</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1−</m:t>
                          </m:r>
                          <m:f>
                            <m:fPr>
                              <m:ctrlPr>
                                <a:rPr lang="en-US" b="0" i="1" smtClean="0">
                                  <a:latin typeface="Cambria Math" panose="02040503050406030204" pitchFamily="18" charset="0"/>
                                </a:rPr>
                              </m:ctrlPr>
                            </m:fPr>
                            <m:num>
                              <m:sSub>
                                <m:sSubPr>
                                  <m:ctrlPr>
                                    <a:rPr lang="en-US" b="0" i="1" smtClean="0">
                                      <a:latin typeface="Cambria Math" panose="02040503050406030204" pitchFamily="18" charset="0"/>
                                    </a:rPr>
                                  </m:ctrlPr>
                                </m:sSubPr>
                                <m:e>
                                  <m:r>
                                    <a:rPr lang="en-US" b="0" i="1" smtClean="0">
                                      <a:latin typeface="Cambria Math" panose="02040503050406030204" pitchFamily="18" charset="0"/>
                                    </a:rPr>
                                    <m:t>𝑆</m:t>
                                  </m:r>
                                </m:e>
                                <m:sub>
                                  <m:r>
                                    <a:rPr lang="en-US" b="0" i="1" smtClean="0">
                                      <a:latin typeface="Cambria Math" panose="02040503050406030204" pitchFamily="18" charset="0"/>
                                    </a:rPr>
                                    <m:t>𝑡</m:t>
                                  </m:r>
                                </m:sub>
                              </m:sSub>
                            </m:num>
                            <m:den>
                              <m:r>
                                <a:rPr lang="en-US" b="0" i="1" smtClean="0">
                                  <a:latin typeface="Cambria Math" panose="02040503050406030204" pitchFamily="18" charset="0"/>
                                </a:rPr>
                                <m:t>𝐾</m:t>
                              </m:r>
                            </m:den>
                          </m:f>
                        </m:e>
                      </m:d>
                    </m:oMath>
                  </m:oMathPara>
                </a14:m>
                <a:endParaRPr lang="en-US" b="0" dirty="0"/>
              </a:p>
              <a:p>
                <a:pPr marL="0" indent="0">
                  <a:buNone/>
                </a:pPr>
                <a:endParaRPr lang="en-US" dirty="0"/>
              </a:p>
              <a:p>
                <a:pPr marL="0" indent="0">
                  <a:buNone/>
                </a:pPr>
                <a14:m>
                  <m:oMathPara xmlns:m="http://schemas.openxmlformats.org/officeDocument/2006/math">
                    <m:oMathParaPr>
                      <m:jc m:val="centerGroup"/>
                    </m:oMathParaPr>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panose="02040503050406030204" pitchFamily="18" charset="0"/>
                            </a:rPr>
                            <m:t>𝑆</m:t>
                          </m:r>
                        </m:e>
                        <m:sup>
                          <m:r>
                            <a:rPr lang="en-US" b="0" i="1" smtClean="0">
                              <a:latin typeface="Cambria Math" panose="02040503050406030204" pitchFamily="18" charset="0"/>
                            </a:rPr>
                            <m:t>𝑚𝑎𝑥</m:t>
                          </m:r>
                        </m:sup>
                      </m:sSup>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𝐾</m:t>
                          </m:r>
                        </m:num>
                        <m:den>
                          <m:r>
                            <a:rPr lang="en-US" b="0" i="1" smtClean="0">
                              <a:latin typeface="Cambria Math" panose="02040503050406030204" pitchFamily="18" charset="0"/>
                            </a:rPr>
                            <m:t>2</m:t>
                          </m:r>
                        </m:den>
                      </m:f>
                    </m:oMath>
                  </m:oMathPara>
                </a14:m>
                <a:endParaRPr lang="en-US" b="0" dirty="0"/>
              </a:p>
              <a:p>
                <a:pPr marL="0" indent="0">
                  <a:buNone/>
                </a:pPr>
                <a:endParaRPr lang="en-US" dirty="0"/>
              </a:p>
              <a:p>
                <a:pPr marL="0"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𝐺</m:t>
                      </m:r>
                      <m:d>
                        <m:dPr>
                          <m:ctrlPr>
                            <a:rPr lang="en-US" b="0" i="1" smtClean="0">
                              <a:latin typeface="Cambria Math" panose="02040503050406030204" pitchFamily="18" charset="0"/>
                            </a:rPr>
                          </m:ctrlPr>
                        </m:dPr>
                        <m:e>
                          <m:sSup>
                            <m:sSupPr>
                              <m:ctrlPr>
                                <a:rPr lang="en-US" i="1">
                                  <a:latin typeface="Cambria Math" panose="02040503050406030204" pitchFamily="18" charset="0"/>
                                </a:rPr>
                              </m:ctrlPr>
                            </m:sSupPr>
                            <m:e>
                              <m:r>
                                <a:rPr lang="en-US" i="1">
                                  <a:latin typeface="Cambria Math" panose="02040503050406030204" pitchFamily="18" charset="0"/>
                                </a:rPr>
                                <m:t>𝑆</m:t>
                              </m:r>
                            </m:e>
                            <m:sup>
                              <m:r>
                                <a:rPr lang="en-US" i="1">
                                  <a:latin typeface="Cambria Math" panose="02040503050406030204" pitchFamily="18" charset="0"/>
                                </a:rPr>
                                <m:t>𝑚𝑎𝑥</m:t>
                              </m:r>
                            </m:sup>
                          </m:sSup>
                        </m:e>
                      </m:d>
                      <m:r>
                        <a:rPr lang="en-US" b="0" i="0" smtClean="0">
                          <a:latin typeface="Cambria Math" panose="02040503050406030204" pitchFamily="18" charset="0"/>
                        </a:rPr>
                        <m:t>=</m:t>
                      </m:r>
                      <m:f>
                        <m:fPr>
                          <m:ctrlPr>
                            <a:rPr lang="en-US" b="0" i="1" smtClean="0">
                              <a:latin typeface="Cambria Math" panose="02040503050406030204" pitchFamily="18" charset="0"/>
                            </a:rPr>
                          </m:ctrlPr>
                        </m:fPr>
                        <m:num>
                          <m:r>
                            <m:rPr>
                              <m:sty m:val="p"/>
                            </m:rPr>
                            <a:rPr lang="en-US" b="0" i="0" smtClean="0">
                              <a:latin typeface="Cambria Math" panose="02040503050406030204" pitchFamily="18" charset="0"/>
                            </a:rPr>
                            <m:t>rK</m:t>
                          </m:r>
                        </m:num>
                        <m:den>
                          <m:r>
                            <a:rPr lang="en-US" b="0" i="0" smtClean="0">
                              <a:latin typeface="Cambria Math" panose="02040503050406030204" pitchFamily="18" charset="0"/>
                            </a:rPr>
                            <m:t>2</m:t>
                          </m:r>
                        </m:den>
                      </m:f>
                      <m:d>
                        <m:dPr>
                          <m:ctrlPr>
                            <a:rPr lang="en-US" b="0" i="1" smtClean="0">
                              <a:latin typeface="Cambria Math" panose="02040503050406030204" pitchFamily="18" charset="0"/>
                            </a:rPr>
                          </m:ctrlPr>
                        </m:dPr>
                        <m:e>
                          <m:r>
                            <a:rPr lang="en-US" b="0" i="0" smtClean="0">
                              <a:latin typeface="Cambria Math" panose="02040503050406030204" pitchFamily="18" charset="0"/>
                            </a:rPr>
                            <m:t>1−</m:t>
                          </m:r>
                          <m:f>
                            <m:fPr>
                              <m:ctrlPr>
                                <a:rPr lang="en-US" b="0" i="1" smtClean="0">
                                  <a:latin typeface="Cambria Math" panose="02040503050406030204" pitchFamily="18" charset="0"/>
                                </a:rPr>
                              </m:ctrlPr>
                            </m:fPr>
                            <m:num>
                              <m:r>
                                <m:rPr>
                                  <m:sty m:val="p"/>
                                </m:rPr>
                                <a:rPr lang="en-US" b="0" i="0" smtClean="0">
                                  <a:latin typeface="Cambria Math" panose="02040503050406030204" pitchFamily="18" charset="0"/>
                                </a:rPr>
                                <m:t>K</m:t>
                              </m:r>
                              <m:r>
                                <a:rPr lang="en-US" b="0" i="0" smtClean="0">
                                  <a:latin typeface="Cambria Math" panose="02040503050406030204" pitchFamily="18" charset="0"/>
                                </a:rPr>
                                <m:t>/2</m:t>
                              </m:r>
                            </m:num>
                            <m:den>
                              <m:r>
                                <m:rPr>
                                  <m:sty m:val="p"/>
                                </m:rPr>
                                <a:rPr lang="en-US" b="0" i="0" smtClean="0">
                                  <a:latin typeface="Cambria Math" panose="02040503050406030204" pitchFamily="18" charset="0"/>
                                </a:rPr>
                                <m:t>K</m:t>
                              </m:r>
                            </m:den>
                          </m:f>
                        </m:e>
                      </m:d>
                      <m:r>
                        <a:rPr lang="en-US" b="0" i="0" smtClean="0">
                          <a:latin typeface="Cambria Math" panose="02040503050406030204" pitchFamily="18" charset="0"/>
                        </a:rPr>
                        <m:t>=</m:t>
                      </m:r>
                      <m:f>
                        <m:fPr>
                          <m:ctrlPr>
                            <a:rPr lang="en-US" b="0" i="1" smtClean="0">
                              <a:latin typeface="Cambria Math" panose="02040503050406030204" pitchFamily="18" charset="0"/>
                            </a:rPr>
                          </m:ctrlPr>
                        </m:fPr>
                        <m:num>
                          <m:r>
                            <m:rPr>
                              <m:sty m:val="p"/>
                            </m:rPr>
                            <a:rPr lang="en-US" b="0" i="0" smtClean="0">
                              <a:latin typeface="Cambria Math" panose="02040503050406030204" pitchFamily="18" charset="0"/>
                            </a:rPr>
                            <m:t>rK</m:t>
                          </m:r>
                        </m:num>
                        <m:den>
                          <m:r>
                            <a:rPr lang="en-US" b="0" i="0" smtClean="0">
                              <a:latin typeface="Cambria Math" panose="02040503050406030204" pitchFamily="18" charset="0"/>
                            </a:rPr>
                            <m:t>4</m:t>
                          </m:r>
                        </m:den>
                      </m:f>
                      <m:r>
                        <a:rPr lang="en-US" b="0" i="0" smtClean="0">
                          <a:latin typeface="Cambria Math" panose="02040503050406030204" pitchFamily="18" charset="0"/>
                        </a:rPr>
                        <m:t>=</m:t>
                      </m:r>
                      <m:r>
                        <m:rPr>
                          <m:sty m:val="p"/>
                        </m:rPr>
                        <a:rPr lang="en-US" b="0" i="0" smtClean="0">
                          <a:latin typeface="Cambria Math" panose="02040503050406030204" pitchFamily="18" charset="0"/>
                        </a:rPr>
                        <m:t>MSY</m:t>
                      </m:r>
                    </m:oMath>
                  </m:oMathPara>
                </a14:m>
                <a:endParaRPr lang="en-US" dirty="0"/>
              </a:p>
            </p:txBody>
          </p:sp>
        </mc:Choice>
        <mc:Fallback xmlns="">
          <p:sp>
            <p:nvSpPr>
              <p:cNvPr id="3" name="Content Placeholder 2">
                <a:extLst>
                  <a:ext uri="{FF2B5EF4-FFF2-40B4-BE49-F238E27FC236}">
                    <a16:creationId xmlns:a16="http://schemas.microsoft.com/office/drawing/2014/main" id="{E77B623B-63DC-2DE4-07BC-26A75F6D237F}"/>
                  </a:ext>
                </a:extLst>
              </p:cNvPr>
              <p:cNvSpPr>
                <a:spLocks noGrp="1" noRot="1" noChangeAspect="1" noMove="1" noResize="1" noEditPoints="1" noAdjustHandles="1" noChangeArrowheads="1" noChangeShapeType="1" noTextEdit="1"/>
              </p:cNvSpPr>
              <p:nvPr>
                <p:ph idx="1"/>
              </p:nvPr>
            </p:nvSpPr>
            <p:spPr>
              <a:blipFill>
                <a:blip r:embed="rId2"/>
                <a:stretch>
                  <a:fillRect l="-1206" t="-2326"/>
                </a:stretch>
              </a:blipFill>
            </p:spPr>
            <p:txBody>
              <a:bodyPr/>
              <a:lstStyle/>
              <a:p>
                <a:r>
                  <a:rPr lang="en-US">
                    <a:noFill/>
                  </a:rPr>
                  <a:t> </a:t>
                </a:r>
              </a:p>
            </p:txBody>
          </p:sp>
        </mc:Fallback>
      </mc:AlternateContent>
    </p:spTree>
    <p:extLst>
      <p:ext uri="{BB962C8B-B14F-4D97-AF65-F5344CB8AC3E}">
        <p14:creationId xmlns:p14="http://schemas.microsoft.com/office/powerpoint/2010/main" val="141071805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BF595D-AAE8-887C-E51F-64CE84F14B61}"/>
              </a:ext>
            </a:extLst>
          </p:cNvPr>
          <p:cNvSpPr>
            <a:spLocks noGrp="1"/>
          </p:cNvSpPr>
          <p:nvPr>
            <p:ph type="title"/>
          </p:nvPr>
        </p:nvSpPr>
        <p:spPr/>
        <p:txBody>
          <a:bodyPr/>
          <a:lstStyle/>
          <a:p>
            <a:r>
              <a:rPr lang="en-US" dirty="0"/>
              <a:t>MSY Logic </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28200106-5628-F6B0-1512-CB19DEF7E52A}"/>
                  </a:ext>
                </a:extLst>
              </p:cNvPr>
              <p:cNvSpPr>
                <a:spLocks noGrp="1"/>
              </p:cNvSpPr>
              <p:nvPr>
                <p:ph idx="1"/>
              </p:nvPr>
            </p:nvSpPr>
            <p:spPr>
              <a:xfrm>
                <a:off x="1693889" y="1454046"/>
                <a:ext cx="8394492" cy="4722917"/>
              </a:xfrm>
            </p:spPr>
            <p:txBody>
              <a:bodyPr>
                <a:normAutofit fontScale="92500" lnSpcReduction="10000"/>
              </a:bodyPr>
              <a:lstStyle/>
              <a:p>
                <a:pPr marL="0"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𝑀𝑆𝑌</m:t>
                      </m:r>
                      <m:r>
                        <a:rPr lang="en-US" b="0" i="1" smtClean="0">
                          <a:latin typeface="Cambria Math" panose="02040503050406030204" pitchFamily="18" charset="0"/>
                        </a:rPr>
                        <m:t>=</m:t>
                      </m:r>
                      <m:f>
                        <m:fPr>
                          <m:ctrlPr>
                            <a:rPr lang="en-US" b="0" i="1" smtClean="0">
                              <a:latin typeface="Cambria Math" panose="02040503050406030204" pitchFamily="18" charset="0"/>
                            </a:rPr>
                          </m:ctrlPr>
                        </m:fPr>
                        <m:num>
                          <m:r>
                            <m:rPr>
                              <m:sty m:val="p"/>
                            </m:rPr>
                            <a:rPr lang="en-US" b="0" i="0" smtClean="0">
                              <a:latin typeface="Cambria Math" panose="02040503050406030204" pitchFamily="18" charset="0"/>
                            </a:rPr>
                            <m:t>rK</m:t>
                          </m:r>
                        </m:num>
                        <m:den>
                          <m:r>
                            <a:rPr lang="en-US" b="0" i="0" smtClean="0">
                              <a:latin typeface="Cambria Math" panose="02040503050406030204" pitchFamily="18" charset="0"/>
                            </a:rPr>
                            <m:t>4</m:t>
                          </m:r>
                        </m:den>
                      </m:f>
                    </m:oMath>
                  </m:oMathPara>
                </a14:m>
                <a:endParaRPr lang="en-US" dirty="0"/>
              </a:p>
              <a:p>
                <a:pPr marL="0" indent="0">
                  <a:buNone/>
                </a:pPr>
                <a:r>
                  <a:rPr lang="en-US" dirty="0"/>
                  <a:t>Interpretation:</a:t>
                </a:r>
              </a:p>
              <a:p>
                <a:pPr>
                  <a:buFontTx/>
                  <a:buChar char="-"/>
                </a:pPr>
                <a:r>
                  <a:rPr lang="en-US" dirty="0"/>
                  <a:t>Peak growth occurs at half capacity</a:t>
                </a:r>
              </a:p>
              <a:p>
                <a:pPr>
                  <a:buFontTx/>
                  <a:buChar char="-"/>
                </a:pPr>
                <a:r>
                  <a:rPr lang="en-US" dirty="0"/>
                  <a:t>Maximum yield </a:t>
                </a:r>
                <a:r>
                  <a:rPr lang="en-US" dirty="0" err="1"/>
                  <a:t>occures</a:t>
                </a:r>
                <a:r>
                  <a:rPr lang="en-US" dirty="0"/>
                  <a:t> at one-quarter of the total possible growth</a:t>
                </a:r>
              </a:p>
              <a:p>
                <a:pPr marL="0" indent="0">
                  <a:buNone/>
                </a:pPr>
                <a:r>
                  <a:rPr lang="en-US" dirty="0"/>
                  <a:t>Alternatively…</a:t>
                </a:r>
              </a:p>
              <a:p>
                <a:pPr>
                  <a:buFont typeface="Arial" panose="020B0604020202020204" pitchFamily="34" charset="0"/>
                  <a:buChar char="•"/>
                </a:pPr>
                <a:r>
                  <a:rPr lang="en-US" dirty="0"/>
                  <a:t>Growth rate </a:t>
                </a:r>
                <a14:m>
                  <m:oMath xmlns:m="http://schemas.openxmlformats.org/officeDocument/2006/math">
                    <m:r>
                      <a:rPr lang="en-US" b="0" i="1" dirty="0" smtClean="0">
                        <a:latin typeface="Cambria Math" panose="02040503050406030204" pitchFamily="18" charset="0"/>
                      </a:rPr>
                      <m:t>𝑟</m:t>
                    </m:r>
                  </m:oMath>
                </a14:m>
                <a:r>
                  <a:rPr lang="en-US" dirty="0"/>
                  <a:t> is maximized at half the carrying capacity</a:t>
                </a:r>
              </a:p>
              <a:p>
                <a:pPr>
                  <a:buFont typeface="Arial" panose="020B0604020202020204" pitchFamily="34" charset="0"/>
                  <a:buChar char="•"/>
                </a:pPr>
                <a:r>
                  <a:rPr lang="en-US" dirty="0"/>
                  <a:t>At that point, half the potential resource growth already used to replenish existing stock, leaving only one-quarter of total potential growth as harvestable MSY</a:t>
                </a:r>
              </a:p>
              <a:p>
                <a:pPr marL="0" indent="0">
                  <a:buNone/>
                </a:pPr>
                <a:endParaRPr lang="en-US" dirty="0"/>
              </a:p>
            </p:txBody>
          </p:sp>
        </mc:Choice>
        <mc:Fallback>
          <p:sp>
            <p:nvSpPr>
              <p:cNvPr id="3" name="Content Placeholder 2">
                <a:extLst>
                  <a:ext uri="{FF2B5EF4-FFF2-40B4-BE49-F238E27FC236}">
                    <a16:creationId xmlns:a16="http://schemas.microsoft.com/office/drawing/2014/main" id="{28200106-5628-F6B0-1512-CB19DEF7E52A}"/>
                  </a:ext>
                </a:extLst>
              </p:cNvPr>
              <p:cNvSpPr>
                <a:spLocks noGrp="1" noRot="1" noChangeAspect="1" noMove="1" noResize="1" noEditPoints="1" noAdjustHandles="1" noChangeArrowheads="1" noChangeShapeType="1" noTextEdit="1"/>
              </p:cNvSpPr>
              <p:nvPr>
                <p:ph idx="1"/>
              </p:nvPr>
            </p:nvSpPr>
            <p:spPr>
              <a:xfrm>
                <a:off x="1693889" y="1454046"/>
                <a:ext cx="8394492" cy="4722917"/>
              </a:xfrm>
              <a:blipFill>
                <a:blip r:embed="rId2"/>
                <a:stretch>
                  <a:fillRect l="-1360" t="-804"/>
                </a:stretch>
              </a:blipFill>
            </p:spPr>
            <p:txBody>
              <a:bodyPr/>
              <a:lstStyle/>
              <a:p>
                <a:r>
                  <a:rPr lang="en-US">
                    <a:noFill/>
                  </a:rPr>
                  <a:t> </a:t>
                </a:r>
              </a:p>
            </p:txBody>
          </p:sp>
        </mc:Fallback>
      </mc:AlternateContent>
    </p:spTree>
    <p:extLst>
      <p:ext uri="{BB962C8B-B14F-4D97-AF65-F5344CB8AC3E}">
        <p14:creationId xmlns:p14="http://schemas.microsoft.com/office/powerpoint/2010/main" val="171518667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Slide Background">
            <a:extLst>
              <a:ext uri="{FF2B5EF4-FFF2-40B4-BE49-F238E27FC236}">
                <a16:creationId xmlns:a16="http://schemas.microsoft.com/office/drawing/2014/main" id="{9F7D5CDA-D291-4307-BF55-1381FED296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A7FC8D9-B38B-6591-A943-C0A0C4BCE86E}"/>
              </a:ext>
            </a:extLst>
          </p:cNvPr>
          <p:cNvSpPr>
            <a:spLocks noGrp="1"/>
          </p:cNvSpPr>
          <p:nvPr>
            <p:ph type="title"/>
          </p:nvPr>
        </p:nvSpPr>
        <p:spPr>
          <a:xfrm>
            <a:off x="761800" y="762001"/>
            <a:ext cx="5334197" cy="1708242"/>
          </a:xfrm>
        </p:spPr>
        <p:txBody>
          <a:bodyPr anchor="ctr">
            <a:normAutofit/>
          </a:bodyPr>
          <a:lstStyle/>
          <a:p>
            <a:r>
              <a:rPr lang="en-US" sz="4000"/>
              <a:t>Now – what if we add harvesting?</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44327410-FCA0-46E9-D9BE-8F751E37EE7C}"/>
                  </a:ext>
                </a:extLst>
              </p:cNvPr>
              <p:cNvSpPr>
                <a:spLocks noGrp="1"/>
              </p:cNvSpPr>
              <p:nvPr>
                <p:ph idx="1"/>
              </p:nvPr>
            </p:nvSpPr>
            <p:spPr>
              <a:xfrm>
                <a:off x="761800" y="2470244"/>
                <a:ext cx="5334197" cy="3769835"/>
              </a:xfrm>
            </p:spPr>
            <p:txBody>
              <a:bodyPr anchor="ctr">
                <a:normAutofit/>
              </a:bodyPr>
              <a:lstStyle/>
              <a:p>
                <a:pPr marL="0" indent="0">
                  <a:buNone/>
                </a:pPr>
                <a14:m>
                  <m:oMathPara xmlns:m="http://schemas.openxmlformats.org/officeDocument/2006/math">
                    <m:oMathParaPr>
                      <m:jc m:val="centerGroup"/>
                    </m:oMathParaPr>
                    <m:oMath xmlns:m="http://schemas.openxmlformats.org/officeDocument/2006/math">
                      <m:f>
                        <m:fPr>
                          <m:ctrlPr>
                            <a:rPr lang="en-US" sz="1900" b="0" i="1">
                              <a:latin typeface="Cambria Math" panose="02040503050406030204" pitchFamily="18" charset="0"/>
                            </a:rPr>
                          </m:ctrlPr>
                        </m:fPr>
                        <m:num>
                          <m:r>
                            <a:rPr lang="en-US" sz="1900" b="0" i="1">
                              <a:latin typeface="Cambria Math" panose="02040503050406030204" pitchFamily="18" charset="0"/>
                            </a:rPr>
                            <m:t>𝑑</m:t>
                          </m:r>
                          <m:sSub>
                            <m:sSubPr>
                              <m:ctrlPr>
                                <a:rPr lang="en-US" sz="1900" b="0" i="1">
                                  <a:latin typeface="Cambria Math" panose="02040503050406030204" pitchFamily="18" charset="0"/>
                                </a:rPr>
                              </m:ctrlPr>
                            </m:sSubPr>
                            <m:e>
                              <m:r>
                                <a:rPr lang="en-US" sz="1900" b="0" i="1">
                                  <a:latin typeface="Cambria Math" panose="02040503050406030204" pitchFamily="18" charset="0"/>
                                </a:rPr>
                                <m:t>𝑆</m:t>
                              </m:r>
                            </m:e>
                            <m:sub>
                              <m:r>
                                <a:rPr lang="en-US" sz="1900" b="0" i="1">
                                  <a:latin typeface="Cambria Math" panose="02040503050406030204" pitchFamily="18" charset="0"/>
                                </a:rPr>
                                <m:t>𝑡</m:t>
                              </m:r>
                            </m:sub>
                          </m:sSub>
                        </m:num>
                        <m:den>
                          <m:r>
                            <a:rPr lang="en-US" sz="1900" b="0" i="1">
                              <a:latin typeface="Cambria Math" panose="02040503050406030204" pitchFamily="18" charset="0"/>
                            </a:rPr>
                            <m:t>𝑑𝑡</m:t>
                          </m:r>
                        </m:den>
                      </m:f>
                      <m:r>
                        <a:rPr lang="en-US" sz="1900" b="0" i="1">
                          <a:latin typeface="Cambria Math" panose="02040503050406030204" pitchFamily="18" charset="0"/>
                        </a:rPr>
                        <m:t>=</m:t>
                      </m:r>
                      <m:sSub>
                        <m:sSubPr>
                          <m:ctrlPr>
                            <a:rPr lang="en-US" sz="1900" b="0" i="1">
                              <a:latin typeface="Cambria Math" panose="02040503050406030204" pitchFamily="18" charset="0"/>
                            </a:rPr>
                          </m:ctrlPr>
                        </m:sSubPr>
                        <m:e>
                          <m:r>
                            <a:rPr lang="en-US" sz="1900" b="0" i="1">
                              <a:latin typeface="Cambria Math" panose="02040503050406030204" pitchFamily="18" charset="0"/>
                            </a:rPr>
                            <m:t>𝑟𝑆</m:t>
                          </m:r>
                        </m:e>
                        <m:sub>
                          <m:r>
                            <a:rPr lang="en-US" sz="1900" b="0" i="1">
                              <a:latin typeface="Cambria Math" panose="02040503050406030204" pitchFamily="18" charset="0"/>
                            </a:rPr>
                            <m:t>𝑡</m:t>
                          </m:r>
                        </m:sub>
                      </m:sSub>
                      <m:d>
                        <m:dPr>
                          <m:ctrlPr>
                            <a:rPr lang="en-US" sz="1900" b="0" i="1">
                              <a:latin typeface="Cambria Math" panose="02040503050406030204" pitchFamily="18" charset="0"/>
                            </a:rPr>
                          </m:ctrlPr>
                        </m:dPr>
                        <m:e>
                          <m:r>
                            <a:rPr lang="en-US" sz="1900" b="0" i="1">
                              <a:latin typeface="Cambria Math" panose="02040503050406030204" pitchFamily="18" charset="0"/>
                            </a:rPr>
                            <m:t>1−</m:t>
                          </m:r>
                          <m:f>
                            <m:fPr>
                              <m:ctrlPr>
                                <a:rPr lang="en-US" sz="1900" b="0" i="1">
                                  <a:latin typeface="Cambria Math" panose="02040503050406030204" pitchFamily="18" charset="0"/>
                                </a:rPr>
                              </m:ctrlPr>
                            </m:fPr>
                            <m:num>
                              <m:sSub>
                                <m:sSubPr>
                                  <m:ctrlPr>
                                    <a:rPr lang="en-US" sz="1900" b="0" i="1">
                                      <a:latin typeface="Cambria Math" panose="02040503050406030204" pitchFamily="18" charset="0"/>
                                    </a:rPr>
                                  </m:ctrlPr>
                                </m:sSubPr>
                                <m:e>
                                  <m:r>
                                    <a:rPr lang="en-US" sz="1900" b="0" i="1">
                                      <a:latin typeface="Cambria Math" panose="02040503050406030204" pitchFamily="18" charset="0"/>
                                    </a:rPr>
                                    <m:t>𝑆</m:t>
                                  </m:r>
                                </m:e>
                                <m:sub>
                                  <m:r>
                                    <a:rPr lang="en-US" sz="1900" b="0" i="1">
                                      <a:latin typeface="Cambria Math" panose="02040503050406030204" pitchFamily="18" charset="0"/>
                                    </a:rPr>
                                    <m:t>𝑡</m:t>
                                  </m:r>
                                </m:sub>
                              </m:sSub>
                            </m:num>
                            <m:den>
                              <m:r>
                                <a:rPr lang="en-US" sz="1900" b="0" i="1">
                                  <a:latin typeface="Cambria Math" panose="02040503050406030204" pitchFamily="18" charset="0"/>
                                </a:rPr>
                                <m:t>𝐾</m:t>
                              </m:r>
                            </m:den>
                          </m:f>
                        </m:e>
                      </m:d>
                      <m:r>
                        <a:rPr lang="en-US" sz="1900" b="1" i="1">
                          <a:latin typeface="Cambria Math" panose="02040503050406030204" pitchFamily="18" charset="0"/>
                        </a:rPr>
                        <m:t>−</m:t>
                      </m:r>
                      <m:sSub>
                        <m:sSubPr>
                          <m:ctrlPr>
                            <a:rPr lang="en-US" sz="1900" b="1" i="1">
                              <a:latin typeface="Cambria Math" panose="02040503050406030204" pitchFamily="18" charset="0"/>
                            </a:rPr>
                          </m:ctrlPr>
                        </m:sSubPr>
                        <m:e>
                          <m:r>
                            <a:rPr lang="en-US" sz="1900" b="1" i="1">
                              <a:latin typeface="Cambria Math" panose="02040503050406030204" pitchFamily="18" charset="0"/>
                            </a:rPr>
                            <m:t>𝑯</m:t>
                          </m:r>
                        </m:e>
                        <m:sub>
                          <m:r>
                            <a:rPr lang="en-US" sz="1900" b="1" i="1">
                              <a:latin typeface="Cambria Math" panose="02040503050406030204" pitchFamily="18" charset="0"/>
                            </a:rPr>
                            <m:t>𝒕</m:t>
                          </m:r>
                        </m:sub>
                      </m:sSub>
                    </m:oMath>
                  </m:oMathPara>
                </a14:m>
                <a:endParaRPr lang="en-US" sz="1900" b="1" i="1"/>
              </a:p>
              <a:p>
                <a:pPr marL="0" indent="0">
                  <a:buNone/>
                </a:pPr>
                <a:endParaRPr lang="en-US" sz="1900" b="1" i="1"/>
              </a:p>
              <a:p>
                <a:pPr marL="0" indent="0">
                  <a:buNone/>
                </a:pPr>
                <a:r>
                  <a:rPr lang="en-US" sz="1900"/>
                  <a:t>… Let’s define harvest as the product of..</a:t>
                </a:r>
              </a:p>
              <a:p>
                <a:pPr marL="0" indent="0">
                  <a:buNone/>
                </a:pPr>
                <a:r>
                  <a:rPr lang="en-US" sz="1900"/>
                  <a:t>	- A catching coefficient (</a:t>
                </a:r>
                <a14:m>
                  <m:oMath xmlns:m="http://schemas.openxmlformats.org/officeDocument/2006/math">
                    <m:r>
                      <a:rPr lang="en-US" sz="1900" b="0" i="1">
                        <a:latin typeface="Cambria Math" panose="02040503050406030204" pitchFamily="18" charset="0"/>
                      </a:rPr>
                      <m:t>𝛼</m:t>
                    </m:r>
                  </m:oMath>
                </a14:m>
                <a:r>
                  <a:rPr lang="en-US" sz="1900"/>
                  <a:t>) </a:t>
                </a:r>
              </a:p>
              <a:p>
                <a:pPr marL="0" indent="0">
                  <a:buNone/>
                </a:pPr>
                <a:r>
                  <a:rPr lang="en-US" sz="1900"/>
                  <a:t>	- The current stock (</a:t>
                </a:r>
                <a14:m>
                  <m:oMath xmlns:m="http://schemas.openxmlformats.org/officeDocument/2006/math">
                    <m:sSub>
                      <m:sSubPr>
                        <m:ctrlPr>
                          <a:rPr lang="en-US" sz="1900" b="0" i="1">
                            <a:latin typeface="Cambria Math" panose="02040503050406030204" pitchFamily="18" charset="0"/>
                          </a:rPr>
                        </m:ctrlPr>
                      </m:sSubPr>
                      <m:e>
                        <m:r>
                          <a:rPr lang="en-US" sz="1900" b="0" i="1">
                            <a:latin typeface="Cambria Math" panose="02040503050406030204" pitchFamily="18" charset="0"/>
                          </a:rPr>
                          <m:t>𝑆</m:t>
                        </m:r>
                      </m:e>
                      <m:sub>
                        <m:r>
                          <a:rPr lang="en-US" sz="1900" b="0" i="1">
                            <a:latin typeface="Cambria Math" panose="02040503050406030204" pitchFamily="18" charset="0"/>
                          </a:rPr>
                          <m:t>𝑡</m:t>
                        </m:r>
                      </m:sub>
                    </m:sSub>
                  </m:oMath>
                </a14:m>
                <a:r>
                  <a:rPr lang="en-US" sz="1900"/>
                  <a:t>)</a:t>
                </a:r>
              </a:p>
              <a:p>
                <a:pPr marL="0" indent="0">
                  <a:buNone/>
                </a:pPr>
                <a:r>
                  <a:rPr lang="en-US" sz="1900"/>
                  <a:t>	- And some effort level (</a:t>
                </a:r>
                <a14:m>
                  <m:oMath xmlns:m="http://schemas.openxmlformats.org/officeDocument/2006/math">
                    <m:sSub>
                      <m:sSubPr>
                        <m:ctrlPr>
                          <a:rPr lang="en-US" sz="1900" b="0" i="1">
                            <a:latin typeface="Cambria Math" panose="02040503050406030204" pitchFamily="18" charset="0"/>
                          </a:rPr>
                        </m:ctrlPr>
                      </m:sSubPr>
                      <m:e>
                        <m:r>
                          <a:rPr lang="en-US" sz="1900" b="0" i="1">
                            <a:latin typeface="Cambria Math" panose="02040503050406030204" pitchFamily="18" charset="0"/>
                          </a:rPr>
                          <m:t>𝐸</m:t>
                        </m:r>
                      </m:e>
                      <m:sub>
                        <m:r>
                          <a:rPr lang="en-US" sz="1900" b="0" i="1">
                            <a:latin typeface="Cambria Math" panose="02040503050406030204" pitchFamily="18" charset="0"/>
                          </a:rPr>
                          <m:t>𝑡</m:t>
                        </m:r>
                      </m:sub>
                    </m:sSub>
                  </m:oMath>
                </a14:m>
                <a:r>
                  <a:rPr lang="en-US" sz="1900"/>
                  <a:t>)	</a:t>
                </a:r>
              </a:p>
              <a:p>
                <a:pPr marL="0" indent="0">
                  <a:buNone/>
                </a:pPr>
                <a:endParaRPr lang="en-US" sz="1900"/>
              </a:p>
              <a:p>
                <a:pPr marL="0" indent="0">
                  <a:buNone/>
                </a:pPr>
                <a:r>
                  <a:rPr lang="en-US" sz="1900"/>
                  <a:t>Such that:</a:t>
                </a:r>
              </a:p>
              <a:p>
                <a:pPr marL="0" indent="0">
                  <a:buNone/>
                </a:pPr>
                <a14:m>
                  <m:oMathPara xmlns:m="http://schemas.openxmlformats.org/officeDocument/2006/math">
                    <m:oMathParaPr>
                      <m:jc m:val="centerGroup"/>
                    </m:oMathParaPr>
                    <m:oMath xmlns:m="http://schemas.openxmlformats.org/officeDocument/2006/math">
                      <m:sSub>
                        <m:sSubPr>
                          <m:ctrlPr>
                            <a:rPr lang="en-US" sz="1900" b="0" i="1">
                              <a:latin typeface="Cambria Math" panose="02040503050406030204" pitchFamily="18" charset="0"/>
                            </a:rPr>
                          </m:ctrlPr>
                        </m:sSubPr>
                        <m:e>
                          <m:r>
                            <a:rPr lang="en-US" sz="1900" b="0" i="1">
                              <a:latin typeface="Cambria Math" panose="02040503050406030204" pitchFamily="18" charset="0"/>
                            </a:rPr>
                            <m:t>𝐻</m:t>
                          </m:r>
                        </m:e>
                        <m:sub>
                          <m:r>
                            <a:rPr lang="en-US" sz="1900" b="0" i="1">
                              <a:latin typeface="Cambria Math" panose="02040503050406030204" pitchFamily="18" charset="0"/>
                            </a:rPr>
                            <m:t>𝑡</m:t>
                          </m:r>
                        </m:sub>
                      </m:sSub>
                      <m:r>
                        <a:rPr lang="en-US" sz="1900" b="0" i="1">
                          <a:latin typeface="Cambria Math" panose="02040503050406030204" pitchFamily="18" charset="0"/>
                        </a:rPr>
                        <m:t>=</m:t>
                      </m:r>
                      <m:r>
                        <a:rPr lang="en-US" sz="1900" b="0" i="1">
                          <a:latin typeface="Cambria Math" panose="02040503050406030204" pitchFamily="18" charset="0"/>
                        </a:rPr>
                        <m:t>𝛼</m:t>
                      </m:r>
                      <m:sSub>
                        <m:sSubPr>
                          <m:ctrlPr>
                            <a:rPr lang="en-US" sz="1900" b="0" i="1">
                              <a:latin typeface="Cambria Math" panose="02040503050406030204" pitchFamily="18" charset="0"/>
                            </a:rPr>
                          </m:ctrlPr>
                        </m:sSubPr>
                        <m:e>
                          <m:r>
                            <a:rPr lang="en-US" sz="1900" b="0" i="1">
                              <a:latin typeface="Cambria Math" panose="02040503050406030204" pitchFamily="18" charset="0"/>
                            </a:rPr>
                            <m:t>𝑆</m:t>
                          </m:r>
                        </m:e>
                        <m:sub>
                          <m:r>
                            <a:rPr lang="en-US" sz="1900" b="0" i="1">
                              <a:latin typeface="Cambria Math" panose="02040503050406030204" pitchFamily="18" charset="0"/>
                            </a:rPr>
                            <m:t>𝑡</m:t>
                          </m:r>
                        </m:sub>
                      </m:sSub>
                      <m:sSub>
                        <m:sSubPr>
                          <m:ctrlPr>
                            <a:rPr lang="en-US" sz="1900" b="0" i="1">
                              <a:latin typeface="Cambria Math" panose="02040503050406030204" pitchFamily="18" charset="0"/>
                            </a:rPr>
                          </m:ctrlPr>
                        </m:sSubPr>
                        <m:e>
                          <m:r>
                            <a:rPr lang="en-US" sz="1900" b="0" i="1">
                              <a:latin typeface="Cambria Math" panose="02040503050406030204" pitchFamily="18" charset="0"/>
                            </a:rPr>
                            <m:t>𝐸</m:t>
                          </m:r>
                        </m:e>
                        <m:sub>
                          <m:r>
                            <a:rPr lang="en-US" sz="1900" b="0" i="1">
                              <a:latin typeface="Cambria Math" panose="02040503050406030204" pitchFamily="18" charset="0"/>
                            </a:rPr>
                            <m:t>𝑡</m:t>
                          </m:r>
                        </m:sub>
                      </m:sSub>
                    </m:oMath>
                  </m:oMathPara>
                </a14:m>
                <a:endParaRPr lang="en-US" sz="1900"/>
              </a:p>
            </p:txBody>
          </p:sp>
        </mc:Choice>
        <mc:Fallback>
          <p:sp>
            <p:nvSpPr>
              <p:cNvPr id="3" name="Content Placeholder 2">
                <a:extLst>
                  <a:ext uri="{FF2B5EF4-FFF2-40B4-BE49-F238E27FC236}">
                    <a16:creationId xmlns:a16="http://schemas.microsoft.com/office/drawing/2014/main" id="{44327410-FCA0-46E9-D9BE-8F751E37EE7C}"/>
                  </a:ext>
                </a:extLst>
              </p:cNvPr>
              <p:cNvSpPr>
                <a:spLocks noGrp="1" noRot="1" noChangeAspect="1" noMove="1" noResize="1" noEditPoints="1" noAdjustHandles="1" noChangeArrowheads="1" noChangeShapeType="1" noTextEdit="1"/>
              </p:cNvSpPr>
              <p:nvPr>
                <p:ph idx="1"/>
              </p:nvPr>
            </p:nvSpPr>
            <p:spPr>
              <a:xfrm>
                <a:off x="761800" y="2470244"/>
                <a:ext cx="5334197" cy="3769835"/>
              </a:xfrm>
              <a:blipFill>
                <a:blip r:embed="rId2"/>
                <a:stretch>
                  <a:fillRect l="-1188"/>
                </a:stretch>
              </a:blipFill>
            </p:spPr>
            <p:txBody>
              <a:bodyPr/>
              <a:lstStyle/>
              <a:p>
                <a:r>
                  <a:rPr lang="en-US">
                    <a:noFill/>
                  </a:rPr>
                  <a:t> </a:t>
                </a:r>
              </a:p>
            </p:txBody>
          </p:sp>
        </mc:Fallback>
      </mc:AlternateContent>
      <p:pic>
        <p:nvPicPr>
          <p:cNvPr id="5" name="Picture 4" descr="Harvester harvesting grain on a field">
            <a:extLst>
              <a:ext uri="{FF2B5EF4-FFF2-40B4-BE49-F238E27FC236}">
                <a16:creationId xmlns:a16="http://schemas.microsoft.com/office/drawing/2014/main" id="{C6CCB599-8DB2-63A5-3FDE-C9A7645BE470}"/>
              </a:ext>
            </a:extLst>
          </p:cNvPr>
          <p:cNvPicPr>
            <a:picLocks noChangeAspect="1"/>
          </p:cNvPicPr>
          <p:nvPr/>
        </p:nvPicPr>
        <p:blipFill>
          <a:blip r:embed="rId3"/>
          <a:srcRect l="28035" r="20323"/>
          <a:stretch>
            <a:fillRect/>
          </a:stretch>
        </p:blipFill>
        <p:spPr>
          <a:xfrm>
            <a:off x="6857797" y="-10886"/>
            <a:ext cx="5334204" cy="6868886"/>
          </a:xfrm>
          <a:prstGeom prst="rect">
            <a:avLst/>
          </a:prstGeom>
          <a:effectLst>
            <a:outerShdw blurRad="127000" dist="50800" dir="10800000" sx="99000" sy="99000" algn="r" rotWithShape="0">
              <a:prstClr val="black">
                <a:alpha val="40000"/>
              </a:prstClr>
            </a:outerShdw>
          </a:effectLst>
        </p:spPr>
      </p:pic>
    </p:spTree>
    <p:extLst>
      <p:ext uri="{BB962C8B-B14F-4D97-AF65-F5344CB8AC3E}">
        <p14:creationId xmlns:p14="http://schemas.microsoft.com/office/powerpoint/2010/main" val="2212834195"/>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DD7193-9B92-1E70-F0F0-1506E893AC1B}"/>
              </a:ext>
            </a:extLst>
          </p:cNvPr>
          <p:cNvSpPr>
            <a:spLocks noGrp="1"/>
          </p:cNvSpPr>
          <p:nvPr>
            <p:ph type="title"/>
          </p:nvPr>
        </p:nvSpPr>
        <p:spPr/>
        <p:txBody>
          <a:bodyPr/>
          <a:lstStyle/>
          <a:p>
            <a:r>
              <a:rPr lang="en-US" dirty="0"/>
              <a:t>What if we don’t want the stock to change?</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57954A01-0845-5D5D-63BF-4E59DB73FDEB}"/>
                  </a:ext>
                </a:extLst>
              </p:cNvPr>
              <p:cNvSpPr>
                <a:spLocks noGrp="1"/>
              </p:cNvSpPr>
              <p:nvPr>
                <p:ph idx="1"/>
              </p:nvPr>
            </p:nvSpPr>
            <p:spPr/>
            <p:txBody>
              <a:bodyPr>
                <a:normAutofit fontScale="92500" lnSpcReduction="20000"/>
              </a:bodyPr>
              <a:lstStyle/>
              <a:p>
                <a:pPr marL="0" indent="0">
                  <a:buNone/>
                </a:pPr>
                <a:r>
                  <a:rPr lang="en-US" b="0" i="1" dirty="0">
                    <a:latin typeface="Cambria Math" panose="02040503050406030204" pitchFamily="18" charset="0"/>
                  </a:rPr>
                  <a:t>Sustainable harvest curve defined as:</a:t>
                </a:r>
              </a:p>
              <a:p>
                <a:pPr marL="0" indent="0">
                  <a:buNone/>
                </a:pPr>
                <a14:m>
                  <m:oMathPara xmlns:m="http://schemas.openxmlformats.org/officeDocument/2006/math">
                    <m:oMathParaPr>
                      <m:jc m:val="centerGroup"/>
                    </m:oMathParaPr>
                    <m:oMath xmlns:m="http://schemas.openxmlformats.org/officeDocument/2006/math">
                      <m:f>
                        <m:fPr>
                          <m:ctrlPr>
                            <a:rPr lang="en-US" b="0" i="1" smtClean="0">
                              <a:latin typeface="Cambria Math" panose="02040503050406030204" pitchFamily="18" charset="0"/>
                            </a:rPr>
                          </m:ctrlPr>
                        </m:fPr>
                        <m:num>
                          <m:r>
                            <a:rPr lang="en-US" b="0" i="1" smtClean="0">
                              <a:latin typeface="Cambria Math" panose="02040503050406030204" pitchFamily="18" charset="0"/>
                            </a:rPr>
                            <m:t>𝑑</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𝑆</m:t>
                              </m:r>
                            </m:e>
                            <m:sub>
                              <m:r>
                                <a:rPr lang="en-US" b="0" i="1" smtClean="0">
                                  <a:latin typeface="Cambria Math" panose="02040503050406030204" pitchFamily="18" charset="0"/>
                                </a:rPr>
                                <m:t>𝑡</m:t>
                              </m:r>
                            </m:sub>
                          </m:sSub>
                        </m:num>
                        <m:den>
                          <m:r>
                            <a:rPr lang="en-US" b="0" i="1" smtClean="0">
                              <a:latin typeface="Cambria Math" panose="02040503050406030204" pitchFamily="18" charset="0"/>
                            </a:rPr>
                            <m:t>𝑑𝑡</m:t>
                          </m:r>
                        </m:den>
                      </m:f>
                      <m:r>
                        <a:rPr lang="en-US" b="0" i="1" smtClean="0">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𝐻</m:t>
                          </m:r>
                        </m:e>
                        <m:sub>
                          <m:r>
                            <a:rPr lang="en-US" i="1">
                              <a:latin typeface="Cambria Math" panose="02040503050406030204" pitchFamily="18" charset="0"/>
                            </a:rPr>
                            <m:t>𝑡</m:t>
                          </m:r>
                        </m:sub>
                      </m:sSub>
                    </m:oMath>
                  </m:oMathPara>
                </a14:m>
                <a:endParaRPr lang="en-US" b="0" i="1" dirty="0">
                  <a:latin typeface="Cambria Math" panose="02040503050406030204" pitchFamily="18" charset="0"/>
                </a:endParaRPr>
              </a:p>
              <a:p>
                <a:pPr marL="0" indent="0">
                  <a:buNone/>
                </a:pPr>
                <a:endParaRPr lang="en-US" b="0" i="1" dirty="0">
                  <a:latin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𝑟𝑆</m:t>
                          </m:r>
                        </m:e>
                        <m:sub>
                          <m:r>
                            <a:rPr lang="en-US" b="0" i="1" smtClean="0">
                              <a:latin typeface="Cambria Math" panose="02040503050406030204" pitchFamily="18" charset="0"/>
                            </a:rPr>
                            <m:t>𝑡</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1−</m:t>
                          </m:r>
                          <m:f>
                            <m:fPr>
                              <m:ctrlPr>
                                <a:rPr lang="en-US" b="0" i="1" smtClean="0">
                                  <a:latin typeface="Cambria Math" panose="02040503050406030204" pitchFamily="18" charset="0"/>
                                </a:rPr>
                              </m:ctrlPr>
                            </m:fPr>
                            <m:num>
                              <m:sSub>
                                <m:sSubPr>
                                  <m:ctrlPr>
                                    <a:rPr lang="en-US" b="0" i="1" smtClean="0">
                                      <a:latin typeface="Cambria Math" panose="02040503050406030204" pitchFamily="18" charset="0"/>
                                    </a:rPr>
                                  </m:ctrlPr>
                                </m:sSubPr>
                                <m:e>
                                  <m:r>
                                    <a:rPr lang="en-US" b="0" i="1" smtClean="0">
                                      <a:latin typeface="Cambria Math" panose="02040503050406030204" pitchFamily="18" charset="0"/>
                                    </a:rPr>
                                    <m:t>𝑆</m:t>
                                  </m:r>
                                </m:e>
                                <m:sub>
                                  <m:r>
                                    <a:rPr lang="en-US" b="0" i="1" smtClean="0">
                                      <a:latin typeface="Cambria Math" panose="02040503050406030204" pitchFamily="18" charset="0"/>
                                    </a:rPr>
                                    <m:t>𝑡</m:t>
                                  </m:r>
                                </m:sub>
                              </m:sSub>
                            </m:num>
                            <m:den>
                              <m:r>
                                <a:rPr lang="en-US" b="0" i="1" smtClean="0">
                                  <a:latin typeface="Cambria Math" panose="02040503050406030204" pitchFamily="18" charset="0"/>
                                </a:rPr>
                                <m:t>𝐾</m:t>
                              </m:r>
                            </m:den>
                          </m:f>
                        </m:e>
                      </m:d>
                      <m:r>
                        <a:rPr lang="en-US" b="0" i="0" smtClean="0">
                          <a:latin typeface="Cambria Math" panose="02040503050406030204" pitchFamily="18" charset="0"/>
                        </a:rPr>
                        <m:t>=</m:t>
                      </m:r>
                      <m:r>
                        <a:rPr lang="en-US" i="1">
                          <a:latin typeface="Cambria Math" panose="02040503050406030204" pitchFamily="18" charset="0"/>
                        </a:rPr>
                        <m:t>𝛼</m:t>
                      </m:r>
                      <m:sSub>
                        <m:sSubPr>
                          <m:ctrlPr>
                            <a:rPr lang="en-US" i="1">
                              <a:latin typeface="Cambria Math" panose="02040503050406030204" pitchFamily="18" charset="0"/>
                            </a:rPr>
                          </m:ctrlPr>
                        </m:sSubPr>
                        <m:e>
                          <m:r>
                            <a:rPr lang="en-US" i="1">
                              <a:latin typeface="Cambria Math" panose="02040503050406030204" pitchFamily="18" charset="0"/>
                            </a:rPr>
                            <m:t>𝑆</m:t>
                          </m:r>
                        </m:e>
                        <m:sub>
                          <m:r>
                            <a:rPr lang="en-US" i="1">
                              <a:latin typeface="Cambria Math" panose="02040503050406030204" pitchFamily="18" charset="0"/>
                            </a:rPr>
                            <m:t>𝑡</m:t>
                          </m:r>
                        </m:sub>
                      </m:sSub>
                      <m:sSub>
                        <m:sSubPr>
                          <m:ctrlPr>
                            <a:rPr lang="en-US" i="1">
                              <a:latin typeface="Cambria Math" panose="02040503050406030204" pitchFamily="18" charset="0"/>
                            </a:rPr>
                          </m:ctrlPr>
                        </m:sSubPr>
                        <m:e>
                          <m:r>
                            <a:rPr lang="en-US" i="1">
                              <a:latin typeface="Cambria Math" panose="02040503050406030204" pitchFamily="18" charset="0"/>
                            </a:rPr>
                            <m:t>𝐸</m:t>
                          </m:r>
                        </m:e>
                        <m:sub>
                          <m:r>
                            <a:rPr lang="en-US" i="1">
                              <a:latin typeface="Cambria Math" panose="02040503050406030204" pitchFamily="18" charset="0"/>
                            </a:rPr>
                            <m:t>𝑡</m:t>
                          </m:r>
                        </m:sub>
                      </m:sSub>
                    </m:oMath>
                  </m:oMathPara>
                </a14:m>
                <a:endParaRPr lang="en-US" dirty="0"/>
              </a:p>
              <a:p>
                <a:pPr marL="0" indent="0">
                  <a:buNone/>
                </a:pPr>
                <a:endParaRPr lang="en-US" dirty="0"/>
              </a:p>
              <a:p>
                <a:pPr marL="0"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𝐸</m:t>
                          </m:r>
                        </m:e>
                        <m:sub>
                          <m:r>
                            <a:rPr lang="en-US" b="0" i="1" smtClean="0">
                              <a:latin typeface="Cambria Math" panose="02040503050406030204" pitchFamily="18" charset="0"/>
                            </a:rPr>
                            <m:t>𝑡</m:t>
                          </m:r>
                        </m:sub>
                      </m:sSub>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𝑟</m:t>
                          </m:r>
                          <m:d>
                            <m:dPr>
                              <m:ctrlPr>
                                <a:rPr lang="en-US" b="0" i="1" smtClean="0">
                                  <a:latin typeface="Cambria Math" panose="02040503050406030204" pitchFamily="18" charset="0"/>
                                </a:rPr>
                              </m:ctrlPr>
                            </m:dPr>
                            <m:e>
                              <m:r>
                                <a:rPr lang="en-US" b="0" i="1" smtClean="0">
                                  <a:latin typeface="Cambria Math" panose="02040503050406030204" pitchFamily="18" charset="0"/>
                                </a:rPr>
                                <m:t>1−</m:t>
                              </m:r>
                              <m:f>
                                <m:fPr>
                                  <m:ctrlPr>
                                    <a:rPr lang="en-US" b="0" i="1" smtClean="0">
                                      <a:latin typeface="Cambria Math" panose="02040503050406030204" pitchFamily="18" charset="0"/>
                                    </a:rPr>
                                  </m:ctrlPr>
                                </m:fPr>
                                <m:num>
                                  <m:sSub>
                                    <m:sSubPr>
                                      <m:ctrlPr>
                                        <a:rPr lang="en-US" b="0" i="1" smtClean="0">
                                          <a:latin typeface="Cambria Math" panose="02040503050406030204" pitchFamily="18" charset="0"/>
                                        </a:rPr>
                                      </m:ctrlPr>
                                    </m:sSubPr>
                                    <m:e>
                                      <m:r>
                                        <a:rPr lang="en-US" b="0" i="1" smtClean="0">
                                          <a:latin typeface="Cambria Math" panose="02040503050406030204" pitchFamily="18" charset="0"/>
                                        </a:rPr>
                                        <m:t>𝑆</m:t>
                                      </m:r>
                                    </m:e>
                                    <m:sub>
                                      <m:r>
                                        <a:rPr lang="en-US" b="0" i="1" smtClean="0">
                                          <a:latin typeface="Cambria Math" panose="02040503050406030204" pitchFamily="18" charset="0"/>
                                        </a:rPr>
                                        <m:t>𝑡</m:t>
                                      </m:r>
                                    </m:sub>
                                  </m:sSub>
                                </m:num>
                                <m:den>
                                  <m:r>
                                    <a:rPr lang="en-US" b="0" i="1" smtClean="0">
                                      <a:latin typeface="Cambria Math" panose="02040503050406030204" pitchFamily="18" charset="0"/>
                                    </a:rPr>
                                    <m:t>𝐾</m:t>
                                  </m:r>
                                </m:den>
                              </m:f>
                            </m:e>
                          </m:d>
                        </m:num>
                        <m:den>
                          <m:r>
                            <a:rPr lang="en-US" b="0" i="1" smtClean="0">
                              <a:latin typeface="Cambria Math" panose="02040503050406030204" pitchFamily="18" charset="0"/>
                            </a:rPr>
                            <m:t>𝛼</m:t>
                          </m:r>
                        </m:den>
                      </m:f>
                    </m:oMath>
                  </m:oMathPara>
                </a14:m>
                <a:endParaRPr lang="en-US" b="0" dirty="0"/>
              </a:p>
              <a:p>
                <a:pPr marL="0" indent="0">
                  <a:buNone/>
                </a:pPr>
                <a:endParaRPr lang="en-US" dirty="0"/>
              </a:p>
              <a:p>
                <a:pPr marL="0" indent="0">
                  <a:buNone/>
                </a:pPr>
                <a:r>
                  <a:rPr lang="en-US" u="sng" dirty="0"/>
                  <a:t>… Gives us the sustainable amount of </a:t>
                </a:r>
                <a:r>
                  <a:rPr lang="en-US" i="1" u="sng" dirty="0"/>
                  <a:t>effort</a:t>
                </a:r>
                <a:endParaRPr lang="en-US" u="sng" dirty="0"/>
              </a:p>
            </p:txBody>
          </p:sp>
        </mc:Choice>
        <mc:Fallback xmlns="">
          <p:sp>
            <p:nvSpPr>
              <p:cNvPr id="3" name="Content Placeholder 2">
                <a:extLst>
                  <a:ext uri="{FF2B5EF4-FFF2-40B4-BE49-F238E27FC236}">
                    <a16:creationId xmlns:a16="http://schemas.microsoft.com/office/drawing/2014/main" id="{57954A01-0845-5D5D-63BF-4E59DB73FDEB}"/>
                  </a:ext>
                </a:extLst>
              </p:cNvPr>
              <p:cNvSpPr>
                <a:spLocks noGrp="1" noRot="1" noChangeAspect="1" noMove="1" noResize="1" noEditPoints="1" noAdjustHandles="1" noChangeArrowheads="1" noChangeShapeType="1" noTextEdit="1"/>
              </p:cNvSpPr>
              <p:nvPr>
                <p:ph idx="1"/>
              </p:nvPr>
            </p:nvSpPr>
            <p:spPr>
              <a:blipFill>
                <a:blip r:embed="rId2"/>
                <a:stretch>
                  <a:fillRect l="-1086" t="-3488" b="-1744"/>
                </a:stretch>
              </a:blipFill>
            </p:spPr>
            <p:txBody>
              <a:bodyPr/>
              <a:lstStyle/>
              <a:p>
                <a:r>
                  <a:rPr lang="en-US">
                    <a:noFill/>
                  </a:rPr>
                  <a:t> </a:t>
                </a:r>
              </a:p>
            </p:txBody>
          </p:sp>
        </mc:Fallback>
      </mc:AlternateContent>
    </p:spTree>
    <p:extLst>
      <p:ext uri="{BB962C8B-B14F-4D97-AF65-F5344CB8AC3E}">
        <p14:creationId xmlns:p14="http://schemas.microsoft.com/office/powerpoint/2010/main" val="102662025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34749F-48B5-6F9F-73BC-E6834167F51E}"/>
              </a:ext>
            </a:extLst>
          </p:cNvPr>
          <p:cNvSpPr>
            <a:spLocks noGrp="1"/>
          </p:cNvSpPr>
          <p:nvPr>
            <p:ph type="title"/>
          </p:nvPr>
        </p:nvSpPr>
        <p:spPr>
          <a:xfrm>
            <a:off x="0" y="38541"/>
            <a:ext cx="10515600" cy="1325563"/>
          </a:xfrm>
        </p:spPr>
        <p:txBody>
          <a:bodyPr/>
          <a:lstStyle/>
          <a:p>
            <a:r>
              <a:rPr lang="en-US" dirty="0"/>
              <a:t>Let’s bring money into this..</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82C800EE-3DB5-8686-9B3B-C909C8D355A3}"/>
                  </a:ext>
                </a:extLst>
              </p:cNvPr>
              <p:cNvSpPr>
                <a:spLocks noGrp="1"/>
              </p:cNvSpPr>
              <p:nvPr>
                <p:ph idx="1"/>
              </p:nvPr>
            </p:nvSpPr>
            <p:spPr>
              <a:xfrm>
                <a:off x="494675" y="1364104"/>
                <a:ext cx="11092722" cy="5246557"/>
              </a:xfrm>
            </p:spPr>
            <p:txBody>
              <a:bodyPr>
                <a:normAutofit fontScale="85000" lnSpcReduction="20000"/>
              </a:bodyPr>
              <a:lstStyle/>
              <a:p>
                <a:pPr marL="0" indent="0">
                  <a:buNone/>
                </a:pPr>
                <a:r>
                  <a:rPr lang="en-US" dirty="0"/>
                  <a:t>Add new parameter for each extracted, </a:t>
                </a:r>
                <a14:m>
                  <m:oMath xmlns:m="http://schemas.openxmlformats.org/officeDocument/2006/math">
                    <m:r>
                      <a:rPr lang="en-US" b="0" i="1" smtClean="0">
                        <a:latin typeface="Cambria Math" panose="02040503050406030204" pitchFamily="18" charset="0"/>
                      </a:rPr>
                      <m:t>𝑝</m:t>
                    </m:r>
                  </m:oMath>
                </a14:m>
                <a:r>
                  <a:rPr lang="en-US" dirty="0"/>
                  <a:t>; total revenue becomes:</a:t>
                </a:r>
              </a:p>
              <a:p>
                <a:pPr marL="0"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𝑇</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𝑅</m:t>
                          </m:r>
                        </m:e>
                        <m:sub>
                          <m:r>
                            <a:rPr lang="en-US" b="0" i="1" smtClean="0">
                              <a:latin typeface="Cambria Math" panose="02040503050406030204" pitchFamily="18" charset="0"/>
                            </a:rPr>
                            <m:t>𝑡</m:t>
                          </m:r>
                        </m:sub>
                      </m:sSub>
                      <m:r>
                        <a:rPr lang="en-US" b="0" i="1" smtClean="0">
                          <a:latin typeface="Cambria Math" panose="02040503050406030204" pitchFamily="18" charset="0"/>
                        </a:rPr>
                        <m:t>=</m:t>
                      </m:r>
                      <m:r>
                        <a:rPr lang="en-US" b="0" i="1" smtClean="0">
                          <a:latin typeface="Cambria Math" panose="02040503050406030204" pitchFamily="18" charset="0"/>
                        </a:rPr>
                        <m:t>𝑝</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𝐻</m:t>
                          </m:r>
                        </m:e>
                        <m:sub>
                          <m:r>
                            <a:rPr lang="en-US" b="0" i="1" smtClean="0">
                              <a:latin typeface="Cambria Math" panose="02040503050406030204" pitchFamily="18" charset="0"/>
                            </a:rPr>
                            <m:t>𝑡</m:t>
                          </m:r>
                        </m:sub>
                      </m:sSub>
                    </m:oMath>
                  </m:oMathPara>
                </a14:m>
                <a:endParaRPr lang="en-US" dirty="0"/>
              </a:p>
              <a:p>
                <a:pPr marL="0" indent="0">
                  <a:buNone/>
                </a:pPr>
                <a:endParaRPr lang="en-US" dirty="0"/>
              </a:p>
              <a:p>
                <a:pPr marL="0" indent="0">
                  <a:buNone/>
                </a:pPr>
                <a:r>
                  <a:rPr lang="en-US" dirty="0"/>
                  <a:t>Now, each effort we put in costs us </a:t>
                </a:r>
                <a14:m>
                  <m:oMath xmlns:m="http://schemas.openxmlformats.org/officeDocument/2006/math">
                    <m:r>
                      <a:rPr lang="en-US" b="0" i="1" smtClean="0">
                        <a:latin typeface="Cambria Math" panose="02040503050406030204" pitchFamily="18" charset="0"/>
                      </a:rPr>
                      <m:t>𝑐</m:t>
                    </m:r>
                  </m:oMath>
                </a14:m>
                <a:r>
                  <a:rPr lang="en-US" dirty="0"/>
                  <a:t>, so total cost can be:</a:t>
                </a:r>
              </a:p>
              <a:p>
                <a:pPr marL="0"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𝑇</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𝐶</m:t>
                          </m:r>
                        </m:e>
                        <m:sub>
                          <m:r>
                            <a:rPr lang="en-US" b="0" i="1" smtClean="0">
                              <a:latin typeface="Cambria Math" panose="02040503050406030204" pitchFamily="18" charset="0"/>
                            </a:rPr>
                            <m:t>𝑡</m:t>
                          </m:r>
                        </m:sub>
                      </m:sSub>
                      <m:r>
                        <a:rPr lang="en-US" b="0" i="1" smtClean="0">
                          <a:latin typeface="Cambria Math" panose="02040503050406030204" pitchFamily="18" charset="0"/>
                        </a:rPr>
                        <m:t>=</m:t>
                      </m:r>
                      <m:r>
                        <a:rPr lang="en-US" b="0" i="1" smtClean="0">
                          <a:latin typeface="Cambria Math" panose="02040503050406030204" pitchFamily="18" charset="0"/>
                        </a:rPr>
                        <m:t>𝑐</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𝐸</m:t>
                          </m:r>
                        </m:e>
                        <m:sub>
                          <m:r>
                            <a:rPr lang="en-US" b="0" i="1" smtClean="0">
                              <a:latin typeface="Cambria Math" panose="02040503050406030204" pitchFamily="18" charset="0"/>
                            </a:rPr>
                            <m:t>𝑡</m:t>
                          </m:r>
                        </m:sub>
                      </m:sSub>
                    </m:oMath>
                  </m:oMathPara>
                </a14:m>
                <a:endParaRPr lang="en-US" dirty="0"/>
              </a:p>
              <a:p>
                <a:pPr marL="0" indent="0">
                  <a:buNone/>
                </a:pPr>
                <a:endParaRPr lang="en-US" dirty="0"/>
              </a:p>
              <a:p>
                <a:pPr marL="0" indent="0">
                  <a:buNone/>
                </a:pPr>
                <a:r>
                  <a:rPr lang="en-US" dirty="0"/>
                  <a:t>When there are no restrictions, everyone piles in and no profits are made, that is:</a:t>
                </a:r>
              </a:p>
              <a:p>
                <a:pPr marL="0"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𝑇</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𝑅</m:t>
                          </m:r>
                        </m:e>
                        <m:sub>
                          <m:r>
                            <a:rPr lang="en-US" b="0" i="1" smtClean="0">
                              <a:latin typeface="Cambria Math" panose="02040503050406030204" pitchFamily="18" charset="0"/>
                            </a:rPr>
                            <m:t>𝑡</m:t>
                          </m:r>
                        </m:sub>
                      </m:sSub>
                      <m:r>
                        <a:rPr lang="en-US" b="0" i="1" smtClean="0">
                          <a:latin typeface="Cambria Math" panose="02040503050406030204" pitchFamily="18" charset="0"/>
                        </a:rPr>
                        <m:t>=</m:t>
                      </m:r>
                      <m:r>
                        <a:rPr lang="en-US" b="0" i="1" smtClean="0">
                          <a:latin typeface="Cambria Math" panose="02040503050406030204" pitchFamily="18" charset="0"/>
                        </a:rPr>
                        <m:t>𝑇</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𝐶</m:t>
                          </m:r>
                        </m:e>
                        <m:sub>
                          <m:r>
                            <a:rPr lang="en-US" b="0" i="1" smtClean="0">
                              <a:latin typeface="Cambria Math" panose="02040503050406030204" pitchFamily="18" charset="0"/>
                            </a:rPr>
                            <m:t>𝑡</m:t>
                          </m:r>
                        </m:sub>
                      </m:sSub>
                      <m:r>
                        <a:rPr lang="en-US" b="0" i="1" smtClean="0">
                          <a:latin typeface="Cambria Math" panose="02040503050406030204" pitchFamily="18" charset="0"/>
                        </a:rPr>
                        <m:t>→</m:t>
                      </m:r>
                      <m:r>
                        <a:rPr lang="en-US" b="0" i="1" smtClean="0">
                          <a:latin typeface="Cambria Math" panose="02040503050406030204" pitchFamily="18" charset="0"/>
                        </a:rPr>
                        <m:t>𝑝</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𝐻</m:t>
                          </m:r>
                        </m:e>
                        <m:sub>
                          <m:r>
                            <a:rPr lang="en-US" b="0" i="1" smtClean="0">
                              <a:latin typeface="Cambria Math" panose="02040503050406030204" pitchFamily="18" charset="0"/>
                            </a:rPr>
                            <m:t>𝑡</m:t>
                          </m:r>
                        </m:sub>
                      </m:sSub>
                      <m:r>
                        <a:rPr lang="en-US" b="0" i="1" smtClean="0">
                          <a:latin typeface="Cambria Math" panose="02040503050406030204" pitchFamily="18" charset="0"/>
                        </a:rPr>
                        <m:t>=</m:t>
                      </m:r>
                      <m:r>
                        <a:rPr lang="en-US" b="0" i="1" smtClean="0">
                          <a:latin typeface="Cambria Math" panose="02040503050406030204" pitchFamily="18" charset="0"/>
                        </a:rPr>
                        <m:t>𝑐</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𝐸</m:t>
                          </m:r>
                        </m:e>
                        <m:sub>
                          <m:r>
                            <a:rPr lang="en-US" b="0" i="1" smtClean="0">
                              <a:latin typeface="Cambria Math" panose="02040503050406030204" pitchFamily="18" charset="0"/>
                            </a:rPr>
                            <m:t>𝑡</m:t>
                          </m:r>
                        </m:sub>
                      </m:sSub>
                    </m:oMath>
                  </m:oMathPara>
                </a14:m>
                <a:endParaRPr lang="en-US" dirty="0"/>
              </a:p>
              <a:p>
                <a:pPr marL="0" indent="0">
                  <a:buNone/>
                </a:pPr>
                <a:endParaRPr lang="en-US" dirty="0"/>
              </a:p>
              <a:p>
                <a:pPr marL="0"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𝑝</m:t>
                      </m:r>
                      <m:r>
                        <a:rPr lang="en-US" b="0" i="1" smtClean="0">
                          <a:latin typeface="Cambria Math" panose="02040503050406030204" pitchFamily="18" charset="0"/>
                        </a:rPr>
                        <m:t>𝛼</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𝑆</m:t>
                          </m:r>
                        </m:e>
                        <m:sub>
                          <m:r>
                            <a:rPr lang="en-US" b="0" i="1" smtClean="0">
                              <a:latin typeface="Cambria Math" panose="02040503050406030204" pitchFamily="18" charset="0"/>
                            </a:rPr>
                            <m:t>𝑡</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𝐸</m:t>
                          </m:r>
                        </m:e>
                        <m:sub>
                          <m:r>
                            <a:rPr lang="en-US" b="0" i="1" smtClean="0">
                              <a:latin typeface="Cambria Math" panose="02040503050406030204" pitchFamily="18" charset="0"/>
                            </a:rPr>
                            <m:t>𝑡</m:t>
                          </m:r>
                        </m:sub>
                      </m:sSub>
                      <m:r>
                        <a:rPr lang="en-US" b="0" i="1" smtClean="0">
                          <a:latin typeface="Cambria Math" panose="02040503050406030204" pitchFamily="18" charset="0"/>
                        </a:rPr>
                        <m:t>=</m:t>
                      </m:r>
                      <m:r>
                        <a:rPr lang="en-US" b="0" i="1" smtClean="0">
                          <a:latin typeface="Cambria Math" panose="02040503050406030204" pitchFamily="18" charset="0"/>
                        </a:rPr>
                        <m:t>𝑐</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𝐸</m:t>
                          </m:r>
                        </m:e>
                        <m:sub>
                          <m:r>
                            <a:rPr lang="en-US" b="0" i="1" smtClean="0">
                              <a:latin typeface="Cambria Math" panose="02040503050406030204" pitchFamily="18" charset="0"/>
                            </a:rPr>
                            <m:t>𝑡</m:t>
                          </m:r>
                        </m:sub>
                      </m:sSub>
                    </m:oMath>
                  </m:oMathPara>
                </a14:m>
                <a:endParaRPr lang="en-US" dirty="0"/>
              </a:p>
              <a:p>
                <a:pPr marL="0" indent="0">
                  <a:buNone/>
                </a:pPr>
                <a:endParaRPr lang="en-US" dirty="0"/>
              </a:p>
              <a:p>
                <a:pPr marL="0" indent="0">
                  <a:buNone/>
                </a:pPr>
                <a:r>
                  <a:rPr lang="en-US" dirty="0"/>
                  <a:t>Means we can find the open access equilibrium level of stock:</a:t>
                </a:r>
              </a:p>
              <a:p>
                <a:pPr marL="0" indent="0">
                  <a:buNone/>
                </a:pPr>
                <a14:m>
                  <m:oMathPara xmlns:m="http://schemas.openxmlformats.org/officeDocument/2006/math">
                    <m:oMathParaPr>
                      <m:jc m:val="centerGroup"/>
                    </m:oMathParaPr>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panose="02040503050406030204" pitchFamily="18" charset="0"/>
                            </a:rPr>
                            <m:t>𝑆</m:t>
                          </m:r>
                        </m:e>
                        <m:sup>
                          <m:r>
                            <a:rPr lang="en-US" b="0" i="1" smtClean="0">
                              <a:latin typeface="Cambria Math" panose="02040503050406030204" pitchFamily="18" charset="0"/>
                            </a:rPr>
                            <m:t>𝑂𝐴</m:t>
                          </m:r>
                        </m:sup>
                      </m:sSup>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𝑐</m:t>
                          </m:r>
                        </m:num>
                        <m:den>
                          <m:r>
                            <a:rPr lang="en-US" b="0" i="1" smtClean="0">
                              <a:latin typeface="Cambria Math" panose="02040503050406030204" pitchFamily="18" charset="0"/>
                            </a:rPr>
                            <m:t>𝑝</m:t>
                          </m:r>
                          <m:r>
                            <a:rPr lang="en-US" b="0" i="1" smtClean="0">
                              <a:latin typeface="Cambria Math" panose="02040503050406030204" pitchFamily="18" charset="0"/>
                            </a:rPr>
                            <m:t>𝛼</m:t>
                          </m:r>
                        </m:den>
                      </m:f>
                    </m:oMath>
                  </m:oMathPara>
                </a14:m>
                <a:endParaRPr lang="en-US" dirty="0"/>
              </a:p>
            </p:txBody>
          </p:sp>
        </mc:Choice>
        <mc:Fallback>
          <p:sp>
            <p:nvSpPr>
              <p:cNvPr id="3" name="Content Placeholder 2">
                <a:extLst>
                  <a:ext uri="{FF2B5EF4-FFF2-40B4-BE49-F238E27FC236}">
                    <a16:creationId xmlns:a16="http://schemas.microsoft.com/office/drawing/2014/main" id="{82C800EE-3DB5-8686-9B3B-C909C8D355A3}"/>
                  </a:ext>
                </a:extLst>
              </p:cNvPr>
              <p:cNvSpPr>
                <a:spLocks noGrp="1" noRot="1" noChangeAspect="1" noMove="1" noResize="1" noEditPoints="1" noAdjustHandles="1" noChangeArrowheads="1" noChangeShapeType="1" noTextEdit="1"/>
              </p:cNvSpPr>
              <p:nvPr>
                <p:ph idx="1"/>
              </p:nvPr>
            </p:nvSpPr>
            <p:spPr>
              <a:xfrm>
                <a:off x="494675" y="1364104"/>
                <a:ext cx="11092722" cy="5246557"/>
              </a:xfrm>
              <a:blipFill>
                <a:blip r:embed="rId2"/>
                <a:stretch>
                  <a:fillRect l="-800" t="-2657"/>
                </a:stretch>
              </a:blipFill>
            </p:spPr>
            <p:txBody>
              <a:bodyPr/>
              <a:lstStyle/>
              <a:p>
                <a:r>
                  <a:rPr lang="en-US">
                    <a:noFill/>
                  </a:rPr>
                  <a:t> </a:t>
                </a:r>
              </a:p>
            </p:txBody>
          </p:sp>
        </mc:Fallback>
      </mc:AlternateContent>
    </p:spTree>
    <p:extLst>
      <p:ext uri="{BB962C8B-B14F-4D97-AF65-F5344CB8AC3E}">
        <p14:creationId xmlns:p14="http://schemas.microsoft.com/office/powerpoint/2010/main" val="366139290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132CBD-D80D-8433-730E-8163DE8D6C17}"/>
              </a:ext>
            </a:extLst>
          </p:cNvPr>
          <p:cNvSpPr>
            <a:spLocks noGrp="1"/>
          </p:cNvSpPr>
          <p:nvPr>
            <p:ph type="title"/>
          </p:nvPr>
        </p:nvSpPr>
        <p:spPr/>
        <p:txBody>
          <a:bodyPr/>
          <a:lstStyle/>
          <a:p>
            <a:r>
              <a:rPr lang="en-US" dirty="0"/>
              <a:t>Evaluating OA level of effort</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01E44159-88A0-6816-9A4A-5093430C7D16}"/>
                  </a:ext>
                </a:extLst>
              </p:cNvPr>
              <p:cNvSpPr>
                <a:spLocks noGrp="1"/>
              </p:cNvSpPr>
              <p:nvPr>
                <p:ph idx="1"/>
              </p:nvPr>
            </p:nvSpPr>
            <p:spPr/>
            <p:txBody>
              <a:bodyPr/>
              <a:lstStyle/>
              <a:p>
                <a:r>
                  <a:rPr lang="en-US" dirty="0"/>
                  <a:t>Recall</a:t>
                </a:r>
              </a:p>
              <a:p>
                <a:pPr marL="0" indent="0">
                  <a:buNone/>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𝐸</m:t>
                          </m:r>
                        </m:e>
                        <m:sub>
                          <m:r>
                            <a:rPr lang="en-US" b="0" i="1" smtClean="0">
                              <a:latin typeface="Cambria Math" panose="02040503050406030204" pitchFamily="18" charset="0"/>
                            </a:rPr>
                            <m:t>𝑡</m:t>
                          </m:r>
                        </m:sub>
                      </m:sSub>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𝑟</m:t>
                          </m:r>
                          <m:d>
                            <m:dPr>
                              <m:ctrlPr>
                                <a:rPr lang="en-US" b="0" i="1" smtClean="0">
                                  <a:latin typeface="Cambria Math" panose="02040503050406030204" pitchFamily="18" charset="0"/>
                                </a:rPr>
                              </m:ctrlPr>
                            </m:dPr>
                            <m:e>
                              <m:r>
                                <a:rPr lang="en-US" b="0" i="1" smtClean="0">
                                  <a:latin typeface="Cambria Math" panose="02040503050406030204" pitchFamily="18" charset="0"/>
                                </a:rPr>
                                <m:t>1−</m:t>
                              </m:r>
                              <m:f>
                                <m:fPr>
                                  <m:ctrlPr>
                                    <a:rPr lang="en-US" b="0" i="1" smtClean="0">
                                      <a:latin typeface="Cambria Math" panose="02040503050406030204" pitchFamily="18" charset="0"/>
                                    </a:rPr>
                                  </m:ctrlPr>
                                </m:fPr>
                                <m:num>
                                  <m:sSub>
                                    <m:sSubPr>
                                      <m:ctrlPr>
                                        <a:rPr lang="en-US" b="0" i="1" smtClean="0">
                                          <a:latin typeface="Cambria Math" panose="02040503050406030204" pitchFamily="18" charset="0"/>
                                        </a:rPr>
                                      </m:ctrlPr>
                                    </m:sSubPr>
                                    <m:e>
                                      <m:r>
                                        <a:rPr lang="en-US" b="0" i="1" smtClean="0">
                                          <a:latin typeface="Cambria Math" panose="02040503050406030204" pitchFamily="18" charset="0"/>
                                        </a:rPr>
                                        <m:t>𝑆</m:t>
                                      </m:r>
                                    </m:e>
                                    <m:sub>
                                      <m:r>
                                        <a:rPr lang="en-US" b="0" i="1" smtClean="0">
                                          <a:latin typeface="Cambria Math" panose="02040503050406030204" pitchFamily="18" charset="0"/>
                                        </a:rPr>
                                        <m:t>𝑡</m:t>
                                      </m:r>
                                    </m:sub>
                                  </m:sSub>
                                </m:num>
                                <m:den>
                                  <m:r>
                                    <a:rPr lang="en-US" b="0" i="1" smtClean="0">
                                      <a:latin typeface="Cambria Math" panose="02040503050406030204" pitchFamily="18" charset="0"/>
                                    </a:rPr>
                                    <m:t>𝐾</m:t>
                                  </m:r>
                                </m:den>
                              </m:f>
                            </m:e>
                          </m:d>
                        </m:num>
                        <m:den>
                          <m:r>
                            <a:rPr lang="en-US" b="0" i="1" smtClean="0">
                              <a:latin typeface="Cambria Math" panose="02040503050406030204" pitchFamily="18" charset="0"/>
                            </a:rPr>
                            <m:t>𝛼</m:t>
                          </m:r>
                        </m:den>
                      </m:f>
                    </m:oMath>
                  </m:oMathPara>
                </a14:m>
                <a:endParaRPr lang="en-US" dirty="0"/>
              </a:p>
              <a:p>
                <a:pPr marL="0" indent="0">
                  <a:buNone/>
                </a:pPr>
                <a:endParaRPr lang="en-US" dirty="0"/>
              </a:p>
              <a:p>
                <a:pPr marL="0" indent="0">
                  <a:buNone/>
                </a:pPr>
                <a:r>
                  <a:rPr lang="en-US" dirty="0"/>
                  <a:t>Replacing </a:t>
                </a:r>
                <a14:m>
                  <m:oMath xmlns:m="http://schemas.openxmlformats.org/officeDocument/2006/math">
                    <m:sSub>
                      <m:sSubPr>
                        <m:ctrlPr>
                          <a:rPr lang="en-US" b="0" i="1" dirty="0" smtClean="0">
                            <a:latin typeface="Cambria Math" panose="02040503050406030204" pitchFamily="18" charset="0"/>
                          </a:rPr>
                        </m:ctrlPr>
                      </m:sSubPr>
                      <m:e>
                        <m:r>
                          <a:rPr lang="en-US" b="0" i="1" dirty="0" smtClean="0">
                            <a:latin typeface="Cambria Math" panose="02040503050406030204" pitchFamily="18" charset="0"/>
                          </a:rPr>
                          <m:t>𝑆</m:t>
                        </m:r>
                      </m:e>
                      <m:sub>
                        <m:r>
                          <a:rPr lang="en-US" b="0" i="1" dirty="0" smtClean="0">
                            <a:latin typeface="Cambria Math" panose="02040503050406030204" pitchFamily="18" charset="0"/>
                          </a:rPr>
                          <m:t>𝑡</m:t>
                        </m:r>
                      </m:sub>
                    </m:sSub>
                  </m:oMath>
                </a14:m>
                <a:r>
                  <a:rPr lang="en-US" dirty="0"/>
                  <a:t> with </a:t>
                </a:r>
                <a14:m>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panose="02040503050406030204" pitchFamily="18" charset="0"/>
                          </a:rPr>
                          <m:t>𝑆</m:t>
                        </m:r>
                      </m:e>
                      <m:sup>
                        <m:r>
                          <a:rPr lang="en-US" b="0" i="1" smtClean="0">
                            <a:latin typeface="Cambria Math" panose="02040503050406030204" pitchFamily="18" charset="0"/>
                          </a:rPr>
                          <m:t>𝑂𝐴</m:t>
                        </m:r>
                      </m:sup>
                    </m:sSup>
                  </m:oMath>
                </a14:m>
                <a:r>
                  <a:rPr lang="en-US" dirty="0"/>
                  <a:t>.. </a:t>
                </a:r>
              </a:p>
              <a:p>
                <a:pPr marL="0" indent="0">
                  <a:buNone/>
                </a:pPr>
                <a14:m>
                  <m:oMathPara xmlns:m="http://schemas.openxmlformats.org/officeDocument/2006/math">
                    <m:oMathParaPr>
                      <m:jc m:val="centerGroup"/>
                    </m:oMathParaPr>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𝐸</m:t>
                          </m:r>
                        </m:e>
                        <m:sub>
                          <m:r>
                            <a:rPr lang="en-US" i="1">
                              <a:latin typeface="Cambria Math" panose="02040503050406030204" pitchFamily="18" charset="0"/>
                            </a:rPr>
                            <m:t>𝑡</m:t>
                          </m:r>
                        </m:sub>
                      </m:sSub>
                      <m:r>
                        <a:rPr lang="en-US" i="1">
                          <a:latin typeface="Cambria Math" panose="02040503050406030204" pitchFamily="18" charset="0"/>
                        </a:rPr>
                        <m:t>=</m:t>
                      </m:r>
                      <m:f>
                        <m:fPr>
                          <m:ctrlPr>
                            <a:rPr lang="en-US" i="1">
                              <a:latin typeface="Cambria Math" panose="02040503050406030204" pitchFamily="18" charset="0"/>
                            </a:rPr>
                          </m:ctrlPr>
                        </m:fPr>
                        <m:num>
                          <m:r>
                            <a:rPr lang="en-US" i="1">
                              <a:latin typeface="Cambria Math" panose="02040503050406030204" pitchFamily="18" charset="0"/>
                            </a:rPr>
                            <m:t>𝑟</m:t>
                          </m:r>
                          <m:d>
                            <m:dPr>
                              <m:ctrlPr>
                                <a:rPr lang="en-US" i="1">
                                  <a:latin typeface="Cambria Math" panose="02040503050406030204" pitchFamily="18" charset="0"/>
                                </a:rPr>
                              </m:ctrlPr>
                            </m:dPr>
                            <m:e>
                              <m:r>
                                <a:rPr lang="en-US" i="1">
                                  <a:latin typeface="Cambria Math" panose="02040503050406030204" pitchFamily="18" charset="0"/>
                                </a:rPr>
                                <m:t>1−</m:t>
                              </m:r>
                              <m:f>
                                <m:fPr>
                                  <m:ctrlPr>
                                    <a:rPr lang="en-US" i="1">
                                      <a:latin typeface="Cambria Math" panose="02040503050406030204" pitchFamily="18" charset="0"/>
                                    </a:rPr>
                                  </m:ctrlPr>
                                </m:fPr>
                                <m:num>
                                  <m:sSup>
                                    <m:sSupPr>
                                      <m:ctrlPr>
                                        <a:rPr lang="en-US" b="0" i="1" smtClean="0">
                                          <a:latin typeface="Cambria Math" panose="02040503050406030204" pitchFamily="18" charset="0"/>
                                        </a:rPr>
                                      </m:ctrlPr>
                                    </m:sSupPr>
                                    <m:e>
                                      <m:r>
                                        <a:rPr lang="en-US" b="0" i="1" smtClean="0">
                                          <a:latin typeface="Cambria Math" panose="02040503050406030204" pitchFamily="18" charset="0"/>
                                        </a:rPr>
                                        <m:t>𝑆</m:t>
                                      </m:r>
                                    </m:e>
                                    <m:sup>
                                      <m:r>
                                        <a:rPr lang="en-US" b="0" i="1" smtClean="0">
                                          <a:latin typeface="Cambria Math" panose="02040503050406030204" pitchFamily="18" charset="0"/>
                                        </a:rPr>
                                        <m:t>𝑂𝐴</m:t>
                                      </m:r>
                                    </m:sup>
                                  </m:sSup>
                                </m:num>
                                <m:den>
                                  <m:r>
                                    <a:rPr lang="en-US" i="1">
                                      <a:latin typeface="Cambria Math" panose="02040503050406030204" pitchFamily="18" charset="0"/>
                                    </a:rPr>
                                    <m:t>𝐾</m:t>
                                  </m:r>
                                </m:den>
                              </m:f>
                            </m:e>
                          </m:d>
                        </m:num>
                        <m:den>
                          <m:r>
                            <a:rPr lang="en-US" i="1">
                              <a:latin typeface="Cambria Math" panose="02040503050406030204" pitchFamily="18" charset="0"/>
                            </a:rPr>
                            <m:t>𝛼</m:t>
                          </m:r>
                        </m:den>
                      </m:f>
                    </m:oMath>
                  </m:oMathPara>
                </a14:m>
                <a:endParaRPr lang="en-US" dirty="0"/>
              </a:p>
              <a:p>
                <a:pPr marL="0" indent="0">
                  <a:buNone/>
                </a:pPr>
                <a:endParaRPr lang="en-US" dirty="0"/>
              </a:p>
            </p:txBody>
          </p:sp>
        </mc:Choice>
        <mc:Fallback>
          <p:sp>
            <p:nvSpPr>
              <p:cNvPr id="3" name="Content Placeholder 2">
                <a:extLst>
                  <a:ext uri="{FF2B5EF4-FFF2-40B4-BE49-F238E27FC236}">
                    <a16:creationId xmlns:a16="http://schemas.microsoft.com/office/drawing/2014/main" id="{01E44159-88A0-6816-9A4A-5093430C7D16}"/>
                  </a:ext>
                </a:extLst>
              </p:cNvPr>
              <p:cNvSpPr>
                <a:spLocks noGrp="1" noRot="1" noChangeAspect="1" noMove="1" noResize="1" noEditPoints="1" noAdjustHandles="1" noChangeArrowheads="1" noChangeShapeType="1" noTextEdit="1"/>
              </p:cNvSpPr>
              <p:nvPr>
                <p:ph idx="1"/>
              </p:nvPr>
            </p:nvSpPr>
            <p:spPr>
              <a:blipFill>
                <a:blip r:embed="rId2"/>
                <a:stretch>
                  <a:fillRect l="-1206" t="-2326"/>
                </a:stretch>
              </a:blipFill>
            </p:spPr>
            <p:txBody>
              <a:bodyPr/>
              <a:lstStyle/>
              <a:p>
                <a:r>
                  <a:rPr lang="en-US">
                    <a:noFill/>
                  </a:rPr>
                  <a:t> </a:t>
                </a:r>
              </a:p>
            </p:txBody>
          </p:sp>
        </mc:Fallback>
      </mc:AlternateContent>
    </p:spTree>
    <p:extLst>
      <p:ext uri="{BB962C8B-B14F-4D97-AF65-F5344CB8AC3E}">
        <p14:creationId xmlns:p14="http://schemas.microsoft.com/office/powerpoint/2010/main" val="4239549083"/>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DB029F2E-802F-5B8E-4F94-7D31D40CE1AA}"/>
                  </a:ext>
                </a:extLst>
              </p:cNvPr>
              <p:cNvSpPr>
                <a:spLocks noGrp="1"/>
              </p:cNvSpPr>
              <p:nvPr>
                <p:ph type="title"/>
              </p:nvPr>
            </p:nvSpPr>
            <p:spPr/>
            <p:txBody>
              <a:bodyPr/>
              <a:lstStyle/>
              <a:p>
                <a:r>
                  <a:rPr lang="en-US" dirty="0"/>
                  <a:t>But we care about profit… that </a:t>
                </a:r>
                <a14:m>
                  <m:oMath xmlns:m="http://schemas.openxmlformats.org/officeDocument/2006/math">
                    <m:r>
                      <a:rPr lang="en-US" b="0" i="1" smtClean="0">
                        <a:latin typeface="Cambria Math" panose="02040503050406030204" pitchFamily="18" charset="0"/>
                      </a:rPr>
                      <m:t>𝜋</m:t>
                    </m:r>
                  </m:oMath>
                </a14:m>
                <a:r>
                  <a:rPr lang="en-US" dirty="0"/>
                  <a:t> in the sky</a:t>
                </a:r>
              </a:p>
            </p:txBody>
          </p:sp>
        </mc:Choice>
        <mc:Fallback xmlns="">
          <p:sp>
            <p:nvSpPr>
              <p:cNvPr id="2" name="Title 1">
                <a:extLst>
                  <a:ext uri="{FF2B5EF4-FFF2-40B4-BE49-F238E27FC236}">
                    <a16:creationId xmlns:a16="http://schemas.microsoft.com/office/drawing/2014/main" id="{DB029F2E-802F-5B8E-4F94-7D31D40CE1AA}"/>
                  </a:ext>
                </a:extLst>
              </p:cNvPr>
              <p:cNvSpPr>
                <a:spLocks noGrp="1" noRot="1" noChangeAspect="1" noMove="1" noResize="1" noEditPoints="1" noAdjustHandles="1" noChangeArrowheads="1" noChangeShapeType="1" noTextEdit="1"/>
              </p:cNvSpPr>
              <p:nvPr>
                <p:ph type="title"/>
              </p:nvPr>
            </p:nvSpPr>
            <p:spPr>
              <a:blipFill>
                <a:blip r:embed="rId2"/>
                <a:stretch>
                  <a:fillRect l="-241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BAFE80BE-7611-DF48-9A4C-4DCA55332672}"/>
                  </a:ext>
                </a:extLst>
              </p:cNvPr>
              <p:cNvSpPr>
                <a:spLocks noGrp="1"/>
              </p:cNvSpPr>
              <p:nvPr>
                <p:ph idx="1"/>
              </p:nvPr>
            </p:nvSpPr>
            <p:spPr/>
            <p:txBody>
              <a:bodyPr>
                <a:normAutofit fontScale="92500" lnSpcReduction="10000"/>
              </a:bodyPr>
              <a:lstStyle/>
              <a:p>
                <a:pPr marL="0" indent="0">
                  <a:buNone/>
                </a:pPr>
                <a:r>
                  <a:rPr lang="en-US" dirty="0"/>
                  <a:t>Profit is just revenue minus cost:</a:t>
                </a:r>
              </a:p>
              <a:p>
                <a:pPr marL="0" indent="0">
                  <a:buNone/>
                </a:pPr>
                <a14:m>
                  <m:oMathPara xmlns:m="http://schemas.openxmlformats.org/officeDocument/2006/math">
                    <m:oMathParaPr>
                      <m:jc m:val="centerGroup"/>
                    </m:oMathParaPr>
                    <m:oMath xmlns:m="http://schemas.openxmlformats.org/officeDocument/2006/math">
                      <m:m>
                        <m:mPr>
                          <m:mcs>
                            <m:mc>
                              <m:mcPr>
                                <m:count m:val="1"/>
                                <m:mcJc m:val="center"/>
                              </m:mcPr>
                            </m:mc>
                          </m:mcs>
                          <m:ctrlPr>
                            <a:rPr lang="en-US" b="0" i="1" smtClean="0">
                              <a:latin typeface="Cambria Math" panose="02040503050406030204" pitchFamily="18" charset="0"/>
                            </a:rPr>
                          </m:ctrlPr>
                        </m:mPr>
                        <m:mr>
                          <m:e>
                            <m:r>
                              <m:rPr>
                                <m:brk m:alnAt="7"/>
                              </m:rPr>
                              <a:rPr lang="en-US" b="0" i="1" smtClean="0">
                                <a:latin typeface="Cambria Math" panose="02040503050406030204" pitchFamily="18" charset="0"/>
                              </a:rPr>
                              <m:t>𝑚</m:t>
                            </m:r>
                            <m:r>
                              <a:rPr lang="en-US" b="0" i="1" smtClean="0">
                                <a:latin typeface="Cambria Math" panose="02040503050406030204" pitchFamily="18" charset="0"/>
                              </a:rPr>
                              <m:t>𝑎𝑥</m:t>
                            </m:r>
                          </m:e>
                        </m:mr>
                        <m:mr>
                          <m:e>
                            <m:sSub>
                              <m:sSubPr>
                                <m:ctrlPr>
                                  <a:rPr lang="en-US" b="0" i="1" smtClean="0">
                                    <a:latin typeface="Cambria Math" panose="02040503050406030204" pitchFamily="18" charset="0"/>
                                  </a:rPr>
                                </m:ctrlPr>
                              </m:sSubPr>
                              <m:e>
                                <m:r>
                                  <a:rPr lang="en-US" b="0" i="1" smtClean="0">
                                    <a:latin typeface="Cambria Math" panose="02040503050406030204" pitchFamily="18" charset="0"/>
                                  </a:rPr>
                                  <m:t>𝐸</m:t>
                                </m:r>
                              </m:e>
                              <m:sub>
                                <m:r>
                                  <a:rPr lang="en-US" b="0" i="1" smtClean="0">
                                    <a:latin typeface="Cambria Math" panose="02040503050406030204" pitchFamily="18" charset="0"/>
                                  </a:rPr>
                                  <m:t>𝑡</m:t>
                                </m:r>
                              </m:sub>
                            </m:sSub>
                          </m:e>
                        </m:mr>
                      </m:m>
                      <m:r>
                        <a:rPr lang="en-US" b="0" i="1" smtClean="0">
                          <a:latin typeface="Cambria Math" panose="02040503050406030204" pitchFamily="18" charset="0"/>
                        </a:rPr>
                        <m:t>  </m:t>
                      </m:r>
                      <m:r>
                        <a:rPr lang="en-US" b="0" i="1" smtClean="0">
                          <a:latin typeface="Cambria Math" panose="02040503050406030204" pitchFamily="18" charset="0"/>
                        </a:rPr>
                        <m:t>𝜋</m:t>
                      </m:r>
                      <m:r>
                        <a:rPr lang="en-US" b="0" i="1" smtClean="0">
                          <a:latin typeface="Cambria Math" panose="02040503050406030204" pitchFamily="18" charset="0"/>
                        </a:rPr>
                        <m:t>=</m:t>
                      </m:r>
                      <m:r>
                        <a:rPr lang="en-US" i="1">
                          <a:latin typeface="Cambria Math" panose="02040503050406030204" pitchFamily="18" charset="0"/>
                        </a:rPr>
                        <m:t>𝑇</m:t>
                      </m:r>
                      <m:r>
                        <a:rPr lang="en-US" b="0" i="1" smtClean="0">
                          <a:latin typeface="Cambria Math" panose="02040503050406030204" pitchFamily="18" charset="0"/>
                        </a:rPr>
                        <m:t>𝑅</m:t>
                      </m:r>
                      <m:r>
                        <a:rPr lang="en-US" b="0" i="1" smtClean="0">
                          <a:latin typeface="Cambria Math" panose="02040503050406030204" pitchFamily="18" charset="0"/>
                        </a:rPr>
                        <m:t>−</m:t>
                      </m:r>
                      <m:r>
                        <a:rPr lang="en-US" b="0" i="1" smtClean="0">
                          <a:latin typeface="Cambria Math" panose="02040503050406030204" pitchFamily="18" charset="0"/>
                        </a:rPr>
                        <m:t>𝑇𝐶</m:t>
                      </m:r>
                      <m:r>
                        <a:rPr lang="en-US" b="0" i="1" smtClean="0">
                          <a:latin typeface="Cambria Math" panose="02040503050406030204" pitchFamily="18" charset="0"/>
                        </a:rPr>
                        <m:t>=</m:t>
                      </m:r>
                      <m:r>
                        <a:rPr lang="en-US" i="1">
                          <a:latin typeface="Cambria Math" panose="02040503050406030204" pitchFamily="18" charset="0"/>
                        </a:rPr>
                        <m:t>𝑝</m:t>
                      </m:r>
                      <m:sSub>
                        <m:sSubPr>
                          <m:ctrlPr>
                            <a:rPr lang="en-US" i="1">
                              <a:latin typeface="Cambria Math" panose="02040503050406030204" pitchFamily="18" charset="0"/>
                            </a:rPr>
                          </m:ctrlPr>
                        </m:sSubPr>
                        <m:e>
                          <m:r>
                            <a:rPr lang="en-US" i="1">
                              <a:latin typeface="Cambria Math" panose="02040503050406030204" pitchFamily="18" charset="0"/>
                            </a:rPr>
                            <m:t>𝐻</m:t>
                          </m:r>
                        </m:e>
                        <m:sub>
                          <m:r>
                            <a:rPr lang="en-US" i="1">
                              <a:latin typeface="Cambria Math" panose="02040503050406030204" pitchFamily="18" charset="0"/>
                            </a:rPr>
                            <m:t>𝑡</m:t>
                          </m:r>
                        </m:sub>
                      </m:sSub>
                      <m:r>
                        <a:rPr lang="en-US" b="0" i="1" smtClean="0">
                          <a:latin typeface="Cambria Math" panose="02040503050406030204" pitchFamily="18" charset="0"/>
                        </a:rPr>
                        <m:t>−</m:t>
                      </m:r>
                      <m:r>
                        <a:rPr lang="en-US" i="1">
                          <a:latin typeface="Cambria Math" panose="02040503050406030204" pitchFamily="18" charset="0"/>
                        </a:rPr>
                        <m:t>𝑐</m:t>
                      </m:r>
                      <m:sSub>
                        <m:sSubPr>
                          <m:ctrlPr>
                            <a:rPr lang="en-US" i="1">
                              <a:latin typeface="Cambria Math" panose="02040503050406030204" pitchFamily="18" charset="0"/>
                            </a:rPr>
                          </m:ctrlPr>
                        </m:sSubPr>
                        <m:e>
                          <m:r>
                            <a:rPr lang="en-US" i="1">
                              <a:latin typeface="Cambria Math" panose="02040503050406030204" pitchFamily="18" charset="0"/>
                            </a:rPr>
                            <m:t>𝐸</m:t>
                          </m:r>
                        </m:e>
                        <m:sub>
                          <m:r>
                            <a:rPr lang="en-US" i="1">
                              <a:latin typeface="Cambria Math" panose="02040503050406030204" pitchFamily="18" charset="0"/>
                            </a:rPr>
                            <m:t>𝑡</m:t>
                          </m:r>
                        </m:sub>
                      </m:sSub>
                    </m:oMath>
                  </m:oMathPara>
                </a14:m>
                <a:endParaRPr lang="en-US" dirty="0"/>
              </a:p>
              <a:p>
                <a:pPr marL="0" indent="0">
                  <a:buNone/>
                </a:pPr>
                <a:endParaRPr lang="en-US" dirty="0"/>
              </a:p>
              <a:p>
                <a:pPr marL="0" indent="0">
                  <a:buNone/>
                </a:pPr>
                <a:r>
                  <a:rPr lang="en-US" dirty="0"/>
                  <a:t>Recall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𝐻</m:t>
                        </m:r>
                      </m:e>
                      <m:sub>
                        <m:r>
                          <a:rPr lang="en-US" b="0" i="1" smtClean="0">
                            <a:latin typeface="Cambria Math" panose="02040503050406030204" pitchFamily="18" charset="0"/>
                          </a:rPr>
                          <m:t>𝑡</m:t>
                        </m:r>
                      </m:sub>
                    </m:sSub>
                    <m:r>
                      <a:rPr lang="en-US" b="0" i="1" smtClean="0">
                        <a:latin typeface="Cambria Math" panose="02040503050406030204" pitchFamily="18" charset="0"/>
                      </a:rPr>
                      <m:t>=</m:t>
                    </m:r>
                    <m:r>
                      <a:rPr lang="en-US" i="1">
                        <a:latin typeface="Cambria Math" panose="02040503050406030204" pitchFamily="18" charset="0"/>
                      </a:rPr>
                      <m:t>𝛼</m:t>
                    </m:r>
                    <m:sSub>
                      <m:sSubPr>
                        <m:ctrlPr>
                          <a:rPr lang="en-US" i="1">
                            <a:latin typeface="Cambria Math" panose="02040503050406030204" pitchFamily="18" charset="0"/>
                          </a:rPr>
                        </m:ctrlPr>
                      </m:sSubPr>
                      <m:e>
                        <m:r>
                          <a:rPr lang="en-US" i="1">
                            <a:latin typeface="Cambria Math" panose="02040503050406030204" pitchFamily="18" charset="0"/>
                          </a:rPr>
                          <m:t>𝑆</m:t>
                        </m:r>
                      </m:e>
                      <m:sub>
                        <m:r>
                          <a:rPr lang="en-US" i="1">
                            <a:latin typeface="Cambria Math" panose="02040503050406030204" pitchFamily="18" charset="0"/>
                          </a:rPr>
                          <m:t>𝑡</m:t>
                        </m:r>
                      </m:sub>
                    </m:sSub>
                    <m:sSub>
                      <m:sSubPr>
                        <m:ctrlPr>
                          <a:rPr lang="en-US" i="1">
                            <a:latin typeface="Cambria Math" panose="02040503050406030204" pitchFamily="18" charset="0"/>
                          </a:rPr>
                        </m:ctrlPr>
                      </m:sSubPr>
                      <m:e>
                        <m:r>
                          <a:rPr lang="en-US" i="1">
                            <a:latin typeface="Cambria Math" panose="02040503050406030204" pitchFamily="18" charset="0"/>
                          </a:rPr>
                          <m:t>𝐸</m:t>
                        </m:r>
                      </m:e>
                      <m:sub>
                        <m:r>
                          <a:rPr lang="en-US" i="1">
                            <a:latin typeface="Cambria Math" panose="02040503050406030204" pitchFamily="18" charset="0"/>
                          </a:rPr>
                          <m:t>𝑡</m:t>
                        </m:r>
                      </m:sub>
                    </m:sSub>
                  </m:oMath>
                </a14:m>
                <a:r>
                  <a:rPr lang="en-US" dirty="0"/>
                  <a:t>:</a:t>
                </a:r>
              </a:p>
              <a:p>
                <a:pPr marL="0"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 </m:t>
                      </m:r>
                      <m:r>
                        <a:rPr lang="en-US" b="0" i="1" smtClean="0">
                          <a:latin typeface="Cambria Math" panose="02040503050406030204" pitchFamily="18" charset="0"/>
                        </a:rPr>
                        <m:t>𝜋</m:t>
                      </m:r>
                      <m:r>
                        <a:rPr lang="en-US" b="0" i="1" smtClean="0">
                          <a:latin typeface="Cambria Math" panose="02040503050406030204" pitchFamily="18" charset="0"/>
                        </a:rPr>
                        <m:t>=</m:t>
                      </m:r>
                      <m:r>
                        <a:rPr lang="en-US" i="1">
                          <a:latin typeface="Cambria Math" panose="02040503050406030204" pitchFamily="18" charset="0"/>
                        </a:rPr>
                        <m:t>𝑝</m:t>
                      </m:r>
                      <m:r>
                        <a:rPr lang="en-US" i="1">
                          <a:latin typeface="Cambria Math" panose="02040503050406030204" pitchFamily="18" charset="0"/>
                        </a:rPr>
                        <m:t>𝛼</m:t>
                      </m:r>
                      <m:sSub>
                        <m:sSubPr>
                          <m:ctrlPr>
                            <a:rPr lang="en-US" i="1">
                              <a:latin typeface="Cambria Math" panose="02040503050406030204" pitchFamily="18" charset="0"/>
                            </a:rPr>
                          </m:ctrlPr>
                        </m:sSubPr>
                        <m:e>
                          <m:r>
                            <a:rPr lang="en-US" i="1">
                              <a:latin typeface="Cambria Math" panose="02040503050406030204" pitchFamily="18" charset="0"/>
                            </a:rPr>
                            <m:t>𝑆</m:t>
                          </m:r>
                        </m:e>
                        <m:sub>
                          <m:r>
                            <a:rPr lang="en-US" i="1">
                              <a:latin typeface="Cambria Math" panose="02040503050406030204" pitchFamily="18" charset="0"/>
                            </a:rPr>
                            <m:t>𝑡</m:t>
                          </m:r>
                        </m:sub>
                      </m:sSub>
                      <m:sSub>
                        <m:sSubPr>
                          <m:ctrlPr>
                            <a:rPr lang="en-US" i="1">
                              <a:latin typeface="Cambria Math" panose="02040503050406030204" pitchFamily="18" charset="0"/>
                            </a:rPr>
                          </m:ctrlPr>
                        </m:sSubPr>
                        <m:e>
                          <m:r>
                            <a:rPr lang="en-US" i="1">
                              <a:latin typeface="Cambria Math" panose="02040503050406030204" pitchFamily="18" charset="0"/>
                            </a:rPr>
                            <m:t>𝐸</m:t>
                          </m:r>
                        </m:e>
                        <m:sub>
                          <m:r>
                            <a:rPr lang="en-US" i="1">
                              <a:latin typeface="Cambria Math" panose="02040503050406030204" pitchFamily="18" charset="0"/>
                            </a:rPr>
                            <m:t>𝑡</m:t>
                          </m:r>
                        </m:sub>
                      </m:sSub>
                      <m:r>
                        <a:rPr lang="en-US" b="0" i="1" smtClean="0">
                          <a:latin typeface="Cambria Math" panose="02040503050406030204" pitchFamily="18" charset="0"/>
                        </a:rPr>
                        <m:t>−</m:t>
                      </m:r>
                      <m:r>
                        <a:rPr lang="en-US" i="1">
                          <a:latin typeface="Cambria Math" panose="02040503050406030204" pitchFamily="18" charset="0"/>
                        </a:rPr>
                        <m:t>𝑐</m:t>
                      </m:r>
                      <m:sSub>
                        <m:sSubPr>
                          <m:ctrlPr>
                            <a:rPr lang="en-US" i="1">
                              <a:latin typeface="Cambria Math" panose="02040503050406030204" pitchFamily="18" charset="0"/>
                            </a:rPr>
                          </m:ctrlPr>
                        </m:sSubPr>
                        <m:e>
                          <m:r>
                            <a:rPr lang="en-US" i="1">
                              <a:latin typeface="Cambria Math" panose="02040503050406030204" pitchFamily="18" charset="0"/>
                            </a:rPr>
                            <m:t>𝐸</m:t>
                          </m:r>
                        </m:e>
                        <m:sub>
                          <m:r>
                            <a:rPr lang="en-US" i="1">
                              <a:latin typeface="Cambria Math" panose="02040503050406030204" pitchFamily="18" charset="0"/>
                            </a:rPr>
                            <m:t>𝑡</m:t>
                          </m:r>
                        </m:sub>
                      </m:sSub>
                    </m:oMath>
                  </m:oMathPara>
                </a14:m>
                <a:endParaRPr lang="en-US" dirty="0"/>
              </a:p>
              <a:p>
                <a:pPr marL="0" indent="0">
                  <a:buNone/>
                </a:pPr>
                <a:endParaRPr lang="en-US" dirty="0"/>
              </a:p>
              <a:p>
                <a:pPr marL="0" indent="0">
                  <a:buNone/>
                </a:pPr>
                <a14:m>
                  <m:oMathPara xmlns:m="http://schemas.openxmlformats.org/officeDocument/2006/math">
                    <m:oMathParaPr>
                      <m:jc m:val="centerGroup"/>
                    </m:oMathParaPr>
                    <m:oMath xmlns:m="http://schemas.openxmlformats.org/officeDocument/2006/math">
                      <m:f>
                        <m:fPr>
                          <m:ctrlPr>
                            <a:rPr lang="en-US" b="0" i="1" smtClean="0">
                              <a:latin typeface="Cambria Math" panose="02040503050406030204" pitchFamily="18" charset="0"/>
                            </a:rPr>
                          </m:ctrlPr>
                        </m:fPr>
                        <m:num>
                          <m:r>
                            <a:rPr lang="en-US" b="0" i="1" smtClean="0">
                              <a:latin typeface="Cambria Math" panose="02040503050406030204" pitchFamily="18" charset="0"/>
                            </a:rPr>
                            <m:t>𝜕𝜋</m:t>
                          </m:r>
                        </m:num>
                        <m:den>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𝐸</m:t>
                              </m:r>
                            </m:e>
                            <m:sub>
                              <m:r>
                                <a:rPr lang="en-US" b="0" i="1" smtClean="0">
                                  <a:latin typeface="Cambria Math" panose="02040503050406030204" pitchFamily="18" charset="0"/>
                                </a:rPr>
                                <m:t>𝑡</m:t>
                              </m:r>
                            </m:sub>
                          </m:sSub>
                        </m:den>
                      </m:f>
                      <m:r>
                        <a:rPr lang="en-US" b="0" i="1" smtClean="0">
                          <a:latin typeface="Cambria Math" panose="02040503050406030204" pitchFamily="18" charset="0"/>
                        </a:rPr>
                        <m:t>=</m:t>
                      </m:r>
                      <m:r>
                        <a:rPr lang="en-US" b="0" i="1" smtClean="0">
                          <a:latin typeface="Cambria Math" panose="02040503050406030204" pitchFamily="18" charset="0"/>
                        </a:rPr>
                        <m:t>𝑝</m:t>
                      </m:r>
                      <m:r>
                        <a:rPr lang="en-US" b="0" i="1" smtClean="0">
                          <a:latin typeface="Cambria Math" panose="02040503050406030204" pitchFamily="18" charset="0"/>
                        </a:rPr>
                        <m:t>𝛼</m:t>
                      </m:r>
                      <m:f>
                        <m:fPr>
                          <m:ctrlPr>
                            <a:rPr lang="en-US" b="0" i="1" smtClean="0">
                              <a:latin typeface="Cambria Math" panose="02040503050406030204" pitchFamily="18" charset="0"/>
                            </a:rPr>
                          </m:ctrlPr>
                        </m:fPr>
                        <m:num>
                          <m:r>
                            <a:rPr lang="en-US" b="0" i="1" smtClean="0">
                              <a:latin typeface="Cambria Math" panose="02040503050406030204" pitchFamily="18" charset="0"/>
                            </a:rPr>
                            <m:t>𝜕</m:t>
                          </m:r>
                          <m:r>
                            <a:rPr lang="en-US" b="0" i="1" smtClean="0">
                              <a:latin typeface="Cambria Math" panose="02040503050406030204" pitchFamily="18" charset="0"/>
                            </a:rPr>
                            <m:t>𝑆</m:t>
                          </m:r>
                        </m:num>
                        <m:den>
                          <m:r>
                            <a:rPr lang="en-US" b="0" i="1" smtClean="0">
                              <a:latin typeface="Cambria Math" panose="02040503050406030204" pitchFamily="18" charset="0"/>
                            </a:rPr>
                            <m:t>𝜕</m:t>
                          </m:r>
                          <m:r>
                            <a:rPr lang="en-US" b="0" i="1" smtClean="0">
                              <a:latin typeface="Cambria Math" panose="02040503050406030204" pitchFamily="18" charset="0"/>
                            </a:rPr>
                            <m:t>𝐸</m:t>
                          </m:r>
                        </m:den>
                      </m:f>
                      <m:r>
                        <a:rPr lang="en-US" b="0" i="1" smtClean="0">
                          <a:latin typeface="Cambria Math" panose="02040503050406030204" pitchFamily="18" charset="0"/>
                        </a:rPr>
                        <m:t>−</m:t>
                      </m:r>
                      <m:r>
                        <a:rPr lang="en-US" b="0" i="1" smtClean="0">
                          <a:latin typeface="Cambria Math" panose="02040503050406030204" pitchFamily="18" charset="0"/>
                        </a:rPr>
                        <m:t>𝑐</m:t>
                      </m:r>
                      <m:r>
                        <a:rPr lang="en-US" b="0" i="1" smtClean="0">
                          <a:latin typeface="Cambria Math" panose="02040503050406030204" pitchFamily="18" charset="0"/>
                        </a:rPr>
                        <m:t>=0</m:t>
                      </m:r>
                    </m:oMath>
                  </m:oMathPara>
                </a14:m>
                <a:endParaRPr lang="en-US" dirty="0"/>
              </a:p>
              <a:p>
                <a:pPr marL="0" indent="0">
                  <a:buNone/>
                </a:pPr>
                <a:endParaRPr lang="en-US" dirty="0"/>
              </a:p>
              <a:p>
                <a:pPr marL="0" indent="0">
                  <a:buNone/>
                </a:pPr>
                <a:r>
                  <a:rPr lang="en-US" dirty="0"/>
                  <a:t>.. This is a bit tough, so we’ll solve for it in GAMS</a:t>
                </a:r>
              </a:p>
              <a:p>
                <a:pPr marL="0" indent="0">
                  <a:buNone/>
                </a:pPr>
                <a:endParaRPr lang="en-US" dirty="0"/>
              </a:p>
              <a:p>
                <a:pPr marL="0" indent="0">
                  <a:buNone/>
                </a:pPr>
                <a:endParaRPr lang="en-US" dirty="0"/>
              </a:p>
            </p:txBody>
          </p:sp>
        </mc:Choice>
        <mc:Fallback xmlns="">
          <p:sp>
            <p:nvSpPr>
              <p:cNvPr id="3" name="Content Placeholder 2">
                <a:extLst>
                  <a:ext uri="{FF2B5EF4-FFF2-40B4-BE49-F238E27FC236}">
                    <a16:creationId xmlns:a16="http://schemas.microsoft.com/office/drawing/2014/main" id="{BAFE80BE-7611-DF48-9A4C-4DCA55332672}"/>
                  </a:ext>
                </a:extLst>
              </p:cNvPr>
              <p:cNvSpPr>
                <a:spLocks noGrp="1" noRot="1" noChangeAspect="1" noMove="1" noResize="1" noEditPoints="1" noAdjustHandles="1" noChangeArrowheads="1" noChangeShapeType="1" noTextEdit="1"/>
              </p:cNvSpPr>
              <p:nvPr>
                <p:ph idx="1"/>
              </p:nvPr>
            </p:nvSpPr>
            <p:spPr>
              <a:blipFill>
                <a:blip r:embed="rId3"/>
                <a:stretch>
                  <a:fillRect l="-1086" t="-2616" b="-3198"/>
                </a:stretch>
              </a:blipFill>
            </p:spPr>
            <p:txBody>
              <a:bodyPr/>
              <a:lstStyle/>
              <a:p>
                <a:r>
                  <a:rPr lang="en-US">
                    <a:noFill/>
                  </a:rPr>
                  <a:t> </a:t>
                </a:r>
              </a:p>
            </p:txBody>
          </p:sp>
        </mc:Fallback>
      </mc:AlternateContent>
    </p:spTree>
    <p:extLst>
      <p:ext uri="{BB962C8B-B14F-4D97-AF65-F5344CB8AC3E}">
        <p14:creationId xmlns:p14="http://schemas.microsoft.com/office/powerpoint/2010/main" val="4019681094"/>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Slide Background">
            <a:extLst>
              <a:ext uri="{FF2B5EF4-FFF2-40B4-BE49-F238E27FC236}">
                <a16:creationId xmlns:a16="http://schemas.microsoft.com/office/drawing/2014/main" id="{9F7D5CDA-D291-4307-BF55-1381FED296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3F3BA67-94C6-2849-53C8-E808D3FB5767}"/>
              </a:ext>
            </a:extLst>
          </p:cNvPr>
          <p:cNvSpPr>
            <a:spLocks noGrp="1"/>
          </p:cNvSpPr>
          <p:nvPr>
            <p:ph type="title"/>
          </p:nvPr>
        </p:nvSpPr>
        <p:spPr>
          <a:xfrm>
            <a:off x="761800" y="762001"/>
            <a:ext cx="5334197" cy="1708242"/>
          </a:xfrm>
        </p:spPr>
        <p:txBody>
          <a:bodyPr anchor="ctr">
            <a:normAutofit/>
          </a:bodyPr>
          <a:lstStyle/>
          <a:p>
            <a:r>
              <a:rPr lang="en-US" sz="4000" dirty="0"/>
              <a:t>Important note here</a:t>
            </a:r>
          </a:p>
        </p:txBody>
      </p:sp>
      <p:sp>
        <p:nvSpPr>
          <p:cNvPr id="3" name="Content Placeholder 2">
            <a:extLst>
              <a:ext uri="{FF2B5EF4-FFF2-40B4-BE49-F238E27FC236}">
                <a16:creationId xmlns:a16="http://schemas.microsoft.com/office/drawing/2014/main" id="{1348BC1C-66AD-D520-66BE-3C407BA72C05}"/>
              </a:ext>
            </a:extLst>
          </p:cNvPr>
          <p:cNvSpPr>
            <a:spLocks noGrp="1"/>
          </p:cNvSpPr>
          <p:nvPr>
            <p:ph idx="1"/>
          </p:nvPr>
        </p:nvSpPr>
        <p:spPr>
          <a:xfrm>
            <a:off x="511962" y="2482099"/>
            <a:ext cx="5833872" cy="3769835"/>
          </a:xfrm>
        </p:spPr>
        <p:txBody>
          <a:bodyPr anchor="ctr">
            <a:normAutofit/>
          </a:bodyPr>
          <a:lstStyle/>
          <a:p>
            <a:r>
              <a:rPr lang="en-US" sz="2000" dirty="0"/>
              <a:t>We could optimize with and without price control (same way we did with Hotelling).. </a:t>
            </a:r>
          </a:p>
          <a:p>
            <a:pPr marL="0" indent="0">
              <a:buNone/>
            </a:pPr>
            <a:r>
              <a:rPr lang="en-US" sz="2000" dirty="0"/>
              <a:t>    </a:t>
            </a:r>
            <a:r>
              <a:rPr lang="en-US" sz="2000" b="1" i="1" dirty="0">
                <a:highlight>
                  <a:srgbClr val="FFFF00"/>
                </a:highlight>
              </a:rPr>
              <a:t>but we already know the optimality conditions</a:t>
            </a:r>
          </a:p>
          <a:p>
            <a:endParaRPr lang="en-US" sz="2000" dirty="0"/>
          </a:p>
          <a:p>
            <a:r>
              <a:rPr lang="en-US" sz="2000" dirty="0"/>
              <a:t>Thus: we can explore how different conditions impact those optimal decisions</a:t>
            </a:r>
          </a:p>
          <a:p>
            <a:endParaRPr lang="en-US" sz="2000" dirty="0"/>
          </a:p>
          <a:p>
            <a:r>
              <a:rPr lang="en-US" sz="2000" dirty="0"/>
              <a:t>We call this an </a:t>
            </a:r>
            <a:r>
              <a:rPr lang="en-US" sz="2000" b="1" i="1" dirty="0">
                <a:highlight>
                  <a:srgbClr val="FFFF00"/>
                </a:highlight>
              </a:rPr>
              <a:t>analytical model</a:t>
            </a:r>
            <a:r>
              <a:rPr lang="en-US" sz="2000" dirty="0"/>
              <a:t>.. basically, exploring the solution space</a:t>
            </a:r>
          </a:p>
        </p:txBody>
      </p:sp>
      <p:pic>
        <p:nvPicPr>
          <p:cNvPr id="5" name="Picture 4" descr="Orbiting balls art">
            <a:extLst>
              <a:ext uri="{FF2B5EF4-FFF2-40B4-BE49-F238E27FC236}">
                <a16:creationId xmlns:a16="http://schemas.microsoft.com/office/drawing/2014/main" id="{E7861DAC-94F6-1334-5B16-A9F66829AC55}"/>
              </a:ext>
            </a:extLst>
          </p:cNvPr>
          <p:cNvPicPr>
            <a:picLocks noChangeAspect="1"/>
          </p:cNvPicPr>
          <p:nvPr/>
        </p:nvPicPr>
        <p:blipFill>
          <a:blip r:embed="rId2"/>
          <a:srcRect l="27415" r="14341" b="-1"/>
          <a:stretch>
            <a:fillRect/>
          </a:stretch>
        </p:blipFill>
        <p:spPr>
          <a:xfrm>
            <a:off x="6857797" y="-10886"/>
            <a:ext cx="5334204" cy="6868886"/>
          </a:xfrm>
          <a:prstGeom prst="rect">
            <a:avLst/>
          </a:prstGeom>
          <a:effectLst>
            <a:outerShdw blurRad="127000" dist="50800" dir="10800000" sx="99000" sy="99000" algn="r" rotWithShape="0">
              <a:prstClr val="black">
                <a:alpha val="40000"/>
              </a:prstClr>
            </a:outerShdw>
          </a:effectLst>
        </p:spPr>
      </p:pic>
    </p:spTree>
    <p:extLst>
      <p:ext uri="{BB962C8B-B14F-4D97-AF65-F5344CB8AC3E}">
        <p14:creationId xmlns:p14="http://schemas.microsoft.com/office/powerpoint/2010/main" val="478623736"/>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65683A-F4D0-2B10-CDF4-DDB055AE4C31}"/>
              </a:ext>
            </a:extLst>
          </p:cNvPr>
          <p:cNvSpPr>
            <a:spLocks noGrp="1"/>
          </p:cNvSpPr>
          <p:nvPr>
            <p:ph type="title"/>
          </p:nvPr>
        </p:nvSpPr>
        <p:spPr/>
        <p:txBody>
          <a:bodyPr/>
          <a:lstStyle/>
          <a:p>
            <a:r>
              <a:rPr lang="en-US" dirty="0"/>
              <a:t>In GAMS..</a:t>
            </a:r>
          </a:p>
        </p:txBody>
      </p:sp>
      <p:sp>
        <p:nvSpPr>
          <p:cNvPr id="3" name="Content Placeholder 2">
            <a:extLst>
              <a:ext uri="{FF2B5EF4-FFF2-40B4-BE49-F238E27FC236}">
                <a16:creationId xmlns:a16="http://schemas.microsoft.com/office/drawing/2014/main" id="{0417A443-CB0E-08E7-5BC5-0362D31598F8}"/>
              </a:ext>
            </a:extLst>
          </p:cNvPr>
          <p:cNvSpPr>
            <a:spLocks noGrp="1"/>
          </p:cNvSpPr>
          <p:nvPr>
            <p:ph idx="1"/>
          </p:nvPr>
        </p:nvSpPr>
        <p:spPr/>
        <p:txBody>
          <a:bodyPr/>
          <a:lstStyle/>
          <a:p>
            <a:r>
              <a:rPr lang="en-US" dirty="0"/>
              <a:t>Specify.. </a:t>
            </a:r>
          </a:p>
          <a:p>
            <a:pPr lvl="1"/>
            <a:r>
              <a:rPr lang="en-US" dirty="0"/>
              <a:t>r=0.5</a:t>
            </a:r>
          </a:p>
          <a:p>
            <a:pPr lvl="1"/>
            <a:r>
              <a:rPr lang="en-US" dirty="0"/>
              <a:t>k=3500</a:t>
            </a:r>
          </a:p>
          <a:p>
            <a:pPr lvl="1"/>
            <a:r>
              <a:rPr lang="en-US" dirty="0"/>
              <a:t>50 time periods</a:t>
            </a:r>
          </a:p>
          <a:p>
            <a:pPr lvl="1"/>
            <a:endParaRPr lang="en-US" dirty="0"/>
          </a:p>
          <a:p>
            <a:r>
              <a:rPr lang="en-US" dirty="0"/>
              <a:t>… then can solve analytically (we know the optimality conditions)</a:t>
            </a:r>
          </a:p>
          <a:p>
            <a:endParaRPr lang="en-US" dirty="0"/>
          </a:p>
          <a:p>
            <a:r>
              <a:rPr lang="en-US" dirty="0"/>
              <a:t>See: </a:t>
            </a:r>
            <a:r>
              <a:rPr lang="en-US" dirty="0" err="1"/>
              <a:t>fishy.gms</a:t>
            </a:r>
            <a:endParaRPr lang="en-US" dirty="0"/>
          </a:p>
          <a:p>
            <a:pPr lvl="1"/>
            <a:endParaRPr lang="en-US" dirty="0"/>
          </a:p>
        </p:txBody>
      </p:sp>
    </p:spTree>
    <p:extLst>
      <p:ext uri="{BB962C8B-B14F-4D97-AF65-F5344CB8AC3E}">
        <p14:creationId xmlns:p14="http://schemas.microsoft.com/office/powerpoint/2010/main" val="2628504358"/>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E9ABC9AF-7200-FA2B-D3BE-AF5CBF96027D}"/>
                  </a:ext>
                </a:extLst>
              </p:cNvPr>
              <p:cNvSpPr>
                <a:spLocks noGrp="1"/>
              </p:cNvSpPr>
              <p:nvPr>
                <p:ph type="title"/>
              </p:nvPr>
            </p:nvSpPr>
            <p:spPr/>
            <p:txBody>
              <a:bodyPr/>
              <a:lstStyle/>
              <a:p>
                <a:r>
                  <a:rPr lang="en-US" dirty="0"/>
                  <a:t>What if we change </a:t>
                </a:r>
                <a14:m>
                  <m:oMath xmlns:m="http://schemas.openxmlformats.org/officeDocument/2006/math">
                    <m:r>
                      <a:rPr lang="en-US" b="0" i="1" smtClean="0">
                        <a:latin typeface="Cambria Math" panose="02040503050406030204" pitchFamily="18" charset="0"/>
                      </a:rPr>
                      <m:t>𝛼</m:t>
                    </m:r>
                  </m:oMath>
                </a14:m>
                <a:r>
                  <a:rPr lang="en-US" dirty="0"/>
                  <a:t>?</a:t>
                </a:r>
              </a:p>
            </p:txBody>
          </p:sp>
        </mc:Choice>
        <mc:Fallback xmlns="">
          <p:sp>
            <p:nvSpPr>
              <p:cNvPr id="2" name="Title 1">
                <a:extLst>
                  <a:ext uri="{FF2B5EF4-FFF2-40B4-BE49-F238E27FC236}">
                    <a16:creationId xmlns:a16="http://schemas.microsoft.com/office/drawing/2014/main" id="{E9ABC9AF-7200-FA2B-D3BE-AF5CBF96027D}"/>
                  </a:ext>
                </a:extLst>
              </p:cNvPr>
              <p:cNvSpPr>
                <a:spLocks noGrp="1" noRot="1" noChangeAspect="1" noMove="1" noResize="1" noEditPoints="1" noAdjustHandles="1" noChangeArrowheads="1" noChangeShapeType="1" noTextEdit="1"/>
              </p:cNvSpPr>
              <p:nvPr>
                <p:ph type="title"/>
              </p:nvPr>
            </p:nvSpPr>
            <p:spPr>
              <a:blipFill>
                <a:blip r:embed="rId2"/>
                <a:stretch>
                  <a:fillRect l="-2413"/>
                </a:stretch>
              </a:blipFill>
            </p:spPr>
            <p:txBody>
              <a:bodyPr/>
              <a:lstStyle/>
              <a:p>
                <a:r>
                  <a:rPr lang="en-US">
                    <a:noFill/>
                  </a:rPr>
                  <a:t> </a:t>
                </a:r>
              </a:p>
            </p:txBody>
          </p:sp>
        </mc:Fallback>
      </mc:AlternateContent>
      <p:sp>
        <p:nvSpPr>
          <p:cNvPr id="3" name="Content Placeholder 2">
            <a:extLst>
              <a:ext uri="{FF2B5EF4-FFF2-40B4-BE49-F238E27FC236}">
                <a16:creationId xmlns:a16="http://schemas.microsoft.com/office/drawing/2014/main" id="{5F8EA9E7-E591-43C5-D4AD-1749EB8C7DFC}"/>
              </a:ext>
            </a:extLst>
          </p:cNvPr>
          <p:cNvSpPr>
            <a:spLocks noGrp="1"/>
          </p:cNvSpPr>
          <p:nvPr>
            <p:ph idx="1"/>
          </p:nvPr>
        </p:nvSpPr>
        <p:spPr/>
        <p:txBody>
          <a:bodyPr/>
          <a:lstStyle/>
          <a:p>
            <a:r>
              <a:rPr lang="en-US" dirty="0"/>
              <a:t>… could be likened to a new technology – more efficient capture!</a:t>
            </a:r>
          </a:p>
        </p:txBody>
      </p:sp>
    </p:spTree>
    <p:extLst>
      <p:ext uri="{BB962C8B-B14F-4D97-AF65-F5344CB8AC3E}">
        <p14:creationId xmlns:p14="http://schemas.microsoft.com/office/powerpoint/2010/main" val="182980431"/>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947C6C-7E2A-6673-8760-48481FB8470B}"/>
              </a:ext>
            </a:extLst>
          </p:cNvPr>
          <p:cNvSpPr>
            <a:spLocks noGrp="1"/>
          </p:cNvSpPr>
          <p:nvPr>
            <p:ph type="title"/>
          </p:nvPr>
        </p:nvSpPr>
        <p:spPr/>
        <p:txBody>
          <a:bodyPr/>
          <a:lstStyle/>
          <a:p>
            <a:r>
              <a:rPr lang="en-US" dirty="0"/>
              <a:t>Commonly-proposed policies</a:t>
            </a:r>
          </a:p>
        </p:txBody>
      </p:sp>
      <p:sp>
        <p:nvSpPr>
          <p:cNvPr id="3" name="Content Placeholder 2">
            <a:extLst>
              <a:ext uri="{FF2B5EF4-FFF2-40B4-BE49-F238E27FC236}">
                <a16:creationId xmlns:a16="http://schemas.microsoft.com/office/drawing/2014/main" id="{5E29736B-DE87-ABA5-03D8-2DB2797A0AE3}"/>
              </a:ext>
            </a:extLst>
          </p:cNvPr>
          <p:cNvSpPr>
            <a:spLocks noGrp="1"/>
          </p:cNvSpPr>
          <p:nvPr>
            <p:ph idx="1"/>
          </p:nvPr>
        </p:nvSpPr>
        <p:spPr>
          <a:xfrm>
            <a:off x="838200" y="2031365"/>
            <a:ext cx="10515600" cy="4351338"/>
          </a:xfrm>
        </p:spPr>
        <p:txBody>
          <a:bodyPr/>
          <a:lstStyle/>
          <a:p>
            <a:r>
              <a:rPr lang="en-US" dirty="0"/>
              <a:t>Individual transfer quotas – basically like a cap and trade for fish</a:t>
            </a:r>
          </a:p>
          <a:p>
            <a:endParaRPr lang="en-US" dirty="0"/>
          </a:p>
          <a:p>
            <a:r>
              <a:rPr lang="en-US" dirty="0"/>
              <a:t>Taxes on effort or harvest – align private and social costs</a:t>
            </a:r>
          </a:p>
          <a:p>
            <a:endParaRPr lang="en-US" dirty="0"/>
          </a:p>
          <a:p>
            <a:r>
              <a:rPr lang="en-US" dirty="0"/>
              <a:t>Protected areas / sanctuaries</a:t>
            </a:r>
          </a:p>
          <a:p>
            <a:endParaRPr lang="en-US" dirty="0"/>
          </a:p>
          <a:p>
            <a:r>
              <a:rPr lang="en-US" dirty="0"/>
              <a:t>Equipment restrictions</a:t>
            </a:r>
          </a:p>
          <a:p>
            <a:endParaRPr lang="en-US" dirty="0"/>
          </a:p>
          <a:p>
            <a:endParaRPr lang="en-US" dirty="0"/>
          </a:p>
        </p:txBody>
      </p:sp>
    </p:spTree>
    <p:extLst>
      <p:ext uri="{BB962C8B-B14F-4D97-AF65-F5344CB8AC3E}">
        <p14:creationId xmlns:p14="http://schemas.microsoft.com/office/powerpoint/2010/main" val="1312252999"/>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129547-4F8C-E627-A055-D4D14DC83938}"/>
              </a:ext>
            </a:extLst>
          </p:cNvPr>
          <p:cNvSpPr>
            <a:spLocks noGrp="1"/>
          </p:cNvSpPr>
          <p:nvPr>
            <p:ph type="title"/>
          </p:nvPr>
        </p:nvSpPr>
        <p:spPr/>
        <p:txBody>
          <a:bodyPr/>
          <a:lstStyle/>
          <a:p>
            <a:r>
              <a:rPr lang="en-US" dirty="0"/>
              <a:t>Policies in practice [I]</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A41FBB4D-AE79-BE96-B637-39B7BAC7DACC}"/>
                  </a:ext>
                </a:extLst>
              </p:cNvPr>
              <p:cNvSpPr>
                <a:spLocks noGrp="1"/>
              </p:cNvSpPr>
              <p:nvPr>
                <p:ph idx="1"/>
              </p:nvPr>
            </p:nvSpPr>
            <p:spPr/>
            <p:txBody>
              <a:bodyPr>
                <a:normAutofit lnSpcReduction="10000"/>
              </a:bodyPr>
              <a:lstStyle/>
              <a:p>
                <a:pPr marL="0" indent="0">
                  <a:buNone/>
                </a:pPr>
                <a:r>
                  <a:rPr lang="en-US" b="1" i="1" dirty="0"/>
                  <a:t>Individual transfer quotas</a:t>
                </a:r>
              </a:p>
              <a:p>
                <a:endParaRPr lang="en-US" dirty="0"/>
              </a:p>
              <a:p>
                <a:pPr marL="0" indent="0">
                  <a:buNone/>
                </a:pPr>
                <a:r>
                  <a:rPr lang="en-US" dirty="0"/>
                  <a:t>How they work – set a limit on total harvest/effort:</a:t>
                </a:r>
              </a:p>
              <a:p>
                <a:pPr marL="0" indent="0">
                  <a:buNone/>
                </a:pPr>
                <a14:m>
                  <m:oMathPara xmlns:m="http://schemas.openxmlformats.org/officeDocument/2006/math">
                    <m:oMathParaPr>
                      <m:jc m:val="centerGroup"/>
                    </m:oMathParaPr>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panose="02040503050406030204" pitchFamily="18" charset="0"/>
                            </a:rPr>
                            <m:t>𝐻</m:t>
                          </m:r>
                        </m:e>
                        <m:sup>
                          <m:r>
                            <a:rPr lang="en-US" b="0" i="1" smtClean="0">
                              <a:latin typeface="Cambria Math" panose="02040503050406030204" pitchFamily="18" charset="0"/>
                            </a:rPr>
                            <m:t>∗</m:t>
                          </m:r>
                        </m:sup>
                      </m:sSup>
                      <m:r>
                        <a:rPr lang="en-US" b="0" i="1" smtClean="0">
                          <a:latin typeface="Cambria Math" panose="02040503050406030204" pitchFamily="18" charset="0"/>
                        </a:rPr>
                        <m:t>=</m:t>
                      </m:r>
                      <m:r>
                        <a:rPr lang="en-US" b="0" i="1" smtClean="0">
                          <a:latin typeface="Cambria Math" panose="02040503050406030204" pitchFamily="18" charset="0"/>
                        </a:rPr>
                        <m:t>𝑞</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𝐸</m:t>
                          </m:r>
                        </m:e>
                        <m:sup>
                          <m:r>
                            <a:rPr lang="en-US" b="0" i="1" smtClean="0">
                              <a:latin typeface="Cambria Math" panose="02040503050406030204" pitchFamily="18" charset="0"/>
                            </a:rPr>
                            <m:t>∗</m:t>
                          </m:r>
                        </m:sup>
                      </m:sSup>
                      <m:sSup>
                        <m:sSupPr>
                          <m:ctrlPr>
                            <a:rPr lang="en-US" b="0" i="1" smtClean="0">
                              <a:latin typeface="Cambria Math" panose="02040503050406030204" pitchFamily="18" charset="0"/>
                            </a:rPr>
                          </m:ctrlPr>
                        </m:sSupPr>
                        <m:e>
                          <m:r>
                            <a:rPr lang="en-US" b="0" i="1" smtClean="0">
                              <a:latin typeface="Cambria Math" panose="02040503050406030204" pitchFamily="18" charset="0"/>
                            </a:rPr>
                            <m:t>𝑋</m:t>
                          </m:r>
                        </m:e>
                        <m:sup>
                          <m:r>
                            <a:rPr lang="en-US" b="0" i="1" smtClean="0">
                              <a:latin typeface="Cambria Math" panose="02040503050406030204" pitchFamily="18" charset="0"/>
                            </a:rPr>
                            <m:t>∗</m:t>
                          </m:r>
                        </m:sup>
                      </m:sSup>
                    </m:oMath>
                  </m:oMathPara>
                </a14:m>
                <a:endParaRPr lang="en-US" dirty="0"/>
              </a:p>
              <a:p>
                <a:pPr marL="0" indent="0">
                  <a:buNone/>
                </a:pPr>
                <a:endParaRPr lang="en-US" dirty="0"/>
              </a:p>
              <a:p>
                <a:pPr marL="0" indent="0">
                  <a:buNone/>
                </a:pPr>
                <a:r>
                  <a:rPr lang="en-US" dirty="0"/>
                  <a:t> Examples:</a:t>
                </a:r>
              </a:p>
              <a:p>
                <a:r>
                  <a:rPr lang="en-US" dirty="0"/>
                  <a:t>New Zealand Hoki fishery – success, raised profits</a:t>
                </a:r>
              </a:p>
              <a:p>
                <a:r>
                  <a:rPr lang="en-US" dirty="0"/>
                  <a:t>Iceland Cod Fishery – failure </a:t>
                </a:r>
              </a:p>
              <a:p>
                <a:pPr lvl="1"/>
                <a:r>
                  <a:rPr lang="en-US" dirty="0"/>
                  <a:t>Giant corporations bought out small fishers</a:t>
                </a:r>
              </a:p>
              <a:p>
                <a:pPr lvl="1"/>
                <a:r>
                  <a:rPr lang="en-US" dirty="0"/>
                  <a:t>Low enforcement</a:t>
                </a:r>
              </a:p>
              <a:p>
                <a:endParaRPr lang="en-US" dirty="0"/>
              </a:p>
            </p:txBody>
          </p:sp>
        </mc:Choice>
        <mc:Fallback xmlns="">
          <p:sp>
            <p:nvSpPr>
              <p:cNvPr id="3" name="Content Placeholder 2">
                <a:extLst>
                  <a:ext uri="{FF2B5EF4-FFF2-40B4-BE49-F238E27FC236}">
                    <a16:creationId xmlns:a16="http://schemas.microsoft.com/office/drawing/2014/main" id="{A41FBB4D-AE79-BE96-B637-39B7BAC7DACC}"/>
                  </a:ext>
                </a:extLst>
              </p:cNvPr>
              <p:cNvSpPr>
                <a:spLocks noGrp="1" noRot="1" noChangeAspect="1" noMove="1" noResize="1" noEditPoints="1" noAdjustHandles="1" noChangeArrowheads="1" noChangeShapeType="1" noTextEdit="1"/>
              </p:cNvSpPr>
              <p:nvPr>
                <p:ph idx="1"/>
              </p:nvPr>
            </p:nvSpPr>
            <p:spPr>
              <a:blipFill>
                <a:blip r:embed="rId2"/>
                <a:stretch>
                  <a:fillRect l="-1206" t="-3198" b="-3488"/>
                </a:stretch>
              </a:blipFill>
            </p:spPr>
            <p:txBody>
              <a:bodyPr/>
              <a:lstStyle/>
              <a:p>
                <a:r>
                  <a:rPr lang="en-US">
                    <a:noFill/>
                  </a:rPr>
                  <a:t> </a:t>
                </a:r>
              </a:p>
            </p:txBody>
          </p:sp>
        </mc:Fallback>
      </mc:AlternateContent>
    </p:spTree>
    <p:extLst>
      <p:ext uri="{BB962C8B-B14F-4D97-AF65-F5344CB8AC3E}">
        <p14:creationId xmlns:p14="http://schemas.microsoft.com/office/powerpoint/2010/main" val="1596185209"/>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A5AA39-7841-6A97-81A9-47DC6A6010D8}"/>
              </a:ext>
            </a:extLst>
          </p:cNvPr>
          <p:cNvSpPr>
            <a:spLocks noGrp="1"/>
          </p:cNvSpPr>
          <p:nvPr>
            <p:ph type="title"/>
          </p:nvPr>
        </p:nvSpPr>
        <p:spPr>
          <a:xfrm>
            <a:off x="838200" y="365125"/>
            <a:ext cx="4969151" cy="1325563"/>
          </a:xfrm>
        </p:spPr>
        <p:txBody>
          <a:bodyPr/>
          <a:lstStyle/>
          <a:p>
            <a:r>
              <a:rPr lang="en-US" dirty="0"/>
              <a:t>New Zealand Hoki Fishery Management</a:t>
            </a:r>
          </a:p>
        </p:txBody>
      </p:sp>
      <p:sp>
        <p:nvSpPr>
          <p:cNvPr id="3" name="Content Placeholder 2">
            <a:extLst>
              <a:ext uri="{FF2B5EF4-FFF2-40B4-BE49-F238E27FC236}">
                <a16:creationId xmlns:a16="http://schemas.microsoft.com/office/drawing/2014/main" id="{436B68A6-68FB-9E71-DF5C-763DFAFBA015}"/>
              </a:ext>
            </a:extLst>
          </p:cNvPr>
          <p:cNvSpPr>
            <a:spLocks noGrp="1"/>
          </p:cNvSpPr>
          <p:nvPr>
            <p:ph idx="1"/>
          </p:nvPr>
        </p:nvSpPr>
        <p:spPr>
          <a:xfrm>
            <a:off x="234402" y="1825625"/>
            <a:ext cx="5680624" cy="4351338"/>
          </a:xfrm>
        </p:spPr>
        <p:txBody>
          <a:bodyPr/>
          <a:lstStyle/>
          <a:p>
            <a:r>
              <a:rPr lang="en-US" dirty="0"/>
              <a:t>Fishery management strategy started in 1986</a:t>
            </a:r>
          </a:p>
          <a:p>
            <a:r>
              <a:rPr lang="en-US" dirty="0"/>
              <a:t>Works on a system of ITQ’s that limit the Total Allowable Commercial Catch (TACC)</a:t>
            </a:r>
          </a:p>
          <a:p>
            <a:r>
              <a:rPr lang="en-US" dirty="0"/>
              <a:t>Total number of TACCs set at 10% of total estimated stock</a:t>
            </a:r>
          </a:p>
          <a:p>
            <a:r>
              <a:rPr lang="en-US" dirty="0"/>
              <a:t>Resulted in 36% increase in total profits per unit of cost input</a:t>
            </a:r>
          </a:p>
        </p:txBody>
      </p:sp>
      <p:pic>
        <p:nvPicPr>
          <p:cNvPr id="4" name="Picture 3">
            <a:extLst>
              <a:ext uri="{FF2B5EF4-FFF2-40B4-BE49-F238E27FC236}">
                <a16:creationId xmlns:a16="http://schemas.microsoft.com/office/drawing/2014/main" id="{83C664B3-A418-31F1-E626-BB9E21EB6094}"/>
              </a:ext>
            </a:extLst>
          </p:cNvPr>
          <p:cNvPicPr>
            <a:picLocks noChangeAspect="1"/>
          </p:cNvPicPr>
          <p:nvPr/>
        </p:nvPicPr>
        <p:blipFill>
          <a:blip r:embed="rId2"/>
          <a:stretch>
            <a:fillRect/>
          </a:stretch>
        </p:blipFill>
        <p:spPr>
          <a:xfrm>
            <a:off x="6384650" y="0"/>
            <a:ext cx="5680624" cy="6858000"/>
          </a:xfrm>
          <a:prstGeom prst="rect">
            <a:avLst/>
          </a:prstGeom>
        </p:spPr>
      </p:pic>
      <p:pic>
        <p:nvPicPr>
          <p:cNvPr id="1026" name="Picture 2" descr="Hoki Mai | New Zealand Geographic">
            <a:extLst>
              <a:ext uri="{FF2B5EF4-FFF2-40B4-BE49-F238E27FC236}">
                <a16:creationId xmlns:a16="http://schemas.microsoft.com/office/drawing/2014/main" id="{8B499246-1652-F118-8AEF-55FAC619FCA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47714" y="2286000"/>
            <a:ext cx="3143847" cy="71596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88119537"/>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738170-E066-0DA3-3B7E-0968E68B06A9}"/>
              </a:ext>
            </a:extLst>
          </p:cNvPr>
          <p:cNvSpPr>
            <a:spLocks noGrp="1"/>
          </p:cNvSpPr>
          <p:nvPr>
            <p:ph type="title"/>
          </p:nvPr>
        </p:nvSpPr>
        <p:spPr/>
        <p:txBody>
          <a:bodyPr/>
          <a:lstStyle/>
          <a:p>
            <a:r>
              <a:rPr lang="en-US" dirty="0"/>
              <a:t>Iceland Cod Fishery</a:t>
            </a:r>
          </a:p>
        </p:txBody>
      </p:sp>
      <p:sp>
        <p:nvSpPr>
          <p:cNvPr id="3" name="Content Placeholder 2">
            <a:extLst>
              <a:ext uri="{FF2B5EF4-FFF2-40B4-BE49-F238E27FC236}">
                <a16:creationId xmlns:a16="http://schemas.microsoft.com/office/drawing/2014/main" id="{30DDA474-5D20-EF2A-AE2E-9DA6CD8CB9DD}"/>
              </a:ext>
            </a:extLst>
          </p:cNvPr>
          <p:cNvSpPr>
            <a:spLocks noGrp="1"/>
          </p:cNvSpPr>
          <p:nvPr>
            <p:ph idx="1"/>
          </p:nvPr>
        </p:nvSpPr>
        <p:spPr>
          <a:xfrm>
            <a:off x="629588" y="1825625"/>
            <a:ext cx="5699776" cy="4165600"/>
          </a:xfrm>
        </p:spPr>
        <p:txBody>
          <a:bodyPr/>
          <a:lstStyle/>
          <a:p>
            <a:r>
              <a:rPr lang="en-US" dirty="0"/>
              <a:t>ITQ system started in 1984</a:t>
            </a:r>
          </a:p>
          <a:p>
            <a:r>
              <a:rPr lang="en-US" dirty="0"/>
              <a:t>Allowed for grandfathering in of substantial fishing quotas</a:t>
            </a:r>
          </a:p>
          <a:p>
            <a:r>
              <a:rPr lang="en-US" dirty="0"/>
              <a:t>Several rights were sold to large corporations who overfished with little punitive recompense</a:t>
            </a:r>
          </a:p>
          <a:p>
            <a:r>
              <a:rPr lang="en-US" dirty="0"/>
              <a:t>Cod industry plagued by constant declines and surges in stock</a:t>
            </a:r>
          </a:p>
        </p:txBody>
      </p:sp>
      <p:pic>
        <p:nvPicPr>
          <p:cNvPr id="4" name="Picture 3">
            <a:extLst>
              <a:ext uri="{FF2B5EF4-FFF2-40B4-BE49-F238E27FC236}">
                <a16:creationId xmlns:a16="http://schemas.microsoft.com/office/drawing/2014/main" id="{E18B61B2-BAA6-C11C-D814-A8789C585F9C}"/>
              </a:ext>
            </a:extLst>
          </p:cNvPr>
          <p:cNvPicPr>
            <a:picLocks noChangeAspect="1"/>
          </p:cNvPicPr>
          <p:nvPr/>
        </p:nvPicPr>
        <p:blipFill>
          <a:blip r:embed="rId2"/>
          <a:stretch>
            <a:fillRect/>
          </a:stretch>
        </p:blipFill>
        <p:spPr>
          <a:xfrm>
            <a:off x="6870700" y="0"/>
            <a:ext cx="5321300" cy="4165600"/>
          </a:xfrm>
          <a:prstGeom prst="rect">
            <a:avLst/>
          </a:prstGeom>
        </p:spPr>
      </p:pic>
      <p:pic>
        <p:nvPicPr>
          <p:cNvPr id="2050" name="Picture 2" descr="Atlantic Cod | NOAA Fisheries">
            <a:extLst>
              <a:ext uri="{FF2B5EF4-FFF2-40B4-BE49-F238E27FC236}">
                <a16:creationId xmlns:a16="http://schemas.microsoft.com/office/drawing/2014/main" id="{46503A8C-8159-B3A0-9C62-08F10F3792D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758112" y="4165600"/>
            <a:ext cx="3546475" cy="236727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83894838"/>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BBF579-1778-1C83-9183-BC9EA5843681}"/>
              </a:ext>
            </a:extLst>
          </p:cNvPr>
          <p:cNvSpPr>
            <a:spLocks noGrp="1"/>
          </p:cNvSpPr>
          <p:nvPr>
            <p:ph type="title"/>
          </p:nvPr>
        </p:nvSpPr>
        <p:spPr/>
        <p:txBody>
          <a:bodyPr/>
          <a:lstStyle/>
          <a:p>
            <a:r>
              <a:rPr lang="en-US" dirty="0"/>
              <a:t>ITQs in practice</a:t>
            </a:r>
          </a:p>
        </p:txBody>
      </p:sp>
      <p:sp>
        <p:nvSpPr>
          <p:cNvPr id="3" name="Content Placeholder 2">
            <a:extLst>
              <a:ext uri="{FF2B5EF4-FFF2-40B4-BE49-F238E27FC236}">
                <a16:creationId xmlns:a16="http://schemas.microsoft.com/office/drawing/2014/main" id="{5BE4EA70-FEB3-32C6-4BFE-96C38EED2C10}"/>
              </a:ext>
            </a:extLst>
          </p:cNvPr>
          <p:cNvSpPr>
            <a:spLocks noGrp="1"/>
          </p:cNvSpPr>
          <p:nvPr>
            <p:ph idx="1"/>
          </p:nvPr>
        </p:nvSpPr>
        <p:spPr/>
        <p:txBody>
          <a:bodyPr/>
          <a:lstStyle/>
          <a:p>
            <a:r>
              <a:rPr lang="en-US" dirty="0"/>
              <a:t>Individual transfer quotas can succeed or fail</a:t>
            </a:r>
          </a:p>
          <a:p>
            <a:endParaRPr lang="en-US" dirty="0"/>
          </a:p>
          <a:p>
            <a:r>
              <a:rPr lang="en-US" dirty="0"/>
              <a:t>Failures a result of:</a:t>
            </a:r>
          </a:p>
          <a:p>
            <a:pPr lvl="1"/>
            <a:r>
              <a:rPr lang="en-US" dirty="0"/>
              <a:t>Overfishing (obviously), itself being a result of..</a:t>
            </a:r>
          </a:p>
          <a:p>
            <a:pPr lvl="1"/>
            <a:r>
              <a:rPr lang="en-US" dirty="0"/>
              <a:t>Low enforcement</a:t>
            </a:r>
          </a:p>
          <a:p>
            <a:pPr lvl="1"/>
            <a:r>
              <a:rPr lang="en-US" dirty="0"/>
              <a:t>Consolidation</a:t>
            </a:r>
          </a:p>
          <a:p>
            <a:pPr lvl="1"/>
            <a:r>
              <a:rPr lang="en-US" dirty="0"/>
              <a:t>Lacking monitoring and updates to quotas</a:t>
            </a:r>
          </a:p>
          <a:p>
            <a:pPr lvl="1"/>
            <a:endParaRPr lang="en-US" dirty="0"/>
          </a:p>
          <a:p>
            <a:r>
              <a:rPr lang="en-US" dirty="0"/>
              <a:t>Several other examples ..</a:t>
            </a:r>
          </a:p>
        </p:txBody>
      </p:sp>
    </p:spTree>
    <p:extLst>
      <p:ext uri="{BB962C8B-B14F-4D97-AF65-F5344CB8AC3E}">
        <p14:creationId xmlns:p14="http://schemas.microsoft.com/office/powerpoint/2010/main" val="1176647350"/>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06BF4B-AA53-FCF2-7833-716252C9728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37D42B3-E67E-ABED-5AB7-DBC4C254E303}"/>
              </a:ext>
            </a:extLst>
          </p:cNvPr>
          <p:cNvSpPr>
            <a:spLocks noGrp="1"/>
          </p:cNvSpPr>
          <p:nvPr>
            <p:ph type="title"/>
          </p:nvPr>
        </p:nvSpPr>
        <p:spPr/>
        <p:txBody>
          <a:bodyPr/>
          <a:lstStyle/>
          <a:p>
            <a:r>
              <a:rPr lang="en-US" dirty="0"/>
              <a:t>Policies in practice [II]</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F6358D72-6C5D-A4B7-BEE1-6C220EAB7ECF}"/>
                  </a:ext>
                </a:extLst>
              </p:cNvPr>
              <p:cNvSpPr>
                <a:spLocks noGrp="1"/>
              </p:cNvSpPr>
              <p:nvPr>
                <p:ph idx="1"/>
              </p:nvPr>
            </p:nvSpPr>
            <p:spPr/>
            <p:txBody>
              <a:bodyPr/>
              <a:lstStyle/>
              <a:p>
                <a:pPr marL="0" indent="0">
                  <a:buNone/>
                </a:pPr>
                <a:r>
                  <a:rPr lang="en-US" dirty="0"/>
                  <a:t>Effort tax</a:t>
                </a:r>
              </a:p>
              <a:p>
                <a:endParaRPr lang="en-US" dirty="0"/>
              </a:p>
              <a:p>
                <a:pPr marL="0" indent="0">
                  <a:buNone/>
                </a:pPr>
                <a:r>
                  <a:rPr lang="en-US" dirty="0"/>
                  <a:t>How they work – simple tax on effort:</a:t>
                </a:r>
              </a:p>
              <a:p>
                <a:pPr marL="0" indent="0" algn="ctr">
                  <a:buNone/>
                </a:pPr>
                <a14:m>
                  <m:oMath xmlns:m="http://schemas.openxmlformats.org/officeDocument/2006/math">
                    <m:r>
                      <a:rPr lang="en-US" b="0" i="1" smtClean="0">
                        <a:latin typeface="Cambria Math" panose="02040503050406030204" pitchFamily="18" charset="0"/>
                      </a:rPr>
                      <m:t>𝑇𝐶</m:t>
                    </m:r>
                    <m:r>
                      <a:rPr lang="en-US" b="0" i="1" smtClean="0">
                        <a:latin typeface="Cambria Math" panose="02040503050406030204" pitchFamily="18" charset="0"/>
                      </a:rPr>
                      <m:t>=</m:t>
                    </m:r>
                    <m:d>
                      <m:dPr>
                        <m:ctrlPr>
                          <a:rPr lang="en-US" b="0" i="1" smtClean="0">
                            <a:latin typeface="Cambria Math" panose="02040503050406030204" pitchFamily="18" charset="0"/>
                          </a:rPr>
                        </m:ctrlPr>
                      </m:dPr>
                      <m:e>
                        <m:r>
                          <a:rPr lang="en-US" b="0" i="1" smtClean="0">
                            <a:latin typeface="Cambria Math" panose="02040503050406030204" pitchFamily="18" charset="0"/>
                          </a:rPr>
                          <m:t>𝑐</m:t>
                        </m:r>
                        <m:r>
                          <a:rPr lang="en-US" b="0" i="1" smtClean="0">
                            <a:latin typeface="Cambria Math" panose="02040503050406030204" pitchFamily="18" charset="0"/>
                          </a:rPr>
                          <m:t>+</m:t>
                        </m:r>
                        <m:r>
                          <a:rPr lang="en-US" b="0" i="1" smtClean="0">
                            <a:latin typeface="Cambria Math" panose="02040503050406030204" pitchFamily="18" charset="0"/>
                          </a:rPr>
                          <m:t>𝜏</m:t>
                        </m:r>
                      </m:e>
                    </m:d>
                    <m:r>
                      <a:rPr lang="en-US" b="0" i="1" smtClean="0">
                        <a:latin typeface="Cambria Math" panose="02040503050406030204" pitchFamily="18" charset="0"/>
                      </a:rPr>
                      <m:t>𝐸</m:t>
                    </m:r>
                  </m:oMath>
                </a14:m>
                <a:r>
                  <a:rPr lang="en-US" dirty="0"/>
                  <a:t> </a:t>
                </a:r>
              </a:p>
              <a:p>
                <a:pPr marL="0" indent="0">
                  <a:buNone/>
                </a:pPr>
                <a:r>
                  <a:rPr lang="en-US" dirty="0"/>
                  <a:t>Examples:</a:t>
                </a:r>
              </a:p>
              <a:p>
                <a:r>
                  <a:rPr lang="en-US" dirty="0"/>
                  <a:t>Denmark effort taxes on heavy fishing days</a:t>
                </a:r>
              </a:p>
              <a:p>
                <a:r>
                  <a:rPr lang="en-US" dirty="0"/>
                  <a:t>Indonesia – </a:t>
                </a:r>
              </a:p>
              <a:p>
                <a:pPr lvl="1"/>
                <a:r>
                  <a:rPr lang="en-US" dirty="0"/>
                  <a:t>Weak enforcement and tax evasion in remote areas</a:t>
                </a:r>
              </a:p>
              <a:p>
                <a:pPr lvl="1"/>
                <a:r>
                  <a:rPr lang="en-US" dirty="0"/>
                  <a:t>Fishers shifted to illegal methods</a:t>
                </a:r>
              </a:p>
              <a:p>
                <a:endParaRPr lang="en-US" dirty="0"/>
              </a:p>
            </p:txBody>
          </p:sp>
        </mc:Choice>
        <mc:Fallback xmlns="">
          <p:sp>
            <p:nvSpPr>
              <p:cNvPr id="3" name="Content Placeholder 2">
                <a:extLst>
                  <a:ext uri="{FF2B5EF4-FFF2-40B4-BE49-F238E27FC236}">
                    <a16:creationId xmlns:a16="http://schemas.microsoft.com/office/drawing/2014/main" id="{F6358D72-6C5D-A4B7-BEE1-6C220EAB7ECF}"/>
                  </a:ext>
                </a:extLst>
              </p:cNvPr>
              <p:cNvSpPr>
                <a:spLocks noGrp="1" noRot="1" noChangeAspect="1" noMove="1" noResize="1" noEditPoints="1" noAdjustHandles="1" noChangeArrowheads="1" noChangeShapeType="1" noTextEdit="1"/>
              </p:cNvSpPr>
              <p:nvPr>
                <p:ph idx="1"/>
              </p:nvPr>
            </p:nvSpPr>
            <p:spPr>
              <a:blipFill>
                <a:blip r:embed="rId2"/>
                <a:stretch>
                  <a:fillRect l="-1206" t="-2326" b="-2907"/>
                </a:stretch>
              </a:blipFill>
            </p:spPr>
            <p:txBody>
              <a:bodyPr/>
              <a:lstStyle/>
              <a:p>
                <a:r>
                  <a:rPr lang="en-US">
                    <a:noFill/>
                  </a:rPr>
                  <a:t> </a:t>
                </a:r>
              </a:p>
            </p:txBody>
          </p:sp>
        </mc:Fallback>
      </mc:AlternateContent>
    </p:spTree>
    <p:extLst>
      <p:ext uri="{BB962C8B-B14F-4D97-AF65-F5344CB8AC3E}">
        <p14:creationId xmlns:p14="http://schemas.microsoft.com/office/powerpoint/2010/main" val="1525012052"/>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DD82D7-4787-D9D6-FC98-70F7899D36A4}"/>
              </a:ext>
            </a:extLst>
          </p:cNvPr>
          <p:cNvSpPr>
            <a:spLocks noGrp="1"/>
          </p:cNvSpPr>
          <p:nvPr>
            <p:ph type="title"/>
          </p:nvPr>
        </p:nvSpPr>
        <p:spPr>
          <a:xfrm>
            <a:off x="481013" y="3752849"/>
            <a:ext cx="2947987" cy="2452687"/>
          </a:xfrm>
        </p:spPr>
        <p:txBody>
          <a:bodyPr anchor="ctr">
            <a:normAutofit/>
          </a:bodyPr>
          <a:lstStyle/>
          <a:p>
            <a:r>
              <a:rPr lang="en-US" sz="3600" dirty="0"/>
              <a:t>Denmark’s effort tax</a:t>
            </a:r>
          </a:p>
        </p:txBody>
      </p:sp>
      <p:pic>
        <p:nvPicPr>
          <p:cNvPr id="3074" name="Picture 2" descr="Fishing industry in Denmark - Wikipedia">
            <a:extLst>
              <a:ext uri="{FF2B5EF4-FFF2-40B4-BE49-F238E27FC236}">
                <a16:creationId xmlns:a16="http://schemas.microsoft.com/office/drawing/2014/main" id="{67805839-2A1C-292F-033C-9ABEDB644B5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t="38817" b="15758"/>
          <a:stretch/>
        </p:blipFill>
        <p:spPr bwMode="auto">
          <a:xfrm>
            <a:off x="20" y="10"/>
            <a:ext cx="12191980" cy="3710603"/>
          </a:xfrm>
          <a:custGeom>
            <a:avLst/>
            <a:gdLst/>
            <a:ahLst/>
            <a:cxnLst/>
            <a:rect l="l" t="t" r="r" b="b"/>
            <a:pathLst>
              <a:path w="12192000" h="3692092">
                <a:moveTo>
                  <a:pt x="0" y="0"/>
                </a:moveTo>
                <a:lnTo>
                  <a:pt x="12192000" y="0"/>
                </a:lnTo>
                <a:lnTo>
                  <a:pt x="12192000" y="3504824"/>
                </a:lnTo>
                <a:lnTo>
                  <a:pt x="12024691" y="3517794"/>
                </a:lnTo>
                <a:cubicBezTo>
                  <a:pt x="8077523" y="3783195"/>
                  <a:pt x="4094678" y="3026959"/>
                  <a:pt x="160485" y="3663863"/>
                </a:cubicBezTo>
                <a:lnTo>
                  <a:pt x="0" y="3692092"/>
                </a:lnTo>
                <a:close/>
              </a:path>
            </a:pathLst>
          </a:custGeom>
          <a:noFill/>
          <a:extLst>
            <a:ext uri="{909E8E84-426E-40DD-AFC4-6F175D3DCCD1}">
              <a14:hiddenFill xmlns:a14="http://schemas.microsoft.com/office/drawing/2010/main">
                <a:solidFill>
                  <a:srgbClr val="FFFFFF"/>
                </a:solidFill>
              </a14:hiddenFill>
            </a:ext>
          </a:extLst>
        </p:spPr>
      </p:pic>
      <p:sp>
        <p:nvSpPr>
          <p:cNvPr id="3" name="Content Placeholder 2">
            <a:extLst>
              <a:ext uri="{FF2B5EF4-FFF2-40B4-BE49-F238E27FC236}">
                <a16:creationId xmlns:a16="http://schemas.microsoft.com/office/drawing/2014/main" id="{A6AF0390-9F75-B8A1-C054-F884DB66716B}"/>
              </a:ext>
            </a:extLst>
          </p:cNvPr>
          <p:cNvSpPr>
            <a:spLocks noGrp="1"/>
          </p:cNvSpPr>
          <p:nvPr>
            <p:ph idx="1"/>
          </p:nvPr>
        </p:nvSpPr>
        <p:spPr>
          <a:xfrm>
            <a:off x="3152774" y="3947160"/>
            <a:ext cx="8558213" cy="2452687"/>
          </a:xfrm>
        </p:spPr>
        <p:txBody>
          <a:bodyPr anchor="ctr">
            <a:normAutofit/>
          </a:bodyPr>
          <a:lstStyle/>
          <a:p>
            <a:r>
              <a:rPr lang="en-US" sz="2000" dirty="0"/>
              <a:t>One of the first major attempts at fisheries regulation for a big industry (Denmark is 5</a:t>
            </a:r>
            <a:r>
              <a:rPr lang="en-US" sz="2000" baseline="30000" dirty="0"/>
              <a:t>th</a:t>
            </a:r>
            <a:r>
              <a:rPr lang="en-US" sz="2000" dirty="0"/>
              <a:t> largest fish exporter in the world)</a:t>
            </a:r>
          </a:p>
          <a:p>
            <a:r>
              <a:rPr lang="en-US" sz="2000" dirty="0"/>
              <a:t>Tax based on fishing pressure – directly tied to horsepower, equipment, …</a:t>
            </a:r>
          </a:p>
          <a:p>
            <a:r>
              <a:rPr lang="en-US" sz="2000" dirty="0"/>
              <a:t>Wasn’t based on catch equipment… problem?</a:t>
            </a:r>
          </a:p>
          <a:p>
            <a:r>
              <a:rPr lang="en-US" sz="2000" dirty="0"/>
              <a:t>Criticized for taxing inputs, not outputs</a:t>
            </a:r>
          </a:p>
          <a:p>
            <a:r>
              <a:rPr lang="en-US" sz="2000" dirty="0"/>
              <a:t>Eventually switched to an ITQ</a:t>
            </a:r>
          </a:p>
        </p:txBody>
      </p:sp>
    </p:spTree>
    <p:extLst>
      <p:ext uri="{BB962C8B-B14F-4D97-AF65-F5344CB8AC3E}">
        <p14:creationId xmlns:p14="http://schemas.microsoft.com/office/powerpoint/2010/main" val="2736702595"/>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F40649-C089-3248-4B96-1010B23B21FE}"/>
              </a:ext>
            </a:extLst>
          </p:cNvPr>
          <p:cNvSpPr>
            <a:spLocks noGrp="1"/>
          </p:cNvSpPr>
          <p:nvPr>
            <p:ph type="title"/>
          </p:nvPr>
        </p:nvSpPr>
        <p:spPr>
          <a:xfrm>
            <a:off x="411480" y="991443"/>
            <a:ext cx="4443154" cy="1087819"/>
          </a:xfrm>
        </p:spPr>
        <p:txBody>
          <a:bodyPr anchor="b">
            <a:normAutofit/>
          </a:bodyPr>
          <a:lstStyle/>
          <a:p>
            <a:r>
              <a:rPr lang="en-US" sz="3400"/>
              <a:t>Indonesia’s effort tax</a:t>
            </a:r>
          </a:p>
        </p:txBody>
      </p:sp>
      <p:sp>
        <p:nvSpPr>
          <p:cNvPr id="3" name="Content Placeholder 2">
            <a:extLst>
              <a:ext uri="{FF2B5EF4-FFF2-40B4-BE49-F238E27FC236}">
                <a16:creationId xmlns:a16="http://schemas.microsoft.com/office/drawing/2014/main" id="{73D15BD4-DF3B-4C3A-FA9D-2B2FC26EA24D}"/>
              </a:ext>
            </a:extLst>
          </p:cNvPr>
          <p:cNvSpPr>
            <a:spLocks noGrp="1"/>
          </p:cNvSpPr>
          <p:nvPr>
            <p:ph idx="1"/>
          </p:nvPr>
        </p:nvSpPr>
        <p:spPr>
          <a:xfrm>
            <a:off x="411479" y="2684095"/>
            <a:ext cx="4820087" cy="3492868"/>
          </a:xfrm>
        </p:spPr>
        <p:txBody>
          <a:bodyPr>
            <a:normAutofit fontScale="92500" lnSpcReduction="20000"/>
          </a:bodyPr>
          <a:lstStyle/>
          <a:p>
            <a:r>
              <a:rPr lang="en-US" sz="2400" dirty="0"/>
              <a:t>Similar to Denmark in that it imposed a tax based on boat characteristics</a:t>
            </a:r>
          </a:p>
          <a:p>
            <a:r>
              <a:rPr lang="en-US" sz="2400" dirty="0"/>
              <a:t>Had an exception for boats under a certain size</a:t>
            </a:r>
          </a:p>
          <a:p>
            <a:r>
              <a:rPr lang="en-US" sz="2400" dirty="0"/>
              <a:t>Led to industry fragmentation</a:t>
            </a:r>
          </a:p>
          <a:p>
            <a:r>
              <a:rPr lang="en-US" sz="2400" dirty="0"/>
              <a:t>When prices of fish skyrocketed in mid-2000’s, tax was too small</a:t>
            </a:r>
          </a:p>
          <a:p>
            <a:r>
              <a:rPr lang="en-US" sz="2400" dirty="0"/>
              <a:t>In 2023, switched to ITQ</a:t>
            </a:r>
          </a:p>
          <a:p>
            <a:r>
              <a:rPr lang="en-US" sz="2400" dirty="0"/>
              <a:t>Still – low enforcement</a:t>
            </a:r>
          </a:p>
          <a:p>
            <a:r>
              <a:rPr lang="en-US" sz="2400" dirty="0"/>
              <a:t>Community outrage</a:t>
            </a:r>
          </a:p>
        </p:txBody>
      </p:sp>
      <p:pic>
        <p:nvPicPr>
          <p:cNvPr id="4098" name="Picture 2" descr="Aquaculture in Indonesia - Wikipedia">
            <a:extLst>
              <a:ext uri="{FF2B5EF4-FFF2-40B4-BE49-F238E27FC236}">
                <a16:creationId xmlns:a16="http://schemas.microsoft.com/office/drawing/2014/main" id="{6CA7F278-A06B-DFE4-547D-C4F15779F01B}"/>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5385816" y="1936127"/>
            <a:ext cx="6440424" cy="293039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21336601"/>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1AA742-66E1-DA15-6E8E-D32990045DBE}"/>
              </a:ext>
            </a:extLst>
          </p:cNvPr>
          <p:cNvSpPr>
            <a:spLocks noGrp="1"/>
          </p:cNvSpPr>
          <p:nvPr>
            <p:ph type="title"/>
          </p:nvPr>
        </p:nvSpPr>
        <p:spPr/>
        <p:txBody>
          <a:bodyPr/>
          <a:lstStyle/>
          <a:p>
            <a:r>
              <a:rPr lang="en-US" dirty="0"/>
              <a:t>Effort taxes in practice</a:t>
            </a:r>
          </a:p>
        </p:txBody>
      </p:sp>
      <p:sp>
        <p:nvSpPr>
          <p:cNvPr id="3" name="Content Placeholder 2">
            <a:extLst>
              <a:ext uri="{FF2B5EF4-FFF2-40B4-BE49-F238E27FC236}">
                <a16:creationId xmlns:a16="http://schemas.microsoft.com/office/drawing/2014/main" id="{9DF9192C-4230-9D43-47BD-0A21903D363B}"/>
              </a:ext>
            </a:extLst>
          </p:cNvPr>
          <p:cNvSpPr>
            <a:spLocks noGrp="1"/>
          </p:cNvSpPr>
          <p:nvPr>
            <p:ph idx="1"/>
          </p:nvPr>
        </p:nvSpPr>
        <p:spPr>
          <a:xfrm>
            <a:off x="838200" y="2274569"/>
            <a:ext cx="10515600" cy="3902393"/>
          </a:xfrm>
        </p:spPr>
        <p:txBody>
          <a:bodyPr/>
          <a:lstStyle/>
          <a:p>
            <a:r>
              <a:rPr lang="en-US" dirty="0"/>
              <a:t>Two examples, both failed – why?</a:t>
            </a:r>
          </a:p>
          <a:p>
            <a:pPr lvl="1"/>
            <a:r>
              <a:rPr lang="en-US" dirty="0"/>
              <a:t>Difficult to enforce</a:t>
            </a:r>
          </a:p>
          <a:p>
            <a:pPr lvl="1"/>
            <a:r>
              <a:rPr lang="en-US" dirty="0"/>
              <a:t>Difficult to parameterize a one-size-fits-all solution</a:t>
            </a:r>
          </a:p>
          <a:p>
            <a:pPr lvl="2"/>
            <a:r>
              <a:rPr lang="en-US" dirty="0"/>
              <a:t>Workaround for catch equipment with the Denmark tax</a:t>
            </a:r>
          </a:p>
          <a:p>
            <a:pPr lvl="2"/>
            <a:r>
              <a:rPr lang="en-US" dirty="0"/>
              <a:t>Cut-off in size in the Indonesian system</a:t>
            </a:r>
          </a:p>
          <a:p>
            <a:pPr lvl="1"/>
            <a:r>
              <a:rPr lang="en-US" dirty="0"/>
              <a:t>Both examples ultimately switched to ITQ</a:t>
            </a:r>
          </a:p>
          <a:p>
            <a:pPr lvl="1"/>
            <a:r>
              <a:rPr lang="en-US" dirty="0"/>
              <a:t>Perhaps most importantly - community and company opposition</a:t>
            </a:r>
          </a:p>
          <a:p>
            <a:pPr lvl="1"/>
            <a:endParaRPr lang="en-US" dirty="0"/>
          </a:p>
          <a:p>
            <a:pPr lvl="1"/>
            <a:endParaRPr lang="en-US" dirty="0"/>
          </a:p>
          <a:p>
            <a:pPr lvl="1"/>
            <a:endParaRPr lang="en-US" dirty="0"/>
          </a:p>
          <a:p>
            <a:endParaRPr lang="en-US" dirty="0"/>
          </a:p>
        </p:txBody>
      </p:sp>
    </p:spTree>
    <p:extLst>
      <p:ext uri="{BB962C8B-B14F-4D97-AF65-F5344CB8AC3E}">
        <p14:creationId xmlns:p14="http://schemas.microsoft.com/office/powerpoint/2010/main" val="2039991263"/>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6F56F0-8825-3C88-C5BD-6F1ACED96710}"/>
            </a:ext>
          </a:extLst>
        </p:cNvPr>
        <p:cNvGrpSpPr/>
        <p:nvPr/>
      </p:nvGrpSpPr>
      <p:grpSpPr>
        <a:xfrm>
          <a:off x="0" y="0"/>
          <a:ext cx="0" cy="0"/>
          <a:chOff x="0" y="0"/>
          <a:chExt cx="0" cy="0"/>
        </a:xfrm>
      </p:grpSpPr>
      <p:pic>
        <p:nvPicPr>
          <p:cNvPr id="1026" name="Picture 2" descr="Amazon.com: No Fishing Sign, 14&quot;x 10&quot; .04&quot; Aluminum Reflective Sign Rust  Free Aluminum-UV Protected and Weatherproof : Industrial &amp; Scientific">
            <a:extLst>
              <a:ext uri="{FF2B5EF4-FFF2-40B4-BE49-F238E27FC236}">
                <a16:creationId xmlns:a16="http://schemas.microsoft.com/office/drawing/2014/main" id="{306319E1-E892-CAD7-1F1B-E59B355F912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736960" y="1587639"/>
            <a:ext cx="2718079" cy="2718079"/>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46ACD695-268C-9BC2-6337-361FAF5F5A91}"/>
              </a:ext>
            </a:extLst>
          </p:cNvPr>
          <p:cNvSpPr>
            <a:spLocks noGrp="1"/>
          </p:cNvSpPr>
          <p:nvPr>
            <p:ph type="title"/>
          </p:nvPr>
        </p:nvSpPr>
        <p:spPr/>
        <p:txBody>
          <a:bodyPr/>
          <a:lstStyle/>
          <a:p>
            <a:r>
              <a:rPr lang="en-US" dirty="0"/>
              <a:t>Policies in practice [III]</a:t>
            </a:r>
          </a:p>
        </p:txBody>
      </p:sp>
      <p:sp>
        <p:nvSpPr>
          <p:cNvPr id="3" name="Content Placeholder 2">
            <a:extLst>
              <a:ext uri="{FF2B5EF4-FFF2-40B4-BE49-F238E27FC236}">
                <a16:creationId xmlns:a16="http://schemas.microsoft.com/office/drawing/2014/main" id="{5F596CFB-404A-5679-5A85-BB3C21CACD33}"/>
              </a:ext>
            </a:extLst>
          </p:cNvPr>
          <p:cNvSpPr>
            <a:spLocks noGrp="1"/>
          </p:cNvSpPr>
          <p:nvPr>
            <p:ph idx="1"/>
          </p:nvPr>
        </p:nvSpPr>
        <p:spPr>
          <a:xfrm>
            <a:off x="838199" y="1396721"/>
            <a:ext cx="11069097" cy="4780242"/>
          </a:xfrm>
        </p:spPr>
        <p:txBody>
          <a:bodyPr>
            <a:normAutofit fontScale="92500" lnSpcReduction="10000"/>
          </a:bodyPr>
          <a:lstStyle/>
          <a:p>
            <a:pPr marL="0" indent="0">
              <a:buNone/>
            </a:pPr>
            <a:r>
              <a:rPr lang="en-US" dirty="0"/>
              <a:t>Marine Protected Areas</a:t>
            </a:r>
          </a:p>
          <a:p>
            <a:endParaRPr lang="en-US" dirty="0"/>
          </a:p>
          <a:p>
            <a:pPr marL="0" indent="0">
              <a:buNone/>
            </a:pPr>
            <a:r>
              <a:rPr lang="en-US" dirty="0"/>
              <a:t>		How they work:</a:t>
            </a:r>
          </a:p>
          <a:p>
            <a:pPr marL="0" indent="0">
              <a:buNone/>
            </a:pPr>
            <a:endParaRPr lang="en-US" dirty="0"/>
          </a:p>
          <a:p>
            <a:pPr marL="0" indent="0">
              <a:buNone/>
            </a:pPr>
            <a:endParaRPr lang="en-US" dirty="0"/>
          </a:p>
          <a:p>
            <a:pPr marL="0" indent="0">
              <a:buNone/>
            </a:pPr>
            <a:endParaRPr lang="en-US" dirty="0"/>
          </a:p>
          <a:p>
            <a:pPr marL="0" indent="0">
              <a:buNone/>
            </a:pPr>
            <a:r>
              <a:rPr lang="en-US" dirty="0"/>
              <a:t>Examples:</a:t>
            </a:r>
          </a:p>
          <a:p>
            <a:r>
              <a:rPr lang="en-US" dirty="0"/>
              <a:t>Great Barrier Reef, Australia</a:t>
            </a:r>
          </a:p>
          <a:p>
            <a:r>
              <a:rPr lang="en-US" dirty="0"/>
              <a:t>Philippines coral reefs  - fail</a:t>
            </a:r>
          </a:p>
          <a:p>
            <a:pPr lvl="1"/>
            <a:r>
              <a:rPr lang="en-US" dirty="0"/>
              <a:t>Rules ignored, fines were not high enough</a:t>
            </a:r>
          </a:p>
          <a:p>
            <a:pPr lvl="1"/>
            <a:r>
              <a:rPr lang="en-US" dirty="0"/>
              <a:t>Community-opposed (loss of livelihood, not enough information)</a:t>
            </a:r>
          </a:p>
          <a:p>
            <a:endParaRPr lang="en-US" dirty="0"/>
          </a:p>
        </p:txBody>
      </p:sp>
    </p:spTree>
    <p:extLst>
      <p:ext uri="{BB962C8B-B14F-4D97-AF65-F5344CB8AC3E}">
        <p14:creationId xmlns:p14="http://schemas.microsoft.com/office/powerpoint/2010/main" val="1147806210"/>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03AAE2-7EC1-915D-8451-86451080F1E3}"/>
              </a:ext>
            </a:extLst>
          </p:cNvPr>
          <p:cNvSpPr>
            <a:spLocks noGrp="1"/>
          </p:cNvSpPr>
          <p:nvPr>
            <p:ph type="title"/>
          </p:nvPr>
        </p:nvSpPr>
        <p:spPr>
          <a:xfrm>
            <a:off x="838200" y="365125"/>
            <a:ext cx="5676900" cy="1325563"/>
          </a:xfrm>
        </p:spPr>
        <p:txBody>
          <a:bodyPr/>
          <a:lstStyle/>
          <a:p>
            <a:r>
              <a:rPr lang="en-US" dirty="0"/>
              <a:t>Great Barrier Reef Marine Park</a:t>
            </a:r>
          </a:p>
        </p:txBody>
      </p:sp>
      <p:sp>
        <p:nvSpPr>
          <p:cNvPr id="3" name="Content Placeholder 2">
            <a:extLst>
              <a:ext uri="{FF2B5EF4-FFF2-40B4-BE49-F238E27FC236}">
                <a16:creationId xmlns:a16="http://schemas.microsoft.com/office/drawing/2014/main" id="{3EC5DE71-1317-59D0-1E04-4BD8B774BD00}"/>
              </a:ext>
            </a:extLst>
          </p:cNvPr>
          <p:cNvSpPr>
            <a:spLocks noGrp="1"/>
          </p:cNvSpPr>
          <p:nvPr>
            <p:ph idx="1"/>
          </p:nvPr>
        </p:nvSpPr>
        <p:spPr>
          <a:xfrm>
            <a:off x="838200" y="2141537"/>
            <a:ext cx="5548313" cy="4351338"/>
          </a:xfrm>
        </p:spPr>
        <p:txBody>
          <a:bodyPr/>
          <a:lstStyle/>
          <a:p>
            <a:r>
              <a:rPr lang="en-US" dirty="0"/>
              <a:t>Started in 1975 but ‘zone’ approach introduced in 2004</a:t>
            </a:r>
          </a:p>
          <a:p>
            <a:r>
              <a:rPr lang="en-US" dirty="0"/>
              <a:t>Basically – enforced no fishing rules in several regions along the reef</a:t>
            </a:r>
          </a:p>
          <a:p>
            <a:r>
              <a:rPr lang="en-US" dirty="0"/>
              <a:t>Included permitting for fishing</a:t>
            </a:r>
          </a:p>
          <a:p>
            <a:r>
              <a:rPr lang="en-US" dirty="0"/>
              <a:t>Benefits neighbors</a:t>
            </a:r>
          </a:p>
        </p:txBody>
      </p:sp>
      <p:pic>
        <p:nvPicPr>
          <p:cNvPr id="5122" name="Picture 2" descr="Figure S1. Map of the Great Barrier Reef Marine Park showing the... |  Download Scientific Diagram">
            <a:extLst>
              <a:ext uri="{FF2B5EF4-FFF2-40B4-BE49-F238E27FC236}">
                <a16:creationId xmlns:a16="http://schemas.microsoft.com/office/drawing/2014/main" id="{C03CA646-80A8-E15D-E9BC-7AEFED0B124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577773" y="0"/>
            <a:ext cx="4881563"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28997356"/>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CE5AFD-8419-B9F7-3E6C-81CF2A54944B}"/>
              </a:ext>
            </a:extLst>
          </p:cNvPr>
          <p:cNvSpPr>
            <a:spLocks noGrp="1"/>
          </p:cNvSpPr>
          <p:nvPr>
            <p:ph type="title"/>
          </p:nvPr>
        </p:nvSpPr>
        <p:spPr>
          <a:xfrm>
            <a:off x="0" y="315912"/>
            <a:ext cx="10515600" cy="1325563"/>
          </a:xfrm>
        </p:spPr>
        <p:txBody>
          <a:bodyPr/>
          <a:lstStyle/>
          <a:p>
            <a:r>
              <a:rPr lang="en-US" dirty="0"/>
              <a:t>Philippines</a:t>
            </a:r>
          </a:p>
        </p:txBody>
      </p:sp>
      <p:sp>
        <p:nvSpPr>
          <p:cNvPr id="3" name="Content Placeholder 2">
            <a:extLst>
              <a:ext uri="{FF2B5EF4-FFF2-40B4-BE49-F238E27FC236}">
                <a16:creationId xmlns:a16="http://schemas.microsoft.com/office/drawing/2014/main" id="{14C915FD-D589-56E1-0C6C-2F1701B713CF}"/>
              </a:ext>
            </a:extLst>
          </p:cNvPr>
          <p:cNvSpPr>
            <a:spLocks noGrp="1"/>
          </p:cNvSpPr>
          <p:nvPr>
            <p:ph idx="1"/>
          </p:nvPr>
        </p:nvSpPr>
        <p:spPr>
          <a:xfrm>
            <a:off x="0" y="1957387"/>
            <a:ext cx="10515600" cy="4351338"/>
          </a:xfrm>
        </p:spPr>
        <p:txBody>
          <a:bodyPr/>
          <a:lstStyle/>
          <a:p>
            <a:r>
              <a:rPr lang="en-US" dirty="0"/>
              <a:t>Failed:</a:t>
            </a:r>
          </a:p>
          <a:p>
            <a:r>
              <a:rPr lang="en-US" dirty="0"/>
              <a:t>Nobody cared</a:t>
            </a:r>
          </a:p>
          <a:p>
            <a:r>
              <a:rPr lang="en-US" dirty="0"/>
              <a:t>Weak fines</a:t>
            </a:r>
          </a:p>
          <a:p>
            <a:r>
              <a:rPr lang="en-US" dirty="0"/>
              <a:t>Despised</a:t>
            </a:r>
          </a:p>
        </p:txBody>
      </p:sp>
      <p:pic>
        <p:nvPicPr>
          <p:cNvPr id="6146" name="Picture 2" descr="INFOGRAPHIC: Marine Protected Areas in the Coral Triangle | WWF">
            <a:extLst>
              <a:ext uri="{FF2B5EF4-FFF2-40B4-BE49-F238E27FC236}">
                <a16:creationId xmlns:a16="http://schemas.microsoft.com/office/drawing/2014/main" id="{913427A3-49D1-627F-9708-2BB404682C3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65403" y="0"/>
            <a:ext cx="9698037"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75297039"/>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1FFDA2-3D12-3A95-8C5E-4085A001434D}"/>
              </a:ext>
            </a:extLst>
          </p:cNvPr>
          <p:cNvSpPr>
            <a:spLocks noGrp="1"/>
          </p:cNvSpPr>
          <p:nvPr>
            <p:ph type="title"/>
          </p:nvPr>
        </p:nvSpPr>
        <p:spPr/>
        <p:txBody>
          <a:bodyPr/>
          <a:lstStyle/>
          <a:p>
            <a:r>
              <a:rPr lang="en-US" dirty="0"/>
              <a:t>Marine Protected Areas in Practice</a:t>
            </a:r>
          </a:p>
        </p:txBody>
      </p:sp>
      <p:sp>
        <p:nvSpPr>
          <p:cNvPr id="3" name="Content Placeholder 2">
            <a:extLst>
              <a:ext uri="{FF2B5EF4-FFF2-40B4-BE49-F238E27FC236}">
                <a16:creationId xmlns:a16="http://schemas.microsoft.com/office/drawing/2014/main" id="{64420376-0839-BE62-9C53-A4389DB4F041}"/>
              </a:ext>
            </a:extLst>
          </p:cNvPr>
          <p:cNvSpPr>
            <a:spLocks noGrp="1"/>
          </p:cNvSpPr>
          <p:nvPr>
            <p:ph idx="1"/>
          </p:nvPr>
        </p:nvSpPr>
        <p:spPr>
          <a:xfrm>
            <a:off x="838200" y="2366011"/>
            <a:ext cx="10515600" cy="3810952"/>
          </a:xfrm>
        </p:spPr>
        <p:txBody>
          <a:bodyPr/>
          <a:lstStyle/>
          <a:p>
            <a:r>
              <a:rPr lang="en-US" dirty="0"/>
              <a:t>Great Barrier Reef vs Philippines</a:t>
            </a:r>
          </a:p>
          <a:p>
            <a:pPr lvl="1"/>
            <a:r>
              <a:rPr lang="en-US" dirty="0"/>
              <a:t>GBR: Strong enforcement, community involvement</a:t>
            </a:r>
          </a:p>
          <a:p>
            <a:pPr lvl="1"/>
            <a:r>
              <a:rPr lang="en-US" dirty="0"/>
              <a:t>Philippines: Weak fines, fragmented enforcement, community hatred</a:t>
            </a:r>
          </a:p>
          <a:p>
            <a:pPr lvl="1"/>
            <a:endParaRPr lang="en-US" dirty="0"/>
          </a:p>
          <a:p>
            <a:r>
              <a:rPr lang="en-US" dirty="0"/>
              <a:t>Very tough to enforce</a:t>
            </a:r>
          </a:p>
        </p:txBody>
      </p:sp>
    </p:spTree>
    <p:extLst>
      <p:ext uri="{BB962C8B-B14F-4D97-AF65-F5344CB8AC3E}">
        <p14:creationId xmlns:p14="http://schemas.microsoft.com/office/powerpoint/2010/main" val="700980072"/>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922350-6D33-DF5D-B64D-8BA0D2FFB0D3}"/>
              </a:ext>
            </a:extLst>
          </p:cNvPr>
          <p:cNvSpPr>
            <a:spLocks noGrp="1"/>
          </p:cNvSpPr>
          <p:nvPr>
            <p:ph type="title"/>
          </p:nvPr>
        </p:nvSpPr>
        <p:spPr/>
        <p:txBody>
          <a:bodyPr/>
          <a:lstStyle/>
          <a:p>
            <a:r>
              <a:rPr lang="en-US" dirty="0"/>
              <a:t>Takeaways from fisheries</a:t>
            </a:r>
          </a:p>
        </p:txBody>
      </p:sp>
      <p:sp>
        <p:nvSpPr>
          <p:cNvPr id="3" name="Content Placeholder 2">
            <a:extLst>
              <a:ext uri="{FF2B5EF4-FFF2-40B4-BE49-F238E27FC236}">
                <a16:creationId xmlns:a16="http://schemas.microsoft.com/office/drawing/2014/main" id="{03C216CB-0C6B-8B7E-917E-F0808C256D3D}"/>
              </a:ext>
            </a:extLst>
          </p:cNvPr>
          <p:cNvSpPr>
            <a:spLocks noGrp="1"/>
          </p:cNvSpPr>
          <p:nvPr>
            <p:ph idx="1"/>
          </p:nvPr>
        </p:nvSpPr>
        <p:spPr/>
        <p:txBody>
          <a:bodyPr/>
          <a:lstStyle/>
          <a:p>
            <a:r>
              <a:rPr lang="en-US" dirty="0"/>
              <a:t>Class example of over-exploitation (tragedy of the commons) of a </a:t>
            </a:r>
            <a:r>
              <a:rPr lang="en-US" i="1" dirty="0"/>
              <a:t>common pool resource </a:t>
            </a:r>
          </a:p>
          <a:p>
            <a:pPr lvl="1"/>
            <a:r>
              <a:rPr lang="en-US" dirty="0"/>
              <a:t>Free entry leads to overharvesting</a:t>
            </a:r>
          </a:p>
          <a:p>
            <a:pPr lvl="1"/>
            <a:r>
              <a:rPr lang="en-US" dirty="0"/>
              <a:t>Profit maximization results in a greater stock being kept</a:t>
            </a:r>
          </a:p>
          <a:p>
            <a:pPr lvl="1"/>
            <a:endParaRPr lang="en-US" dirty="0"/>
          </a:p>
          <a:p>
            <a:r>
              <a:rPr lang="en-US" dirty="0"/>
              <a:t>Policies instruments helpful in management</a:t>
            </a:r>
          </a:p>
          <a:p>
            <a:pPr lvl="1"/>
            <a:r>
              <a:rPr lang="en-US" dirty="0"/>
              <a:t>Need heavy fines, local involvement/participation</a:t>
            </a:r>
          </a:p>
          <a:p>
            <a:pPr lvl="1"/>
            <a:r>
              <a:rPr lang="en-US" dirty="0"/>
              <a:t>Demonstrably beneficial to fishers in the long run</a:t>
            </a:r>
          </a:p>
        </p:txBody>
      </p:sp>
    </p:spTree>
    <p:extLst>
      <p:ext uri="{BB962C8B-B14F-4D97-AF65-F5344CB8AC3E}">
        <p14:creationId xmlns:p14="http://schemas.microsoft.com/office/powerpoint/2010/main" val="3367321580"/>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9C5EB2-54CD-C656-06E7-1995C189A224}"/>
              </a:ext>
            </a:extLst>
          </p:cNvPr>
          <p:cNvSpPr>
            <a:spLocks noGrp="1"/>
          </p:cNvSpPr>
          <p:nvPr>
            <p:ph type="title"/>
          </p:nvPr>
        </p:nvSpPr>
        <p:spPr/>
        <p:txBody>
          <a:bodyPr/>
          <a:lstStyle/>
          <a:p>
            <a:r>
              <a:rPr lang="en-US" dirty="0"/>
              <a:t>Prompt</a:t>
            </a:r>
          </a:p>
        </p:txBody>
      </p:sp>
      <p:sp>
        <p:nvSpPr>
          <p:cNvPr id="3" name="Content Placeholder 2">
            <a:extLst>
              <a:ext uri="{FF2B5EF4-FFF2-40B4-BE49-F238E27FC236}">
                <a16:creationId xmlns:a16="http://schemas.microsoft.com/office/drawing/2014/main" id="{7E8935DD-59E0-815C-2496-4D18760A0453}"/>
              </a:ext>
            </a:extLst>
          </p:cNvPr>
          <p:cNvSpPr>
            <a:spLocks noGrp="1"/>
          </p:cNvSpPr>
          <p:nvPr>
            <p:ph idx="1"/>
          </p:nvPr>
        </p:nvSpPr>
        <p:spPr/>
        <p:txBody>
          <a:bodyPr/>
          <a:lstStyle/>
          <a:p>
            <a:pPr marL="0" indent="0">
              <a:buNone/>
            </a:pPr>
            <a:r>
              <a:rPr lang="en-US" dirty="0"/>
              <a:t>Imagine you own a plot of land</a:t>
            </a:r>
          </a:p>
          <a:p>
            <a:pPr marL="0" indent="0">
              <a:buNone/>
            </a:pPr>
            <a:endParaRPr lang="en-US" dirty="0"/>
          </a:p>
          <a:p>
            <a:pPr marL="0" indent="0">
              <a:buNone/>
            </a:pPr>
            <a:r>
              <a:rPr lang="en-US" dirty="0"/>
              <a:t>You plant trees today and want to eventually cut them down to sell</a:t>
            </a:r>
          </a:p>
          <a:p>
            <a:pPr marL="0" indent="0">
              <a:buNone/>
            </a:pPr>
            <a:endParaRPr lang="en-US" dirty="0"/>
          </a:p>
          <a:p>
            <a:pPr marL="0" indent="0">
              <a:buNone/>
            </a:pPr>
            <a:r>
              <a:rPr lang="en-US" dirty="0"/>
              <a:t>When should you harvest those trees?</a:t>
            </a:r>
          </a:p>
          <a:p>
            <a:pPr marL="0" indent="0">
              <a:buNone/>
            </a:pPr>
            <a:r>
              <a:rPr lang="en-US" dirty="0"/>
              <a:t>	... Knowing you’re going to replant and not sell the land</a:t>
            </a:r>
          </a:p>
        </p:txBody>
      </p:sp>
    </p:spTree>
    <p:extLst>
      <p:ext uri="{BB962C8B-B14F-4D97-AF65-F5344CB8AC3E}">
        <p14:creationId xmlns:p14="http://schemas.microsoft.com/office/powerpoint/2010/main" val="3932387879"/>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3922DC-FC64-BA35-732C-F00437C58F9E}"/>
              </a:ext>
            </a:extLst>
          </p:cNvPr>
          <p:cNvSpPr>
            <a:spLocks noGrp="1"/>
          </p:cNvSpPr>
          <p:nvPr>
            <p:ph type="title"/>
          </p:nvPr>
        </p:nvSpPr>
        <p:spPr/>
        <p:txBody>
          <a:bodyPr/>
          <a:lstStyle/>
          <a:p>
            <a:r>
              <a:rPr lang="en-US" dirty="0"/>
              <a:t>Pause</a:t>
            </a:r>
          </a:p>
        </p:txBody>
      </p:sp>
      <p:sp>
        <p:nvSpPr>
          <p:cNvPr id="3" name="Content Placeholder 2">
            <a:extLst>
              <a:ext uri="{FF2B5EF4-FFF2-40B4-BE49-F238E27FC236}">
                <a16:creationId xmlns:a16="http://schemas.microsoft.com/office/drawing/2014/main" id="{1E38A154-D918-1FAE-5AAB-BF2B9F965546}"/>
              </a:ext>
            </a:extLst>
          </p:cNvPr>
          <p:cNvSpPr>
            <a:spLocks noGrp="1"/>
          </p:cNvSpPr>
          <p:nvPr>
            <p:ph idx="1"/>
          </p:nvPr>
        </p:nvSpPr>
        <p:spPr/>
        <p:txBody>
          <a:bodyPr>
            <a:normAutofit/>
          </a:bodyPr>
          <a:lstStyle/>
          <a:p>
            <a:pPr>
              <a:buNone/>
            </a:pPr>
            <a:r>
              <a:rPr lang="en-US" dirty="0"/>
              <a:t>What did the forest say when it got overharvested?</a:t>
            </a:r>
          </a:p>
          <a:p>
            <a:pPr>
              <a:buNone/>
            </a:pPr>
            <a:endParaRPr lang="en-US" dirty="0"/>
          </a:p>
          <a:p>
            <a:pPr>
              <a:buNone/>
            </a:pPr>
            <a:endParaRPr lang="en-US" dirty="0"/>
          </a:p>
          <a:p>
            <a:pPr>
              <a:buNone/>
            </a:pPr>
            <a:r>
              <a:rPr lang="en-US" dirty="0"/>
              <a:t>Why is the forester also a good programmer?</a:t>
            </a:r>
          </a:p>
          <a:p>
            <a:pPr>
              <a:buNone/>
            </a:pPr>
            <a:endParaRPr lang="en-US" dirty="0"/>
          </a:p>
          <a:p>
            <a:pPr>
              <a:buNone/>
            </a:pPr>
            <a:endParaRPr lang="en-US" dirty="0"/>
          </a:p>
          <a:p>
            <a:pPr>
              <a:buNone/>
            </a:pPr>
            <a:r>
              <a:rPr lang="en-US" dirty="0"/>
              <a:t>Why did the professor bring a tree to class?</a:t>
            </a:r>
          </a:p>
          <a:p>
            <a:endParaRPr lang="en-US" dirty="0"/>
          </a:p>
        </p:txBody>
      </p:sp>
    </p:spTree>
    <p:extLst>
      <p:ext uri="{BB962C8B-B14F-4D97-AF65-F5344CB8AC3E}">
        <p14:creationId xmlns:p14="http://schemas.microsoft.com/office/powerpoint/2010/main" val="2181872135"/>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6BF45C-49BA-EB10-AFF9-1F6E477BB31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F3B8C8D-08D6-8C66-D09B-5AF8F4A56EDB}"/>
              </a:ext>
            </a:extLst>
          </p:cNvPr>
          <p:cNvSpPr>
            <a:spLocks noGrp="1"/>
          </p:cNvSpPr>
          <p:nvPr>
            <p:ph type="title"/>
          </p:nvPr>
        </p:nvSpPr>
        <p:spPr/>
        <p:txBody>
          <a:bodyPr/>
          <a:lstStyle/>
          <a:p>
            <a:r>
              <a:rPr lang="en-US" dirty="0"/>
              <a:t>Pause</a:t>
            </a:r>
          </a:p>
        </p:txBody>
      </p:sp>
      <p:sp>
        <p:nvSpPr>
          <p:cNvPr id="3" name="Content Placeholder 2">
            <a:extLst>
              <a:ext uri="{FF2B5EF4-FFF2-40B4-BE49-F238E27FC236}">
                <a16:creationId xmlns:a16="http://schemas.microsoft.com/office/drawing/2014/main" id="{567BBB0D-95C9-84A9-99B5-B3BA10F5CBDF}"/>
              </a:ext>
            </a:extLst>
          </p:cNvPr>
          <p:cNvSpPr>
            <a:spLocks noGrp="1"/>
          </p:cNvSpPr>
          <p:nvPr>
            <p:ph idx="1"/>
          </p:nvPr>
        </p:nvSpPr>
        <p:spPr/>
        <p:txBody>
          <a:bodyPr>
            <a:normAutofit/>
          </a:bodyPr>
          <a:lstStyle/>
          <a:p>
            <a:pPr>
              <a:buNone/>
            </a:pPr>
            <a:r>
              <a:rPr lang="en-US" dirty="0"/>
              <a:t>What did the forest say when it got overharvested?</a:t>
            </a:r>
          </a:p>
          <a:p>
            <a:pPr>
              <a:buNone/>
            </a:pPr>
            <a:r>
              <a:rPr lang="en-US" dirty="0"/>
              <a:t>“I’m stumped”</a:t>
            </a:r>
          </a:p>
          <a:p>
            <a:pPr>
              <a:buNone/>
            </a:pPr>
            <a:endParaRPr lang="en-US" dirty="0"/>
          </a:p>
          <a:p>
            <a:pPr>
              <a:buNone/>
            </a:pPr>
            <a:r>
              <a:rPr lang="en-US" dirty="0"/>
              <a:t>Why is the forester also a good programmer?</a:t>
            </a:r>
          </a:p>
          <a:p>
            <a:pPr>
              <a:buNone/>
            </a:pPr>
            <a:r>
              <a:rPr lang="en-US" dirty="0"/>
              <a:t>Because they knew how to log their changes</a:t>
            </a:r>
          </a:p>
          <a:p>
            <a:pPr>
              <a:buNone/>
            </a:pPr>
            <a:endParaRPr lang="en-US" dirty="0"/>
          </a:p>
          <a:p>
            <a:pPr>
              <a:buNone/>
            </a:pPr>
            <a:r>
              <a:rPr lang="en-US" dirty="0"/>
              <a:t>Why did the professor bring a tree to class?</a:t>
            </a:r>
          </a:p>
          <a:p>
            <a:pPr marL="0" indent="0">
              <a:buNone/>
            </a:pPr>
            <a:r>
              <a:rPr lang="en-US" dirty="0"/>
              <a:t>For some </a:t>
            </a:r>
            <a:r>
              <a:rPr lang="en-US" i="1" dirty="0"/>
              <a:t>rooted</a:t>
            </a:r>
            <a:r>
              <a:rPr lang="en-US" dirty="0"/>
              <a:t> discussion</a:t>
            </a:r>
          </a:p>
          <a:p>
            <a:endParaRPr lang="en-US" dirty="0"/>
          </a:p>
        </p:txBody>
      </p:sp>
    </p:spTree>
    <p:extLst>
      <p:ext uri="{BB962C8B-B14F-4D97-AF65-F5344CB8AC3E}">
        <p14:creationId xmlns:p14="http://schemas.microsoft.com/office/powerpoint/2010/main" val="3922986902"/>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409B38-D65E-F834-517B-8112E06A89A9}"/>
              </a:ext>
            </a:extLst>
          </p:cNvPr>
          <p:cNvSpPr>
            <a:spLocks noGrp="1"/>
          </p:cNvSpPr>
          <p:nvPr>
            <p:ph type="title"/>
          </p:nvPr>
        </p:nvSpPr>
        <p:spPr/>
        <p:txBody>
          <a:bodyPr/>
          <a:lstStyle/>
          <a:p>
            <a:r>
              <a:rPr lang="en-US" dirty="0"/>
              <a:t>Forestry</a:t>
            </a:r>
          </a:p>
        </p:txBody>
      </p:sp>
      <p:sp>
        <p:nvSpPr>
          <p:cNvPr id="3" name="Content Placeholder 2">
            <a:extLst>
              <a:ext uri="{FF2B5EF4-FFF2-40B4-BE49-F238E27FC236}">
                <a16:creationId xmlns:a16="http://schemas.microsoft.com/office/drawing/2014/main" id="{CB931809-E194-9BC5-BC79-2F19E72EFDD9}"/>
              </a:ext>
            </a:extLst>
          </p:cNvPr>
          <p:cNvSpPr>
            <a:spLocks noGrp="1"/>
          </p:cNvSpPr>
          <p:nvPr>
            <p:ph idx="1"/>
          </p:nvPr>
        </p:nvSpPr>
        <p:spPr/>
        <p:txBody>
          <a:bodyPr/>
          <a:lstStyle/>
          <a:p>
            <a:r>
              <a:rPr lang="en-US" dirty="0"/>
              <a:t>Now not talking about </a:t>
            </a:r>
            <a:r>
              <a:rPr lang="en-US" i="1" dirty="0"/>
              <a:t>stock </a:t>
            </a:r>
            <a:r>
              <a:rPr lang="en-US" dirty="0"/>
              <a:t>we’re talking about </a:t>
            </a:r>
            <a:r>
              <a:rPr lang="en-US" i="1" dirty="0"/>
              <a:t>rotation</a:t>
            </a:r>
          </a:p>
          <a:p>
            <a:r>
              <a:rPr lang="en-US" dirty="0"/>
              <a:t>Still harvesting but once we do, the ‘stock’ resets (for now)</a:t>
            </a:r>
          </a:p>
          <a:p>
            <a:endParaRPr lang="en-US" dirty="0"/>
          </a:p>
          <a:p>
            <a:r>
              <a:rPr lang="en-US" dirty="0"/>
              <a:t>Intuition:</a:t>
            </a:r>
          </a:p>
          <a:p>
            <a:pPr lvl="1"/>
            <a:r>
              <a:rPr lang="en-US" dirty="0"/>
              <a:t>Trees grow in volume/value over time, but also tie up resources (land)</a:t>
            </a:r>
          </a:p>
          <a:p>
            <a:pPr lvl="1"/>
            <a:r>
              <a:rPr lang="en-US" dirty="0"/>
              <a:t>Harvesting too early: missed value from growth</a:t>
            </a:r>
          </a:p>
          <a:p>
            <a:pPr lvl="1"/>
            <a:r>
              <a:rPr lang="en-US" dirty="0"/>
              <a:t>Harvesting too late: delays profits (we want money </a:t>
            </a:r>
            <a:r>
              <a:rPr lang="en-US" i="1" dirty="0"/>
              <a:t>now</a:t>
            </a:r>
            <a:r>
              <a:rPr lang="en-US" dirty="0"/>
              <a:t>)</a:t>
            </a:r>
          </a:p>
          <a:p>
            <a:pPr lvl="1"/>
            <a:endParaRPr lang="en-US" dirty="0"/>
          </a:p>
          <a:p>
            <a:r>
              <a:rPr lang="en-US" dirty="0"/>
              <a:t>Enter the </a:t>
            </a:r>
            <a:r>
              <a:rPr lang="en-US" i="1" dirty="0"/>
              <a:t>Faustmann Model</a:t>
            </a:r>
            <a:endParaRPr lang="en-US" dirty="0"/>
          </a:p>
        </p:txBody>
      </p:sp>
    </p:spTree>
    <p:extLst>
      <p:ext uri="{BB962C8B-B14F-4D97-AF65-F5344CB8AC3E}">
        <p14:creationId xmlns:p14="http://schemas.microsoft.com/office/powerpoint/2010/main" val="1664963109"/>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E83AC2-C1F5-1286-91E3-4F3267538BAF}"/>
              </a:ext>
            </a:extLst>
          </p:cNvPr>
          <p:cNvSpPr>
            <a:spLocks noGrp="1"/>
          </p:cNvSpPr>
          <p:nvPr>
            <p:ph type="title"/>
          </p:nvPr>
        </p:nvSpPr>
        <p:spPr>
          <a:xfrm>
            <a:off x="4654296" y="329184"/>
            <a:ext cx="6894576" cy="1783080"/>
          </a:xfrm>
        </p:spPr>
        <p:txBody>
          <a:bodyPr anchor="b">
            <a:normAutofit/>
          </a:bodyPr>
          <a:lstStyle/>
          <a:p>
            <a:r>
              <a:rPr lang="en-US" sz="5400" dirty="0"/>
              <a:t>Martin Faustmann</a:t>
            </a:r>
          </a:p>
        </p:txBody>
      </p:sp>
      <p:pic>
        <p:nvPicPr>
          <p:cNvPr id="2050" name="Picture 2" descr="Faustmann, Martin">
            <a:extLst>
              <a:ext uri="{FF2B5EF4-FFF2-40B4-BE49-F238E27FC236}">
                <a16:creationId xmlns:a16="http://schemas.microsoft.com/office/drawing/2014/main" id="{99B836C0-CACC-88EF-72EA-913FF61AC15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r="1512" b="-1"/>
          <a:stretch/>
        </p:blipFill>
        <p:spPr bwMode="auto">
          <a:xfrm>
            <a:off x="20" y="1"/>
            <a:ext cx="4052522" cy="6858000"/>
          </a:xfrm>
          <a:custGeom>
            <a:avLst/>
            <a:gdLst/>
            <a:ahLst/>
            <a:cxnLst/>
            <a:rect l="l" t="t" r="r" b="b"/>
            <a:pathLst>
              <a:path w="4052542" h="6858000">
                <a:moveTo>
                  <a:pt x="0" y="0"/>
                </a:moveTo>
                <a:lnTo>
                  <a:pt x="4020923" y="0"/>
                </a:lnTo>
                <a:lnTo>
                  <a:pt x="4022656" y="14697"/>
                </a:lnTo>
                <a:cubicBezTo>
                  <a:pt x="4037606" y="98462"/>
                  <a:pt x="4035072" y="183369"/>
                  <a:pt x="4039126" y="267642"/>
                </a:cubicBezTo>
                <a:cubicBezTo>
                  <a:pt x="4043941" y="370699"/>
                  <a:pt x="4037860" y="474136"/>
                  <a:pt x="4035579" y="577446"/>
                </a:cubicBezTo>
                <a:cubicBezTo>
                  <a:pt x="4033805" y="665399"/>
                  <a:pt x="4025063" y="753226"/>
                  <a:pt x="4027724" y="841306"/>
                </a:cubicBezTo>
                <a:cubicBezTo>
                  <a:pt x="4027914" y="844352"/>
                  <a:pt x="4027914" y="847398"/>
                  <a:pt x="4027724" y="850444"/>
                </a:cubicBezTo>
                <a:cubicBezTo>
                  <a:pt x="4019615" y="947281"/>
                  <a:pt x="4019615" y="1044626"/>
                  <a:pt x="4027724" y="1141464"/>
                </a:cubicBezTo>
                <a:cubicBezTo>
                  <a:pt x="4030296" y="1181772"/>
                  <a:pt x="4029574" y="1222221"/>
                  <a:pt x="4025570" y="1262415"/>
                </a:cubicBezTo>
                <a:cubicBezTo>
                  <a:pt x="4021769" y="1313563"/>
                  <a:pt x="4009606" y="1365472"/>
                  <a:pt x="4018348" y="1416238"/>
                </a:cubicBezTo>
                <a:cubicBezTo>
                  <a:pt x="4024037" y="1458058"/>
                  <a:pt x="4027166" y="1500194"/>
                  <a:pt x="4027724" y="1542394"/>
                </a:cubicBezTo>
                <a:cubicBezTo>
                  <a:pt x="4032158" y="1636820"/>
                  <a:pt x="4027977" y="1731753"/>
                  <a:pt x="4026330" y="1826433"/>
                </a:cubicBezTo>
                <a:cubicBezTo>
                  <a:pt x="4024556" y="1936724"/>
                  <a:pt x="4027344" y="2047015"/>
                  <a:pt x="4018475" y="2157432"/>
                </a:cubicBezTo>
                <a:cubicBezTo>
                  <a:pt x="4013597" y="2246629"/>
                  <a:pt x="4013597" y="2336029"/>
                  <a:pt x="4018475" y="2425226"/>
                </a:cubicBezTo>
                <a:cubicBezTo>
                  <a:pt x="4020882" y="2506961"/>
                  <a:pt x="4033172" y="2587934"/>
                  <a:pt x="4031145" y="2670557"/>
                </a:cubicBezTo>
                <a:cubicBezTo>
                  <a:pt x="4028737" y="2766886"/>
                  <a:pt x="4017335" y="2862962"/>
                  <a:pt x="4020882" y="2959546"/>
                </a:cubicBezTo>
                <a:cubicBezTo>
                  <a:pt x="4022529" y="3005617"/>
                  <a:pt x="4022656" y="3051688"/>
                  <a:pt x="4023543" y="3097758"/>
                </a:cubicBezTo>
                <a:cubicBezTo>
                  <a:pt x="4024683" y="3153221"/>
                  <a:pt x="4034692" y="3208556"/>
                  <a:pt x="4029117" y="3263892"/>
                </a:cubicBezTo>
                <a:cubicBezTo>
                  <a:pt x="4019869" y="3356161"/>
                  <a:pt x="3995923" y="3446906"/>
                  <a:pt x="4010873" y="3541459"/>
                </a:cubicBezTo>
                <a:cubicBezTo>
                  <a:pt x="4019108" y="3593495"/>
                  <a:pt x="4028357" y="3645658"/>
                  <a:pt x="4033172" y="3698201"/>
                </a:cubicBezTo>
                <a:cubicBezTo>
                  <a:pt x="4037353" y="3745160"/>
                  <a:pt x="4047868" y="3792881"/>
                  <a:pt x="4039886" y="3839586"/>
                </a:cubicBezTo>
                <a:cubicBezTo>
                  <a:pt x="4033045" y="3879565"/>
                  <a:pt x="4036592" y="3919544"/>
                  <a:pt x="4031271" y="3959523"/>
                </a:cubicBezTo>
                <a:cubicBezTo>
                  <a:pt x="4024303" y="4011939"/>
                  <a:pt x="4020629" y="4065244"/>
                  <a:pt x="4015308" y="4118042"/>
                </a:cubicBezTo>
                <a:cubicBezTo>
                  <a:pt x="4010620" y="4165889"/>
                  <a:pt x="4006946" y="4213610"/>
                  <a:pt x="4019615" y="4258539"/>
                </a:cubicBezTo>
                <a:cubicBezTo>
                  <a:pt x="4050656" y="4371622"/>
                  <a:pt x="4033679" y="4484070"/>
                  <a:pt x="4022023" y="4596391"/>
                </a:cubicBezTo>
                <a:cubicBezTo>
                  <a:pt x="4016321" y="4650965"/>
                  <a:pt x="4007959" y="4708712"/>
                  <a:pt x="4020629" y="4758718"/>
                </a:cubicBezTo>
                <a:cubicBezTo>
                  <a:pt x="4043941" y="4847432"/>
                  <a:pt x="4025697" y="4931705"/>
                  <a:pt x="4015561" y="5016866"/>
                </a:cubicBezTo>
                <a:cubicBezTo>
                  <a:pt x="4003335" y="5100174"/>
                  <a:pt x="4005096" y="5184929"/>
                  <a:pt x="4020756" y="5267654"/>
                </a:cubicBezTo>
                <a:cubicBezTo>
                  <a:pt x="4033172" y="5326035"/>
                  <a:pt x="4033172" y="5385432"/>
                  <a:pt x="4034692" y="5444194"/>
                </a:cubicBezTo>
                <a:cubicBezTo>
                  <a:pt x="4035579" y="5481001"/>
                  <a:pt x="4022023" y="5518441"/>
                  <a:pt x="4013027" y="5555120"/>
                </a:cubicBezTo>
                <a:cubicBezTo>
                  <a:pt x="3996937" y="5621371"/>
                  <a:pt x="3991109" y="5688636"/>
                  <a:pt x="4013027" y="5753237"/>
                </a:cubicBezTo>
                <a:cubicBezTo>
                  <a:pt x="4043561" y="5842713"/>
                  <a:pt x="4061045" y="5932189"/>
                  <a:pt x="4048375" y="6026870"/>
                </a:cubicBezTo>
                <a:cubicBezTo>
                  <a:pt x="4041027" y="6085251"/>
                  <a:pt x="4039380" y="6144902"/>
                  <a:pt x="4028357" y="6202522"/>
                </a:cubicBezTo>
                <a:cubicBezTo>
                  <a:pt x="4010240" y="6298091"/>
                  <a:pt x="4016701" y="6393024"/>
                  <a:pt x="4031145" y="6487196"/>
                </a:cubicBezTo>
                <a:cubicBezTo>
                  <a:pt x="4041293" y="6565885"/>
                  <a:pt x="4042395" y="6645474"/>
                  <a:pt x="4034439" y="6724403"/>
                </a:cubicBezTo>
                <a:lnTo>
                  <a:pt x="4025206" y="6858000"/>
                </a:lnTo>
                <a:lnTo>
                  <a:pt x="0" y="6858000"/>
                </a:lnTo>
                <a:close/>
              </a:path>
            </a:pathLst>
          </a:custGeom>
          <a:noFill/>
          <a:extLst>
            <a:ext uri="{909E8E84-426E-40DD-AFC4-6F175D3DCCD1}">
              <a14:hiddenFill xmlns:a14="http://schemas.microsoft.com/office/drawing/2010/main">
                <a:solidFill>
                  <a:srgbClr val="FFFFFF"/>
                </a:solidFill>
              </a14:hiddenFill>
            </a:ext>
          </a:extLst>
        </p:spPr>
      </p:pic>
      <p:sp>
        <p:nvSpPr>
          <p:cNvPr id="3" name="Content Placeholder 2">
            <a:extLst>
              <a:ext uri="{FF2B5EF4-FFF2-40B4-BE49-F238E27FC236}">
                <a16:creationId xmlns:a16="http://schemas.microsoft.com/office/drawing/2014/main" id="{630DA6A0-49AE-63B7-0ED4-56FD3C21882E}"/>
              </a:ext>
            </a:extLst>
          </p:cNvPr>
          <p:cNvSpPr>
            <a:spLocks noGrp="1"/>
          </p:cNvSpPr>
          <p:nvPr>
            <p:ph idx="1"/>
          </p:nvPr>
        </p:nvSpPr>
        <p:spPr>
          <a:xfrm>
            <a:off x="4654296" y="2706624"/>
            <a:ext cx="4569217" cy="3483864"/>
          </a:xfrm>
        </p:spPr>
        <p:txBody>
          <a:bodyPr>
            <a:normAutofit fontScale="92500" lnSpcReduction="10000"/>
          </a:bodyPr>
          <a:lstStyle/>
          <a:p>
            <a:r>
              <a:rPr lang="en-US" sz="2200" dirty="0"/>
              <a:t>Born 1822, Died 1876</a:t>
            </a:r>
          </a:p>
          <a:p>
            <a:r>
              <a:rPr lang="en-US" sz="2200" dirty="0"/>
              <a:t>Spotty college record</a:t>
            </a:r>
          </a:p>
          <a:p>
            <a:r>
              <a:rPr lang="en-US" sz="2200" dirty="0"/>
              <a:t>Quickly became chief forester of </a:t>
            </a:r>
            <a:r>
              <a:rPr lang="en-US" sz="2200" dirty="0" err="1"/>
              <a:t>Dudenhofen</a:t>
            </a:r>
            <a:r>
              <a:rPr lang="en-US" sz="2200" dirty="0"/>
              <a:t> (Black Forest)</a:t>
            </a:r>
          </a:p>
          <a:p>
            <a:r>
              <a:rPr lang="en-US" sz="2200" dirty="0"/>
              <a:t>Known for incorporating time into the consideration of forest harvests:</a:t>
            </a:r>
          </a:p>
          <a:p>
            <a:pPr marL="236538" indent="-55563">
              <a:buNone/>
            </a:pPr>
            <a:r>
              <a:rPr lang="en-US" sz="2200" dirty="0"/>
              <a:t>“</a:t>
            </a:r>
            <a:r>
              <a:rPr lang="en-US" sz="1600" b="0" i="0" dirty="0">
                <a:solidFill>
                  <a:srgbClr val="202122"/>
                </a:solidFill>
                <a:effectLst/>
                <a:latin typeface="Arial" panose="020B0604020202020204" pitchFamily="34" charset="0"/>
              </a:rPr>
              <a:t>If a patient forester chooses to let their stand grow for an additional decade, they might receive a much larger timber sale revenue, but at the cost of delaying the next rotation: after harvesting, they are left with bare land, while their impatient colleague now has 10-year-old-trees.”</a:t>
            </a:r>
            <a:endParaRPr lang="en-US" sz="2200" dirty="0"/>
          </a:p>
        </p:txBody>
      </p:sp>
    </p:spTree>
    <p:extLst>
      <p:ext uri="{BB962C8B-B14F-4D97-AF65-F5344CB8AC3E}">
        <p14:creationId xmlns:p14="http://schemas.microsoft.com/office/powerpoint/2010/main" val="2157039384"/>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B826CD-1C4F-1BC0-054B-ACE1F4959B29}"/>
              </a:ext>
            </a:extLst>
          </p:cNvPr>
          <p:cNvSpPr>
            <a:spLocks noGrp="1"/>
          </p:cNvSpPr>
          <p:nvPr>
            <p:ph type="title"/>
          </p:nvPr>
        </p:nvSpPr>
        <p:spPr>
          <a:xfrm>
            <a:off x="1057025" y="922644"/>
            <a:ext cx="5040285" cy="1169585"/>
          </a:xfrm>
        </p:spPr>
        <p:txBody>
          <a:bodyPr anchor="b">
            <a:normAutofit/>
          </a:bodyPr>
          <a:lstStyle/>
          <a:p>
            <a:r>
              <a:rPr lang="en-US" sz="4000" dirty="0"/>
              <a:t>The Faustmann Model</a:t>
            </a:r>
          </a:p>
        </p:txBody>
      </p:sp>
      <p:sp>
        <p:nvSpPr>
          <p:cNvPr id="3" name="Content Placeholder 2">
            <a:extLst>
              <a:ext uri="{FF2B5EF4-FFF2-40B4-BE49-F238E27FC236}">
                <a16:creationId xmlns:a16="http://schemas.microsoft.com/office/drawing/2014/main" id="{702B13E8-216B-5ADE-AC17-A2AACF2DDCA7}"/>
              </a:ext>
            </a:extLst>
          </p:cNvPr>
          <p:cNvSpPr>
            <a:spLocks noGrp="1"/>
          </p:cNvSpPr>
          <p:nvPr>
            <p:ph idx="1"/>
          </p:nvPr>
        </p:nvSpPr>
        <p:spPr>
          <a:xfrm>
            <a:off x="1055715" y="2508105"/>
            <a:ext cx="5040285" cy="3632493"/>
          </a:xfrm>
        </p:spPr>
        <p:txBody>
          <a:bodyPr anchor="ctr">
            <a:normAutofit/>
          </a:bodyPr>
          <a:lstStyle/>
          <a:p>
            <a:r>
              <a:rPr lang="en-US" sz="2000" dirty="0"/>
              <a:t>Used widely in forestry and resource management</a:t>
            </a:r>
          </a:p>
          <a:p>
            <a:endParaRPr lang="en-US" sz="2000" dirty="0"/>
          </a:p>
          <a:p>
            <a:r>
              <a:rPr lang="en-US" sz="2000" dirty="0"/>
              <a:t>Actually used by companies and governments (more on this later)</a:t>
            </a:r>
          </a:p>
          <a:p>
            <a:endParaRPr lang="en-US" sz="2000" dirty="0"/>
          </a:p>
          <a:p>
            <a:r>
              <a:rPr lang="en-US" sz="2000" b="1" i="1" dirty="0"/>
              <a:t>Fundamentally: How you choose a rotation period to maximize the value of land when it can be harvest, replanted, and used forever on a T-year cycle?</a:t>
            </a:r>
          </a:p>
          <a:p>
            <a:endParaRPr lang="en-US" sz="2000" dirty="0"/>
          </a:p>
        </p:txBody>
      </p:sp>
      <p:pic>
        <p:nvPicPr>
          <p:cNvPr id="5" name="Picture 4">
            <a:extLst>
              <a:ext uri="{FF2B5EF4-FFF2-40B4-BE49-F238E27FC236}">
                <a16:creationId xmlns:a16="http://schemas.microsoft.com/office/drawing/2014/main" id="{632E6F46-0A05-89D7-4744-CCA7068A21B5}"/>
              </a:ext>
            </a:extLst>
          </p:cNvPr>
          <p:cNvPicPr>
            <a:picLocks noChangeAspect="1"/>
          </p:cNvPicPr>
          <p:nvPr/>
        </p:nvPicPr>
        <p:blipFill>
          <a:blip r:embed="rId2"/>
          <a:stretch>
            <a:fillRect/>
          </a:stretch>
        </p:blipFill>
        <p:spPr>
          <a:xfrm>
            <a:off x="6946667" y="1104752"/>
            <a:ext cx="4389120" cy="1920239"/>
          </a:xfrm>
          <a:prstGeom prst="rect">
            <a:avLst/>
          </a:prstGeom>
        </p:spPr>
      </p:pic>
      <p:pic>
        <p:nvPicPr>
          <p:cNvPr id="4" name="Picture 3">
            <a:extLst>
              <a:ext uri="{FF2B5EF4-FFF2-40B4-BE49-F238E27FC236}">
                <a16:creationId xmlns:a16="http://schemas.microsoft.com/office/drawing/2014/main" id="{7FD37DF8-2EBD-B5FA-2FCB-BF06AE71E2DC}"/>
              </a:ext>
            </a:extLst>
          </p:cNvPr>
          <p:cNvPicPr>
            <a:picLocks noChangeAspect="1"/>
          </p:cNvPicPr>
          <p:nvPr/>
        </p:nvPicPr>
        <p:blipFill>
          <a:blip r:embed="rId3"/>
          <a:stretch>
            <a:fillRect/>
          </a:stretch>
        </p:blipFill>
        <p:spPr>
          <a:xfrm>
            <a:off x="6946667" y="4114024"/>
            <a:ext cx="4389120" cy="1503273"/>
          </a:xfrm>
          <a:prstGeom prst="rect">
            <a:avLst/>
          </a:prstGeom>
        </p:spPr>
      </p:pic>
    </p:spTree>
    <p:extLst>
      <p:ext uri="{BB962C8B-B14F-4D97-AF65-F5344CB8AC3E}">
        <p14:creationId xmlns:p14="http://schemas.microsoft.com/office/powerpoint/2010/main" val="3942017543"/>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48AB89-94BE-718B-68D8-1C1841E6F414}"/>
              </a:ext>
            </a:extLst>
          </p:cNvPr>
          <p:cNvSpPr>
            <a:spLocks noGrp="1"/>
          </p:cNvSpPr>
          <p:nvPr>
            <p:ph type="title"/>
          </p:nvPr>
        </p:nvSpPr>
        <p:spPr/>
        <p:txBody>
          <a:bodyPr/>
          <a:lstStyle/>
          <a:p>
            <a:r>
              <a:rPr lang="en-US" dirty="0"/>
              <a:t>Main difference with Faustmann and others</a:t>
            </a:r>
          </a:p>
        </p:txBody>
      </p:sp>
      <p:sp>
        <p:nvSpPr>
          <p:cNvPr id="3" name="Content Placeholder 2">
            <a:extLst>
              <a:ext uri="{FF2B5EF4-FFF2-40B4-BE49-F238E27FC236}">
                <a16:creationId xmlns:a16="http://schemas.microsoft.com/office/drawing/2014/main" id="{87FC5C75-FCD3-69C9-D48D-E755E9C6AFA6}"/>
              </a:ext>
            </a:extLst>
          </p:cNvPr>
          <p:cNvSpPr>
            <a:spLocks noGrp="1"/>
          </p:cNvSpPr>
          <p:nvPr>
            <p:ph idx="1"/>
          </p:nvPr>
        </p:nvSpPr>
        <p:spPr>
          <a:xfrm>
            <a:off x="838200" y="2263139"/>
            <a:ext cx="10515600" cy="3913823"/>
          </a:xfrm>
        </p:spPr>
        <p:txBody>
          <a:bodyPr/>
          <a:lstStyle/>
          <a:p>
            <a:r>
              <a:rPr lang="en-US" dirty="0"/>
              <a:t>In this sense – our choice variable is the optimal ‘timing’ of when to harvest, it is not some harvest amount</a:t>
            </a:r>
          </a:p>
          <a:p>
            <a:endParaRPr lang="en-US" dirty="0"/>
          </a:p>
          <a:p>
            <a:r>
              <a:rPr lang="en-US" dirty="0"/>
              <a:t>That is – we are choosing the length of time between the planting period and harvesting that maximizes our long-run (to infinity!) profits</a:t>
            </a:r>
          </a:p>
          <a:p>
            <a:endParaRPr lang="en-US" dirty="0"/>
          </a:p>
        </p:txBody>
      </p:sp>
    </p:spTree>
    <p:extLst>
      <p:ext uri="{BB962C8B-B14F-4D97-AF65-F5344CB8AC3E}">
        <p14:creationId xmlns:p14="http://schemas.microsoft.com/office/powerpoint/2010/main" val="1760573646"/>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3E82D3-E465-2A2A-C90E-06AE5CD07377}"/>
              </a:ext>
            </a:extLst>
          </p:cNvPr>
          <p:cNvSpPr>
            <a:spLocks noGrp="1"/>
          </p:cNvSpPr>
          <p:nvPr>
            <p:ph type="title"/>
          </p:nvPr>
        </p:nvSpPr>
        <p:spPr/>
        <p:txBody>
          <a:bodyPr/>
          <a:lstStyle/>
          <a:p>
            <a:r>
              <a:rPr lang="en-US" dirty="0"/>
              <a:t>The Faustmann Model</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A5F41C9E-F8EA-B4E5-1D2F-94C25F936EBA}"/>
                  </a:ext>
                </a:extLst>
              </p:cNvPr>
              <p:cNvSpPr>
                <a:spLocks noGrp="1"/>
              </p:cNvSpPr>
              <p:nvPr>
                <p:ph idx="1"/>
              </p:nvPr>
            </p:nvSpPr>
            <p:spPr/>
            <p:txBody>
              <a:bodyPr>
                <a:normAutofit lnSpcReduction="10000"/>
              </a:bodyPr>
              <a:lstStyle/>
              <a:p>
                <a:r>
                  <a:rPr lang="en-US" dirty="0"/>
                  <a:t>Objective: Maximize the value of the land, discounted over time</a:t>
                </a:r>
              </a:p>
              <a:p>
                <a:pPr lvl="1"/>
                <a:r>
                  <a:rPr lang="en-US" dirty="0"/>
                  <a:t>Value a function of when you harvest – </a:t>
                </a:r>
                <a:r>
                  <a:rPr lang="en-US" i="1" dirty="0"/>
                  <a:t>V(T)</a:t>
                </a:r>
              </a:p>
              <a:p>
                <a:pPr lvl="1"/>
                <a:r>
                  <a:rPr lang="en-US" dirty="0"/>
                  <a:t>Cost of replanting - </a:t>
                </a:r>
                <a:r>
                  <a:rPr lang="en-US" i="1" dirty="0"/>
                  <a:t>c</a:t>
                </a:r>
              </a:p>
              <a:p>
                <a:pPr lvl="1"/>
                <a:r>
                  <a:rPr lang="en-US" dirty="0"/>
                  <a:t>Balancing present vs future (discounting)</a:t>
                </a:r>
              </a:p>
              <a:p>
                <a:pPr lvl="1"/>
                <a:r>
                  <a:rPr lang="en-US" dirty="0"/>
                  <a:t>Replanting infinitely</a:t>
                </a:r>
              </a:p>
              <a:p>
                <a:pPr lvl="1"/>
                <a:endParaRPr lang="en-US" dirty="0"/>
              </a:p>
              <a:p>
                <a:r>
                  <a:rPr lang="en-US" dirty="0"/>
                  <a:t>Total value == Land Expectation Value (LEV)</a:t>
                </a:r>
              </a:p>
              <a:p>
                <a:endParaRPr lang="en-US" dirty="0"/>
              </a:p>
              <a:p>
                <a:r>
                  <a:rPr lang="en-US" dirty="0"/>
                  <a:t>Value from one harvest taken at time </a:t>
                </a:r>
                <a:r>
                  <a:rPr lang="en-US" i="1" dirty="0"/>
                  <a:t>T</a:t>
                </a:r>
                <a:r>
                  <a:rPr lang="en-US" dirty="0"/>
                  <a:t>: </a:t>
                </a:r>
              </a:p>
              <a:p>
                <a:pPr marL="0"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𝑉</m:t>
                      </m:r>
                      <m:d>
                        <m:dPr>
                          <m:ctrlPr>
                            <a:rPr lang="en-US" b="0" i="1" smtClean="0">
                              <a:latin typeface="Cambria Math" panose="02040503050406030204" pitchFamily="18" charset="0"/>
                            </a:rPr>
                          </m:ctrlPr>
                        </m:dPr>
                        <m:e>
                          <m:r>
                            <a:rPr lang="en-US" b="0" i="1" smtClean="0">
                              <a:latin typeface="Cambria Math" panose="02040503050406030204" pitchFamily="18" charset="0"/>
                            </a:rPr>
                            <m:t>𝑇</m:t>
                          </m:r>
                        </m:e>
                      </m:d>
                      <m:r>
                        <a:rPr lang="en-US" b="0" i="1" smtClean="0">
                          <a:latin typeface="Cambria Math" panose="02040503050406030204" pitchFamily="18" charset="0"/>
                        </a:rPr>
                        <m:t>−</m:t>
                      </m:r>
                      <m:r>
                        <a:rPr lang="en-US" b="0" i="1" smtClean="0">
                          <a:latin typeface="Cambria Math" panose="02040503050406030204" pitchFamily="18" charset="0"/>
                        </a:rPr>
                        <m:t>𝑐</m:t>
                      </m:r>
                    </m:oMath>
                  </m:oMathPara>
                </a14:m>
                <a:endParaRPr lang="en-US" dirty="0"/>
              </a:p>
            </p:txBody>
          </p:sp>
        </mc:Choice>
        <mc:Fallback xmlns="">
          <p:sp>
            <p:nvSpPr>
              <p:cNvPr id="3" name="Content Placeholder 2">
                <a:extLst>
                  <a:ext uri="{FF2B5EF4-FFF2-40B4-BE49-F238E27FC236}">
                    <a16:creationId xmlns:a16="http://schemas.microsoft.com/office/drawing/2014/main" id="{A5F41C9E-F8EA-B4E5-1D2F-94C25F936EBA}"/>
                  </a:ext>
                </a:extLst>
              </p:cNvPr>
              <p:cNvSpPr>
                <a:spLocks noGrp="1" noRot="1" noChangeAspect="1" noMove="1" noResize="1" noEditPoints="1" noAdjustHandles="1" noChangeArrowheads="1" noChangeShapeType="1" noTextEdit="1"/>
              </p:cNvSpPr>
              <p:nvPr>
                <p:ph idx="1"/>
              </p:nvPr>
            </p:nvSpPr>
            <p:spPr>
              <a:blipFill>
                <a:blip r:embed="rId2"/>
                <a:stretch>
                  <a:fillRect l="-1086" t="-3198"/>
                </a:stretch>
              </a:blipFill>
            </p:spPr>
            <p:txBody>
              <a:bodyPr/>
              <a:lstStyle/>
              <a:p>
                <a:r>
                  <a:rPr lang="en-US">
                    <a:noFill/>
                  </a:rPr>
                  <a:t> </a:t>
                </a:r>
              </a:p>
            </p:txBody>
          </p:sp>
        </mc:Fallback>
      </mc:AlternateContent>
    </p:spTree>
    <p:extLst>
      <p:ext uri="{BB962C8B-B14F-4D97-AF65-F5344CB8AC3E}">
        <p14:creationId xmlns:p14="http://schemas.microsoft.com/office/powerpoint/2010/main" val="2863167315"/>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0C9366-49F3-12FF-EAAA-D6893B30FD8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5907D33-37A7-FCE0-014C-EE2B779C4D53}"/>
              </a:ext>
            </a:extLst>
          </p:cNvPr>
          <p:cNvSpPr>
            <a:spLocks noGrp="1"/>
          </p:cNvSpPr>
          <p:nvPr>
            <p:ph type="title"/>
          </p:nvPr>
        </p:nvSpPr>
        <p:spPr/>
        <p:txBody>
          <a:bodyPr/>
          <a:lstStyle/>
          <a:p>
            <a:r>
              <a:rPr lang="en-US" dirty="0"/>
              <a:t>The Faustmann Model [II]</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DAB97EBE-6D30-CD9F-2172-F6E4DDC3F591}"/>
                  </a:ext>
                </a:extLst>
              </p:cNvPr>
              <p:cNvSpPr>
                <a:spLocks noGrp="1"/>
              </p:cNvSpPr>
              <p:nvPr>
                <p:ph idx="1"/>
              </p:nvPr>
            </p:nvSpPr>
            <p:spPr/>
            <p:txBody>
              <a:bodyPr>
                <a:normAutofit fontScale="77500" lnSpcReduction="20000"/>
              </a:bodyPr>
              <a:lstStyle/>
              <a:p>
                <a:pPr marL="0" indent="0">
                  <a:buNone/>
                </a:pPr>
                <a:r>
                  <a:rPr lang="en-US" dirty="0"/>
                  <a:t>Value from one harvest taken at time </a:t>
                </a:r>
                <a:r>
                  <a:rPr lang="en-US" i="1" dirty="0"/>
                  <a:t>T</a:t>
                </a:r>
                <a:r>
                  <a:rPr lang="en-US" dirty="0"/>
                  <a:t>: </a:t>
                </a:r>
              </a:p>
              <a:p>
                <a:pPr marL="0"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𝑉</m:t>
                      </m:r>
                      <m:d>
                        <m:dPr>
                          <m:ctrlPr>
                            <a:rPr lang="en-US" b="0" i="1" smtClean="0">
                              <a:latin typeface="Cambria Math" panose="02040503050406030204" pitchFamily="18" charset="0"/>
                            </a:rPr>
                          </m:ctrlPr>
                        </m:dPr>
                        <m:e>
                          <m:r>
                            <a:rPr lang="en-US" b="0" i="1" smtClean="0">
                              <a:latin typeface="Cambria Math" panose="02040503050406030204" pitchFamily="18" charset="0"/>
                            </a:rPr>
                            <m:t>𝑇</m:t>
                          </m:r>
                        </m:e>
                      </m:d>
                      <m:r>
                        <a:rPr lang="en-US" b="0" i="1" smtClean="0">
                          <a:latin typeface="Cambria Math" panose="02040503050406030204" pitchFamily="18" charset="0"/>
                        </a:rPr>
                        <m:t>−</m:t>
                      </m:r>
                      <m:r>
                        <a:rPr lang="en-US" b="0" i="1" smtClean="0">
                          <a:latin typeface="Cambria Math" panose="02040503050406030204" pitchFamily="18" charset="0"/>
                        </a:rPr>
                        <m:t>𝑐</m:t>
                      </m:r>
                    </m:oMath>
                  </m:oMathPara>
                </a14:m>
                <a:endParaRPr lang="en-US" b="0" dirty="0"/>
              </a:p>
              <a:p>
                <a:pPr marL="0" indent="0">
                  <a:buNone/>
                </a:pPr>
                <a:endParaRPr lang="en-US" dirty="0"/>
              </a:p>
              <a:p>
                <a:pPr marL="0" indent="0">
                  <a:buNone/>
                </a:pPr>
                <a:r>
                  <a:rPr lang="en-US" dirty="0"/>
                  <a:t>Now – Add on discounting over infinite time:</a:t>
                </a:r>
              </a:p>
              <a:p>
                <a:pPr marL="0"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𝐿𝐸𝑉</m:t>
                      </m:r>
                      <m:d>
                        <m:dPr>
                          <m:ctrlPr>
                            <a:rPr lang="en-US" b="0" i="1" smtClean="0">
                              <a:latin typeface="Cambria Math" panose="02040503050406030204" pitchFamily="18" charset="0"/>
                            </a:rPr>
                          </m:ctrlPr>
                        </m:dPr>
                        <m:e>
                          <m:r>
                            <a:rPr lang="en-US" b="0" i="1" smtClean="0">
                              <a:latin typeface="Cambria Math" panose="02040503050406030204" pitchFamily="18" charset="0"/>
                            </a:rPr>
                            <m:t>𝑇</m:t>
                          </m:r>
                        </m:e>
                      </m:d>
                      <m:r>
                        <a:rPr lang="en-US" b="0" i="1" smtClean="0">
                          <a:latin typeface="Cambria Math" panose="02040503050406030204" pitchFamily="18" charset="0"/>
                        </a:rPr>
                        <m:t>=</m:t>
                      </m:r>
                      <m:nary>
                        <m:naryPr>
                          <m:chr m:val="∑"/>
                          <m:ctrlPr>
                            <a:rPr lang="en-US" i="1">
                              <a:latin typeface="Cambria Math" panose="02040503050406030204" pitchFamily="18" charset="0"/>
                            </a:rPr>
                          </m:ctrlPr>
                        </m:naryPr>
                        <m:sub>
                          <m:r>
                            <a:rPr lang="en-US" i="1">
                              <a:latin typeface="Cambria Math" panose="02040503050406030204" pitchFamily="18" charset="0"/>
                            </a:rPr>
                            <m:t>𝑘</m:t>
                          </m:r>
                          <m:r>
                            <a:rPr lang="en-US" i="1">
                              <a:latin typeface="Cambria Math" panose="02040503050406030204" pitchFamily="18" charset="0"/>
                            </a:rPr>
                            <m:t>=1</m:t>
                          </m:r>
                        </m:sub>
                        <m:sup>
                          <m:r>
                            <a:rPr lang="en-US" i="1">
                              <a:latin typeface="Cambria Math" panose="02040503050406030204" pitchFamily="18" charset="0"/>
                              <a:ea typeface="Cambria Math" panose="02040503050406030204" pitchFamily="18" charset="0"/>
                            </a:rPr>
                            <m:t>∞</m:t>
                          </m:r>
                        </m:sup>
                        <m:e>
                          <m:f>
                            <m:fPr>
                              <m:ctrlPr>
                                <a:rPr lang="en-US" i="1">
                                  <a:latin typeface="Cambria Math" panose="02040503050406030204" pitchFamily="18" charset="0"/>
                                </a:rPr>
                              </m:ctrlPr>
                            </m:fPr>
                            <m:num>
                              <m:r>
                                <a:rPr lang="en-US" i="1">
                                  <a:latin typeface="Cambria Math" panose="02040503050406030204" pitchFamily="18" charset="0"/>
                                </a:rPr>
                                <m:t>𝑉</m:t>
                              </m:r>
                              <m:d>
                                <m:dPr>
                                  <m:ctrlPr>
                                    <a:rPr lang="en-US" i="1">
                                      <a:latin typeface="Cambria Math" panose="02040503050406030204" pitchFamily="18" charset="0"/>
                                    </a:rPr>
                                  </m:ctrlPr>
                                </m:dPr>
                                <m:e>
                                  <m:r>
                                    <a:rPr lang="en-US" i="1">
                                      <a:latin typeface="Cambria Math" panose="02040503050406030204" pitchFamily="18" charset="0"/>
                                    </a:rPr>
                                    <m:t>𝑇</m:t>
                                  </m:r>
                                </m:e>
                              </m:d>
                              <m:r>
                                <a:rPr lang="en-US" i="1">
                                  <a:latin typeface="Cambria Math" panose="02040503050406030204" pitchFamily="18" charset="0"/>
                                </a:rPr>
                                <m:t>−</m:t>
                              </m:r>
                              <m:r>
                                <a:rPr lang="en-US" i="1">
                                  <a:latin typeface="Cambria Math" panose="02040503050406030204" pitchFamily="18" charset="0"/>
                                </a:rPr>
                                <m:t>𝑐</m:t>
                              </m:r>
                            </m:num>
                            <m:den>
                              <m:sSup>
                                <m:sSupPr>
                                  <m:ctrlPr>
                                    <a:rPr lang="en-US" i="1">
                                      <a:latin typeface="Cambria Math" panose="02040503050406030204" pitchFamily="18" charset="0"/>
                                    </a:rPr>
                                  </m:ctrlPr>
                                </m:sSupPr>
                                <m:e>
                                  <m:r>
                                    <a:rPr lang="en-US" i="1">
                                      <a:latin typeface="Cambria Math" panose="02040503050406030204" pitchFamily="18" charset="0"/>
                                    </a:rPr>
                                    <m:t>𝑒</m:t>
                                  </m:r>
                                </m:e>
                                <m:sup>
                                  <m:r>
                                    <a:rPr lang="en-US" b="0" i="1" smtClean="0">
                                      <a:latin typeface="Cambria Math" panose="02040503050406030204" pitchFamily="18" charset="0"/>
                                    </a:rPr>
                                    <m:t>𝑘</m:t>
                                  </m:r>
                                  <m:r>
                                    <a:rPr lang="en-US" i="1">
                                      <a:latin typeface="Cambria Math" panose="02040503050406030204" pitchFamily="18" charset="0"/>
                                    </a:rPr>
                                    <m:t>𝑟𝑇</m:t>
                                  </m:r>
                                </m:sup>
                              </m:sSup>
                            </m:den>
                          </m:f>
                        </m:e>
                      </m:nary>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i="1">
                              <a:latin typeface="Cambria Math" panose="02040503050406030204" pitchFamily="18" charset="0"/>
                            </a:rPr>
                            <m:t>𝑉</m:t>
                          </m:r>
                          <m:d>
                            <m:dPr>
                              <m:ctrlPr>
                                <a:rPr lang="en-US" i="1">
                                  <a:latin typeface="Cambria Math" panose="02040503050406030204" pitchFamily="18" charset="0"/>
                                </a:rPr>
                              </m:ctrlPr>
                            </m:dPr>
                            <m:e>
                              <m:r>
                                <a:rPr lang="en-US" i="1">
                                  <a:latin typeface="Cambria Math" panose="02040503050406030204" pitchFamily="18" charset="0"/>
                                </a:rPr>
                                <m:t>𝑇</m:t>
                              </m:r>
                            </m:e>
                          </m:d>
                          <m:r>
                            <a:rPr lang="en-US" i="1">
                              <a:latin typeface="Cambria Math" panose="02040503050406030204" pitchFamily="18" charset="0"/>
                            </a:rPr>
                            <m:t>−</m:t>
                          </m:r>
                          <m:r>
                            <a:rPr lang="en-US" i="1">
                              <a:latin typeface="Cambria Math" panose="02040503050406030204" pitchFamily="18" charset="0"/>
                            </a:rPr>
                            <m:t>𝑐</m:t>
                          </m:r>
                        </m:num>
                        <m:den>
                          <m:sSup>
                            <m:sSupPr>
                              <m:ctrlPr>
                                <a:rPr lang="en-US" b="0" i="1" smtClean="0">
                                  <a:latin typeface="Cambria Math" panose="02040503050406030204" pitchFamily="18" charset="0"/>
                                </a:rPr>
                              </m:ctrlPr>
                            </m:sSupPr>
                            <m:e>
                              <m:r>
                                <a:rPr lang="en-US" b="0" i="1" smtClean="0">
                                  <a:latin typeface="Cambria Math" panose="02040503050406030204" pitchFamily="18" charset="0"/>
                                </a:rPr>
                                <m:t>𝑒</m:t>
                              </m:r>
                            </m:e>
                            <m:sup>
                              <m:r>
                                <a:rPr lang="en-US" b="0" i="1" smtClean="0">
                                  <a:latin typeface="Cambria Math" panose="02040503050406030204" pitchFamily="18" charset="0"/>
                                </a:rPr>
                                <m:t>𝑟𝑇</m:t>
                              </m:r>
                            </m:sup>
                          </m:sSup>
                          <m:r>
                            <a:rPr lang="en-US" b="0" i="1" smtClean="0">
                              <a:latin typeface="Cambria Math" panose="02040503050406030204" pitchFamily="18" charset="0"/>
                            </a:rPr>
                            <m:t>−1</m:t>
                          </m:r>
                        </m:den>
                      </m:f>
                    </m:oMath>
                  </m:oMathPara>
                </a14:m>
                <a:endParaRPr lang="en-US" dirty="0"/>
              </a:p>
              <a:p>
                <a:pPr marL="0" indent="0">
                  <a:buNone/>
                </a:pPr>
                <a:endParaRPr lang="en-US" dirty="0"/>
              </a:p>
              <a:p>
                <a:pPr marL="0" indent="0">
                  <a:buNone/>
                </a:pPr>
                <a:endParaRPr lang="en-US" i="1" dirty="0"/>
              </a:p>
              <a:p>
                <a:pPr marL="0" indent="0">
                  <a:buNone/>
                </a:pPr>
                <a:r>
                  <a:rPr lang="en-US" i="1" dirty="0"/>
                  <a:t>Note: -1 comes from the sum of the infinite series..</a:t>
                </a:r>
              </a:p>
              <a:p>
                <a:pPr marL="0"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𝑥</m:t>
                      </m:r>
                      <m:nary>
                        <m:naryPr>
                          <m:chr m:val="∑"/>
                          <m:ctrlPr>
                            <a:rPr lang="en-US" b="0" i="1" smtClean="0">
                              <a:latin typeface="Cambria Math" panose="02040503050406030204" pitchFamily="18" charset="0"/>
                            </a:rPr>
                          </m:ctrlPr>
                        </m:naryPr>
                        <m:sub>
                          <m:r>
                            <a:rPr lang="en-US" b="0" i="1" smtClean="0">
                              <a:latin typeface="Cambria Math" panose="02040503050406030204" pitchFamily="18" charset="0"/>
                            </a:rPr>
                            <m:t>𝑘</m:t>
                          </m:r>
                          <m:r>
                            <a:rPr lang="en-US" b="0" i="1" smtClean="0">
                              <a:latin typeface="Cambria Math" panose="02040503050406030204" pitchFamily="18" charset="0"/>
                            </a:rPr>
                            <m:t>=1</m:t>
                          </m:r>
                        </m:sub>
                        <m:sup>
                          <m:r>
                            <a:rPr lang="en-US" i="1" smtClean="0">
                              <a:latin typeface="Cambria Math" panose="02040503050406030204" pitchFamily="18" charset="0"/>
                              <a:ea typeface="Cambria Math" panose="02040503050406030204" pitchFamily="18" charset="0"/>
                            </a:rPr>
                            <m:t>∞</m:t>
                          </m:r>
                        </m:sup>
                        <m:e>
                          <m:sSup>
                            <m:sSupPr>
                              <m:ctrlPr>
                                <a:rPr lang="en-US" b="0" i="1" smtClean="0">
                                  <a:latin typeface="Cambria Math" panose="02040503050406030204" pitchFamily="18" charset="0"/>
                                </a:rPr>
                              </m:ctrlPr>
                            </m:sSupPr>
                            <m:e>
                              <m:r>
                                <a:rPr lang="en-US" b="0" i="1" smtClean="0">
                                  <a:latin typeface="Cambria Math" panose="02040503050406030204" pitchFamily="18" charset="0"/>
                                </a:rPr>
                                <m:t>𝑒</m:t>
                              </m:r>
                            </m:e>
                            <m:sup>
                              <m:r>
                                <a:rPr lang="en-US" b="0" i="1" smtClean="0">
                                  <a:latin typeface="Cambria Math" panose="02040503050406030204" pitchFamily="18" charset="0"/>
                                </a:rPr>
                                <m:t>−</m:t>
                              </m:r>
                              <m:r>
                                <a:rPr lang="en-US" b="0" i="1" smtClean="0">
                                  <a:latin typeface="Cambria Math" panose="02040503050406030204" pitchFamily="18" charset="0"/>
                                </a:rPr>
                                <m:t>𝑘𝑟𝑇</m:t>
                              </m:r>
                            </m:sup>
                          </m:sSup>
                        </m:e>
                      </m:nary>
                      <m:r>
                        <a:rPr lang="en-US" b="0" i="1" smtClean="0">
                          <a:latin typeface="Cambria Math" panose="02040503050406030204" pitchFamily="18" charset="0"/>
                        </a:rPr>
                        <m:t>=</m:t>
                      </m:r>
                      <m:r>
                        <a:rPr lang="en-US" b="0" i="1" smtClean="0">
                          <a:latin typeface="Cambria Math" panose="02040503050406030204" pitchFamily="18" charset="0"/>
                        </a:rPr>
                        <m:t>𝑥</m:t>
                      </m:r>
                      <m:f>
                        <m:fPr>
                          <m:ctrlPr>
                            <a:rPr lang="en-US" b="0" i="1" smtClean="0">
                              <a:latin typeface="Cambria Math" panose="02040503050406030204" pitchFamily="18" charset="0"/>
                            </a:rPr>
                          </m:ctrlPr>
                        </m:fPr>
                        <m:num>
                          <m:sSup>
                            <m:sSupPr>
                              <m:ctrlPr>
                                <a:rPr lang="en-US" b="0" i="1" smtClean="0">
                                  <a:latin typeface="Cambria Math" panose="02040503050406030204" pitchFamily="18" charset="0"/>
                                </a:rPr>
                              </m:ctrlPr>
                            </m:sSupPr>
                            <m:e>
                              <m:r>
                                <a:rPr lang="en-US" b="0" i="1" smtClean="0">
                                  <a:latin typeface="Cambria Math" panose="02040503050406030204" pitchFamily="18" charset="0"/>
                                </a:rPr>
                                <m:t>𝑒</m:t>
                              </m:r>
                            </m:e>
                            <m:sup>
                              <m:r>
                                <a:rPr lang="en-US" b="0" i="1" smtClean="0">
                                  <a:latin typeface="Cambria Math" panose="02040503050406030204" pitchFamily="18" charset="0"/>
                                </a:rPr>
                                <m:t>−</m:t>
                              </m:r>
                              <m:r>
                                <a:rPr lang="en-US" b="0" i="1" smtClean="0">
                                  <a:latin typeface="Cambria Math" panose="02040503050406030204" pitchFamily="18" charset="0"/>
                                </a:rPr>
                                <m:t>𝑟𝑇</m:t>
                              </m:r>
                            </m:sup>
                          </m:sSup>
                        </m:num>
                        <m:den>
                          <m:r>
                            <a:rPr lang="en-US" b="0" i="1" smtClean="0">
                              <a:latin typeface="Cambria Math" panose="02040503050406030204" pitchFamily="18" charset="0"/>
                            </a:rPr>
                            <m:t>1−</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𝑒</m:t>
                              </m:r>
                            </m:e>
                            <m:sup>
                              <m:r>
                                <a:rPr lang="en-US" b="0" i="1" smtClean="0">
                                  <a:latin typeface="Cambria Math" panose="02040503050406030204" pitchFamily="18" charset="0"/>
                                </a:rPr>
                                <m:t>−</m:t>
                              </m:r>
                              <m:r>
                                <a:rPr lang="en-US" b="0" i="1" smtClean="0">
                                  <a:latin typeface="Cambria Math" panose="02040503050406030204" pitchFamily="18" charset="0"/>
                                </a:rPr>
                                <m:t>𝑟𝑇</m:t>
                              </m:r>
                            </m:sup>
                          </m:sSup>
                        </m:den>
                      </m:f>
                      <m:r>
                        <a:rPr lang="en-US" i="1" smtClean="0">
                          <a:latin typeface="Cambria Math" panose="02040503050406030204" pitchFamily="18" charset="0"/>
                        </a:rPr>
                        <m:t>=</m:t>
                      </m:r>
                      <m:r>
                        <a:rPr lang="en-US" i="1" smtClean="0">
                          <a:latin typeface="Cambria Math" panose="02040503050406030204" pitchFamily="18" charset="0"/>
                        </a:rPr>
                        <m:t>𝑥</m:t>
                      </m:r>
                      <m:f>
                        <m:fPr>
                          <m:ctrlPr>
                            <a:rPr lang="en-US" i="1">
                              <a:latin typeface="Cambria Math" panose="02040503050406030204" pitchFamily="18" charset="0"/>
                            </a:rPr>
                          </m:ctrlPr>
                        </m:fPr>
                        <m:num>
                          <m:sSup>
                            <m:sSupPr>
                              <m:ctrlPr>
                                <a:rPr lang="en-US" i="1">
                                  <a:latin typeface="Cambria Math" panose="02040503050406030204" pitchFamily="18" charset="0"/>
                                </a:rPr>
                              </m:ctrlPr>
                            </m:sSupPr>
                            <m:e>
                              <m:r>
                                <a:rPr lang="en-US" i="1" smtClean="0">
                                  <a:latin typeface="Cambria Math" panose="02040503050406030204" pitchFamily="18" charset="0"/>
                                </a:rPr>
                                <m:t>𝑒</m:t>
                              </m:r>
                            </m:e>
                            <m:sup>
                              <m:r>
                                <a:rPr lang="en-US" i="1" smtClean="0">
                                  <a:latin typeface="Cambria Math" panose="02040503050406030204" pitchFamily="18" charset="0"/>
                                </a:rPr>
                                <m:t>−</m:t>
                              </m:r>
                              <m:r>
                                <a:rPr lang="en-US" i="1" smtClean="0">
                                  <a:latin typeface="Cambria Math" panose="02040503050406030204" pitchFamily="18" charset="0"/>
                                </a:rPr>
                                <m:t>𝑟𝑇</m:t>
                              </m:r>
                            </m:sup>
                          </m:sSup>
                        </m:num>
                        <m:den>
                          <m:r>
                            <a:rPr lang="en-US" i="1" smtClean="0">
                              <a:latin typeface="Cambria Math" panose="02040503050406030204" pitchFamily="18" charset="0"/>
                            </a:rPr>
                            <m:t>1−</m:t>
                          </m:r>
                          <m:sSup>
                            <m:sSupPr>
                              <m:ctrlPr>
                                <a:rPr lang="en-US" i="1">
                                  <a:latin typeface="Cambria Math" panose="02040503050406030204" pitchFamily="18" charset="0"/>
                                </a:rPr>
                              </m:ctrlPr>
                            </m:sSupPr>
                            <m:e>
                              <m:r>
                                <a:rPr lang="en-US" i="1" smtClean="0">
                                  <a:latin typeface="Cambria Math" panose="02040503050406030204" pitchFamily="18" charset="0"/>
                                </a:rPr>
                                <m:t>𝑒</m:t>
                              </m:r>
                            </m:e>
                            <m:sup>
                              <m:r>
                                <a:rPr lang="en-US" i="1" smtClean="0">
                                  <a:latin typeface="Cambria Math" panose="02040503050406030204" pitchFamily="18" charset="0"/>
                                </a:rPr>
                                <m:t>−</m:t>
                              </m:r>
                              <m:r>
                                <a:rPr lang="en-US" i="1" smtClean="0">
                                  <a:latin typeface="Cambria Math" panose="02040503050406030204" pitchFamily="18" charset="0"/>
                                </a:rPr>
                                <m:t>𝑟𝑇</m:t>
                              </m:r>
                            </m:sup>
                          </m:sSup>
                        </m:den>
                      </m:f>
                      <m:f>
                        <m:fPr>
                          <m:ctrlPr>
                            <a:rPr lang="en-US" b="0" i="1" smtClean="0">
                              <a:latin typeface="Cambria Math" panose="02040503050406030204" pitchFamily="18" charset="0"/>
                            </a:rPr>
                          </m:ctrlPr>
                        </m:fPr>
                        <m:num>
                          <m:sSup>
                            <m:sSupPr>
                              <m:ctrlPr>
                                <a:rPr lang="en-US" b="0" i="1" smtClean="0">
                                  <a:latin typeface="Cambria Math" panose="02040503050406030204" pitchFamily="18" charset="0"/>
                                </a:rPr>
                              </m:ctrlPr>
                            </m:sSupPr>
                            <m:e>
                              <m:r>
                                <a:rPr lang="en-US" b="0" i="1" smtClean="0">
                                  <a:latin typeface="Cambria Math" panose="02040503050406030204" pitchFamily="18" charset="0"/>
                                </a:rPr>
                                <m:t>𝑒</m:t>
                              </m:r>
                            </m:e>
                            <m:sup>
                              <m:r>
                                <a:rPr lang="en-US" b="0" i="1" smtClean="0">
                                  <a:latin typeface="Cambria Math" panose="02040503050406030204" pitchFamily="18" charset="0"/>
                                </a:rPr>
                                <m:t>𝑟𝑇</m:t>
                              </m:r>
                            </m:sup>
                          </m:sSup>
                        </m:num>
                        <m:den>
                          <m:sSup>
                            <m:sSupPr>
                              <m:ctrlPr>
                                <a:rPr lang="en-US" b="0" i="1" smtClean="0">
                                  <a:latin typeface="Cambria Math" panose="02040503050406030204" pitchFamily="18" charset="0"/>
                                </a:rPr>
                              </m:ctrlPr>
                            </m:sSupPr>
                            <m:e>
                              <m:r>
                                <a:rPr lang="en-US" b="0" i="1" smtClean="0">
                                  <a:latin typeface="Cambria Math" panose="02040503050406030204" pitchFamily="18" charset="0"/>
                                </a:rPr>
                                <m:t>𝑒</m:t>
                              </m:r>
                            </m:e>
                            <m:sup>
                              <m:r>
                                <a:rPr lang="en-US" b="0" i="1" smtClean="0">
                                  <a:latin typeface="Cambria Math" panose="02040503050406030204" pitchFamily="18" charset="0"/>
                                </a:rPr>
                                <m:t>𝑟𝑇</m:t>
                              </m:r>
                            </m:sup>
                          </m:sSup>
                        </m:den>
                      </m:f>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sSup>
                            <m:sSupPr>
                              <m:ctrlPr>
                                <a:rPr lang="en-US" b="0" i="1" smtClean="0">
                                  <a:latin typeface="Cambria Math" panose="02040503050406030204" pitchFamily="18" charset="0"/>
                                </a:rPr>
                              </m:ctrlPr>
                            </m:sSupPr>
                            <m:e>
                              <m:r>
                                <a:rPr lang="en-US" b="0" i="1" smtClean="0">
                                  <a:latin typeface="Cambria Math" panose="02040503050406030204" pitchFamily="18" charset="0"/>
                                </a:rPr>
                                <m:t>𝑒</m:t>
                              </m:r>
                            </m:e>
                            <m:sup>
                              <m:r>
                                <a:rPr lang="en-US" b="0" i="1" smtClean="0">
                                  <a:latin typeface="Cambria Math" panose="02040503050406030204" pitchFamily="18" charset="0"/>
                                </a:rPr>
                                <m:t>𝑟𝑇</m:t>
                              </m:r>
                            </m:sup>
                          </m:sSup>
                          <m:r>
                            <a:rPr lang="en-US" b="0" i="1" smtClean="0">
                              <a:latin typeface="Cambria Math" panose="02040503050406030204" pitchFamily="18" charset="0"/>
                            </a:rPr>
                            <m:t>−1</m:t>
                          </m:r>
                        </m:den>
                      </m:f>
                    </m:oMath>
                  </m:oMathPara>
                </a14:m>
                <a:endParaRPr lang="en-US" i="1" dirty="0"/>
              </a:p>
            </p:txBody>
          </p:sp>
        </mc:Choice>
        <mc:Fallback xmlns="">
          <p:sp>
            <p:nvSpPr>
              <p:cNvPr id="3" name="Content Placeholder 2">
                <a:extLst>
                  <a:ext uri="{FF2B5EF4-FFF2-40B4-BE49-F238E27FC236}">
                    <a16:creationId xmlns:a16="http://schemas.microsoft.com/office/drawing/2014/main" id="{DAB97EBE-6D30-CD9F-2172-F6E4DDC3F591}"/>
                  </a:ext>
                </a:extLst>
              </p:cNvPr>
              <p:cNvSpPr>
                <a:spLocks noGrp="1" noRot="1" noChangeAspect="1" noMove="1" noResize="1" noEditPoints="1" noAdjustHandles="1" noChangeArrowheads="1" noChangeShapeType="1" noTextEdit="1"/>
              </p:cNvSpPr>
              <p:nvPr>
                <p:ph idx="1"/>
              </p:nvPr>
            </p:nvSpPr>
            <p:spPr>
              <a:blipFill>
                <a:blip r:embed="rId2"/>
                <a:stretch>
                  <a:fillRect l="-724" t="-2616" b="-32267"/>
                </a:stretch>
              </a:blipFill>
            </p:spPr>
            <p:txBody>
              <a:bodyPr/>
              <a:lstStyle/>
              <a:p>
                <a:r>
                  <a:rPr lang="en-US">
                    <a:noFill/>
                  </a:rPr>
                  <a:t> </a:t>
                </a:r>
              </a:p>
            </p:txBody>
          </p:sp>
        </mc:Fallback>
      </mc:AlternateContent>
    </p:spTree>
    <p:extLst>
      <p:ext uri="{BB962C8B-B14F-4D97-AF65-F5344CB8AC3E}">
        <p14:creationId xmlns:p14="http://schemas.microsoft.com/office/powerpoint/2010/main" val="467304918"/>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77BEF2-DF17-DC57-5D50-E69DA624633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56F95E1-1FFF-2904-755C-86B0E6FF64D6}"/>
              </a:ext>
            </a:extLst>
          </p:cNvPr>
          <p:cNvSpPr>
            <a:spLocks noGrp="1"/>
          </p:cNvSpPr>
          <p:nvPr>
            <p:ph type="title"/>
          </p:nvPr>
        </p:nvSpPr>
        <p:spPr/>
        <p:txBody>
          <a:bodyPr/>
          <a:lstStyle/>
          <a:p>
            <a:r>
              <a:rPr lang="en-US" dirty="0"/>
              <a:t>The Faustmann Model [II]</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68C8B4F9-B1F9-9A8C-8823-D96B0BE8496C}"/>
                  </a:ext>
                </a:extLst>
              </p:cNvPr>
              <p:cNvSpPr>
                <a:spLocks noGrp="1"/>
              </p:cNvSpPr>
              <p:nvPr>
                <p:ph idx="1"/>
              </p:nvPr>
            </p:nvSpPr>
            <p:spPr>
              <a:xfrm>
                <a:off x="838200" y="1825624"/>
                <a:ext cx="10515600" cy="4879975"/>
              </a:xfrm>
            </p:spPr>
            <p:txBody>
              <a:bodyPr>
                <a:normAutofit fontScale="85000" lnSpcReduction="20000"/>
              </a:bodyPr>
              <a:lstStyle/>
              <a:p>
                <a:pPr marL="0" indent="0">
                  <a:buNone/>
                </a:pPr>
                <a:endParaRPr lang="en-US" dirty="0"/>
              </a:p>
              <a:p>
                <a:pPr marL="0" indent="0">
                  <a:buNone/>
                </a:pPr>
                <a:r>
                  <a:rPr lang="en-US" dirty="0"/>
                  <a:t>Goal – maximize LEV by choosing rotation harvest length, </a:t>
                </a:r>
                <a:r>
                  <a:rPr lang="en-US" i="1" dirty="0"/>
                  <a:t>T</a:t>
                </a:r>
                <a:endParaRPr lang="en-US" dirty="0"/>
              </a:p>
              <a:p>
                <a:pPr marL="0" indent="0">
                  <a:buNone/>
                </a:pPr>
                <a14:m>
                  <m:oMathPara xmlns:m="http://schemas.openxmlformats.org/officeDocument/2006/math">
                    <m:oMathParaPr>
                      <m:jc m:val="centerGroup"/>
                    </m:oMathParaPr>
                    <m:oMath xmlns:m="http://schemas.openxmlformats.org/officeDocument/2006/math">
                      <m:m>
                        <m:mPr>
                          <m:mcs>
                            <m:mc>
                              <m:mcPr>
                                <m:count m:val="1"/>
                                <m:mcJc m:val="center"/>
                              </m:mcPr>
                            </m:mc>
                          </m:mcs>
                          <m:ctrlPr>
                            <a:rPr lang="en-US" b="0" i="1" smtClean="0">
                              <a:latin typeface="Cambria Math" panose="02040503050406030204" pitchFamily="18" charset="0"/>
                            </a:rPr>
                          </m:ctrlPr>
                        </m:mPr>
                        <m:mr>
                          <m:e>
                            <m:r>
                              <m:rPr>
                                <m:brk m:alnAt="7"/>
                              </m:rPr>
                              <a:rPr lang="en-US" b="0" i="1" smtClean="0">
                                <a:latin typeface="Cambria Math" panose="02040503050406030204" pitchFamily="18" charset="0"/>
                              </a:rPr>
                              <m:t>𝑀</m:t>
                            </m:r>
                            <m:r>
                              <a:rPr lang="en-US" b="0" i="1" smtClean="0">
                                <a:latin typeface="Cambria Math" panose="02040503050406030204" pitchFamily="18" charset="0"/>
                              </a:rPr>
                              <m:t>𝑎𝑥</m:t>
                            </m:r>
                          </m:e>
                        </m:mr>
                        <m:mr>
                          <m:e>
                            <m:r>
                              <a:rPr lang="en-US" b="0" i="1" smtClean="0">
                                <a:latin typeface="Cambria Math" panose="02040503050406030204" pitchFamily="18" charset="0"/>
                              </a:rPr>
                              <m:t>𝑇</m:t>
                            </m:r>
                          </m:e>
                        </m:mr>
                      </m:m>
                      <m:r>
                        <a:rPr lang="en-US" b="0" i="1" smtClean="0">
                          <a:latin typeface="Cambria Math" panose="02040503050406030204" pitchFamily="18" charset="0"/>
                        </a:rPr>
                        <m:t> </m:t>
                      </m:r>
                      <m:r>
                        <a:rPr lang="en-US" b="0" i="1" smtClean="0">
                          <a:latin typeface="Cambria Math" panose="02040503050406030204" pitchFamily="18" charset="0"/>
                        </a:rPr>
                        <m:t>𝐿𝐸𝑉</m:t>
                      </m:r>
                      <m:d>
                        <m:dPr>
                          <m:ctrlPr>
                            <a:rPr lang="en-US" b="0" i="1" smtClean="0">
                              <a:latin typeface="Cambria Math" panose="02040503050406030204" pitchFamily="18" charset="0"/>
                            </a:rPr>
                          </m:ctrlPr>
                        </m:dPr>
                        <m:e>
                          <m:r>
                            <a:rPr lang="en-US" b="0" i="1" smtClean="0">
                              <a:latin typeface="Cambria Math" panose="02040503050406030204" pitchFamily="18" charset="0"/>
                            </a:rPr>
                            <m:t>𝑇</m:t>
                          </m:r>
                        </m:e>
                      </m:d>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𝑉</m:t>
                          </m:r>
                          <m:d>
                            <m:dPr>
                              <m:ctrlPr>
                                <a:rPr lang="en-US" b="0" i="1" smtClean="0">
                                  <a:latin typeface="Cambria Math" panose="02040503050406030204" pitchFamily="18" charset="0"/>
                                </a:rPr>
                              </m:ctrlPr>
                            </m:dPr>
                            <m:e>
                              <m:r>
                                <a:rPr lang="en-US" b="0" i="1" smtClean="0">
                                  <a:latin typeface="Cambria Math" panose="02040503050406030204" pitchFamily="18" charset="0"/>
                                </a:rPr>
                                <m:t>𝑇</m:t>
                              </m:r>
                            </m:e>
                          </m:d>
                          <m:r>
                            <a:rPr lang="en-US" b="0" i="1" smtClean="0">
                              <a:latin typeface="Cambria Math" panose="02040503050406030204" pitchFamily="18" charset="0"/>
                            </a:rPr>
                            <m:t>−</m:t>
                          </m:r>
                          <m:r>
                            <a:rPr lang="en-US" b="0" i="1" smtClean="0">
                              <a:latin typeface="Cambria Math" panose="02040503050406030204" pitchFamily="18" charset="0"/>
                            </a:rPr>
                            <m:t>𝑐</m:t>
                          </m:r>
                        </m:num>
                        <m:den>
                          <m:sSup>
                            <m:sSupPr>
                              <m:ctrlPr>
                                <a:rPr lang="en-US" b="0" i="1" smtClean="0">
                                  <a:latin typeface="Cambria Math" panose="02040503050406030204" pitchFamily="18" charset="0"/>
                                </a:rPr>
                              </m:ctrlPr>
                            </m:sSupPr>
                            <m:e>
                              <m:r>
                                <a:rPr lang="en-US" b="0" i="1" smtClean="0">
                                  <a:latin typeface="Cambria Math" panose="02040503050406030204" pitchFamily="18" charset="0"/>
                                </a:rPr>
                                <m:t>𝑒</m:t>
                              </m:r>
                            </m:e>
                            <m:sup>
                              <m:r>
                                <a:rPr lang="en-US" b="0" i="1" smtClean="0">
                                  <a:latin typeface="Cambria Math" panose="02040503050406030204" pitchFamily="18" charset="0"/>
                                </a:rPr>
                                <m:t>𝑟𝑇</m:t>
                              </m:r>
                            </m:sup>
                          </m:sSup>
                          <m:r>
                            <a:rPr lang="en-US" b="0" i="1" smtClean="0">
                              <a:latin typeface="Cambria Math" panose="02040503050406030204" pitchFamily="18" charset="0"/>
                            </a:rPr>
                            <m:t>−1</m:t>
                          </m:r>
                        </m:den>
                      </m:f>
                    </m:oMath>
                  </m:oMathPara>
                </a14:m>
                <a:endParaRPr lang="en-US" dirty="0"/>
              </a:p>
              <a:p>
                <a:pPr marL="0" indent="0">
                  <a:buNone/>
                </a:pPr>
                <a:endParaRPr lang="en-US" dirty="0"/>
              </a:p>
              <a:p>
                <a:pPr marL="0" indent="0">
                  <a:buNone/>
                </a:pPr>
                <a:r>
                  <a:rPr lang="en-US" dirty="0"/>
                  <a:t>Recall quotient rule:</a:t>
                </a:r>
              </a:p>
              <a:p>
                <a:pPr marL="0" indent="0">
                  <a:buNone/>
                </a:pPr>
                <a14:m>
                  <m:oMathPara xmlns:m="http://schemas.openxmlformats.org/officeDocument/2006/math">
                    <m:oMathParaPr>
                      <m:jc m:val="centerGroup"/>
                    </m:oMathParaPr>
                    <m:oMath xmlns:m="http://schemas.openxmlformats.org/officeDocument/2006/math">
                      <m:f>
                        <m:fPr>
                          <m:ctrlPr>
                            <a:rPr lang="en-US" b="0" i="1" smtClean="0">
                              <a:latin typeface="Cambria Math" panose="02040503050406030204" pitchFamily="18" charset="0"/>
                            </a:rPr>
                          </m:ctrlPr>
                        </m:fPr>
                        <m:num>
                          <m:r>
                            <a:rPr lang="en-US" b="0" i="1" smtClean="0">
                              <a:latin typeface="Cambria Math" panose="02040503050406030204" pitchFamily="18" charset="0"/>
                            </a:rPr>
                            <m:t>𝑑</m:t>
                          </m:r>
                          <m:f>
                            <m:fPr>
                              <m:ctrlPr>
                                <a:rPr lang="en-US" b="0" i="1" smtClean="0">
                                  <a:latin typeface="Cambria Math" panose="02040503050406030204" pitchFamily="18" charset="0"/>
                                </a:rPr>
                              </m:ctrlPr>
                            </m:fPr>
                            <m:num>
                              <m:r>
                                <a:rPr lang="en-US" b="0" i="1" smtClean="0">
                                  <a:latin typeface="Cambria Math" panose="02040503050406030204" pitchFamily="18" charset="0"/>
                                </a:rPr>
                                <m:t>𝑓</m:t>
                              </m:r>
                              <m:d>
                                <m:dPr>
                                  <m:ctrlPr>
                                    <a:rPr lang="en-US" b="0" i="1" smtClean="0">
                                      <a:latin typeface="Cambria Math" panose="02040503050406030204" pitchFamily="18" charset="0"/>
                                    </a:rPr>
                                  </m:ctrlPr>
                                </m:dPr>
                                <m:e>
                                  <m:r>
                                    <a:rPr lang="en-US" b="0" i="1" smtClean="0">
                                      <a:latin typeface="Cambria Math" panose="02040503050406030204" pitchFamily="18" charset="0"/>
                                    </a:rPr>
                                    <m:t>𝑇</m:t>
                                  </m:r>
                                </m:e>
                              </m:d>
                            </m:num>
                            <m:den>
                              <m:r>
                                <a:rPr lang="en-US" b="0" i="1" smtClean="0">
                                  <a:latin typeface="Cambria Math" panose="02040503050406030204" pitchFamily="18" charset="0"/>
                                </a:rPr>
                                <m:t>𝑔</m:t>
                              </m:r>
                              <m:d>
                                <m:dPr>
                                  <m:ctrlPr>
                                    <a:rPr lang="en-US" b="0" i="1" smtClean="0">
                                      <a:latin typeface="Cambria Math" panose="02040503050406030204" pitchFamily="18" charset="0"/>
                                    </a:rPr>
                                  </m:ctrlPr>
                                </m:dPr>
                                <m:e>
                                  <m:r>
                                    <a:rPr lang="en-US" b="0" i="1" smtClean="0">
                                      <a:latin typeface="Cambria Math" panose="02040503050406030204" pitchFamily="18" charset="0"/>
                                    </a:rPr>
                                    <m:t>𝑇</m:t>
                                  </m:r>
                                </m:e>
                              </m:d>
                            </m:den>
                          </m:f>
                        </m:num>
                        <m:den>
                          <m:r>
                            <a:rPr lang="en-US" b="0" i="1" smtClean="0">
                              <a:latin typeface="Cambria Math" panose="02040503050406030204" pitchFamily="18" charset="0"/>
                            </a:rPr>
                            <m:t>𝑑𝑇</m:t>
                          </m:r>
                        </m:den>
                      </m:f>
                      <m:r>
                        <a:rPr lang="en-US" b="0" i="1" smtClean="0">
                          <a:latin typeface="Cambria Math" panose="02040503050406030204" pitchFamily="18" charset="0"/>
                        </a:rPr>
                        <m:t>=</m:t>
                      </m:r>
                      <m:f>
                        <m:fPr>
                          <m:ctrlPr>
                            <a:rPr lang="en-US" b="0" i="1" smtClean="0">
                              <a:latin typeface="Cambria Math" panose="02040503050406030204" pitchFamily="18" charset="0"/>
                            </a:rPr>
                          </m:ctrlPr>
                        </m:fPr>
                        <m:num>
                          <m:sSup>
                            <m:sSupPr>
                              <m:ctrlPr>
                                <a:rPr lang="en-US" b="0" i="1" smtClean="0">
                                  <a:latin typeface="Cambria Math" panose="02040503050406030204" pitchFamily="18" charset="0"/>
                                </a:rPr>
                              </m:ctrlPr>
                            </m:sSupPr>
                            <m:e>
                              <m:r>
                                <a:rPr lang="en-US" b="0" i="1" smtClean="0">
                                  <a:latin typeface="Cambria Math" panose="02040503050406030204" pitchFamily="18" charset="0"/>
                                </a:rPr>
                                <m:t>𝑓</m:t>
                              </m:r>
                            </m:e>
                            <m:sup>
                              <m:r>
                                <a:rPr lang="en-US" b="0" i="1" smtClean="0">
                                  <a:latin typeface="Cambria Math" panose="02040503050406030204" pitchFamily="18" charset="0"/>
                                </a:rPr>
                                <m:t>′</m:t>
                              </m:r>
                            </m:sup>
                          </m:sSup>
                          <m:d>
                            <m:dPr>
                              <m:ctrlPr>
                                <a:rPr lang="en-US" b="0" i="1" smtClean="0">
                                  <a:latin typeface="Cambria Math" panose="02040503050406030204" pitchFamily="18" charset="0"/>
                                </a:rPr>
                              </m:ctrlPr>
                            </m:dPr>
                            <m:e>
                              <m:r>
                                <a:rPr lang="en-US" b="0" i="1" smtClean="0">
                                  <a:latin typeface="Cambria Math" panose="02040503050406030204" pitchFamily="18" charset="0"/>
                                </a:rPr>
                                <m:t>𝑇</m:t>
                              </m:r>
                            </m:e>
                          </m:d>
                          <m:r>
                            <a:rPr lang="en-US" b="0" i="1" smtClean="0">
                              <a:latin typeface="Cambria Math" panose="02040503050406030204" pitchFamily="18" charset="0"/>
                            </a:rPr>
                            <m:t>𝑔</m:t>
                          </m:r>
                          <m:d>
                            <m:dPr>
                              <m:ctrlPr>
                                <a:rPr lang="en-US" b="0" i="1" smtClean="0">
                                  <a:latin typeface="Cambria Math" panose="02040503050406030204" pitchFamily="18" charset="0"/>
                                </a:rPr>
                              </m:ctrlPr>
                            </m:dPr>
                            <m:e>
                              <m:r>
                                <a:rPr lang="en-US" b="0" i="1" smtClean="0">
                                  <a:latin typeface="Cambria Math" panose="02040503050406030204" pitchFamily="18" charset="0"/>
                                </a:rPr>
                                <m:t>𝑇</m:t>
                              </m:r>
                            </m:e>
                          </m:d>
                          <m:r>
                            <a:rPr lang="en-US" b="0" i="1" smtClean="0">
                              <a:latin typeface="Cambria Math" panose="02040503050406030204" pitchFamily="18" charset="0"/>
                            </a:rPr>
                            <m:t>−</m:t>
                          </m:r>
                          <m:r>
                            <a:rPr lang="en-US" b="0" i="1" smtClean="0">
                              <a:latin typeface="Cambria Math" panose="02040503050406030204" pitchFamily="18" charset="0"/>
                            </a:rPr>
                            <m:t>𝑓</m:t>
                          </m:r>
                          <m:d>
                            <m:dPr>
                              <m:ctrlPr>
                                <a:rPr lang="en-US" b="0" i="1" smtClean="0">
                                  <a:latin typeface="Cambria Math" panose="02040503050406030204" pitchFamily="18" charset="0"/>
                                </a:rPr>
                              </m:ctrlPr>
                            </m:dPr>
                            <m:e>
                              <m:r>
                                <a:rPr lang="en-US" b="0" i="1" smtClean="0">
                                  <a:latin typeface="Cambria Math" panose="02040503050406030204" pitchFamily="18" charset="0"/>
                                </a:rPr>
                                <m:t>𝑇</m:t>
                              </m:r>
                            </m:e>
                          </m:d>
                          <m:sSup>
                            <m:sSupPr>
                              <m:ctrlPr>
                                <a:rPr lang="en-US" b="0" i="1" smtClean="0">
                                  <a:latin typeface="Cambria Math" panose="02040503050406030204" pitchFamily="18" charset="0"/>
                                </a:rPr>
                              </m:ctrlPr>
                            </m:sSupPr>
                            <m:e>
                              <m:r>
                                <a:rPr lang="en-US" b="0" i="1" smtClean="0">
                                  <a:latin typeface="Cambria Math" panose="02040503050406030204" pitchFamily="18" charset="0"/>
                                </a:rPr>
                                <m:t>𝑔</m:t>
                              </m:r>
                            </m:e>
                            <m:sup>
                              <m:r>
                                <a:rPr lang="en-US" b="0" i="1" smtClean="0">
                                  <a:latin typeface="Cambria Math" panose="02040503050406030204" pitchFamily="18" charset="0"/>
                                </a:rPr>
                                <m:t>′</m:t>
                              </m:r>
                            </m:sup>
                          </m:sSup>
                          <m:d>
                            <m:dPr>
                              <m:ctrlPr>
                                <a:rPr lang="en-US" b="0" i="1" smtClean="0">
                                  <a:latin typeface="Cambria Math" panose="02040503050406030204" pitchFamily="18" charset="0"/>
                                </a:rPr>
                              </m:ctrlPr>
                            </m:dPr>
                            <m:e>
                              <m:r>
                                <a:rPr lang="en-US" b="0" i="1" smtClean="0">
                                  <a:latin typeface="Cambria Math" panose="02040503050406030204" pitchFamily="18" charset="0"/>
                                </a:rPr>
                                <m:t>𝑇</m:t>
                              </m:r>
                            </m:e>
                          </m:d>
                        </m:num>
                        <m:den>
                          <m:r>
                            <a:rPr lang="en-US" b="0" i="1" smtClean="0">
                              <a:latin typeface="Cambria Math" panose="02040503050406030204" pitchFamily="18" charset="0"/>
                            </a:rPr>
                            <m:t>𝑔</m:t>
                          </m:r>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r>
                                    <a:rPr lang="en-US" b="0" i="1" smtClean="0">
                                      <a:latin typeface="Cambria Math" panose="02040503050406030204" pitchFamily="18" charset="0"/>
                                    </a:rPr>
                                    <m:t>𝑇</m:t>
                                  </m:r>
                                </m:e>
                              </m:d>
                            </m:e>
                            <m:sup>
                              <m:r>
                                <a:rPr lang="en-US" b="0" i="1" smtClean="0">
                                  <a:latin typeface="Cambria Math" panose="02040503050406030204" pitchFamily="18" charset="0"/>
                                </a:rPr>
                                <m:t>2</m:t>
                              </m:r>
                            </m:sup>
                          </m:sSup>
                        </m:den>
                      </m:f>
                    </m:oMath>
                  </m:oMathPara>
                </a14:m>
                <a:endParaRPr lang="en-US" dirty="0"/>
              </a:p>
              <a:p>
                <a:pPr marL="0" indent="0">
                  <a:buNone/>
                </a:pPr>
                <a:endParaRPr lang="en-US" dirty="0"/>
              </a:p>
              <a:p>
                <a:pPr marL="0"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𝑓</m:t>
                      </m:r>
                      <m:d>
                        <m:dPr>
                          <m:ctrlPr>
                            <a:rPr lang="en-US" b="0" i="1" smtClean="0">
                              <a:latin typeface="Cambria Math" panose="02040503050406030204" pitchFamily="18" charset="0"/>
                            </a:rPr>
                          </m:ctrlPr>
                        </m:dPr>
                        <m:e>
                          <m:r>
                            <a:rPr lang="en-US" b="0" i="1" smtClean="0">
                              <a:latin typeface="Cambria Math" panose="02040503050406030204" pitchFamily="18" charset="0"/>
                            </a:rPr>
                            <m:t>𝑇</m:t>
                          </m:r>
                        </m:e>
                      </m:d>
                      <m:r>
                        <a:rPr lang="en-US" b="0" i="1" smtClean="0">
                          <a:latin typeface="Cambria Math" panose="02040503050406030204" pitchFamily="18" charset="0"/>
                        </a:rPr>
                        <m:t>=</m:t>
                      </m:r>
                      <m:r>
                        <a:rPr lang="en-US" b="0" i="1" smtClean="0">
                          <a:latin typeface="Cambria Math" panose="02040503050406030204" pitchFamily="18" charset="0"/>
                        </a:rPr>
                        <m:t>𝑉</m:t>
                      </m:r>
                      <m:d>
                        <m:dPr>
                          <m:ctrlPr>
                            <a:rPr lang="en-US" b="0" i="1" smtClean="0">
                              <a:latin typeface="Cambria Math" panose="02040503050406030204" pitchFamily="18" charset="0"/>
                            </a:rPr>
                          </m:ctrlPr>
                        </m:dPr>
                        <m:e>
                          <m:r>
                            <a:rPr lang="en-US" b="0" i="1" smtClean="0">
                              <a:latin typeface="Cambria Math" panose="02040503050406030204" pitchFamily="18" charset="0"/>
                            </a:rPr>
                            <m:t>𝑇</m:t>
                          </m:r>
                        </m:e>
                      </m:d>
                      <m:r>
                        <a:rPr lang="en-US" b="0" i="1" smtClean="0">
                          <a:latin typeface="Cambria Math" panose="02040503050406030204" pitchFamily="18" charset="0"/>
                        </a:rPr>
                        <m:t>−</m:t>
                      </m:r>
                      <m:r>
                        <a:rPr lang="en-US" b="0" i="1" smtClean="0">
                          <a:latin typeface="Cambria Math" panose="02040503050406030204" pitchFamily="18" charset="0"/>
                        </a:rPr>
                        <m:t>𝑐</m:t>
                      </m:r>
                    </m:oMath>
                  </m:oMathPara>
                </a14:m>
                <a:endParaRPr lang="en-US" b="0" dirty="0"/>
              </a:p>
              <a:p>
                <a:pPr marL="0" indent="0">
                  <a:buNone/>
                </a:pPr>
                <a14:m>
                  <m:oMathPara xmlns:m="http://schemas.openxmlformats.org/officeDocument/2006/math">
                    <m:oMathParaPr>
                      <m:jc m:val="centerGroup"/>
                    </m:oMathParaPr>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panose="02040503050406030204" pitchFamily="18" charset="0"/>
                            </a:rPr>
                            <m:t>𝑓</m:t>
                          </m:r>
                        </m:e>
                        <m:sup>
                          <m:r>
                            <a:rPr lang="en-US" b="0" i="1" smtClean="0">
                              <a:latin typeface="Cambria Math" panose="02040503050406030204" pitchFamily="18" charset="0"/>
                            </a:rPr>
                            <m:t>′</m:t>
                          </m:r>
                        </m:sup>
                      </m:sSup>
                      <m:d>
                        <m:dPr>
                          <m:ctrlPr>
                            <a:rPr lang="en-US" b="0" i="1" smtClean="0">
                              <a:latin typeface="Cambria Math" panose="02040503050406030204" pitchFamily="18" charset="0"/>
                            </a:rPr>
                          </m:ctrlPr>
                        </m:dPr>
                        <m:e>
                          <m:r>
                            <a:rPr lang="en-US" b="0" i="1" smtClean="0">
                              <a:latin typeface="Cambria Math" panose="02040503050406030204" pitchFamily="18" charset="0"/>
                            </a:rPr>
                            <m:t>𝑇</m:t>
                          </m:r>
                        </m:e>
                      </m:d>
                      <m:r>
                        <a:rPr lang="en-US" b="0" i="1" smtClean="0">
                          <a:latin typeface="Cambria Math" panose="02040503050406030204" pitchFamily="18" charset="0"/>
                        </a:rPr>
                        <m:t>=</m:t>
                      </m:r>
                      <m:r>
                        <a:rPr lang="en-US" b="0" i="1" smtClean="0">
                          <a:latin typeface="Cambria Math" panose="02040503050406030204" pitchFamily="18" charset="0"/>
                        </a:rPr>
                        <m:t>𝑉</m:t>
                      </m:r>
                      <m:r>
                        <a:rPr lang="en-US" b="0" i="1" smtClean="0">
                          <a:latin typeface="Cambria Math" panose="02040503050406030204" pitchFamily="18" charset="0"/>
                        </a:rPr>
                        <m:t>′(</m:t>
                      </m:r>
                      <m:r>
                        <a:rPr lang="en-US" b="0" i="1" smtClean="0">
                          <a:latin typeface="Cambria Math" panose="02040503050406030204" pitchFamily="18" charset="0"/>
                        </a:rPr>
                        <m:t>𝑇</m:t>
                      </m:r>
                      <m:r>
                        <a:rPr lang="en-US" b="0" i="1" smtClean="0">
                          <a:latin typeface="Cambria Math" panose="02040503050406030204" pitchFamily="18" charset="0"/>
                        </a:rPr>
                        <m:t>)</m:t>
                      </m:r>
                    </m:oMath>
                  </m:oMathPara>
                </a14:m>
                <a:endParaRPr lang="en-US" b="0" dirty="0"/>
              </a:p>
              <a:p>
                <a:pPr marL="0"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𝑔</m:t>
                      </m:r>
                      <m:d>
                        <m:dPr>
                          <m:ctrlPr>
                            <a:rPr lang="en-US" b="0" i="1" smtClean="0">
                              <a:latin typeface="Cambria Math" panose="02040503050406030204" pitchFamily="18" charset="0"/>
                            </a:rPr>
                          </m:ctrlPr>
                        </m:dPr>
                        <m:e>
                          <m:r>
                            <a:rPr lang="en-US" b="0" i="1" smtClean="0">
                              <a:latin typeface="Cambria Math" panose="02040503050406030204" pitchFamily="18" charset="0"/>
                            </a:rPr>
                            <m:t>𝑇</m:t>
                          </m:r>
                        </m:e>
                      </m:d>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𝑒</m:t>
                          </m:r>
                        </m:e>
                        <m:sup>
                          <m:r>
                            <a:rPr lang="en-US" b="0" i="1" smtClean="0">
                              <a:latin typeface="Cambria Math" panose="02040503050406030204" pitchFamily="18" charset="0"/>
                            </a:rPr>
                            <m:t>𝑟𝑇</m:t>
                          </m:r>
                        </m:sup>
                      </m:sSup>
                      <m:r>
                        <a:rPr lang="en-US" b="0" i="1" smtClean="0">
                          <a:latin typeface="Cambria Math" panose="02040503050406030204" pitchFamily="18" charset="0"/>
                        </a:rPr>
                        <m:t>−1</m:t>
                      </m:r>
                    </m:oMath>
                  </m:oMathPara>
                </a14:m>
                <a:endParaRPr lang="en-US" b="0" dirty="0"/>
              </a:p>
              <a:p>
                <a:pPr marL="0" indent="0">
                  <a:buNone/>
                </a:pPr>
                <a14:m>
                  <m:oMathPara xmlns:m="http://schemas.openxmlformats.org/officeDocument/2006/math">
                    <m:oMathParaPr>
                      <m:jc m:val="centerGroup"/>
                    </m:oMathParaPr>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panose="02040503050406030204" pitchFamily="18" charset="0"/>
                            </a:rPr>
                            <m:t>𝑔</m:t>
                          </m:r>
                        </m:e>
                        <m:sup>
                          <m:r>
                            <a:rPr lang="en-US" b="0" i="1" smtClean="0">
                              <a:latin typeface="Cambria Math" panose="02040503050406030204" pitchFamily="18" charset="0"/>
                            </a:rPr>
                            <m:t>′</m:t>
                          </m:r>
                        </m:sup>
                      </m:sSup>
                      <m:d>
                        <m:dPr>
                          <m:ctrlPr>
                            <a:rPr lang="en-US" b="0" i="1" smtClean="0">
                              <a:latin typeface="Cambria Math" panose="02040503050406030204" pitchFamily="18" charset="0"/>
                            </a:rPr>
                          </m:ctrlPr>
                        </m:dPr>
                        <m:e>
                          <m:r>
                            <a:rPr lang="en-US" b="0" i="1" smtClean="0">
                              <a:latin typeface="Cambria Math" panose="02040503050406030204" pitchFamily="18" charset="0"/>
                            </a:rPr>
                            <m:t>𝑇</m:t>
                          </m:r>
                        </m:e>
                      </m:d>
                      <m:r>
                        <a:rPr lang="en-US" b="0" i="1" smtClean="0">
                          <a:latin typeface="Cambria Math" panose="02040503050406030204" pitchFamily="18" charset="0"/>
                        </a:rPr>
                        <m:t>=</m:t>
                      </m:r>
                      <m:r>
                        <a:rPr lang="en-US" b="0" i="1" smtClean="0">
                          <a:latin typeface="Cambria Math" panose="02040503050406030204" pitchFamily="18" charset="0"/>
                        </a:rPr>
                        <m:t>𝑟</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𝑒</m:t>
                          </m:r>
                        </m:e>
                        <m:sup>
                          <m:r>
                            <a:rPr lang="en-US" b="0" i="1" smtClean="0">
                              <a:latin typeface="Cambria Math" panose="02040503050406030204" pitchFamily="18" charset="0"/>
                            </a:rPr>
                            <m:t>𝑟𝑇</m:t>
                          </m:r>
                        </m:sup>
                      </m:sSup>
                    </m:oMath>
                  </m:oMathPara>
                </a14:m>
                <a:endParaRPr lang="en-US" dirty="0"/>
              </a:p>
              <a:p>
                <a:pPr marL="0" indent="0">
                  <a:buNone/>
                </a:pPr>
                <a:endParaRPr lang="en-US" dirty="0"/>
              </a:p>
            </p:txBody>
          </p:sp>
        </mc:Choice>
        <mc:Fallback xmlns="">
          <p:sp>
            <p:nvSpPr>
              <p:cNvPr id="3" name="Content Placeholder 2">
                <a:extLst>
                  <a:ext uri="{FF2B5EF4-FFF2-40B4-BE49-F238E27FC236}">
                    <a16:creationId xmlns:a16="http://schemas.microsoft.com/office/drawing/2014/main" id="{68C8B4F9-B1F9-9A8C-8823-D96B0BE8496C}"/>
                  </a:ext>
                </a:extLst>
              </p:cNvPr>
              <p:cNvSpPr>
                <a:spLocks noGrp="1" noRot="1" noChangeAspect="1" noMove="1" noResize="1" noEditPoints="1" noAdjustHandles="1" noChangeArrowheads="1" noChangeShapeType="1" noTextEdit="1"/>
              </p:cNvSpPr>
              <p:nvPr>
                <p:ph idx="1"/>
              </p:nvPr>
            </p:nvSpPr>
            <p:spPr>
              <a:xfrm>
                <a:off x="838200" y="1825624"/>
                <a:ext cx="10515600" cy="4879975"/>
              </a:xfrm>
              <a:blipFill>
                <a:blip r:embed="rId2"/>
                <a:stretch>
                  <a:fillRect l="-965"/>
                </a:stretch>
              </a:blipFill>
            </p:spPr>
            <p:txBody>
              <a:bodyPr/>
              <a:lstStyle/>
              <a:p>
                <a:r>
                  <a:rPr lang="en-US">
                    <a:noFill/>
                  </a:rPr>
                  <a:t> </a:t>
                </a:r>
              </a:p>
            </p:txBody>
          </p:sp>
        </mc:Fallback>
      </mc:AlternateContent>
    </p:spTree>
    <p:extLst>
      <p:ext uri="{BB962C8B-B14F-4D97-AF65-F5344CB8AC3E}">
        <p14:creationId xmlns:p14="http://schemas.microsoft.com/office/powerpoint/2010/main" val="3676265265"/>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DFC312-98CB-DAA9-16F4-958BA3B3C08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F9AE738-1A71-139A-CFFB-4459E3EA5C41}"/>
              </a:ext>
            </a:extLst>
          </p:cNvPr>
          <p:cNvSpPr>
            <a:spLocks noGrp="1"/>
          </p:cNvSpPr>
          <p:nvPr>
            <p:ph type="title"/>
          </p:nvPr>
        </p:nvSpPr>
        <p:spPr/>
        <p:txBody>
          <a:bodyPr/>
          <a:lstStyle/>
          <a:p>
            <a:r>
              <a:rPr lang="en-US" dirty="0"/>
              <a:t>The Faustmann Model [III]</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4AD4C21A-6E10-B91C-2FE0-31CE3FF868E4}"/>
                  </a:ext>
                </a:extLst>
              </p:cNvPr>
              <p:cNvSpPr>
                <a:spLocks noGrp="1"/>
              </p:cNvSpPr>
              <p:nvPr>
                <p:ph idx="1"/>
              </p:nvPr>
            </p:nvSpPr>
            <p:spPr>
              <a:xfrm>
                <a:off x="838200" y="1825624"/>
                <a:ext cx="10515600" cy="4879975"/>
              </a:xfrm>
            </p:spPr>
            <p:txBody>
              <a:bodyPr>
                <a:normAutofit/>
              </a:bodyPr>
              <a:lstStyle/>
              <a:p>
                <a:pPr marL="0" indent="0">
                  <a:buNone/>
                </a:pPr>
                <a:endParaRPr lang="en-US" dirty="0"/>
              </a:p>
              <a:p>
                <a:pPr marL="0" indent="0">
                  <a:buNone/>
                </a:pPr>
                <a:endParaRPr lang="en-US" dirty="0"/>
              </a:p>
              <a:p>
                <a:pPr marL="0" indent="0">
                  <a:buNone/>
                </a:pPr>
                <a:r>
                  <a:rPr lang="en-US" dirty="0"/>
                  <a:t>First order condition, set to zero:</a:t>
                </a:r>
              </a:p>
              <a:p>
                <a:pPr marL="0" indent="0">
                  <a:buNone/>
                </a:pPr>
                <a14:m>
                  <m:oMathPara xmlns:m="http://schemas.openxmlformats.org/officeDocument/2006/math">
                    <m:oMathParaPr>
                      <m:jc m:val="centerGroup"/>
                    </m:oMathParaPr>
                    <m:oMath xmlns:m="http://schemas.openxmlformats.org/officeDocument/2006/math">
                      <m:f>
                        <m:fPr>
                          <m:ctrlPr>
                            <a:rPr lang="en-US" b="0" i="1" smtClean="0">
                              <a:latin typeface="Cambria Math" panose="02040503050406030204" pitchFamily="18" charset="0"/>
                            </a:rPr>
                          </m:ctrlPr>
                        </m:fPr>
                        <m:num>
                          <m:r>
                            <a:rPr lang="en-US" b="0" i="1" smtClean="0">
                              <a:latin typeface="Cambria Math" panose="02040503050406030204" pitchFamily="18" charset="0"/>
                            </a:rPr>
                            <m:t>𝑑𝐿𝐸𝑉</m:t>
                          </m:r>
                        </m:num>
                        <m:den>
                          <m:r>
                            <a:rPr lang="en-US" b="0" i="1" smtClean="0">
                              <a:latin typeface="Cambria Math" panose="02040503050406030204" pitchFamily="18" charset="0"/>
                            </a:rPr>
                            <m:t>𝑑𝑇</m:t>
                          </m:r>
                        </m:den>
                      </m:f>
                      <m:r>
                        <a:rPr lang="en-US" b="0" i="1" smtClean="0">
                          <a:latin typeface="Cambria Math" panose="02040503050406030204" pitchFamily="18" charset="0"/>
                        </a:rPr>
                        <m:t>=</m:t>
                      </m:r>
                      <m:f>
                        <m:fPr>
                          <m:ctrlPr>
                            <a:rPr lang="en-US" b="0" i="1" smtClean="0">
                              <a:latin typeface="Cambria Math" panose="02040503050406030204" pitchFamily="18" charset="0"/>
                            </a:rPr>
                          </m:ctrlPr>
                        </m:fPr>
                        <m:num>
                          <m:sSup>
                            <m:sSupPr>
                              <m:ctrlPr>
                                <a:rPr lang="en-US" i="1">
                                  <a:latin typeface="Cambria Math" panose="02040503050406030204" pitchFamily="18" charset="0"/>
                                </a:rPr>
                              </m:ctrlPr>
                            </m:sSupPr>
                            <m:e>
                              <m:r>
                                <a:rPr lang="en-US" i="1">
                                  <a:latin typeface="Cambria Math" panose="02040503050406030204" pitchFamily="18" charset="0"/>
                                </a:rPr>
                                <m:t>𝑉</m:t>
                              </m:r>
                            </m:e>
                            <m:sup>
                              <m:r>
                                <a:rPr lang="en-US" i="1">
                                  <a:latin typeface="Cambria Math" panose="02040503050406030204" pitchFamily="18" charset="0"/>
                                </a:rPr>
                                <m:t>′</m:t>
                              </m:r>
                            </m:sup>
                          </m:sSup>
                          <m:d>
                            <m:dPr>
                              <m:ctrlPr>
                                <a:rPr lang="en-US" i="1">
                                  <a:latin typeface="Cambria Math" panose="02040503050406030204" pitchFamily="18" charset="0"/>
                                </a:rPr>
                              </m:ctrlPr>
                            </m:dPr>
                            <m:e>
                              <m:r>
                                <a:rPr lang="en-US" i="1">
                                  <a:latin typeface="Cambria Math" panose="02040503050406030204" pitchFamily="18" charset="0"/>
                                </a:rPr>
                                <m:t>𝑇</m:t>
                              </m:r>
                            </m:e>
                          </m:d>
                          <m:d>
                            <m:dPr>
                              <m:ctrlPr>
                                <a:rPr lang="en-US" i="1">
                                  <a:latin typeface="Cambria Math" panose="02040503050406030204" pitchFamily="18" charset="0"/>
                                </a:rPr>
                              </m:ctrlPr>
                            </m:dPr>
                            <m:e>
                              <m:sSup>
                                <m:sSupPr>
                                  <m:ctrlPr>
                                    <a:rPr lang="en-US" i="1">
                                      <a:latin typeface="Cambria Math" panose="02040503050406030204" pitchFamily="18" charset="0"/>
                                    </a:rPr>
                                  </m:ctrlPr>
                                </m:sSupPr>
                                <m:e>
                                  <m:r>
                                    <a:rPr lang="en-US" i="1">
                                      <a:latin typeface="Cambria Math" panose="02040503050406030204" pitchFamily="18" charset="0"/>
                                    </a:rPr>
                                    <m:t>𝑒</m:t>
                                  </m:r>
                                </m:e>
                                <m:sup>
                                  <m:r>
                                    <a:rPr lang="en-US" i="1">
                                      <a:latin typeface="Cambria Math" panose="02040503050406030204" pitchFamily="18" charset="0"/>
                                    </a:rPr>
                                    <m:t>𝑟𝑇</m:t>
                                  </m:r>
                                </m:sup>
                              </m:sSup>
                              <m:r>
                                <a:rPr lang="en-US" i="1">
                                  <a:latin typeface="Cambria Math" panose="02040503050406030204" pitchFamily="18" charset="0"/>
                                </a:rPr>
                                <m:t>−1</m:t>
                              </m:r>
                            </m:e>
                          </m:d>
                          <m:r>
                            <a:rPr lang="en-US" i="1">
                              <a:latin typeface="Cambria Math" panose="02040503050406030204" pitchFamily="18" charset="0"/>
                            </a:rPr>
                            <m:t>−</m:t>
                          </m:r>
                          <m:r>
                            <a:rPr lang="en-US" i="1">
                              <a:latin typeface="Cambria Math" panose="02040503050406030204" pitchFamily="18" charset="0"/>
                            </a:rPr>
                            <m:t>𝑟</m:t>
                          </m:r>
                          <m:sSup>
                            <m:sSupPr>
                              <m:ctrlPr>
                                <a:rPr lang="en-US" i="1">
                                  <a:latin typeface="Cambria Math" panose="02040503050406030204" pitchFamily="18" charset="0"/>
                                </a:rPr>
                              </m:ctrlPr>
                            </m:sSupPr>
                            <m:e>
                              <m:r>
                                <a:rPr lang="en-US" i="1">
                                  <a:latin typeface="Cambria Math" panose="02040503050406030204" pitchFamily="18" charset="0"/>
                                </a:rPr>
                                <m:t>𝑒</m:t>
                              </m:r>
                            </m:e>
                            <m:sup>
                              <m:r>
                                <a:rPr lang="en-US" i="1">
                                  <a:latin typeface="Cambria Math" panose="02040503050406030204" pitchFamily="18" charset="0"/>
                                </a:rPr>
                                <m:t>𝑟𝑇</m:t>
                              </m:r>
                            </m:sup>
                          </m:sSup>
                          <m:d>
                            <m:dPr>
                              <m:ctrlPr>
                                <a:rPr lang="en-US" b="0" i="1" smtClean="0">
                                  <a:latin typeface="Cambria Math" panose="02040503050406030204" pitchFamily="18" charset="0"/>
                                </a:rPr>
                              </m:ctrlPr>
                            </m:dPr>
                            <m:e>
                              <m:r>
                                <a:rPr lang="en-US" b="0" i="1" smtClean="0">
                                  <a:latin typeface="Cambria Math" panose="02040503050406030204" pitchFamily="18" charset="0"/>
                                </a:rPr>
                                <m:t>𝑉</m:t>
                              </m:r>
                              <m:d>
                                <m:dPr>
                                  <m:ctrlPr>
                                    <a:rPr lang="en-US" b="0" i="1" smtClean="0">
                                      <a:latin typeface="Cambria Math" panose="02040503050406030204" pitchFamily="18" charset="0"/>
                                    </a:rPr>
                                  </m:ctrlPr>
                                </m:dPr>
                                <m:e>
                                  <m:r>
                                    <a:rPr lang="en-US" b="0" i="1" smtClean="0">
                                      <a:latin typeface="Cambria Math" panose="02040503050406030204" pitchFamily="18" charset="0"/>
                                    </a:rPr>
                                    <m:t>𝑇</m:t>
                                  </m:r>
                                </m:e>
                              </m:d>
                              <m:r>
                                <a:rPr lang="en-US" b="0" i="1" smtClean="0">
                                  <a:latin typeface="Cambria Math" panose="02040503050406030204" pitchFamily="18" charset="0"/>
                                </a:rPr>
                                <m:t>−</m:t>
                              </m:r>
                              <m:r>
                                <a:rPr lang="en-US" b="0" i="1" smtClean="0">
                                  <a:latin typeface="Cambria Math" panose="02040503050406030204" pitchFamily="18" charset="0"/>
                                </a:rPr>
                                <m:t>𝑐</m:t>
                              </m:r>
                            </m:e>
                          </m:d>
                        </m:num>
                        <m:den>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sSup>
                                    <m:sSupPr>
                                      <m:ctrlPr>
                                        <a:rPr lang="en-US" b="0" i="1" smtClean="0">
                                          <a:latin typeface="Cambria Math" panose="02040503050406030204" pitchFamily="18" charset="0"/>
                                        </a:rPr>
                                      </m:ctrlPr>
                                    </m:sSupPr>
                                    <m:e>
                                      <m:r>
                                        <a:rPr lang="en-US" b="0" i="1" smtClean="0">
                                          <a:latin typeface="Cambria Math" panose="02040503050406030204" pitchFamily="18" charset="0"/>
                                        </a:rPr>
                                        <m:t>𝑒</m:t>
                                      </m:r>
                                    </m:e>
                                    <m:sup>
                                      <m:r>
                                        <a:rPr lang="en-US" b="0" i="1" smtClean="0">
                                          <a:latin typeface="Cambria Math" panose="02040503050406030204" pitchFamily="18" charset="0"/>
                                        </a:rPr>
                                        <m:t>𝑟𝑇</m:t>
                                      </m:r>
                                    </m:sup>
                                  </m:sSup>
                                  <m:r>
                                    <a:rPr lang="en-US" b="0" i="1" smtClean="0">
                                      <a:latin typeface="Cambria Math" panose="02040503050406030204" pitchFamily="18" charset="0"/>
                                    </a:rPr>
                                    <m:t>−1</m:t>
                                  </m:r>
                                </m:e>
                              </m:d>
                            </m:e>
                            <m:sup>
                              <m:r>
                                <a:rPr lang="en-US" b="0" i="1" smtClean="0">
                                  <a:latin typeface="Cambria Math" panose="02040503050406030204" pitchFamily="18" charset="0"/>
                                </a:rPr>
                                <m:t>2</m:t>
                              </m:r>
                            </m:sup>
                          </m:sSup>
                        </m:den>
                      </m:f>
                      <m:r>
                        <a:rPr lang="en-US" b="0" i="1" smtClean="0">
                          <a:latin typeface="Cambria Math" panose="02040503050406030204" pitchFamily="18" charset="0"/>
                        </a:rPr>
                        <m:t>=0</m:t>
                      </m:r>
                    </m:oMath>
                  </m:oMathPara>
                </a14:m>
                <a:endParaRPr lang="en-US" dirty="0"/>
              </a:p>
              <a:p>
                <a:pPr marL="0" indent="0">
                  <a:buNone/>
                </a:pPr>
                <a:endParaRPr lang="en-US" dirty="0"/>
              </a:p>
              <a:p>
                <a:pPr marL="0" indent="0">
                  <a:buNone/>
                </a:pPr>
                <a:r>
                  <a:rPr lang="en-US" dirty="0"/>
                  <a:t>Implies:</a:t>
                </a:r>
              </a:p>
              <a:p>
                <a:pPr marL="0" indent="0">
                  <a:buNone/>
                </a:pPr>
                <a14:m>
                  <m:oMathPara xmlns:m="http://schemas.openxmlformats.org/officeDocument/2006/math">
                    <m:oMathParaPr>
                      <m:jc m:val="centerGroup"/>
                    </m:oMathParaPr>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panose="02040503050406030204" pitchFamily="18" charset="0"/>
                            </a:rPr>
                            <m:t>𝑉</m:t>
                          </m:r>
                        </m:e>
                        <m:sup>
                          <m:r>
                            <a:rPr lang="en-US" b="0" i="1" smtClean="0">
                              <a:latin typeface="Cambria Math" panose="02040503050406030204" pitchFamily="18" charset="0"/>
                            </a:rPr>
                            <m:t>′</m:t>
                          </m:r>
                        </m:sup>
                      </m:sSup>
                      <m:d>
                        <m:dPr>
                          <m:ctrlPr>
                            <a:rPr lang="en-US" b="0" i="1" smtClean="0">
                              <a:latin typeface="Cambria Math" panose="02040503050406030204" pitchFamily="18" charset="0"/>
                            </a:rPr>
                          </m:ctrlPr>
                        </m:dPr>
                        <m:e>
                          <m:r>
                            <a:rPr lang="en-US" b="0" i="1" smtClean="0">
                              <a:latin typeface="Cambria Math" panose="02040503050406030204" pitchFamily="18" charset="0"/>
                            </a:rPr>
                            <m:t>𝑇</m:t>
                          </m:r>
                        </m:e>
                      </m:d>
                      <m:d>
                        <m:dPr>
                          <m:ctrlPr>
                            <a:rPr lang="en-US" b="0" i="1" smtClean="0">
                              <a:latin typeface="Cambria Math" panose="02040503050406030204" pitchFamily="18" charset="0"/>
                            </a:rPr>
                          </m:ctrlPr>
                        </m:dPr>
                        <m:e>
                          <m:sSup>
                            <m:sSupPr>
                              <m:ctrlPr>
                                <a:rPr lang="en-US" b="0" i="1" smtClean="0">
                                  <a:latin typeface="Cambria Math" panose="02040503050406030204" pitchFamily="18" charset="0"/>
                                </a:rPr>
                              </m:ctrlPr>
                            </m:sSupPr>
                            <m:e>
                              <m:r>
                                <a:rPr lang="en-US" b="0" i="1" smtClean="0">
                                  <a:latin typeface="Cambria Math" panose="02040503050406030204" pitchFamily="18" charset="0"/>
                                </a:rPr>
                                <m:t>𝑒</m:t>
                              </m:r>
                            </m:e>
                            <m:sup>
                              <m:r>
                                <a:rPr lang="en-US" b="0" i="1" smtClean="0">
                                  <a:latin typeface="Cambria Math" panose="02040503050406030204" pitchFamily="18" charset="0"/>
                                </a:rPr>
                                <m:t>𝑟𝑇</m:t>
                              </m:r>
                            </m:sup>
                          </m:sSup>
                          <m:r>
                            <a:rPr lang="en-US" b="0" i="1" smtClean="0">
                              <a:latin typeface="Cambria Math" panose="02040503050406030204" pitchFamily="18" charset="0"/>
                            </a:rPr>
                            <m:t>−1</m:t>
                          </m:r>
                        </m:e>
                      </m:d>
                      <m:r>
                        <a:rPr lang="en-US" b="0" i="1" smtClean="0">
                          <a:latin typeface="Cambria Math" panose="02040503050406030204" pitchFamily="18" charset="0"/>
                        </a:rPr>
                        <m:t>=</m:t>
                      </m:r>
                      <m:r>
                        <a:rPr lang="en-US" b="0" i="1" smtClean="0">
                          <a:latin typeface="Cambria Math" panose="02040503050406030204" pitchFamily="18" charset="0"/>
                        </a:rPr>
                        <m:t>𝑟</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𝑒</m:t>
                          </m:r>
                        </m:e>
                        <m:sup>
                          <m:r>
                            <a:rPr lang="en-US" b="0" i="1" smtClean="0">
                              <a:latin typeface="Cambria Math" panose="02040503050406030204" pitchFamily="18" charset="0"/>
                            </a:rPr>
                            <m:t>𝑟𝑇</m:t>
                          </m:r>
                        </m:sup>
                      </m:sSup>
                      <m:r>
                        <a:rPr lang="en-US" b="0" i="1" smtClean="0">
                          <a:latin typeface="Cambria Math" panose="02040503050406030204" pitchFamily="18" charset="0"/>
                        </a:rPr>
                        <m:t>(</m:t>
                      </m:r>
                      <m:r>
                        <a:rPr lang="en-US" b="0" i="1" smtClean="0">
                          <a:latin typeface="Cambria Math" panose="02040503050406030204" pitchFamily="18" charset="0"/>
                        </a:rPr>
                        <m:t>𝑉</m:t>
                      </m:r>
                      <m:d>
                        <m:dPr>
                          <m:ctrlPr>
                            <a:rPr lang="en-US" b="0" i="1" smtClean="0">
                              <a:latin typeface="Cambria Math" panose="02040503050406030204" pitchFamily="18" charset="0"/>
                            </a:rPr>
                          </m:ctrlPr>
                        </m:dPr>
                        <m:e>
                          <m:r>
                            <a:rPr lang="en-US" b="0" i="1" smtClean="0">
                              <a:latin typeface="Cambria Math" panose="02040503050406030204" pitchFamily="18" charset="0"/>
                            </a:rPr>
                            <m:t>𝑇</m:t>
                          </m:r>
                        </m:e>
                      </m:d>
                      <m:r>
                        <a:rPr lang="en-US" b="0" i="1" smtClean="0">
                          <a:latin typeface="Cambria Math" panose="02040503050406030204" pitchFamily="18" charset="0"/>
                        </a:rPr>
                        <m:t>−</m:t>
                      </m:r>
                      <m:r>
                        <a:rPr lang="en-US" b="0" i="1" smtClean="0">
                          <a:latin typeface="Cambria Math" panose="02040503050406030204" pitchFamily="18" charset="0"/>
                        </a:rPr>
                        <m:t>𝑐</m:t>
                      </m:r>
                      <m:r>
                        <a:rPr lang="en-US" b="0" i="1" smtClean="0">
                          <a:latin typeface="Cambria Math" panose="02040503050406030204" pitchFamily="18" charset="0"/>
                        </a:rPr>
                        <m:t>)</m:t>
                      </m:r>
                    </m:oMath>
                  </m:oMathPara>
                </a14:m>
                <a:endParaRPr lang="en-US" dirty="0"/>
              </a:p>
            </p:txBody>
          </p:sp>
        </mc:Choice>
        <mc:Fallback xmlns="">
          <p:sp>
            <p:nvSpPr>
              <p:cNvPr id="3" name="Content Placeholder 2">
                <a:extLst>
                  <a:ext uri="{FF2B5EF4-FFF2-40B4-BE49-F238E27FC236}">
                    <a16:creationId xmlns:a16="http://schemas.microsoft.com/office/drawing/2014/main" id="{4AD4C21A-6E10-B91C-2FE0-31CE3FF868E4}"/>
                  </a:ext>
                </a:extLst>
              </p:cNvPr>
              <p:cNvSpPr>
                <a:spLocks noGrp="1" noRot="1" noChangeAspect="1" noMove="1" noResize="1" noEditPoints="1" noAdjustHandles="1" noChangeArrowheads="1" noChangeShapeType="1" noTextEdit="1"/>
              </p:cNvSpPr>
              <p:nvPr>
                <p:ph idx="1"/>
              </p:nvPr>
            </p:nvSpPr>
            <p:spPr>
              <a:xfrm>
                <a:off x="838200" y="1825624"/>
                <a:ext cx="10515600" cy="4879975"/>
              </a:xfrm>
              <a:blipFill>
                <a:blip r:embed="rId2"/>
                <a:stretch>
                  <a:fillRect l="-1206"/>
                </a:stretch>
              </a:blipFill>
            </p:spPr>
            <p:txBody>
              <a:bodyPr/>
              <a:lstStyle/>
              <a:p>
                <a:r>
                  <a:rPr lang="en-US">
                    <a:noFill/>
                  </a:rPr>
                  <a:t> </a:t>
                </a:r>
              </a:p>
            </p:txBody>
          </p:sp>
        </mc:Fallback>
      </mc:AlternateContent>
      <p:cxnSp>
        <p:nvCxnSpPr>
          <p:cNvPr id="5" name="Straight Arrow Connector 4">
            <a:extLst>
              <a:ext uri="{FF2B5EF4-FFF2-40B4-BE49-F238E27FC236}">
                <a16:creationId xmlns:a16="http://schemas.microsoft.com/office/drawing/2014/main" id="{8B8E08DA-97E2-7FD2-551C-5D6C6A45E3D9}"/>
              </a:ext>
            </a:extLst>
          </p:cNvPr>
          <p:cNvCxnSpPr>
            <a:cxnSpLocks/>
            <a:stCxn id="6" idx="0"/>
          </p:cNvCxnSpPr>
          <p:nvPr/>
        </p:nvCxnSpPr>
        <p:spPr>
          <a:xfrm flipV="1">
            <a:off x="2812332" y="5646821"/>
            <a:ext cx="1551121" cy="56931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6" name="TextBox 5">
            <a:extLst>
              <a:ext uri="{FF2B5EF4-FFF2-40B4-BE49-F238E27FC236}">
                <a16:creationId xmlns:a16="http://schemas.microsoft.com/office/drawing/2014/main" id="{02207024-7599-C37B-CACC-52238BDFA7BA}"/>
              </a:ext>
            </a:extLst>
          </p:cNvPr>
          <p:cNvSpPr txBox="1"/>
          <p:nvPr/>
        </p:nvSpPr>
        <p:spPr>
          <a:xfrm>
            <a:off x="199950" y="6216133"/>
            <a:ext cx="5224764" cy="369332"/>
          </a:xfrm>
          <a:prstGeom prst="rect">
            <a:avLst/>
          </a:prstGeom>
          <a:noFill/>
        </p:spPr>
        <p:txBody>
          <a:bodyPr wrap="none" rtlCol="0">
            <a:spAutoFit/>
          </a:bodyPr>
          <a:lstStyle/>
          <a:p>
            <a:r>
              <a:rPr lang="en-US" dirty="0"/>
              <a:t>Marginal increase in time value [x] Perpetuity factor</a:t>
            </a:r>
          </a:p>
        </p:txBody>
      </p:sp>
      <p:sp>
        <p:nvSpPr>
          <p:cNvPr id="7" name="TextBox 6">
            <a:extLst>
              <a:ext uri="{FF2B5EF4-FFF2-40B4-BE49-F238E27FC236}">
                <a16:creationId xmlns:a16="http://schemas.microsoft.com/office/drawing/2014/main" id="{E0CC91B7-1209-8231-A26C-072C524AFB4A}"/>
              </a:ext>
            </a:extLst>
          </p:cNvPr>
          <p:cNvSpPr txBox="1"/>
          <p:nvPr/>
        </p:nvSpPr>
        <p:spPr>
          <a:xfrm>
            <a:off x="6062964" y="6077633"/>
            <a:ext cx="4890057" cy="646331"/>
          </a:xfrm>
          <a:prstGeom prst="rect">
            <a:avLst/>
          </a:prstGeom>
          <a:noFill/>
        </p:spPr>
        <p:txBody>
          <a:bodyPr wrap="none" rtlCol="0">
            <a:spAutoFit/>
          </a:bodyPr>
          <a:lstStyle/>
          <a:p>
            <a:r>
              <a:rPr lang="en-US" dirty="0"/>
              <a:t>Opportunity cost of capital tied up in the stand, </a:t>
            </a:r>
          </a:p>
          <a:p>
            <a:r>
              <a:rPr lang="en-US" dirty="0"/>
              <a:t>including delayed profits</a:t>
            </a:r>
          </a:p>
        </p:txBody>
      </p:sp>
      <p:cxnSp>
        <p:nvCxnSpPr>
          <p:cNvPr id="9" name="Straight Arrow Connector 8">
            <a:extLst>
              <a:ext uri="{FF2B5EF4-FFF2-40B4-BE49-F238E27FC236}">
                <a16:creationId xmlns:a16="http://schemas.microsoft.com/office/drawing/2014/main" id="{A451F0C0-1847-D30D-D89A-4AFFE05B9CD5}"/>
              </a:ext>
            </a:extLst>
          </p:cNvPr>
          <p:cNvCxnSpPr>
            <a:cxnSpLocks/>
          </p:cNvCxnSpPr>
          <p:nvPr/>
        </p:nvCxnSpPr>
        <p:spPr>
          <a:xfrm flipH="1" flipV="1">
            <a:off x="7398846" y="5511885"/>
            <a:ext cx="718459" cy="565748"/>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759538628"/>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220D1C-1D8E-5214-E263-BA3292E4A8E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BEEE9A7-D65D-F18E-684A-5AD505660DA3}"/>
              </a:ext>
            </a:extLst>
          </p:cNvPr>
          <p:cNvSpPr>
            <a:spLocks noGrp="1"/>
          </p:cNvSpPr>
          <p:nvPr>
            <p:ph type="title"/>
          </p:nvPr>
        </p:nvSpPr>
        <p:spPr/>
        <p:txBody>
          <a:bodyPr/>
          <a:lstStyle/>
          <a:p>
            <a:r>
              <a:rPr lang="en-US" dirty="0"/>
              <a:t>The Faustmann Equation [I]</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BADA6E7B-452E-16B8-5AC6-B50D7A715DBF}"/>
                  </a:ext>
                </a:extLst>
              </p:cNvPr>
              <p:cNvSpPr>
                <a:spLocks noGrp="1"/>
              </p:cNvSpPr>
              <p:nvPr>
                <p:ph idx="1"/>
              </p:nvPr>
            </p:nvSpPr>
            <p:spPr>
              <a:xfrm>
                <a:off x="838200" y="1825624"/>
                <a:ext cx="10515600" cy="4879975"/>
              </a:xfrm>
            </p:spPr>
            <p:txBody>
              <a:bodyPr>
                <a:normAutofit fontScale="92500"/>
              </a:bodyPr>
              <a:lstStyle/>
              <a:p>
                <a:pPr marL="0" indent="0">
                  <a:buNone/>
                </a:pPr>
                <a14:m>
                  <m:oMathPara xmlns:m="http://schemas.openxmlformats.org/officeDocument/2006/math">
                    <m:oMathParaPr>
                      <m:jc m:val="centerGroup"/>
                    </m:oMathParaPr>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panose="02040503050406030204" pitchFamily="18" charset="0"/>
                            </a:rPr>
                            <m:t>𝑉</m:t>
                          </m:r>
                        </m:e>
                        <m:sup>
                          <m:r>
                            <a:rPr lang="en-US" b="0" i="1" smtClean="0">
                              <a:latin typeface="Cambria Math" panose="02040503050406030204" pitchFamily="18" charset="0"/>
                            </a:rPr>
                            <m:t>′</m:t>
                          </m:r>
                        </m:sup>
                      </m:sSup>
                      <m:d>
                        <m:dPr>
                          <m:ctrlPr>
                            <a:rPr lang="en-US" b="0" i="1" smtClean="0">
                              <a:latin typeface="Cambria Math" panose="02040503050406030204" pitchFamily="18" charset="0"/>
                            </a:rPr>
                          </m:ctrlPr>
                        </m:dPr>
                        <m:e>
                          <m:r>
                            <a:rPr lang="en-US" b="0" i="1" smtClean="0">
                              <a:latin typeface="Cambria Math" panose="02040503050406030204" pitchFamily="18" charset="0"/>
                            </a:rPr>
                            <m:t>𝑇</m:t>
                          </m:r>
                        </m:e>
                      </m:d>
                      <m:d>
                        <m:dPr>
                          <m:ctrlPr>
                            <a:rPr lang="en-US" b="0" i="1" smtClean="0">
                              <a:latin typeface="Cambria Math" panose="02040503050406030204" pitchFamily="18" charset="0"/>
                            </a:rPr>
                          </m:ctrlPr>
                        </m:dPr>
                        <m:e>
                          <m:sSup>
                            <m:sSupPr>
                              <m:ctrlPr>
                                <a:rPr lang="en-US" b="0" i="1" smtClean="0">
                                  <a:latin typeface="Cambria Math" panose="02040503050406030204" pitchFamily="18" charset="0"/>
                                </a:rPr>
                              </m:ctrlPr>
                            </m:sSupPr>
                            <m:e>
                              <m:r>
                                <a:rPr lang="en-US" b="0" i="1" smtClean="0">
                                  <a:latin typeface="Cambria Math" panose="02040503050406030204" pitchFamily="18" charset="0"/>
                                </a:rPr>
                                <m:t>𝑒</m:t>
                              </m:r>
                            </m:e>
                            <m:sup>
                              <m:r>
                                <a:rPr lang="en-US" b="0" i="1" smtClean="0">
                                  <a:latin typeface="Cambria Math" panose="02040503050406030204" pitchFamily="18" charset="0"/>
                                </a:rPr>
                                <m:t>𝑟𝑇</m:t>
                              </m:r>
                            </m:sup>
                          </m:sSup>
                          <m:r>
                            <a:rPr lang="en-US" b="0" i="1" smtClean="0">
                              <a:latin typeface="Cambria Math" panose="02040503050406030204" pitchFamily="18" charset="0"/>
                            </a:rPr>
                            <m:t>−1</m:t>
                          </m:r>
                        </m:e>
                      </m:d>
                      <m:r>
                        <a:rPr lang="en-US" b="0" i="1" smtClean="0">
                          <a:latin typeface="Cambria Math" panose="02040503050406030204" pitchFamily="18" charset="0"/>
                        </a:rPr>
                        <m:t>=</m:t>
                      </m:r>
                      <m:r>
                        <a:rPr lang="en-US" b="0" i="1" smtClean="0">
                          <a:solidFill>
                            <a:schemeClr val="bg1">
                              <a:lumMod val="50000"/>
                            </a:schemeClr>
                          </a:solidFill>
                          <a:latin typeface="Cambria Math" panose="02040503050406030204" pitchFamily="18" charset="0"/>
                        </a:rPr>
                        <m:t>𝑟</m:t>
                      </m:r>
                      <m:sSup>
                        <m:sSupPr>
                          <m:ctrlPr>
                            <a:rPr lang="en-US" b="0" i="1" smtClean="0">
                              <a:solidFill>
                                <a:schemeClr val="bg1">
                                  <a:lumMod val="50000"/>
                                </a:schemeClr>
                              </a:solidFill>
                              <a:latin typeface="Cambria Math" panose="02040503050406030204" pitchFamily="18" charset="0"/>
                            </a:rPr>
                          </m:ctrlPr>
                        </m:sSupPr>
                        <m:e>
                          <m:r>
                            <a:rPr lang="en-US" b="0" i="1" smtClean="0">
                              <a:solidFill>
                                <a:schemeClr val="bg1">
                                  <a:lumMod val="50000"/>
                                </a:schemeClr>
                              </a:solidFill>
                              <a:latin typeface="Cambria Math" panose="02040503050406030204" pitchFamily="18" charset="0"/>
                            </a:rPr>
                            <m:t>𝑒</m:t>
                          </m:r>
                        </m:e>
                        <m:sup>
                          <m:r>
                            <a:rPr lang="en-US" b="0" i="1" smtClean="0">
                              <a:solidFill>
                                <a:schemeClr val="bg1">
                                  <a:lumMod val="50000"/>
                                </a:schemeClr>
                              </a:solidFill>
                              <a:latin typeface="Cambria Math" panose="02040503050406030204" pitchFamily="18" charset="0"/>
                            </a:rPr>
                            <m:t>𝑟𝑇</m:t>
                          </m:r>
                        </m:sup>
                      </m:sSup>
                      <m:r>
                        <a:rPr lang="en-US" b="0" i="1" smtClean="0">
                          <a:solidFill>
                            <a:schemeClr val="bg1">
                              <a:lumMod val="50000"/>
                            </a:schemeClr>
                          </a:solidFill>
                          <a:latin typeface="Cambria Math" panose="02040503050406030204" pitchFamily="18" charset="0"/>
                        </a:rPr>
                        <m:t>(</m:t>
                      </m:r>
                      <m:r>
                        <a:rPr lang="en-US" b="0" i="1" smtClean="0">
                          <a:solidFill>
                            <a:schemeClr val="bg1">
                              <a:lumMod val="50000"/>
                            </a:schemeClr>
                          </a:solidFill>
                          <a:latin typeface="Cambria Math" panose="02040503050406030204" pitchFamily="18" charset="0"/>
                        </a:rPr>
                        <m:t>𝑉</m:t>
                      </m:r>
                      <m:d>
                        <m:dPr>
                          <m:ctrlPr>
                            <a:rPr lang="en-US" b="0" i="1" smtClean="0">
                              <a:solidFill>
                                <a:schemeClr val="bg1">
                                  <a:lumMod val="50000"/>
                                </a:schemeClr>
                              </a:solidFill>
                              <a:latin typeface="Cambria Math" panose="02040503050406030204" pitchFamily="18" charset="0"/>
                            </a:rPr>
                          </m:ctrlPr>
                        </m:dPr>
                        <m:e>
                          <m:r>
                            <a:rPr lang="en-US" b="0" i="1" smtClean="0">
                              <a:solidFill>
                                <a:schemeClr val="bg1">
                                  <a:lumMod val="50000"/>
                                </a:schemeClr>
                              </a:solidFill>
                              <a:latin typeface="Cambria Math" panose="02040503050406030204" pitchFamily="18" charset="0"/>
                            </a:rPr>
                            <m:t>𝑇</m:t>
                          </m:r>
                        </m:e>
                      </m:d>
                      <m:r>
                        <a:rPr lang="en-US" b="0" i="1" smtClean="0">
                          <a:solidFill>
                            <a:schemeClr val="bg1">
                              <a:lumMod val="50000"/>
                            </a:schemeClr>
                          </a:solidFill>
                          <a:latin typeface="Cambria Math" panose="02040503050406030204" pitchFamily="18" charset="0"/>
                        </a:rPr>
                        <m:t>−</m:t>
                      </m:r>
                      <m:r>
                        <a:rPr lang="en-US" b="0" i="1" smtClean="0">
                          <a:solidFill>
                            <a:schemeClr val="bg1">
                              <a:lumMod val="50000"/>
                            </a:schemeClr>
                          </a:solidFill>
                          <a:latin typeface="Cambria Math" panose="02040503050406030204" pitchFamily="18" charset="0"/>
                        </a:rPr>
                        <m:t>𝑐</m:t>
                      </m:r>
                      <m:r>
                        <a:rPr lang="en-US" b="0" i="1" smtClean="0">
                          <a:solidFill>
                            <a:schemeClr val="bg1">
                              <a:lumMod val="50000"/>
                            </a:schemeClr>
                          </a:solidFill>
                          <a:latin typeface="Cambria Math" panose="02040503050406030204" pitchFamily="18" charset="0"/>
                        </a:rPr>
                        <m:t>)</m:t>
                      </m:r>
                    </m:oMath>
                  </m:oMathPara>
                </a14:m>
                <a:endParaRPr lang="en-US" dirty="0">
                  <a:solidFill>
                    <a:schemeClr val="bg1">
                      <a:lumMod val="50000"/>
                    </a:schemeClr>
                  </a:solidFill>
                </a:endParaRPr>
              </a:p>
              <a:p>
                <a:pPr marL="0" indent="0">
                  <a:buNone/>
                </a:pPr>
                <a:endParaRPr lang="en-US" dirty="0">
                  <a:solidFill>
                    <a:schemeClr val="bg1">
                      <a:lumMod val="50000"/>
                    </a:schemeClr>
                  </a:solidFill>
                </a:endParaRPr>
              </a:p>
              <a:p>
                <a:pPr marL="0" indent="0">
                  <a:buNone/>
                </a:pPr>
                <a:endParaRPr lang="en-US" dirty="0"/>
              </a:p>
              <a:p>
                <a:pPr marL="0" indent="0">
                  <a:buNone/>
                </a:pPr>
                <a:endParaRPr lang="en-US" dirty="0"/>
              </a:p>
              <a:p>
                <a:pPr marL="0" indent="0">
                  <a:buNone/>
                </a:pPr>
                <a:r>
                  <a:rPr lang="en-US" dirty="0"/>
                  <a:t>LHS implies: The gain from waiting</a:t>
                </a:r>
              </a:p>
              <a:p>
                <a:pPr>
                  <a:buFontTx/>
                  <a:buChar char="-"/>
                </a:pPr>
                <a:r>
                  <a:rPr lang="en-US" dirty="0"/>
                  <a:t>V’(T): how much money you’d make if you waited a tiny bit</a:t>
                </a:r>
              </a:p>
              <a:p>
                <a:pPr>
                  <a:buFontTx/>
                  <a:buChar char="-"/>
                </a:pPr>
                <a14:m>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panose="02040503050406030204" pitchFamily="18" charset="0"/>
                          </a:rPr>
                          <m:t>𝑒</m:t>
                        </m:r>
                      </m:e>
                      <m:sup>
                        <m:r>
                          <a:rPr lang="en-US" b="0" i="1" smtClean="0">
                            <a:latin typeface="Cambria Math" panose="02040503050406030204" pitchFamily="18" charset="0"/>
                          </a:rPr>
                          <m:t>𝑟𝑇</m:t>
                        </m:r>
                      </m:sup>
                    </m:sSup>
                    <m:r>
                      <a:rPr lang="en-US" b="0" i="1" smtClean="0">
                        <a:latin typeface="Cambria Math" panose="02040503050406030204" pitchFamily="18" charset="0"/>
                      </a:rPr>
                      <m:t>−1</m:t>
                    </m:r>
                  </m:oMath>
                </a14:m>
                <a:r>
                  <a:rPr lang="en-US" dirty="0"/>
                  <a:t>: perpetuity factor -&gt; the value lost in waiting</a:t>
                </a:r>
              </a:p>
              <a:p>
                <a:pPr lvl="3">
                  <a:buFontTx/>
                  <a:buChar char="-"/>
                </a:pPr>
                <a:r>
                  <a:rPr lang="en-US" sz="2400" dirty="0"/>
                  <a:t>We want our money now!</a:t>
                </a:r>
              </a:p>
              <a:p>
                <a:pPr lvl="3">
                  <a:buFontTx/>
                  <a:buChar char="-"/>
                </a:pPr>
                <a:endParaRPr lang="en-US" sz="2400" dirty="0"/>
              </a:p>
              <a:p>
                <a:pPr>
                  <a:buFontTx/>
                  <a:buChar char="-"/>
                </a:pPr>
                <a:r>
                  <a:rPr lang="en-US" sz="3400" dirty="0"/>
                  <a:t>In short: this is the PV of growing trees just a tiny bit longer</a:t>
                </a:r>
              </a:p>
            </p:txBody>
          </p:sp>
        </mc:Choice>
        <mc:Fallback xmlns="">
          <p:sp>
            <p:nvSpPr>
              <p:cNvPr id="3" name="Content Placeholder 2">
                <a:extLst>
                  <a:ext uri="{FF2B5EF4-FFF2-40B4-BE49-F238E27FC236}">
                    <a16:creationId xmlns:a16="http://schemas.microsoft.com/office/drawing/2014/main" id="{BADA6E7B-452E-16B8-5AC6-B50D7A715DBF}"/>
                  </a:ext>
                </a:extLst>
              </p:cNvPr>
              <p:cNvSpPr>
                <a:spLocks noGrp="1" noRot="1" noChangeAspect="1" noMove="1" noResize="1" noEditPoints="1" noAdjustHandles="1" noChangeArrowheads="1" noChangeShapeType="1" noTextEdit="1"/>
              </p:cNvSpPr>
              <p:nvPr>
                <p:ph idx="1"/>
              </p:nvPr>
            </p:nvSpPr>
            <p:spPr>
              <a:xfrm>
                <a:off x="838200" y="1825624"/>
                <a:ext cx="10515600" cy="4879975"/>
              </a:xfrm>
              <a:blipFill>
                <a:blip r:embed="rId2"/>
                <a:stretch>
                  <a:fillRect l="-1568" t="-260"/>
                </a:stretch>
              </a:blipFill>
            </p:spPr>
            <p:txBody>
              <a:bodyPr/>
              <a:lstStyle/>
              <a:p>
                <a:r>
                  <a:rPr lang="en-US">
                    <a:noFill/>
                  </a:rPr>
                  <a:t> </a:t>
                </a:r>
              </a:p>
            </p:txBody>
          </p:sp>
        </mc:Fallback>
      </mc:AlternateContent>
      <p:cxnSp>
        <p:nvCxnSpPr>
          <p:cNvPr id="5" name="Straight Arrow Connector 4">
            <a:extLst>
              <a:ext uri="{FF2B5EF4-FFF2-40B4-BE49-F238E27FC236}">
                <a16:creationId xmlns:a16="http://schemas.microsoft.com/office/drawing/2014/main" id="{343AED66-4C7D-D89D-511A-78E17B8A2A5F}"/>
              </a:ext>
            </a:extLst>
          </p:cNvPr>
          <p:cNvCxnSpPr>
            <a:cxnSpLocks/>
          </p:cNvCxnSpPr>
          <p:nvPr/>
        </p:nvCxnSpPr>
        <p:spPr>
          <a:xfrm flipV="1">
            <a:off x="3104432" y="2497681"/>
            <a:ext cx="1551121" cy="56931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6" name="TextBox 5">
            <a:extLst>
              <a:ext uri="{FF2B5EF4-FFF2-40B4-BE49-F238E27FC236}">
                <a16:creationId xmlns:a16="http://schemas.microsoft.com/office/drawing/2014/main" id="{7CA2ED40-D77C-145E-B20F-AE7EEE6D4844}"/>
              </a:ext>
            </a:extLst>
          </p:cNvPr>
          <p:cNvSpPr txBox="1"/>
          <p:nvPr/>
        </p:nvSpPr>
        <p:spPr>
          <a:xfrm>
            <a:off x="250750" y="3244334"/>
            <a:ext cx="5224764" cy="369332"/>
          </a:xfrm>
          <a:prstGeom prst="rect">
            <a:avLst/>
          </a:prstGeom>
          <a:noFill/>
        </p:spPr>
        <p:txBody>
          <a:bodyPr wrap="none" rtlCol="0">
            <a:spAutoFit/>
          </a:bodyPr>
          <a:lstStyle/>
          <a:p>
            <a:r>
              <a:rPr lang="en-US" dirty="0"/>
              <a:t>Marginal increase in time value [x] Perpetuity factor</a:t>
            </a:r>
          </a:p>
        </p:txBody>
      </p:sp>
      <p:sp>
        <p:nvSpPr>
          <p:cNvPr id="7" name="TextBox 6">
            <a:extLst>
              <a:ext uri="{FF2B5EF4-FFF2-40B4-BE49-F238E27FC236}">
                <a16:creationId xmlns:a16="http://schemas.microsoft.com/office/drawing/2014/main" id="{F16F2BE0-EF21-B2A8-A422-2C4F05D3999A}"/>
              </a:ext>
            </a:extLst>
          </p:cNvPr>
          <p:cNvSpPr txBox="1"/>
          <p:nvPr/>
        </p:nvSpPr>
        <p:spPr>
          <a:xfrm>
            <a:off x="6177264" y="3063971"/>
            <a:ext cx="4890057" cy="646331"/>
          </a:xfrm>
          <a:prstGeom prst="rect">
            <a:avLst/>
          </a:prstGeom>
          <a:noFill/>
        </p:spPr>
        <p:txBody>
          <a:bodyPr wrap="none" rtlCol="0">
            <a:spAutoFit/>
          </a:bodyPr>
          <a:lstStyle/>
          <a:p>
            <a:r>
              <a:rPr lang="en-US" dirty="0">
                <a:solidFill>
                  <a:schemeClr val="bg1">
                    <a:lumMod val="50000"/>
                  </a:schemeClr>
                </a:solidFill>
              </a:rPr>
              <a:t>Opportunity cost of capital tied up in the stand, </a:t>
            </a:r>
          </a:p>
          <a:p>
            <a:r>
              <a:rPr lang="en-US" dirty="0">
                <a:solidFill>
                  <a:schemeClr val="bg1">
                    <a:lumMod val="50000"/>
                  </a:schemeClr>
                </a:solidFill>
              </a:rPr>
              <a:t>including delayed profits</a:t>
            </a:r>
          </a:p>
        </p:txBody>
      </p:sp>
      <p:cxnSp>
        <p:nvCxnSpPr>
          <p:cNvPr id="9" name="Straight Arrow Connector 8">
            <a:extLst>
              <a:ext uri="{FF2B5EF4-FFF2-40B4-BE49-F238E27FC236}">
                <a16:creationId xmlns:a16="http://schemas.microsoft.com/office/drawing/2014/main" id="{68CED823-F843-2640-2961-503B049ACA2A}"/>
              </a:ext>
            </a:extLst>
          </p:cNvPr>
          <p:cNvCxnSpPr>
            <a:cxnSpLocks/>
          </p:cNvCxnSpPr>
          <p:nvPr/>
        </p:nvCxnSpPr>
        <p:spPr>
          <a:xfrm flipH="1" flipV="1">
            <a:off x="7430596" y="2363287"/>
            <a:ext cx="718459" cy="565748"/>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425899823"/>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A98CE7-53EF-A147-912B-FA6F62A5E7E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2801010-AE3B-C3F4-E99E-7E6B23940A6D}"/>
              </a:ext>
            </a:extLst>
          </p:cNvPr>
          <p:cNvSpPr>
            <a:spLocks noGrp="1"/>
          </p:cNvSpPr>
          <p:nvPr>
            <p:ph type="title"/>
          </p:nvPr>
        </p:nvSpPr>
        <p:spPr/>
        <p:txBody>
          <a:bodyPr/>
          <a:lstStyle/>
          <a:p>
            <a:r>
              <a:rPr lang="en-US" dirty="0"/>
              <a:t>The Faustmann Equation [II]</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902926F3-DB0B-EA7D-79C5-A4B4CA9C4F94}"/>
                  </a:ext>
                </a:extLst>
              </p:cNvPr>
              <p:cNvSpPr>
                <a:spLocks noGrp="1"/>
              </p:cNvSpPr>
              <p:nvPr>
                <p:ph idx="1"/>
              </p:nvPr>
            </p:nvSpPr>
            <p:spPr>
              <a:xfrm>
                <a:off x="838200" y="1825624"/>
                <a:ext cx="10515600" cy="4879975"/>
              </a:xfrm>
            </p:spPr>
            <p:txBody>
              <a:bodyPr>
                <a:normAutofit lnSpcReduction="10000"/>
              </a:bodyPr>
              <a:lstStyle/>
              <a:p>
                <a:pPr marL="0" indent="0">
                  <a:buNone/>
                </a:pPr>
                <a14:m>
                  <m:oMathPara xmlns:m="http://schemas.openxmlformats.org/officeDocument/2006/math">
                    <m:oMathParaPr>
                      <m:jc m:val="centerGroup"/>
                    </m:oMathParaPr>
                    <m:oMath xmlns:m="http://schemas.openxmlformats.org/officeDocument/2006/math">
                      <m:sSup>
                        <m:sSupPr>
                          <m:ctrlPr>
                            <a:rPr lang="en-US" b="0" i="1" smtClean="0">
                              <a:solidFill>
                                <a:schemeClr val="bg1">
                                  <a:lumMod val="50000"/>
                                </a:schemeClr>
                              </a:solidFill>
                              <a:latin typeface="Cambria Math" panose="02040503050406030204" pitchFamily="18" charset="0"/>
                            </a:rPr>
                          </m:ctrlPr>
                        </m:sSupPr>
                        <m:e>
                          <m:r>
                            <a:rPr lang="en-US" b="0" i="1" smtClean="0">
                              <a:solidFill>
                                <a:schemeClr val="bg1">
                                  <a:lumMod val="50000"/>
                                </a:schemeClr>
                              </a:solidFill>
                              <a:latin typeface="Cambria Math" panose="02040503050406030204" pitchFamily="18" charset="0"/>
                            </a:rPr>
                            <m:t>𝑉</m:t>
                          </m:r>
                        </m:e>
                        <m:sup>
                          <m:r>
                            <a:rPr lang="en-US" b="0" i="1" smtClean="0">
                              <a:solidFill>
                                <a:schemeClr val="bg1">
                                  <a:lumMod val="50000"/>
                                </a:schemeClr>
                              </a:solidFill>
                              <a:latin typeface="Cambria Math" panose="02040503050406030204" pitchFamily="18" charset="0"/>
                            </a:rPr>
                            <m:t>′</m:t>
                          </m:r>
                        </m:sup>
                      </m:sSup>
                      <m:d>
                        <m:dPr>
                          <m:ctrlPr>
                            <a:rPr lang="en-US" b="0" i="1" smtClean="0">
                              <a:solidFill>
                                <a:schemeClr val="bg1">
                                  <a:lumMod val="50000"/>
                                </a:schemeClr>
                              </a:solidFill>
                              <a:latin typeface="Cambria Math" panose="02040503050406030204" pitchFamily="18" charset="0"/>
                            </a:rPr>
                          </m:ctrlPr>
                        </m:dPr>
                        <m:e>
                          <m:r>
                            <a:rPr lang="en-US" b="0" i="1" smtClean="0">
                              <a:solidFill>
                                <a:schemeClr val="bg1">
                                  <a:lumMod val="50000"/>
                                </a:schemeClr>
                              </a:solidFill>
                              <a:latin typeface="Cambria Math" panose="02040503050406030204" pitchFamily="18" charset="0"/>
                            </a:rPr>
                            <m:t>𝑇</m:t>
                          </m:r>
                        </m:e>
                      </m:d>
                      <m:d>
                        <m:dPr>
                          <m:ctrlPr>
                            <a:rPr lang="en-US" b="0" i="1" smtClean="0">
                              <a:solidFill>
                                <a:schemeClr val="bg1">
                                  <a:lumMod val="50000"/>
                                </a:schemeClr>
                              </a:solidFill>
                              <a:latin typeface="Cambria Math" panose="02040503050406030204" pitchFamily="18" charset="0"/>
                            </a:rPr>
                          </m:ctrlPr>
                        </m:dPr>
                        <m:e>
                          <m:sSup>
                            <m:sSupPr>
                              <m:ctrlPr>
                                <a:rPr lang="en-US" b="0" i="1" smtClean="0">
                                  <a:solidFill>
                                    <a:schemeClr val="bg1">
                                      <a:lumMod val="50000"/>
                                    </a:schemeClr>
                                  </a:solidFill>
                                  <a:latin typeface="Cambria Math" panose="02040503050406030204" pitchFamily="18" charset="0"/>
                                </a:rPr>
                              </m:ctrlPr>
                            </m:sSupPr>
                            <m:e>
                              <m:r>
                                <a:rPr lang="en-US" b="0" i="1" smtClean="0">
                                  <a:solidFill>
                                    <a:schemeClr val="bg1">
                                      <a:lumMod val="50000"/>
                                    </a:schemeClr>
                                  </a:solidFill>
                                  <a:latin typeface="Cambria Math" panose="02040503050406030204" pitchFamily="18" charset="0"/>
                                </a:rPr>
                                <m:t>𝑒</m:t>
                              </m:r>
                            </m:e>
                            <m:sup>
                              <m:r>
                                <a:rPr lang="en-US" b="0" i="1" smtClean="0">
                                  <a:solidFill>
                                    <a:schemeClr val="bg1">
                                      <a:lumMod val="50000"/>
                                    </a:schemeClr>
                                  </a:solidFill>
                                  <a:latin typeface="Cambria Math" panose="02040503050406030204" pitchFamily="18" charset="0"/>
                                </a:rPr>
                                <m:t>𝑟𝑇</m:t>
                              </m:r>
                            </m:sup>
                          </m:sSup>
                          <m:r>
                            <a:rPr lang="en-US" b="0" i="1" smtClean="0">
                              <a:solidFill>
                                <a:schemeClr val="bg1">
                                  <a:lumMod val="50000"/>
                                </a:schemeClr>
                              </a:solidFill>
                              <a:latin typeface="Cambria Math" panose="02040503050406030204" pitchFamily="18" charset="0"/>
                            </a:rPr>
                            <m:t>−1</m:t>
                          </m:r>
                        </m:e>
                      </m:d>
                      <m:r>
                        <a:rPr lang="en-US" b="0" i="1" smtClean="0">
                          <a:latin typeface="Cambria Math" panose="02040503050406030204" pitchFamily="18" charset="0"/>
                        </a:rPr>
                        <m:t>=</m:t>
                      </m:r>
                      <m:r>
                        <a:rPr lang="en-US" b="0" i="1" smtClean="0">
                          <a:solidFill>
                            <a:schemeClr val="tx1"/>
                          </a:solidFill>
                          <a:latin typeface="Cambria Math" panose="02040503050406030204" pitchFamily="18" charset="0"/>
                        </a:rPr>
                        <m:t>𝑟</m:t>
                      </m:r>
                      <m:sSup>
                        <m:sSupPr>
                          <m:ctrlPr>
                            <a:rPr lang="en-US" b="0" i="1" smtClean="0">
                              <a:solidFill>
                                <a:schemeClr val="tx1"/>
                              </a:solidFill>
                              <a:latin typeface="Cambria Math" panose="02040503050406030204" pitchFamily="18" charset="0"/>
                            </a:rPr>
                          </m:ctrlPr>
                        </m:sSupPr>
                        <m:e>
                          <m:r>
                            <a:rPr lang="en-US" b="0" i="1" smtClean="0">
                              <a:solidFill>
                                <a:schemeClr val="tx1"/>
                              </a:solidFill>
                              <a:latin typeface="Cambria Math" panose="02040503050406030204" pitchFamily="18" charset="0"/>
                            </a:rPr>
                            <m:t>𝑒</m:t>
                          </m:r>
                        </m:e>
                        <m:sup>
                          <m:r>
                            <a:rPr lang="en-US" b="0" i="1" smtClean="0">
                              <a:solidFill>
                                <a:schemeClr val="tx1"/>
                              </a:solidFill>
                              <a:latin typeface="Cambria Math" panose="02040503050406030204" pitchFamily="18" charset="0"/>
                            </a:rPr>
                            <m:t>𝑟𝑇</m:t>
                          </m:r>
                        </m:sup>
                      </m:sSup>
                      <m:r>
                        <a:rPr lang="en-US" b="0" i="1" smtClean="0">
                          <a:solidFill>
                            <a:schemeClr val="tx1"/>
                          </a:solidFill>
                          <a:latin typeface="Cambria Math" panose="02040503050406030204" pitchFamily="18" charset="0"/>
                        </a:rPr>
                        <m:t>(</m:t>
                      </m:r>
                      <m:r>
                        <a:rPr lang="en-US" b="0" i="1" smtClean="0">
                          <a:solidFill>
                            <a:schemeClr val="tx1"/>
                          </a:solidFill>
                          <a:latin typeface="Cambria Math" panose="02040503050406030204" pitchFamily="18" charset="0"/>
                        </a:rPr>
                        <m:t>𝑉</m:t>
                      </m:r>
                      <m:d>
                        <m:dPr>
                          <m:ctrlPr>
                            <a:rPr lang="en-US" b="0" i="1" smtClean="0">
                              <a:solidFill>
                                <a:schemeClr val="tx1"/>
                              </a:solidFill>
                              <a:latin typeface="Cambria Math" panose="02040503050406030204" pitchFamily="18" charset="0"/>
                            </a:rPr>
                          </m:ctrlPr>
                        </m:dPr>
                        <m:e>
                          <m:r>
                            <a:rPr lang="en-US" b="0" i="1" smtClean="0">
                              <a:solidFill>
                                <a:schemeClr val="tx1"/>
                              </a:solidFill>
                              <a:latin typeface="Cambria Math" panose="02040503050406030204" pitchFamily="18" charset="0"/>
                            </a:rPr>
                            <m:t>𝑇</m:t>
                          </m:r>
                        </m:e>
                      </m:d>
                      <m:r>
                        <a:rPr lang="en-US" b="0" i="1" smtClean="0">
                          <a:solidFill>
                            <a:schemeClr val="tx1"/>
                          </a:solidFill>
                          <a:latin typeface="Cambria Math" panose="02040503050406030204" pitchFamily="18" charset="0"/>
                        </a:rPr>
                        <m:t>−</m:t>
                      </m:r>
                      <m:r>
                        <a:rPr lang="en-US" b="0" i="1" smtClean="0">
                          <a:solidFill>
                            <a:schemeClr val="tx1"/>
                          </a:solidFill>
                          <a:latin typeface="Cambria Math" panose="02040503050406030204" pitchFamily="18" charset="0"/>
                        </a:rPr>
                        <m:t>𝑐</m:t>
                      </m:r>
                      <m:r>
                        <a:rPr lang="en-US" b="0" i="1" smtClean="0">
                          <a:solidFill>
                            <a:schemeClr val="tx1"/>
                          </a:solidFill>
                          <a:latin typeface="Cambria Math" panose="02040503050406030204" pitchFamily="18" charset="0"/>
                        </a:rPr>
                        <m:t>)</m:t>
                      </m:r>
                    </m:oMath>
                  </m:oMathPara>
                </a14:m>
                <a:endParaRPr lang="en-US" dirty="0">
                  <a:solidFill>
                    <a:schemeClr val="tx1"/>
                  </a:solidFill>
                </a:endParaRPr>
              </a:p>
              <a:p>
                <a:pPr marL="0" indent="0">
                  <a:buNone/>
                </a:pPr>
                <a:endParaRPr lang="en-US" dirty="0">
                  <a:solidFill>
                    <a:schemeClr val="bg1">
                      <a:lumMod val="50000"/>
                    </a:schemeClr>
                  </a:solidFill>
                </a:endParaRPr>
              </a:p>
              <a:p>
                <a:pPr marL="0" indent="0">
                  <a:buNone/>
                </a:pPr>
                <a:endParaRPr lang="en-US" dirty="0"/>
              </a:p>
              <a:p>
                <a:pPr marL="0" indent="0">
                  <a:buNone/>
                </a:pPr>
                <a:endParaRPr lang="en-US" dirty="0"/>
              </a:p>
              <a:p>
                <a:pPr marL="0" indent="0">
                  <a:buNone/>
                </a:pPr>
                <a:r>
                  <a:rPr lang="en-US" dirty="0"/>
                  <a:t>RHS implies: The cost of waiting</a:t>
                </a:r>
              </a:p>
              <a:p>
                <a:pPr>
                  <a:buFontTx/>
                  <a:buChar char="-"/>
                </a:pPr>
                <a:r>
                  <a:rPr lang="en-US" dirty="0"/>
                  <a:t>(V(T)-c): Profit you’d take, right now</a:t>
                </a:r>
              </a:p>
              <a:p>
                <a:pPr>
                  <a:buFontTx/>
                  <a:buChar char="-"/>
                </a:pPr>
                <a14:m>
                  <m:oMath xmlns:m="http://schemas.openxmlformats.org/officeDocument/2006/math">
                    <m:r>
                      <a:rPr lang="en-US" b="0" i="1" smtClean="0">
                        <a:latin typeface="Cambria Math" panose="02040503050406030204" pitchFamily="18" charset="0"/>
                      </a:rPr>
                      <m:t>𝑟</m:t>
                    </m:r>
                  </m:oMath>
                </a14:m>
                <a:r>
                  <a:rPr lang="en-US" sz="2400" dirty="0"/>
                  <a:t>: the return you’d get if you put that money in the bank</a:t>
                </a:r>
              </a:p>
              <a:p>
                <a:pPr>
                  <a:buFontTx/>
                  <a:buChar char="-"/>
                </a:pPr>
                <a14:m>
                  <m:oMath xmlns:m="http://schemas.openxmlformats.org/officeDocument/2006/math">
                    <m:sSup>
                      <m:sSupPr>
                        <m:ctrlPr>
                          <a:rPr lang="en-US" sz="2400" b="0" i="1" smtClean="0">
                            <a:latin typeface="Cambria Math" panose="02040503050406030204" pitchFamily="18" charset="0"/>
                          </a:rPr>
                        </m:ctrlPr>
                      </m:sSupPr>
                      <m:e>
                        <m:r>
                          <a:rPr lang="en-US" sz="2400" b="0" i="1" smtClean="0">
                            <a:latin typeface="Cambria Math" panose="02040503050406030204" pitchFamily="18" charset="0"/>
                          </a:rPr>
                          <m:t>𝑒</m:t>
                        </m:r>
                      </m:e>
                      <m:sup>
                        <m:r>
                          <a:rPr lang="en-US" sz="2400" b="0" i="1" smtClean="0">
                            <a:latin typeface="Cambria Math" panose="02040503050406030204" pitchFamily="18" charset="0"/>
                          </a:rPr>
                          <m:t>𝑟𝑇</m:t>
                        </m:r>
                      </m:sup>
                    </m:sSup>
                  </m:oMath>
                </a14:m>
                <a:r>
                  <a:rPr lang="en-US" sz="2400" dirty="0"/>
                  <a:t>: value of getting that money sooner versus later</a:t>
                </a:r>
              </a:p>
              <a:p>
                <a:pPr>
                  <a:buFontTx/>
                  <a:buChar char="-"/>
                </a:pPr>
                <a:r>
                  <a:rPr lang="en-US" sz="3400" dirty="0"/>
                  <a:t>In short: opportunity cost of not harvesting and reinvesting that money right now</a:t>
                </a:r>
              </a:p>
            </p:txBody>
          </p:sp>
        </mc:Choice>
        <mc:Fallback xmlns="">
          <p:sp>
            <p:nvSpPr>
              <p:cNvPr id="3" name="Content Placeholder 2">
                <a:extLst>
                  <a:ext uri="{FF2B5EF4-FFF2-40B4-BE49-F238E27FC236}">
                    <a16:creationId xmlns:a16="http://schemas.microsoft.com/office/drawing/2014/main" id="{902926F3-DB0B-EA7D-79C5-A4B4CA9C4F94}"/>
                  </a:ext>
                </a:extLst>
              </p:cNvPr>
              <p:cNvSpPr>
                <a:spLocks noGrp="1" noRot="1" noChangeAspect="1" noMove="1" noResize="1" noEditPoints="1" noAdjustHandles="1" noChangeArrowheads="1" noChangeShapeType="1" noTextEdit="1"/>
              </p:cNvSpPr>
              <p:nvPr>
                <p:ph idx="1"/>
              </p:nvPr>
            </p:nvSpPr>
            <p:spPr>
              <a:xfrm>
                <a:off x="838200" y="1825624"/>
                <a:ext cx="10515600" cy="4879975"/>
              </a:xfrm>
              <a:blipFill>
                <a:blip r:embed="rId2"/>
                <a:stretch>
                  <a:fillRect l="-1689"/>
                </a:stretch>
              </a:blipFill>
            </p:spPr>
            <p:txBody>
              <a:bodyPr/>
              <a:lstStyle/>
              <a:p>
                <a:r>
                  <a:rPr lang="en-US">
                    <a:noFill/>
                  </a:rPr>
                  <a:t> </a:t>
                </a:r>
              </a:p>
            </p:txBody>
          </p:sp>
        </mc:Fallback>
      </mc:AlternateContent>
      <p:cxnSp>
        <p:nvCxnSpPr>
          <p:cNvPr id="5" name="Straight Arrow Connector 4">
            <a:extLst>
              <a:ext uri="{FF2B5EF4-FFF2-40B4-BE49-F238E27FC236}">
                <a16:creationId xmlns:a16="http://schemas.microsoft.com/office/drawing/2014/main" id="{FFAD7E9F-282D-465B-65F2-379735D7B7B2}"/>
              </a:ext>
            </a:extLst>
          </p:cNvPr>
          <p:cNvCxnSpPr>
            <a:cxnSpLocks/>
          </p:cNvCxnSpPr>
          <p:nvPr/>
        </p:nvCxnSpPr>
        <p:spPr>
          <a:xfrm flipV="1">
            <a:off x="3104432" y="2497681"/>
            <a:ext cx="1551121" cy="56931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6" name="TextBox 5">
            <a:extLst>
              <a:ext uri="{FF2B5EF4-FFF2-40B4-BE49-F238E27FC236}">
                <a16:creationId xmlns:a16="http://schemas.microsoft.com/office/drawing/2014/main" id="{3044FF35-C1BD-74DB-C636-0406ADF0A3C6}"/>
              </a:ext>
            </a:extLst>
          </p:cNvPr>
          <p:cNvSpPr txBox="1"/>
          <p:nvPr/>
        </p:nvSpPr>
        <p:spPr>
          <a:xfrm>
            <a:off x="250750" y="3244334"/>
            <a:ext cx="5224764" cy="369332"/>
          </a:xfrm>
          <a:prstGeom prst="rect">
            <a:avLst/>
          </a:prstGeom>
          <a:noFill/>
        </p:spPr>
        <p:txBody>
          <a:bodyPr wrap="none" rtlCol="0">
            <a:spAutoFit/>
          </a:bodyPr>
          <a:lstStyle/>
          <a:p>
            <a:r>
              <a:rPr lang="en-US" dirty="0">
                <a:solidFill>
                  <a:schemeClr val="bg1">
                    <a:lumMod val="50000"/>
                  </a:schemeClr>
                </a:solidFill>
              </a:rPr>
              <a:t>Marginal increase in time value [x] Perpetuity factor</a:t>
            </a:r>
          </a:p>
        </p:txBody>
      </p:sp>
      <p:sp>
        <p:nvSpPr>
          <p:cNvPr id="7" name="TextBox 6">
            <a:extLst>
              <a:ext uri="{FF2B5EF4-FFF2-40B4-BE49-F238E27FC236}">
                <a16:creationId xmlns:a16="http://schemas.microsoft.com/office/drawing/2014/main" id="{F046DA18-547A-C7FB-0B6D-4886CEF8130A}"/>
              </a:ext>
            </a:extLst>
          </p:cNvPr>
          <p:cNvSpPr txBox="1"/>
          <p:nvPr/>
        </p:nvSpPr>
        <p:spPr>
          <a:xfrm>
            <a:off x="6177264" y="3063971"/>
            <a:ext cx="4890057" cy="646331"/>
          </a:xfrm>
          <a:prstGeom prst="rect">
            <a:avLst/>
          </a:prstGeom>
          <a:noFill/>
        </p:spPr>
        <p:txBody>
          <a:bodyPr wrap="none" rtlCol="0">
            <a:spAutoFit/>
          </a:bodyPr>
          <a:lstStyle/>
          <a:p>
            <a:r>
              <a:rPr lang="en-US" dirty="0"/>
              <a:t>Opportunity cost of capital tied up in the stand, </a:t>
            </a:r>
          </a:p>
          <a:p>
            <a:r>
              <a:rPr lang="en-US" dirty="0"/>
              <a:t>including delayed profits</a:t>
            </a:r>
          </a:p>
        </p:txBody>
      </p:sp>
      <p:cxnSp>
        <p:nvCxnSpPr>
          <p:cNvPr id="9" name="Straight Arrow Connector 8">
            <a:extLst>
              <a:ext uri="{FF2B5EF4-FFF2-40B4-BE49-F238E27FC236}">
                <a16:creationId xmlns:a16="http://schemas.microsoft.com/office/drawing/2014/main" id="{F1E93FDE-F7CD-2530-880F-57D5F2882EA1}"/>
              </a:ext>
            </a:extLst>
          </p:cNvPr>
          <p:cNvCxnSpPr>
            <a:cxnSpLocks/>
          </p:cNvCxnSpPr>
          <p:nvPr/>
        </p:nvCxnSpPr>
        <p:spPr>
          <a:xfrm flipH="1" flipV="1">
            <a:off x="7430596" y="2363287"/>
            <a:ext cx="718459" cy="565748"/>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402416109"/>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19595B-B45F-710B-AD11-03B67164917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F47915C-8E97-9326-38EB-2E6B9BF10138}"/>
              </a:ext>
            </a:extLst>
          </p:cNvPr>
          <p:cNvSpPr>
            <a:spLocks noGrp="1"/>
          </p:cNvSpPr>
          <p:nvPr>
            <p:ph type="title"/>
          </p:nvPr>
        </p:nvSpPr>
        <p:spPr/>
        <p:txBody>
          <a:bodyPr/>
          <a:lstStyle/>
          <a:p>
            <a:r>
              <a:rPr lang="en-US" dirty="0"/>
              <a:t>The Faustmann Equation [III]</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BA326010-58E4-C034-766C-537C63FC2D8B}"/>
                  </a:ext>
                </a:extLst>
              </p:cNvPr>
              <p:cNvSpPr>
                <a:spLocks noGrp="1"/>
              </p:cNvSpPr>
              <p:nvPr>
                <p:ph idx="1"/>
              </p:nvPr>
            </p:nvSpPr>
            <p:spPr>
              <a:xfrm>
                <a:off x="838200" y="1825624"/>
                <a:ext cx="10515600" cy="4879975"/>
              </a:xfrm>
            </p:spPr>
            <p:txBody>
              <a:bodyPr>
                <a:normAutofit/>
              </a:bodyPr>
              <a:lstStyle/>
              <a:p>
                <a:pPr marL="0" indent="0">
                  <a:buNone/>
                </a:pPr>
                <a14:m>
                  <m:oMathPara xmlns:m="http://schemas.openxmlformats.org/officeDocument/2006/math">
                    <m:oMathParaPr>
                      <m:jc m:val="centerGroup"/>
                    </m:oMathParaPr>
                    <m:oMath xmlns:m="http://schemas.openxmlformats.org/officeDocument/2006/math">
                      <m:sSup>
                        <m:sSupPr>
                          <m:ctrlPr>
                            <a:rPr lang="en-US" b="0" i="1" smtClean="0">
                              <a:solidFill>
                                <a:schemeClr val="tx1"/>
                              </a:solidFill>
                              <a:latin typeface="Cambria Math" panose="02040503050406030204" pitchFamily="18" charset="0"/>
                            </a:rPr>
                          </m:ctrlPr>
                        </m:sSupPr>
                        <m:e>
                          <m:r>
                            <a:rPr lang="en-US" b="0" i="1" smtClean="0">
                              <a:solidFill>
                                <a:schemeClr val="tx1"/>
                              </a:solidFill>
                              <a:latin typeface="Cambria Math" panose="02040503050406030204" pitchFamily="18" charset="0"/>
                            </a:rPr>
                            <m:t>𝑉</m:t>
                          </m:r>
                        </m:e>
                        <m:sup>
                          <m:r>
                            <a:rPr lang="en-US" b="0" i="1" smtClean="0">
                              <a:solidFill>
                                <a:schemeClr val="tx1"/>
                              </a:solidFill>
                              <a:latin typeface="Cambria Math" panose="02040503050406030204" pitchFamily="18" charset="0"/>
                            </a:rPr>
                            <m:t>′</m:t>
                          </m:r>
                        </m:sup>
                      </m:sSup>
                      <m:d>
                        <m:dPr>
                          <m:ctrlPr>
                            <a:rPr lang="en-US" b="0" i="1" smtClean="0">
                              <a:solidFill>
                                <a:schemeClr val="tx1"/>
                              </a:solidFill>
                              <a:latin typeface="Cambria Math" panose="02040503050406030204" pitchFamily="18" charset="0"/>
                            </a:rPr>
                          </m:ctrlPr>
                        </m:dPr>
                        <m:e>
                          <m:r>
                            <a:rPr lang="en-US" b="0" i="1" smtClean="0">
                              <a:solidFill>
                                <a:schemeClr val="tx1"/>
                              </a:solidFill>
                              <a:latin typeface="Cambria Math" panose="02040503050406030204" pitchFamily="18" charset="0"/>
                            </a:rPr>
                            <m:t>𝑇</m:t>
                          </m:r>
                        </m:e>
                      </m:d>
                      <m:d>
                        <m:dPr>
                          <m:ctrlPr>
                            <a:rPr lang="en-US" b="0" i="1" smtClean="0">
                              <a:solidFill>
                                <a:schemeClr val="tx1"/>
                              </a:solidFill>
                              <a:latin typeface="Cambria Math" panose="02040503050406030204" pitchFamily="18" charset="0"/>
                            </a:rPr>
                          </m:ctrlPr>
                        </m:dPr>
                        <m:e>
                          <m:sSup>
                            <m:sSupPr>
                              <m:ctrlPr>
                                <a:rPr lang="en-US" b="0" i="1" smtClean="0">
                                  <a:solidFill>
                                    <a:schemeClr val="tx1"/>
                                  </a:solidFill>
                                  <a:latin typeface="Cambria Math" panose="02040503050406030204" pitchFamily="18" charset="0"/>
                                </a:rPr>
                              </m:ctrlPr>
                            </m:sSupPr>
                            <m:e>
                              <m:r>
                                <a:rPr lang="en-US" b="0" i="1" smtClean="0">
                                  <a:solidFill>
                                    <a:schemeClr val="tx1"/>
                                  </a:solidFill>
                                  <a:latin typeface="Cambria Math" panose="02040503050406030204" pitchFamily="18" charset="0"/>
                                </a:rPr>
                                <m:t>𝑒</m:t>
                              </m:r>
                            </m:e>
                            <m:sup>
                              <m:r>
                                <a:rPr lang="en-US" b="0" i="1" smtClean="0">
                                  <a:solidFill>
                                    <a:schemeClr val="tx1"/>
                                  </a:solidFill>
                                  <a:latin typeface="Cambria Math" panose="02040503050406030204" pitchFamily="18" charset="0"/>
                                </a:rPr>
                                <m:t>𝑟𝑇</m:t>
                              </m:r>
                            </m:sup>
                          </m:sSup>
                          <m:r>
                            <a:rPr lang="en-US" b="0" i="1" smtClean="0">
                              <a:solidFill>
                                <a:schemeClr val="tx1"/>
                              </a:solidFill>
                              <a:latin typeface="Cambria Math" panose="02040503050406030204" pitchFamily="18" charset="0"/>
                            </a:rPr>
                            <m:t>−1</m:t>
                          </m:r>
                        </m:e>
                      </m:d>
                      <m:r>
                        <a:rPr lang="en-US" b="0" i="1" smtClean="0">
                          <a:solidFill>
                            <a:schemeClr val="tx1"/>
                          </a:solidFill>
                          <a:latin typeface="Cambria Math" panose="02040503050406030204" pitchFamily="18" charset="0"/>
                        </a:rPr>
                        <m:t>=</m:t>
                      </m:r>
                      <m:r>
                        <a:rPr lang="en-US" b="0" i="1" smtClean="0">
                          <a:solidFill>
                            <a:schemeClr val="tx1"/>
                          </a:solidFill>
                          <a:latin typeface="Cambria Math" panose="02040503050406030204" pitchFamily="18" charset="0"/>
                        </a:rPr>
                        <m:t>𝑟</m:t>
                      </m:r>
                      <m:sSup>
                        <m:sSupPr>
                          <m:ctrlPr>
                            <a:rPr lang="en-US" b="0" i="1" smtClean="0">
                              <a:solidFill>
                                <a:schemeClr val="tx1"/>
                              </a:solidFill>
                              <a:latin typeface="Cambria Math" panose="02040503050406030204" pitchFamily="18" charset="0"/>
                            </a:rPr>
                          </m:ctrlPr>
                        </m:sSupPr>
                        <m:e>
                          <m:r>
                            <a:rPr lang="en-US" b="0" i="1" smtClean="0">
                              <a:solidFill>
                                <a:schemeClr val="tx1"/>
                              </a:solidFill>
                              <a:latin typeface="Cambria Math" panose="02040503050406030204" pitchFamily="18" charset="0"/>
                            </a:rPr>
                            <m:t>𝑒</m:t>
                          </m:r>
                        </m:e>
                        <m:sup>
                          <m:r>
                            <a:rPr lang="en-US" b="0" i="1" smtClean="0">
                              <a:solidFill>
                                <a:schemeClr val="tx1"/>
                              </a:solidFill>
                              <a:latin typeface="Cambria Math" panose="02040503050406030204" pitchFamily="18" charset="0"/>
                            </a:rPr>
                            <m:t>𝑟𝑇</m:t>
                          </m:r>
                        </m:sup>
                      </m:sSup>
                      <m:r>
                        <a:rPr lang="en-US" b="0" i="1" smtClean="0">
                          <a:solidFill>
                            <a:schemeClr val="tx1"/>
                          </a:solidFill>
                          <a:latin typeface="Cambria Math" panose="02040503050406030204" pitchFamily="18" charset="0"/>
                        </a:rPr>
                        <m:t>(</m:t>
                      </m:r>
                      <m:r>
                        <a:rPr lang="en-US" b="0" i="1" smtClean="0">
                          <a:solidFill>
                            <a:schemeClr val="tx1"/>
                          </a:solidFill>
                          <a:latin typeface="Cambria Math" panose="02040503050406030204" pitchFamily="18" charset="0"/>
                        </a:rPr>
                        <m:t>𝑉</m:t>
                      </m:r>
                      <m:d>
                        <m:dPr>
                          <m:ctrlPr>
                            <a:rPr lang="en-US" b="0" i="1" smtClean="0">
                              <a:solidFill>
                                <a:schemeClr val="tx1"/>
                              </a:solidFill>
                              <a:latin typeface="Cambria Math" panose="02040503050406030204" pitchFamily="18" charset="0"/>
                            </a:rPr>
                          </m:ctrlPr>
                        </m:dPr>
                        <m:e>
                          <m:r>
                            <a:rPr lang="en-US" b="0" i="1" smtClean="0">
                              <a:solidFill>
                                <a:schemeClr val="tx1"/>
                              </a:solidFill>
                              <a:latin typeface="Cambria Math" panose="02040503050406030204" pitchFamily="18" charset="0"/>
                            </a:rPr>
                            <m:t>𝑇</m:t>
                          </m:r>
                        </m:e>
                      </m:d>
                      <m:r>
                        <a:rPr lang="en-US" b="0" i="1" smtClean="0">
                          <a:solidFill>
                            <a:schemeClr val="tx1"/>
                          </a:solidFill>
                          <a:latin typeface="Cambria Math" panose="02040503050406030204" pitchFamily="18" charset="0"/>
                        </a:rPr>
                        <m:t>−</m:t>
                      </m:r>
                      <m:r>
                        <a:rPr lang="en-US" b="0" i="1" smtClean="0">
                          <a:solidFill>
                            <a:schemeClr val="tx1"/>
                          </a:solidFill>
                          <a:latin typeface="Cambria Math" panose="02040503050406030204" pitchFamily="18" charset="0"/>
                        </a:rPr>
                        <m:t>𝑐</m:t>
                      </m:r>
                      <m:r>
                        <a:rPr lang="en-US" b="0" i="1" smtClean="0">
                          <a:solidFill>
                            <a:schemeClr val="tx1"/>
                          </a:solidFill>
                          <a:latin typeface="Cambria Math" panose="02040503050406030204" pitchFamily="18" charset="0"/>
                        </a:rPr>
                        <m:t>)</m:t>
                      </m:r>
                    </m:oMath>
                  </m:oMathPara>
                </a14:m>
                <a:endParaRPr lang="en-US" dirty="0">
                  <a:solidFill>
                    <a:schemeClr val="tx1"/>
                  </a:solidFill>
                </a:endParaRPr>
              </a:p>
              <a:p>
                <a:pPr marL="0" indent="0">
                  <a:buNone/>
                </a:pPr>
                <a:endParaRPr lang="en-US" dirty="0">
                  <a:solidFill>
                    <a:schemeClr val="tx1"/>
                  </a:solidFill>
                </a:endParaRPr>
              </a:p>
              <a:p>
                <a:pPr marL="0" indent="0">
                  <a:buNone/>
                </a:pPr>
                <a:endParaRPr lang="en-US" dirty="0">
                  <a:solidFill>
                    <a:schemeClr val="tx1"/>
                  </a:solidFill>
                </a:endParaRPr>
              </a:p>
              <a:p>
                <a:pPr marL="0" indent="0">
                  <a:buNone/>
                </a:pPr>
                <a:endParaRPr lang="en-US" dirty="0">
                  <a:solidFill>
                    <a:schemeClr val="tx1"/>
                  </a:solidFill>
                </a:endParaRPr>
              </a:p>
              <a:p>
                <a:pPr marL="0" indent="0">
                  <a:buNone/>
                </a:pPr>
                <a:endParaRPr lang="en-US" dirty="0"/>
              </a:p>
              <a:p>
                <a:pPr marL="0" indent="0">
                  <a:buNone/>
                </a:pPr>
                <a:r>
                  <a:rPr lang="en-US" dirty="0">
                    <a:solidFill>
                      <a:schemeClr val="tx1"/>
                    </a:solidFill>
                  </a:rPr>
                  <a:t>In short – the forester should wait until the value of waiting equates to the opportunity cost of harvesting/reinvesting</a:t>
                </a:r>
              </a:p>
            </p:txBody>
          </p:sp>
        </mc:Choice>
        <mc:Fallback xmlns="">
          <p:sp>
            <p:nvSpPr>
              <p:cNvPr id="3" name="Content Placeholder 2">
                <a:extLst>
                  <a:ext uri="{FF2B5EF4-FFF2-40B4-BE49-F238E27FC236}">
                    <a16:creationId xmlns:a16="http://schemas.microsoft.com/office/drawing/2014/main" id="{BA326010-58E4-C034-766C-537C63FC2D8B}"/>
                  </a:ext>
                </a:extLst>
              </p:cNvPr>
              <p:cNvSpPr>
                <a:spLocks noGrp="1" noRot="1" noChangeAspect="1" noMove="1" noResize="1" noEditPoints="1" noAdjustHandles="1" noChangeArrowheads="1" noChangeShapeType="1" noTextEdit="1"/>
              </p:cNvSpPr>
              <p:nvPr>
                <p:ph idx="1"/>
              </p:nvPr>
            </p:nvSpPr>
            <p:spPr>
              <a:xfrm>
                <a:off x="838200" y="1825624"/>
                <a:ext cx="10515600" cy="4879975"/>
              </a:xfrm>
              <a:blipFill>
                <a:blip r:embed="rId2"/>
                <a:stretch>
                  <a:fillRect l="-1206" r="-241"/>
                </a:stretch>
              </a:blipFill>
            </p:spPr>
            <p:txBody>
              <a:bodyPr/>
              <a:lstStyle/>
              <a:p>
                <a:r>
                  <a:rPr lang="en-US">
                    <a:noFill/>
                  </a:rPr>
                  <a:t> </a:t>
                </a:r>
              </a:p>
            </p:txBody>
          </p:sp>
        </mc:Fallback>
      </mc:AlternateContent>
      <p:cxnSp>
        <p:nvCxnSpPr>
          <p:cNvPr id="5" name="Straight Arrow Connector 4">
            <a:extLst>
              <a:ext uri="{FF2B5EF4-FFF2-40B4-BE49-F238E27FC236}">
                <a16:creationId xmlns:a16="http://schemas.microsoft.com/office/drawing/2014/main" id="{C912CFEC-2AB5-3F5B-BB76-E7F702B36934}"/>
              </a:ext>
            </a:extLst>
          </p:cNvPr>
          <p:cNvCxnSpPr>
            <a:cxnSpLocks/>
          </p:cNvCxnSpPr>
          <p:nvPr/>
        </p:nvCxnSpPr>
        <p:spPr>
          <a:xfrm flipV="1">
            <a:off x="3104432" y="2497681"/>
            <a:ext cx="1551121" cy="56931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6" name="TextBox 5">
            <a:extLst>
              <a:ext uri="{FF2B5EF4-FFF2-40B4-BE49-F238E27FC236}">
                <a16:creationId xmlns:a16="http://schemas.microsoft.com/office/drawing/2014/main" id="{1F56E61F-F653-FAE5-0D04-769072B0CC3B}"/>
              </a:ext>
            </a:extLst>
          </p:cNvPr>
          <p:cNvSpPr txBox="1"/>
          <p:nvPr/>
        </p:nvSpPr>
        <p:spPr>
          <a:xfrm>
            <a:off x="250750" y="3244334"/>
            <a:ext cx="4922501" cy="369332"/>
          </a:xfrm>
          <a:prstGeom prst="rect">
            <a:avLst/>
          </a:prstGeom>
          <a:noFill/>
        </p:spPr>
        <p:txBody>
          <a:bodyPr wrap="none" rtlCol="0">
            <a:spAutoFit/>
          </a:bodyPr>
          <a:lstStyle/>
          <a:p>
            <a:r>
              <a:rPr lang="en-US" sz="1800" dirty="0"/>
              <a:t>PV of growing trees just a tiny bit longer (waiting)</a:t>
            </a:r>
            <a:endParaRPr lang="en-US" dirty="0"/>
          </a:p>
        </p:txBody>
      </p:sp>
      <p:sp>
        <p:nvSpPr>
          <p:cNvPr id="7" name="TextBox 6">
            <a:extLst>
              <a:ext uri="{FF2B5EF4-FFF2-40B4-BE49-F238E27FC236}">
                <a16:creationId xmlns:a16="http://schemas.microsoft.com/office/drawing/2014/main" id="{57AD2E20-9EBD-1BF5-2167-55B367C7BB8A}"/>
              </a:ext>
            </a:extLst>
          </p:cNvPr>
          <p:cNvSpPr txBox="1"/>
          <p:nvPr/>
        </p:nvSpPr>
        <p:spPr>
          <a:xfrm>
            <a:off x="6177264" y="3063971"/>
            <a:ext cx="4363736" cy="646331"/>
          </a:xfrm>
          <a:prstGeom prst="rect">
            <a:avLst/>
          </a:prstGeom>
          <a:noFill/>
        </p:spPr>
        <p:txBody>
          <a:bodyPr wrap="square" rtlCol="0">
            <a:spAutoFit/>
          </a:bodyPr>
          <a:lstStyle/>
          <a:p>
            <a:r>
              <a:rPr lang="en-US" sz="1800" dirty="0">
                <a:solidFill>
                  <a:schemeClr val="tx1"/>
                </a:solidFill>
              </a:rPr>
              <a:t>opportunity cost of not harvesting and reinvesting that money (right now)</a:t>
            </a:r>
            <a:endParaRPr lang="en-US" dirty="0"/>
          </a:p>
        </p:txBody>
      </p:sp>
      <p:cxnSp>
        <p:nvCxnSpPr>
          <p:cNvPr id="9" name="Straight Arrow Connector 8">
            <a:extLst>
              <a:ext uri="{FF2B5EF4-FFF2-40B4-BE49-F238E27FC236}">
                <a16:creationId xmlns:a16="http://schemas.microsoft.com/office/drawing/2014/main" id="{4D151087-9DA2-4F1D-7CDC-0F5165F8FF5C}"/>
              </a:ext>
            </a:extLst>
          </p:cNvPr>
          <p:cNvCxnSpPr>
            <a:cxnSpLocks/>
          </p:cNvCxnSpPr>
          <p:nvPr/>
        </p:nvCxnSpPr>
        <p:spPr>
          <a:xfrm flipH="1" flipV="1">
            <a:off x="7430596" y="2363287"/>
            <a:ext cx="718459" cy="565748"/>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962268531"/>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73DD98-281E-A19B-5C90-F8E8C9E65A3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1550E89-4A31-1B15-3A07-EC77162A81D7}"/>
              </a:ext>
            </a:extLst>
          </p:cNvPr>
          <p:cNvSpPr>
            <a:spLocks noGrp="1"/>
          </p:cNvSpPr>
          <p:nvPr>
            <p:ph type="title"/>
          </p:nvPr>
        </p:nvSpPr>
        <p:spPr/>
        <p:txBody>
          <a:bodyPr/>
          <a:lstStyle/>
          <a:p>
            <a:r>
              <a:rPr lang="en-US" dirty="0"/>
              <a:t>The Faustmann Equation [III]</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0E3B9EAD-A379-5459-CBE7-957CE42220D9}"/>
                  </a:ext>
                </a:extLst>
              </p:cNvPr>
              <p:cNvSpPr>
                <a:spLocks noGrp="1"/>
              </p:cNvSpPr>
              <p:nvPr>
                <p:ph idx="1"/>
              </p:nvPr>
            </p:nvSpPr>
            <p:spPr>
              <a:xfrm>
                <a:off x="438150" y="1825624"/>
                <a:ext cx="11436350" cy="4879975"/>
              </a:xfrm>
            </p:spPr>
            <p:txBody>
              <a:bodyPr>
                <a:normAutofit/>
              </a:bodyPr>
              <a:lstStyle/>
              <a:p>
                <a:pPr marL="0" indent="0">
                  <a:buNone/>
                </a:pPr>
                <a14:m>
                  <m:oMathPara xmlns:m="http://schemas.openxmlformats.org/officeDocument/2006/math">
                    <m:oMathParaPr>
                      <m:jc m:val="centerGroup"/>
                    </m:oMathParaPr>
                    <m:oMath xmlns:m="http://schemas.openxmlformats.org/officeDocument/2006/math">
                      <m:sSup>
                        <m:sSupPr>
                          <m:ctrlPr>
                            <a:rPr lang="en-US" b="0" i="1" smtClean="0">
                              <a:solidFill>
                                <a:schemeClr val="tx1"/>
                              </a:solidFill>
                              <a:latin typeface="Cambria Math" panose="02040503050406030204" pitchFamily="18" charset="0"/>
                            </a:rPr>
                          </m:ctrlPr>
                        </m:sSupPr>
                        <m:e>
                          <m:r>
                            <a:rPr lang="en-US" b="0" i="1" smtClean="0">
                              <a:solidFill>
                                <a:schemeClr val="tx1"/>
                              </a:solidFill>
                              <a:latin typeface="Cambria Math" panose="02040503050406030204" pitchFamily="18" charset="0"/>
                            </a:rPr>
                            <m:t>𝑉</m:t>
                          </m:r>
                        </m:e>
                        <m:sup>
                          <m:r>
                            <a:rPr lang="en-US" b="0" i="1" smtClean="0">
                              <a:solidFill>
                                <a:schemeClr val="tx1"/>
                              </a:solidFill>
                              <a:latin typeface="Cambria Math" panose="02040503050406030204" pitchFamily="18" charset="0"/>
                            </a:rPr>
                            <m:t>′</m:t>
                          </m:r>
                        </m:sup>
                      </m:sSup>
                      <m:d>
                        <m:dPr>
                          <m:ctrlPr>
                            <a:rPr lang="en-US" b="0" i="1" smtClean="0">
                              <a:solidFill>
                                <a:schemeClr val="tx1"/>
                              </a:solidFill>
                              <a:latin typeface="Cambria Math" panose="02040503050406030204" pitchFamily="18" charset="0"/>
                            </a:rPr>
                          </m:ctrlPr>
                        </m:dPr>
                        <m:e>
                          <m:r>
                            <a:rPr lang="en-US" b="0" i="1" smtClean="0">
                              <a:solidFill>
                                <a:schemeClr val="tx1"/>
                              </a:solidFill>
                              <a:latin typeface="Cambria Math" panose="02040503050406030204" pitchFamily="18" charset="0"/>
                            </a:rPr>
                            <m:t>𝑇</m:t>
                          </m:r>
                        </m:e>
                      </m:d>
                      <m:d>
                        <m:dPr>
                          <m:ctrlPr>
                            <a:rPr lang="en-US" b="0" i="1" smtClean="0">
                              <a:solidFill>
                                <a:schemeClr val="tx1"/>
                              </a:solidFill>
                              <a:latin typeface="Cambria Math" panose="02040503050406030204" pitchFamily="18" charset="0"/>
                            </a:rPr>
                          </m:ctrlPr>
                        </m:dPr>
                        <m:e>
                          <m:sSup>
                            <m:sSupPr>
                              <m:ctrlPr>
                                <a:rPr lang="en-US" b="0" i="1" smtClean="0">
                                  <a:solidFill>
                                    <a:schemeClr val="tx1"/>
                                  </a:solidFill>
                                  <a:latin typeface="Cambria Math" panose="02040503050406030204" pitchFamily="18" charset="0"/>
                                </a:rPr>
                              </m:ctrlPr>
                            </m:sSupPr>
                            <m:e>
                              <m:r>
                                <a:rPr lang="en-US" b="0" i="1" smtClean="0">
                                  <a:solidFill>
                                    <a:schemeClr val="tx1"/>
                                  </a:solidFill>
                                  <a:latin typeface="Cambria Math" panose="02040503050406030204" pitchFamily="18" charset="0"/>
                                </a:rPr>
                                <m:t>𝑒</m:t>
                              </m:r>
                            </m:e>
                            <m:sup>
                              <m:r>
                                <a:rPr lang="en-US" b="0" i="1" smtClean="0">
                                  <a:solidFill>
                                    <a:schemeClr val="tx1"/>
                                  </a:solidFill>
                                  <a:latin typeface="Cambria Math" panose="02040503050406030204" pitchFamily="18" charset="0"/>
                                </a:rPr>
                                <m:t>𝑟𝑇</m:t>
                              </m:r>
                            </m:sup>
                          </m:sSup>
                          <m:r>
                            <a:rPr lang="en-US" b="0" i="1" smtClean="0">
                              <a:solidFill>
                                <a:schemeClr val="tx1"/>
                              </a:solidFill>
                              <a:latin typeface="Cambria Math" panose="02040503050406030204" pitchFamily="18" charset="0"/>
                            </a:rPr>
                            <m:t>−1</m:t>
                          </m:r>
                        </m:e>
                      </m:d>
                      <m:r>
                        <a:rPr lang="en-US" b="0" i="1" smtClean="0">
                          <a:solidFill>
                            <a:schemeClr val="tx1"/>
                          </a:solidFill>
                          <a:latin typeface="Cambria Math" panose="02040503050406030204" pitchFamily="18" charset="0"/>
                        </a:rPr>
                        <m:t>=</m:t>
                      </m:r>
                      <m:r>
                        <a:rPr lang="en-US" b="0" i="1" smtClean="0">
                          <a:solidFill>
                            <a:schemeClr val="tx1"/>
                          </a:solidFill>
                          <a:latin typeface="Cambria Math" panose="02040503050406030204" pitchFamily="18" charset="0"/>
                        </a:rPr>
                        <m:t>𝑟</m:t>
                      </m:r>
                      <m:sSup>
                        <m:sSupPr>
                          <m:ctrlPr>
                            <a:rPr lang="en-US" b="0" i="1" smtClean="0">
                              <a:solidFill>
                                <a:schemeClr val="tx1"/>
                              </a:solidFill>
                              <a:latin typeface="Cambria Math" panose="02040503050406030204" pitchFamily="18" charset="0"/>
                            </a:rPr>
                          </m:ctrlPr>
                        </m:sSupPr>
                        <m:e>
                          <m:r>
                            <a:rPr lang="en-US" b="0" i="1" smtClean="0">
                              <a:solidFill>
                                <a:schemeClr val="tx1"/>
                              </a:solidFill>
                              <a:latin typeface="Cambria Math" panose="02040503050406030204" pitchFamily="18" charset="0"/>
                            </a:rPr>
                            <m:t>𝑒</m:t>
                          </m:r>
                        </m:e>
                        <m:sup>
                          <m:r>
                            <a:rPr lang="en-US" b="0" i="1" smtClean="0">
                              <a:solidFill>
                                <a:schemeClr val="tx1"/>
                              </a:solidFill>
                              <a:latin typeface="Cambria Math" panose="02040503050406030204" pitchFamily="18" charset="0"/>
                            </a:rPr>
                            <m:t>𝑟𝑇</m:t>
                          </m:r>
                        </m:sup>
                      </m:sSup>
                      <m:r>
                        <a:rPr lang="en-US" b="0" i="1" smtClean="0">
                          <a:solidFill>
                            <a:schemeClr val="tx1"/>
                          </a:solidFill>
                          <a:latin typeface="Cambria Math" panose="02040503050406030204" pitchFamily="18" charset="0"/>
                        </a:rPr>
                        <m:t>(</m:t>
                      </m:r>
                      <m:r>
                        <a:rPr lang="en-US" b="0" i="1" smtClean="0">
                          <a:solidFill>
                            <a:schemeClr val="tx1"/>
                          </a:solidFill>
                          <a:latin typeface="Cambria Math" panose="02040503050406030204" pitchFamily="18" charset="0"/>
                        </a:rPr>
                        <m:t>𝑉</m:t>
                      </m:r>
                      <m:d>
                        <m:dPr>
                          <m:ctrlPr>
                            <a:rPr lang="en-US" b="0" i="1" smtClean="0">
                              <a:solidFill>
                                <a:schemeClr val="tx1"/>
                              </a:solidFill>
                              <a:latin typeface="Cambria Math" panose="02040503050406030204" pitchFamily="18" charset="0"/>
                            </a:rPr>
                          </m:ctrlPr>
                        </m:dPr>
                        <m:e>
                          <m:r>
                            <a:rPr lang="en-US" b="0" i="1" smtClean="0">
                              <a:solidFill>
                                <a:schemeClr val="tx1"/>
                              </a:solidFill>
                              <a:latin typeface="Cambria Math" panose="02040503050406030204" pitchFamily="18" charset="0"/>
                            </a:rPr>
                            <m:t>𝑇</m:t>
                          </m:r>
                        </m:e>
                      </m:d>
                      <m:r>
                        <a:rPr lang="en-US" b="0" i="1" smtClean="0">
                          <a:solidFill>
                            <a:schemeClr val="tx1"/>
                          </a:solidFill>
                          <a:latin typeface="Cambria Math" panose="02040503050406030204" pitchFamily="18" charset="0"/>
                        </a:rPr>
                        <m:t>−</m:t>
                      </m:r>
                      <m:r>
                        <a:rPr lang="en-US" b="0" i="1" smtClean="0">
                          <a:solidFill>
                            <a:schemeClr val="tx1"/>
                          </a:solidFill>
                          <a:latin typeface="Cambria Math" panose="02040503050406030204" pitchFamily="18" charset="0"/>
                        </a:rPr>
                        <m:t>𝑐</m:t>
                      </m:r>
                      <m:r>
                        <a:rPr lang="en-US" b="0" i="1" smtClean="0">
                          <a:solidFill>
                            <a:schemeClr val="tx1"/>
                          </a:solidFill>
                          <a:latin typeface="Cambria Math" panose="02040503050406030204" pitchFamily="18" charset="0"/>
                        </a:rPr>
                        <m:t>)</m:t>
                      </m:r>
                    </m:oMath>
                  </m:oMathPara>
                </a14:m>
                <a:endParaRPr lang="en-US" dirty="0">
                  <a:solidFill>
                    <a:schemeClr val="tx1"/>
                  </a:solidFill>
                </a:endParaRPr>
              </a:p>
              <a:p>
                <a:pPr marL="0" indent="0">
                  <a:buNone/>
                </a:pPr>
                <a:endParaRPr lang="en-US" dirty="0">
                  <a:solidFill>
                    <a:schemeClr val="tx1"/>
                  </a:solidFill>
                </a:endParaRPr>
              </a:p>
              <a:p>
                <a:pPr marL="0" indent="0">
                  <a:buNone/>
                </a:pPr>
                <a:endParaRPr lang="en-US" dirty="0">
                  <a:solidFill>
                    <a:schemeClr val="tx1"/>
                  </a:solidFill>
                </a:endParaRPr>
              </a:p>
              <a:p>
                <a:pPr marL="0" indent="0">
                  <a:buNone/>
                </a:pPr>
                <a:endParaRPr lang="en-US" dirty="0">
                  <a:solidFill>
                    <a:schemeClr val="tx1"/>
                  </a:solidFill>
                </a:endParaRPr>
              </a:p>
              <a:p>
                <a:pPr marL="0" indent="0">
                  <a:buNone/>
                </a:pPr>
                <a:endParaRPr lang="en-US" dirty="0"/>
              </a:p>
              <a:p>
                <a:pPr marL="0" indent="0">
                  <a:buNone/>
                </a:pPr>
                <a:r>
                  <a:rPr lang="en-US" dirty="0">
                    <a:solidFill>
                      <a:schemeClr val="tx1"/>
                    </a:solidFill>
                  </a:rPr>
                  <a:t>An analogy – “forest” is $’s in a saving account</a:t>
                </a:r>
              </a:p>
              <a:p>
                <a:pPr>
                  <a:buFontTx/>
                  <a:buChar char="-"/>
                </a:pPr>
                <a:r>
                  <a:rPr lang="en-US" dirty="0"/>
                  <a:t>When growing quickly, you’re making good money and should let it sit</a:t>
                </a:r>
              </a:p>
              <a:p>
                <a:pPr>
                  <a:buFontTx/>
                  <a:buChar char="-"/>
                </a:pPr>
                <a:r>
                  <a:rPr lang="en-US" dirty="0"/>
                  <a:t>When growing slowly, relative to other opportunities, should take it out (harvest) and put the money somewhere else</a:t>
                </a:r>
              </a:p>
              <a:p>
                <a:pPr>
                  <a:buFontTx/>
                  <a:buChar char="-"/>
                </a:pPr>
                <a:endParaRPr lang="en-US" dirty="0">
                  <a:solidFill>
                    <a:schemeClr val="tx1"/>
                  </a:solidFill>
                </a:endParaRPr>
              </a:p>
            </p:txBody>
          </p:sp>
        </mc:Choice>
        <mc:Fallback xmlns="">
          <p:sp>
            <p:nvSpPr>
              <p:cNvPr id="3" name="Content Placeholder 2">
                <a:extLst>
                  <a:ext uri="{FF2B5EF4-FFF2-40B4-BE49-F238E27FC236}">
                    <a16:creationId xmlns:a16="http://schemas.microsoft.com/office/drawing/2014/main" id="{0E3B9EAD-A379-5459-CBE7-957CE42220D9}"/>
                  </a:ext>
                </a:extLst>
              </p:cNvPr>
              <p:cNvSpPr>
                <a:spLocks noGrp="1" noRot="1" noChangeAspect="1" noMove="1" noResize="1" noEditPoints="1" noAdjustHandles="1" noChangeArrowheads="1" noChangeShapeType="1" noTextEdit="1"/>
              </p:cNvSpPr>
              <p:nvPr>
                <p:ph idx="1"/>
              </p:nvPr>
            </p:nvSpPr>
            <p:spPr>
              <a:xfrm>
                <a:off x="438150" y="1825624"/>
                <a:ext cx="11436350" cy="4879975"/>
              </a:xfrm>
              <a:blipFill>
                <a:blip r:embed="rId2"/>
                <a:stretch>
                  <a:fillRect l="-1109"/>
                </a:stretch>
              </a:blipFill>
            </p:spPr>
            <p:txBody>
              <a:bodyPr/>
              <a:lstStyle/>
              <a:p>
                <a:r>
                  <a:rPr lang="en-US">
                    <a:noFill/>
                  </a:rPr>
                  <a:t> </a:t>
                </a:r>
              </a:p>
            </p:txBody>
          </p:sp>
        </mc:Fallback>
      </mc:AlternateContent>
      <p:cxnSp>
        <p:nvCxnSpPr>
          <p:cNvPr id="5" name="Straight Arrow Connector 4">
            <a:extLst>
              <a:ext uri="{FF2B5EF4-FFF2-40B4-BE49-F238E27FC236}">
                <a16:creationId xmlns:a16="http://schemas.microsoft.com/office/drawing/2014/main" id="{4B5B902A-446C-DA71-7720-408FF3084B22}"/>
              </a:ext>
            </a:extLst>
          </p:cNvPr>
          <p:cNvCxnSpPr>
            <a:cxnSpLocks/>
          </p:cNvCxnSpPr>
          <p:nvPr/>
        </p:nvCxnSpPr>
        <p:spPr>
          <a:xfrm flipV="1">
            <a:off x="3104432" y="2497681"/>
            <a:ext cx="1551121" cy="56931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6" name="TextBox 5">
            <a:extLst>
              <a:ext uri="{FF2B5EF4-FFF2-40B4-BE49-F238E27FC236}">
                <a16:creationId xmlns:a16="http://schemas.microsoft.com/office/drawing/2014/main" id="{762AD46F-D0F9-D1D4-BD9D-A9E0738C49D2}"/>
              </a:ext>
            </a:extLst>
          </p:cNvPr>
          <p:cNvSpPr txBox="1"/>
          <p:nvPr/>
        </p:nvSpPr>
        <p:spPr>
          <a:xfrm>
            <a:off x="250750" y="3244334"/>
            <a:ext cx="4922501" cy="369332"/>
          </a:xfrm>
          <a:prstGeom prst="rect">
            <a:avLst/>
          </a:prstGeom>
          <a:noFill/>
        </p:spPr>
        <p:txBody>
          <a:bodyPr wrap="none" rtlCol="0">
            <a:spAutoFit/>
          </a:bodyPr>
          <a:lstStyle/>
          <a:p>
            <a:r>
              <a:rPr lang="en-US" sz="1800" dirty="0"/>
              <a:t>PV of growing trees just a tiny bit longer (waiting)</a:t>
            </a:r>
            <a:endParaRPr lang="en-US" dirty="0"/>
          </a:p>
        </p:txBody>
      </p:sp>
      <p:sp>
        <p:nvSpPr>
          <p:cNvPr id="7" name="TextBox 6">
            <a:extLst>
              <a:ext uri="{FF2B5EF4-FFF2-40B4-BE49-F238E27FC236}">
                <a16:creationId xmlns:a16="http://schemas.microsoft.com/office/drawing/2014/main" id="{C2807B38-79D1-ADF6-E7D8-D4EE1D1B3804}"/>
              </a:ext>
            </a:extLst>
          </p:cNvPr>
          <p:cNvSpPr txBox="1"/>
          <p:nvPr/>
        </p:nvSpPr>
        <p:spPr>
          <a:xfrm>
            <a:off x="6177264" y="3063971"/>
            <a:ext cx="4363736" cy="646331"/>
          </a:xfrm>
          <a:prstGeom prst="rect">
            <a:avLst/>
          </a:prstGeom>
          <a:noFill/>
        </p:spPr>
        <p:txBody>
          <a:bodyPr wrap="square" rtlCol="0">
            <a:spAutoFit/>
          </a:bodyPr>
          <a:lstStyle/>
          <a:p>
            <a:r>
              <a:rPr lang="en-US" sz="1800" dirty="0">
                <a:solidFill>
                  <a:schemeClr val="tx1"/>
                </a:solidFill>
              </a:rPr>
              <a:t>opportunity cost of not harvesting and reinvesting that money (right now)</a:t>
            </a:r>
            <a:endParaRPr lang="en-US" dirty="0"/>
          </a:p>
        </p:txBody>
      </p:sp>
      <p:cxnSp>
        <p:nvCxnSpPr>
          <p:cNvPr id="9" name="Straight Arrow Connector 8">
            <a:extLst>
              <a:ext uri="{FF2B5EF4-FFF2-40B4-BE49-F238E27FC236}">
                <a16:creationId xmlns:a16="http://schemas.microsoft.com/office/drawing/2014/main" id="{91897930-2171-1200-3428-50DBED680F0D}"/>
              </a:ext>
            </a:extLst>
          </p:cNvPr>
          <p:cNvCxnSpPr>
            <a:cxnSpLocks/>
          </p:cNvCxnSpPr>
          <p:nvPr/>
        </p:nvCxnSpPr>
        <p:spPr>
          <a:xfrm flipH="1" flipV="1">
            <a:off x="7430596" y="2363287"/>
            <a:ext cx="718459" cy="565748"/>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881838566"/>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BA6117-7EF6-34B3-B28E-2F292DBC86A4}"/>
              </a:ext>
            </a:extLst>
          </p:cNvPr>
          <p:cNvSpPr>
            <a:spLocks noGrp="1"/>
          </p:cNvSpPr>
          <p:nvPr>
            <p:ph type="title"/>
          </p:nvPr>
        </p:nvSpPr>
        <p:spPr/>
        <p:txBody>
          <a:bodyPr/>
          <a:lstStyle/>
          <a:p>
            <a:r>
              <a:rPr lang="en-US" dirty="0"/>
              <a:t>The full Faustmann model…</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654D76AC-5633-2A9F-B9D0-0B6B64EBFF6E}"/>
                  </a:ext>
                </a:extLst>
              </p:cNvPr>
              <p:cNvSpPr>
                <a:spLocks noGrp="1"/>
              </p:cNvSpPr>
              <p:nvPr>
                <p:ph idx="1"/>
              </p:nvPr>
            </p:nvSpPr>
            <p:spPr/>
            <p:txBody>
              <a:bodyPr/>
              <a:lstStyle/>
              <a:p>
                <a:pPr marL="0" indent="0">
                  <a:buNone/>
                </a:pPr>
                <a:r>
                  <a:rPr lang="en-US" dirty="0"/>
                  <a:t>Parameters</a:t>
                </a:r>
              </a:p>
              <a:p>
                <a:pPr marL="0" indent="0">
                  <a:buNone/>
                </a:pPr>
                <a:r>
                  <a:rPr lang="en-US" dirty="0"/>
                  <a:t>p: price = 1000</a:t>
                </a:r>
              </a:p>
              <a:p>
                <a:pPr marL="0" indent="0">
                  <a:buNone/>
                </a:pPr>
                <a:r>
                  <a:rPr lang="en-US" dirty="0"/>
                  <a:t>r: discount rate = 0.1</a:t>
                </a:r>
              </a:p>
              <a:p>
                <a:pPr marL="0" indent="0">
                  <a:buNone/>
                </a:pPr>
                <a:r>
                  <a:rPr lang="en-US" dirty="0"/>
                  <a:t>c: replanting cost = 500</a:t>
                </a:r>
              </a:p>
              <a:p>
                <a:pPr marL="0" indent="0">
                  <a:buNone/>
                </a:pPr>
                <a:r>
                  <a:rPr lang="en-US" dirty="0"/>
                  <a:t>f: growth rate = 0.08</a:t>
                </a:r>
              </a:p>
              <a:p>
                <a:pPr marL="0" indent="0">
                  <a:buNone/>
                </a:pPr>
                <a14:m>
                  <m:oMath xmlns:m="http://schemas.openxmlformats.org/officeDocument/2006/math">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𝑠</m:t>
                        </m:r>
                      </m:e>
                    </m:acc>
                  </m:oMath>
                </a14:m>
                <a:r>
                  <a:rPr lang="en-US" dirty="0"/>
                  <a:t>: initial stand = 100</a:t>
                </a:r>
              </a:p>
            </p:txBody>
          </p:sp>
        </mc:Choice>
        <mc:Fallback xmlns="">
          <p:sp>
            <p:nvSpPr>
              <p:cNvPr id="3" name="Content Placeholder 2">
                <a:extLst>
                  <a:ext uri="{FF2B5EF4-FFF2-40B4-BE49-F238E27FC236}">
                    <a16:creationId xmlns:a16="http://schemas.microsoft.com/office/drawing/2014/main" id="{654D76AC-5633-2A9F-B9D0-0B6B64EBFF6E}"/>
                  </a:ext>
                </a:extLst>
              </p:cNvPr>
              <p:cNvSpPr>
                <a:spLocks noGrp="1" noRot="1" noChangeAspect="1" noMove="1" noResize="1" noEditPoints="1" noAdjustHandles="1" noChangeArrowheads="1" noChangeShapeType="1" noTextEdit="1"/>
              </p:cNvSpPr>
              <p:nvPr>
                <p:ph idx="1"/>
              </p:nvPr>
            </p:nvSpPr>
            <p:spPr>
              <a:blipFill>
                <a:blip r:embed="rId2"/>
                <a:stretch>
                  <a:fillRect l="-1206" t="-232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 name="Content Placeholder 2">
                <a:extLst>
                  <a:ext uri="{FF2B5EF4-FFF2-40B4-BE49-F238E27FC236}">
                    <a16:creationId xmlns:a16="http://schemas.microsoft.com/office/drawing/2014/main" id="{94EED4AB-BCC8-53B1-FC13-3B9E06104CD6}"/>
                  </a:ext>
                </a:extLst>
              </p:cNvPr>
              <p:cNvSpPr txBox="1">
                <a:spLocks/>
              </p:cNvSpPr>
              <p:nvPr/>
            </p:nvSpPr>
            <p:spPr>
              <a:xfrm>
                <a:off x="6096000" y="1690688"/>
                <a:ext cx="504952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dirty="0"/>
                  <a:t>Variables</a:t>
                </a:r>
              </a:p>
              <a:p>
                <a:pPr marL="0" indent="0">
                  <a:buFont typeface="Arial" panose="020B0604020202020204" pitchFamily="34" charset="0"/>
                  <a:buNone/>
                </a:pPr>
                <a:r>
                  <a:rPr lang="en-US" dirty="0"/>
                  <a:t>Z – present value of profit</a:t>
                </a:r>
              </a:p>
              <a:p>
                <a:pPr marL="0" indent="0">
                  <a:buFont typeface="Arial" panose="020B0604020202020204" pitchFamily="34" charset="0"/>
                  <a:buNone/>
                </a:pPr>
                <a:r>
                  <a:rPr lang="en-US" dirty="0"/>
                  <a:t>T – rotation period (years)</a:t>
                </a:r>
              </a:p>
              <a:p>
                <a:pPr marL="0" indent="0">
                  <a:buFont typeface="Arial" panose="020B0604020202020204" pitchFamily="34" charset="0"/>
                  <a:buNone/>
                </a:pPr>
                <a:endParaRPr lang="en-US" dirty="0"/>
              </a:p>
              <a:p>
                <a:pPr marL="0" indent="0">
                  <a:buFont typeface="Arial" panose="020B0604020202020204" pitchFamily="34" charset="0"/>
                  <a:buNone/>
                </a:pPr>
                <a:r>
                  <a:rPr lang="en-US" dirty="0"/>
                  <a:t>Objective:</a:t>
                </a:r>
                <a:br>
                  <a:rPr lang="en-US" dirty="0"/>
                </a:br>
                <a:endParaRPr lang="en-US" dirty="0"/>
              </a:p>
              <a:p>
                <a:pPr marL="0" indent="0">
                  <a:buNone/>
                </a:pPr>
                <a14:m>
                  <m:oMathPara xmlns:m="http://schemas.openxmlformats.org/officeDocument/2006/math">
                    <m:oMathParaPr>
                      <m:jc m:val="centerGroup"/>
                    </m:oMathParaPr>
                    <m:oMath xmlns:m="http://schemas.openxmlformats.org/officeDocument/2006/math">
                      <m:m>
                        <m:mPr>
                          <m:mcs>
                            <m:mc>
                              <m:mcPr>
                                <m:count m:val="1"/>
                                <m:mcJc m:val="center"/>
                              </m:mcPr>
                            </m:mc>
                          </m:mcs>
                          <m:ctrlPr>
                            <a:rPr lang="en-US" i="1" smtClean="0">
                              <a:latin typeface="Cambria Math" panose="02040503050406030204" pitchFamily="18" charset="0"/>
                            </a:rPr>
                          </m:ctrlPr>
                        </m:mPr>
                        <m:mr>
                          <m:e>
                            <m:r>
                              <m:rPr>
                                <m:brk m:alnAt="7"/>
                              </m:rPr>
                              <a:rPr lang="en-US" b="0" i="1" smtClean="0">
                                <a:latin typeface="Cambria Math" panose="02040503050406030204" pitchFamily="18" charset="0"/>
                              </a:rPr>
                              <m:t>𝑀</m:t>
                            </m:r>
                            <m:r>
                              <a:rPr lang="en-US" b="0" i="1" smtClean="0">
                                <a:latin typeface="Cambria Math" panose="02040503050406030204" pitchFamily="18" charset="0"/>
                              </a:rPr>
                              <m:t>𝑎𝑥</m:t>
                            </m:r>
                          </m:e>
                        </m:mr>
                        <m:mr>
                          <m:e>
                            <m:r>
                              <a:rPr lang="en-US" b="0" i="1" smtClean="0">
                                <a:latin typeface="Cambria Math" panose="02040503050406030204" pitchFamily="18" charset="0"/>
                              </a:rPr>
                              <m:t>𝑇</m:t>
                            </m:r>
                          </m:e>
                        </m:mr>
                      </m:m>
                      <m:r>
                        <a:rPr lang="en-US" b="0" i="1" smtClean="0">
                          <a:latin typeface="Cambria Math" panose="02040503050406030204" pitchFamily="18" charset="0"/>
                        </a:rPr>
                        <m:t> </m:t>
                      </m:r>
                      <m:r>
                        <a:rPr lang="en-US" b="0" i="0" smtClean="0">
                          <a:latin typeface="Cambria Math" panose="02040503050406030204" pitchFamily="18" charset="0"/>
                        </a:rPr>
                        <m:t> </m:t>
                      </m:r>
                      <m:f>
                        <m:fPr>
                          <m:ctrlPr>
                            <a:rPr lang="en-US" b="0" i="1" smtClean="0">
                              <a:latin typeface="Cambria Math" panose="02040503050406030204" pitchFamily="18" charset="0"/>
                            </a:rPr>
                          </m:ctrlPr>
                        </m:fPr>
                        <m:num>
                          <m:r>
                            <a:rPr lang="en-US" i="1">
                              <a:latin typeface="Cambria Math" panose="02040503050406030204" pitchFamily="18" charset="0"/>
                            </a:rPr>
                            <m:t>𝑝</m:t>
                          </m:r>
                          <m:acc>
                            <m:accPr>
                              <m:chr m:val="̅"/>
                              <m:ctrlPr>
                                <a:rPr lang="en-US" i="1">
                                  <a:latin typeface="Cambria Math" panose="02040503050406030204" pitchFamily="18" charset="0"/>
                                </a:rPr>
                              </m:ctrlPr>
                            </m:accPr>
                            <m:e>
                              <m:r>
                                <a:rPr lang="en-US" i="1">
                                  <a:latin typeface="Cambria Math" panose="02040503050406030204" pitchFamily="18" charset="0"/>
                                </a:rPr>
                                <m:t>𝑠</m:t>
                              </m:r>
                            </m:e>
                          </m:acc>
                          <m:sSup>
                            <m:sSupPr>
                              <m:ctrlPr>
                                <a:rPr lang="en-US" i="1">
                                  <a:latin typeface="Cambria Math" panose="02040503050406030204" pitchFamily="18" charset="0"/>
                                </a:rPr>
                              </m:ctrlPr>
                            </m:sSupPr>
                            <m:e>
                              <m:d>
                                <m:dPr>
                                  <m:ctrlPr>
                                    <a:rPr lang="en-US" i="1">
                                      <a:latin typeface="Cambria Math" panose="02040503050406030204" pitchFamily="18" charset="0"/>
                                    </a:rPr>
                                  </m:ctrlPr>
                                </m:dPr>
                                <m:e>
                                  <m:r>
                                    <a:rPr lang="en-US" i="1">
                                      <a:latin typeface="Cambria Math" panose="02040503050406030204" pitchFamily="18" charset="0"/>
                                    </a:rPr>
                                    <m:t>1+</m:t>
                                  </m:r>
                                  <m:r>
                                    <a:rPr lang="en-US" i="1">
                                      <a:latin typeface="Cambria Math" panose="02040503050406030204" pitchFamily="18" charset="0"/>
                                    </a:rPr>
                                    <m:t>𝑓</m:t>
                                  </m:r>
                                </m:e>
                              </m:d>
                            </m:e>
                            <m:sup>
                              <m:r>
                                <a:rPr lang="en-US" i="1">
                                  <a:latin typeface="Cambria Math" panose="02040503050406030204" pitchFamily="18" charset="0"/>
                                </a:rPr>
                                <m:t>𝑇</m:t>
                              </m:r>
                            </m:sup>
                          </m:sSup>
                          <m:r>
                            <a:rPr lang="en-US" i="1">
                              <a:latin typeface="Cambria Math" panose="02040503050406030204" pitchFamily="18" charset="0"/>
                            </a:rPr>
                            <m:t>−</m:t>
                          </m:r>
                          <m:r>
                            <a:rPr lang="en-US" b="0" i="1" smtClean="0">
                              <a:latin typeface="Cambria Math" panose="02040503050406030204" pitchFamily="18" charset="0"/>
                            </a:rPr>
                            <m:t>𝑐</m:t>
                          </m:r>
                        </m:num>
                        <m:den>
                          <m:sSup>
                            <m:sSupPr>
                              <m:ctrlPr>
                                <a:rPr lang="en-US" b="0" i="1" smtClean="0">
                                  <a:latin typeface="Cambria Math" panose="02040503050406030204" pitchFamily="18" charset="0"/>
                                </a:rPr>
                              </m:ctrlPr>
                            </m:sSupPr>
                            <m:e>
                              <m:r>
                                <a:rPr lang="en-US" b="0" i="1" smtClean="0">
                                  <a:latin typeface="Cambria Math" panose="02040503050406030204" pitchFamily="18" charset="0"/>
                                </a:rPr>
                                <m:t>𝑒</m:t>
                              </m:r>
                            </m:e>
                            <m:sup>
                              <m:r>
                                <a:rPr lang="en-US" b="0" i="1" smtClean="0">
                                  <a:latin typeface="Cambria Math" panose="02040503050406030204" pitchFamily="18" charset="0"/>
                                </a:rPr>
                                <m:t>𝑟𝑇</m:t>
                              </m:r>
                            </m:sup>
                          </m:sSup>
                          <m:r>
                            <a:rPr lang="en-US" b="0" i="1" smtClean="0">
                              <a:latin typeface="Cambria Math" panose="02040503050406030204" pitchFamily="18" charset="0"/>
                            </a:rPr>
                            <m:t>−1</m:t>
                          </m:r>
                        </m:den>
                      </m:f>
                    </m:oMath>
                  </m:oMathPara>
                </a14:m>
                <a:endParaRPr lang="en-US" dirty="0"/>
              </a:p>
            </p:txBody>
          </p:sp>
        </mc:Choice>
        <mc:Fallback xmlns="">
          <p:sp>
            <p:nvSpPr>
              <p:cNvPr id="4" name="Content Placeholder 2">
                <a:extLst>
                  <a:ext uri="{FF2B5EF4-FFF2-40B4-BE49-F238E27FC236}">
                    <a16:creationId xmlns:a16="http://schemas.microsoft.com/office/drawing/2014/main" id="{94EED4AB-BCC8-53B1-FC13-3B9E06104CD6}"/>
                  </a:ext>
                </a:extLst>
              </p:cNvPr>
              <p:cNvSpPr txBox="1">
                <a:spLocks noRot="1" noChangeAspect="1" noMove="1" noResize="1" noEditPoints="1" noAdjustHandles="1" noChangeArrowheads="1" noChangeShapeType="1" noTextEdit="1"/>
              </p:cNvSpPr>
              <p:nvPr/>
            </p:nvSpPr>
            <p:spPr>
              <a:xfrm>
                <a:off x="6096000" y="1690688"/>
                <a:ext cx="5049520" cy="4351338"/>
              </a:xfrm>
              <a:prstGeom prst="rect">
                <a:avLst/>
              </a:prstGeom>
              <a:blipFill>
                <a:blip r:embed="rId3"/>
                <a:stretch>
                  <a:fillRect l="-2764" t="-2326"/>
                </a:stretch>
              </a:blipFill>
            </p:spPr>
            <p:txBody>
              <a:bodyPr/>
              <a:lstStyle/>
              <a:p>
                <a:r>
                  <a:rPr lang="en-US">
                    <a:noFill/>
                  </a:rPr>
                  <a:t> </a:t>
                </a:r>
              </a:p>
            </p:txBody>
          </p:sp>
        </mc:Fallback>
      </mc:AlternateContent>
    </p:spTree>
    <p:extLst>
      <p:ext uri="{BB962C8B-B14F-4D97-AF65-F5344CB8AC3E}">
        <p14:creationId xmlns:p14="http://schemas.microsoft.com/office/powerpoint/2010/main" val="3719261525"/>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599F36-2FF6-A569-A2FF-78F0CAE495A7}"/>
              </a:ext>
            </a:extLst>
          </p:cNvPr>
          <p:cNvSpPr>
            <a:spLocks noGrp="1"/>
          </p:cNvSpPr>
          <p:nvPr>
            <p:ph type="title"/>
          </p:nvPr>
        </p:nvSpPr>
        <p:spPr/>
        <p:txBody>
          <a:bodyPr/>
          <a:lstStyle/>
          <a:p>
            <a:r>
              <a:rPr lang="en-US" dirty="0"/>
              <a:t>Faustmann in practice</a:t>
            </a:r>
          </a:p>
        </p:txBody>
      </p:sp>
      <p:sp>
        <p:nvSpPr>
          <p:cNvPr id="3" name="Content Placeholder 2">
            <a:extLst>
              <a:ext uri="{FF2B5EF4-FFF2-40B4-BE49-F238E27FC236}">
                <a16:creationId xmlns:a16="http://schemas.microsoft.com/office/drawing/2014/main" id="{CBC2F6B7-026B-C801-29BA-CFFD034E1998}"/>
              </a:ext>
            </a:extLst>
          </p:cNvPr>
          <p:cNvSpPr>
            <a:spLocks noGrp="1"/>
          </p:cNvSpPr>
          <p:nvPr>
            <p:ph idx="1"/>
          </p:nvPr>
        </p:nvSpPr>
        <p:spPr/>
        <p:txBody>
          <a:bodyPr/>
          <a:lstStyle/>
          <a:p>
            <a:endParaRPr lang="en-US" dirty="0"/>
          </a:p>
          <a:p>
            <a:r>
              <a:rPr lang="en-US" dirty="0">
                <a:hlinkClick r:id="rId2"/>
              </a:rPr>
              <a:t>https://demonstrations.wolfram.com/FaustmannsRuleOfOptimalRotation</a:t>
            </a:r>
            <a:endParaRPr lang="en-US" dirty="0"/>
          </a:p>
          <a:p>
            <a:endParaRPr lang="en-US" dirty="0"/>
          </a:p>
          <a:p>
            <a:r>
              <a:rPr lang="en-US" dirty="0"/>
              <a:t>GAMS model – </a:t>
            </a:r>
            <a:r>
              <a:rPr lang="en-US" dirty="0" err="1"/>
              <a:t>faustmann.gms</a:t>
            </a:r>
            <a:endParaRPr lang="en-US" dirty="0"/>
          </a:p>
          <a:p>
            <a:endParaRPr lang="en-US" dirty="0"/>
          </a:p>
        </p:txBody>
      </p:sp>
    </p:spTree>
    <p:extLst>
      <p:ext uri="{BB962C8B-B14F-4D97-AF65-F5344CB8AC3E}">
        <p14:creationId xmlns:p14="http://schemas.microsoft.com/office/powerpoint/2010/main" val="377111345"/>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91B728-91D8-F655-436D-A2E26007F1A9}"/>
              </a:ext>
            </a:extLst>
          </p:cNvPr>
          <p:cNvSpPr>
            <a:spLocks noGrp="1"/>
          </p:cNvSpPr>
          <p:nvPr>
            <p:ph type="title"/>
          </p:nvPr>
        </p:nvSpPr>
        <p:spPr/>
        <p:txBody>
          <a:bodyPr/>
          <a:lstStyle/>
          <a:p>
            <a:r>
              <a:rPr lang="en-US" dirty="0"/>
              <a:t>Faustmann in practice [I]</a:t>
            </a:r>
          </a:p>
        </p:txBody>
      </p:sp>
      <p:sp>
        <p:nvSpPr>
          <p:cNvPr id="3" name="Content Placeholder 2">
            <a:extLst>
              <a:ext uri="{FF2B5EF4-FFF2-40B4-BE49-F238E27FC236}">
                <a16:creationId xmlns:a16="http://schemas.microsoft.com/office/drawing/2014/main" id="{EC8447D4-9058-B09F-B802-F36895ABE510}"/>
              </a:ext>
            </a:extLst>
          </p:cNvPr>
          <p:cNvSpPr>
            <a:spLocks noGrp="1"/>
          </p:cNvSpPr>
          <p:nvPr>
            <p:ph idx="1"/>
          </p:nvPr>
        </p:nvSpPr>
        <p:spPr>
          <a:xfrm>
            <a:off x="107950" y="1690688"/>
            <a:ext cx="6260878" cy="4351338"/>
          </a:xfrm>
        </p:spPr>
        <p:txBody>
          <a:bodyPr>
            <a:normAutofit fontScale="92500" lnSpcReduction="20000"/>
          </a:bodyPr>
          <a:lstStyle/>
          <a:p>
            <a:r>
              <a:rPr lang="en-US" dirty="0"/>
              <a:t>Several large timber companies (Weyerhaeuser, Rayonier) use Faustmann for their even-aged plantations</a:t>
            </a:r>
          </a:p>
          <a:p>
            <a:r>
              <a:rPr lang="en-US" dirty="0"/>
              <a:t>Model used to..</a:t>
            </a:r>
          </a:p>
          <a:p>
            <a:pPr lvl="1"/>
            <a:r>
              <a:rPr lang="en-US" dirty="0"/>
              <a:t>Determine optimal rotation ages (equipment planning)</a:t>
            </a:r>
          </a:p>
          <a:p>
            <a:pPr lvl="1"/>
            <a:r>
              <a:rPr lang="en-US" dirty="0"/>
              <a:t>Evaluate land value and ‘silvicultural’ intervention</a:t>
            </a:r>
          </a:p>
          <a:p>
            <a:pPr lvl="1"/>
            <a:r>
              <a:rPr lang="en-US" dirty="0"/>
              <a:t>Consider how market prices/trends impact land value</a:t>
            </a:r>
          </a:p>
          <a:p>
            <a:r>
              <a:rPr lang="en-US" dirty="0"/>
              <a:t>Include stochastic extensions for pests/drought/…</a:t>
            </a:r>
          </a:p>
        </p:txBody>
      </p:sp>
      <p:pic>
        <p:nvPicPr>
          <p:cNvPr id="2050" name="Picture 2" descr="Weyerhaeuser International Headquarters | TCLF">
            <a:extLst>
              <a:ext uri="{FF2B5EF4-FFF2-40B4-BE49-F238E27FC236}">
                <a16:creationId xmlns:a16="http://schemas.microsoft.com/office/drawing/2014/main" id="{E84D92BE-499C-C763-CC36-F5F06D65495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39922" y="3318053"/>
            <a:ext cx="5644128" cy="3174822"/>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Weyerhaeuser Announces New Sustainability Strategy">
            <a:extLst>
              <a:ext uri="{FF2B5EF4-FFF2-40B4-BE49-F238E27FC236}">
                <a16:creationId xmlns:a16="http://schemas.microsoft.com/office/drawing/2014/main" id="{EFCA3380-428E-7158-EB2E-8B82962A1FE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018326" y="594680"/>
            <a:ext cx="4487320" cy="2350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85145755"/>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48CB90-F15E-B5A3-C3CE-99542FA7FB3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16C3853-4819-176A-0351-7D5D6084A428}"/>
              </a:ext>
            </a:extLst>
          </p:cNvPr>
          <p:cNvSpPr>
            <a:spLocks noGrp="1"/>
          </p:cNvSpPr>
          <p:nvPr>
            <p:ph type="title"/>
          </p:nvPr>
        </p:nvSpPr>
        <p:spPr/>
        <p:txBody>
          <a:bodyPr/>
          <a:lstStyle/>
          <a:p>
            <a:r>
              <a:rPr lang="en-US" dirty="0"/>
              <a:t>Faustmann in practice [II]</a:t>
            </a:r>
          </a:p>
        </p:txBody>
      </p:sp>
      <p:graphicFrame>
        <p:nvGraphicFramePr>
          <p:cNvPr id="5" name="Table 4">
            <a:extLst>
              <a:ext uri="{FF2B5EF4-FFF2-40B4-BE49-F238E27FC236}">
                <a16:creationId xmlns:a16="http://schemas.microsoft.com/office/drawing/2014/main" id="{19AF7366-84AF-134E-FCF0-C40648707DEB}"/>
              </a:ext>
            </a:extLst>
          </p:cNvPr>
          <p:cNvGraphicFramePr>
            <a:graphicFrameLocks noGrp="1"/>
          </p:cNvGraphicFramePr>
          <p:nvPr/>
        </p:nvGraphicFramePr>
        <p:xfrm>
          <a:off x="958850" y="3801605"/>
          <a:ext cx="10896600" cy="2809875"/>
        </p:xfrm>
        <a:graphic>
          <a:graphicData uri="http://schemas.openxmlformats.org/drawingml/2006/table">
            <a:tbl>
              <a:tblPr/>
              <a:tblGrid>
                <a:gridCol w="2574034">
                  <a:extLst>
                    <a:ext uri="{9D8B030D-6E8A-4147-A177-3AD203B41FA5}">
                      <a16:colId xmlns:a16="http://schemas.microsoft.com/office/drawing/2014/main" val="1830477163"/>
                    </a:ext>
                  </a:extLst>
                </a:gridCol>
                <a:gridCol w="4557016">
                  <a:extLst>
                    <a:ext uri="{9D8B030D-6E8A-4147-A177-3AD203B41FA5}">
                      <a16:colId xmlns:a16="http://schemas.microsoft.com/office/drawing/2014/main" val="2040882039"/>
                    </a:ext>
                  </a:extLst>
                </a:gridCol>
                <a:gridCol w="3765550">
                  <a:extLst>
                    <a:ext uri="{9D8B030D-6E8A-4147-A177-3AD203B41FA5}">
                      <a16:colId xmlns:a16="http://schemas.microsoft.com/office/drawing/2014/main" val="3172496450"/>
                    </a:ext>
                  </a:extLst>
                </a:gridCol>
              </a:tblGrid>
              <a:tr h="203200">
                <a:tc>
                  <a:txBody>
                    <a:bodyPr/>
                    <a:lstStyle/>
                    <a:p>
                      <a:pPr algn="l" fontAlgn="b"/>
                      <a:r>
                        <a:rPr lang="en-US" sz="1800" b="1" i="0" u="none" strike="noStrike">
                          <a:solidFill>
                            <a:srgbClr val="000000"/>
                          </a:solidFill>
                          <a:effectLst/>
                          <a:latin typeface="Aptos Narrow" panose="020B0004020202020204" pitchFamily="34" charset="0"/>
                        </a:rPr>
                        <a:t>Aspect</a:t>
                      </a:r>
                    </a:p>
                  </a:txBody>
                  <a:tcPr marL="9525" marR="9525" marT="9525" marB="0" anchor="b">
                    <a:lnL>
                      <a:noFill/>
                    </a:lnL>
                    <a:lnR>
                      <a:noFill/>
                    </a:lnR>
                    <a:lnT>
                      <a:noFill/>
                    </a:lnT>
                    <a:lnB>
                      <a:noFill/>
                    </a:lnB>
                    <a:noFill/>
                  </a:tcPr>
                </a:tc>
                <a:tc>
                  <a:txBody>
                    <a:bodyPr/>
                    <a:lstStyle/>
                    <a:p>
                      <a:pPr algn="l" fontAlgn="b"/>
                      <a:r>
                        <a:rPr lang="en-US" sz="1800" b="1" i="0" u="none" strike="noStrike">
                          <a:solidFill>
                            <a:srgbClr val="000000"/>
                          </a:solidFill>
                          <a:effectLst/>
                          <a:latin typeface="Aptos Narrow" panose="020B0004020202020204" pitchFamily="34" charset="0"/>
                        </a:rPr>
                        <a:t>Finland</a:t>
                      </a:r>
                    </a:p>
                  </a:txBody>
                  <a:tcPr marL="9525" marR="9525" marT="9525" marB="0" anchor="b">
                    <a:lnL>
                      <a:noFill/>
                    </a:lnL>
                    <a:lnR>
                      <a:noFill/>
                    </a:lnR>
                    <a:lnT>
                      <a:noFill/>
                    </a:lnT>
                    <a:lnB>
                      <a:noFill/>
                    </a:lnB>
                    <a:noFill/>
                  </a:tcPr>
                </a:tc>
                <a:tc>
                  <a:txBody>
                    <a:bodyPr/>
                    <a:lstStyle/>
                    <a:p>
                      <a:pPr algn="l" fontAlgn="b"/>
                      <a:r>
                        <a:rPr lang="en-US" sz="1800" b="1" i="0" u="none" strike="noStrike">
                          <a:solidFill>
                            <a:srgbClr val="000000"/>
                          </a:solidFill>
                          <a:effectLst/>
                          <a:latin typeface="Aptos Narrow" panose="020B0004020202020204" pitchFamily="34" charset="0"/>
                        </a:rPr>
                        <a:t>Sweden</a:t>
                      </a:r>
                    </a:p>
                  </a:txBody>
                  <a:tcPr marL="9525" marR="9525" marT="9525" marB="0" anchor="b">
                    <a:lnL>
                      <a:noFill/>
                    </a:lnL>
                    <a:lnR>
                      <a:noFill/>
                    </a:lnR>
                    <a:lnT>
                      <a:noFill/>
                    </a:lnT>
                    <a:lnB>
                      <a:noFill/>
                    </a:lnB>
                    <a:noFill/>
                  </a:tcPr>
                </a:tc>
                <a:extLst>
                  <a:ext uri="{0D108BD9-81ED-4DB2-BD59-A6C34878D82A}">
                    <a16:rowId xmlns:a16="http://schemas.microsoft.com/office/drawing/2014/main" val="1925390110"/>
                  </a:ext>
                </a:extLst>
              </a:tr>
              <a:tr h="203200">
                <a:tc>
                  <a:txBody>
                    <a:bodyPr/>
                    <a:lstStyle/>
                    <a:p>
                      <a:pPr algn="l" fontAlgn="b"/>
                      <a:r>
                        <a:rPr lang="en-US" sz="1800" b="0" i="0" u="none" strike="noStrike">
                          <a:solidFill>
                            <a:srgbClr val="000000"/>
                          </a:solidFill>
                          <a:effectLst/>
                          <a:latin typeface="Aptos Narrow" panose="020B0004020202020204" pitchFamily="34" charset="0"/>
                        </a:rPr>
                        <a:t>State forest agency</a:t>
                      </a:r>
                    </a:p>
                  </a:txBody>
                  <a:tcPr marL="9525" marR="9525" marT="9525" marB="0" anchor="b">
                    <a:lnL>
                      <a:noFill/>
                    </a:lnL>
                    <a:lnR>
                      <a:noFill/>
                    </a:lnR>
                    <a:lnT>
                      <a:noFill/>
                    </a:lnT>
                    <a:lnB>
                      <a:noFill/>
                    </a:lnB>
                    <a:noFill/>
                  </a:tcPr>
                </a:tc>
                <a:tc>
                  <a:txBody>
                    <a:bodyPr/>
                    <a:lstStyle/>
                    <a:p>
                      <a:pPr algn="l" fontAlgn="b"/>
                      <a:r>
                        <a:rPr lang="en-US" sz="1800" b="0" i="0" u="none" strike="noStrike" dirty="0" err="1">
                          <a:solidFill>
                            <a:srgbClr val="000000"/>
                          </a:solidFill>
                          <a:effectLst/>
                          <a:latin typeface="Aptos Narrow" panose="020B0004020202020204" pitchFamily="34" charset="0"/>
                        </a:rPr>
                        <a:t>Metsähallitus</a:t>
                      </a:r>
                      <a:endParaRPr lang="en-US" sz="1800" b="0" i="0" u="none" strike="noStrike" dirty="0">
                        <a:solidFill>
                          <a:srgbClr val="000000"/>
                        </a:solidFill>
                        <a:effectLst/>
                        <a:latin typeface="Aptos Narrow" panose="020B0004020202020204" pitchFamily="34" charset="0"/>
                      </a:endParaRPr>
                    </a:p>
                  </a:txBody>
                  <a:tcPr marL="9525" marR="9525" marT="9525" marB="0" anchor="b">
                    <a:lnL>
                      <a:noFill/>
                    </a:lnL>
                    <a:lnR>
                      <a:noFill/>
                    </a:lnR>
                    <a:lnT>
                      <a:noFill/>
                    </a:lnT>
                    <a:lnB>
                      <a:noFill/>
                    </a:lnB>
                    <a:noFill/>
                  </a:tcPr>
                </a:tc>
                <a:tc>
                  <a:txBody>
                    <a:bodyPr/>
                    <a:lstStyle/>
                    <a:p>
                      <a:pPr algn="l" fontAlgn="b"/>
                      <a:r>
                        <a:rPr lang="en-US" sz="1800" b="0" i="0" u="none" strike="noStrike">
                          <a:solidFill>
                            <a:srgbClr val="000000"/>
                          </a:solidFill>
                          <a:effectLst/>
                          <a:latin typeface="Aptos Narrow" panose="020B0004020202020204" pitchFamily="34" charset="0"/>
                        </a:rPr>
                        <a:t>Sveaskog + Skogsstyrelsen</a:t>
                      </a:r>
                    </a:p>
                  </a:txBody>
                  <a:tcPr marL="9525" marR="9525" marT="9525" marB="0" anchor="b">
                    <a:lnL>
                      <a:noFill/>
                    </a:lnL>
                    <a:lnR>
                      <a:noFill/>
                    </a:lnR>
                    <a:lnT>
                      <a:noFill/>
                    </a:lnT>
                    <a:lnB>
                      <a:noFill/>
                    </a:lnB>
                    <a:noFill/>
                  </a:tcPr>
                </a:tc>
                <a:extLst>
                  <a:ext uri="{0D108BD9-81ED-4DB2-BD59-A6C34878D82A}">
                    <a16:rowId xmlns:a16="http://schemas.microsoft.com/office/drawing/2014/main" val="1778822339"/>
                  </a:ext>
                </a:extLst>
              </a:tr>
              <a:tr h="203200">
                <a:tc>
                  <a:txBody>
                    <a:bodyPr/>
                    <a:lstStyle/>
                    <a:p>
                      <a:pPr algn="l" fontAlgn="b"/>
                      <a:r>
                        <a:rPr lang="en-US" sz="1800" b="0" i="0" u="none" strike="noStrike">
                          <a:solidFill>
                            <a:srgbClr val="000000"/>
                          </a:solidFill>
                          <a:effectLst/>
                          <a:latin typeface="Aptos Narrow" panose="020B0004020202020204" pitchFamily="34" charset="0"/>
                        </a:rPr>
                        <a:t>Private ownership share</a:t>
                      </a:r>
                    </a:p>
                  </a:txBody>
                  <a:tcPr marL="9525" marR="9525" marT="9525" marB="0" anchor="b">
                    <a:lnL>
                      <a:noFill/>
                    </a:lnL>
                    <a:lnR>
                      <a:noFill/>
                    </a:lnR>
                    <a:lnT>
                      <a:noFill/>
                    </a:lnT>
                    <a:lnB>
                      <a:noFill/>
                    </a:lnB>
                    <a:noFill/>
                  </a:tcPr>
                </a:tc>
                <a:tc>
                  <a:txBody>
                    <a:bodyPr/>
                    <a:lstStyle/>
                    <a:p>
                      <a:pPr algn="l" fontAlgn="b"/>
                      <a:r>
                        <a:rPr lang="en-US" sz="1800" b="0" i="0" u="none" strike="noStrike">
                          <a:solidFill>
                            <a:srgbClr val="000000"/>
                          </a:solidFill>
                          <a:effectLst/>
                          <a:latin typeface="Aptos Narrow" panose="020B0004020202020204" pitchFamily="34" charset="0"/>
                        </a:rPr>
                        <a:t>~60% private</a:t>
                      </a:r>
                    </a:p>
                  </a:txBody>
                  <a:tcPr marL="9525" marR="9525" marT="9525" marB="0" anchor="b">
                    <a:lnL>
                      <a:noFill/>
                    </a:lnL>
                    <a:lnR>
                      <a:noFill/>
                    </a:lnR>
                    <a:lnT>
                      <a:noFill/>
                    </a:lnT>
                    <a:lnB>
                      <a:noFill/>
                    </a:lnB>
                    <a:noFill/>
                  </a:tcPr>
                </a:tc>
                <a:tc>
                  <a:txBody>
                    <a:bodyPr/>
                    <a:lstStyle/>
                    <a:p>
                      <a:pPr algn="l" fontAlgn="b"/>
                      <a:r>
                        <a:rPr lang="en-US" sz="1800" b="0" i="0" u="none" strike="noStrike">
                          <a:solidFill>
                            <a:srgbClr val="000000"/>
                          </a:solidFill>
                          <a:effectLst/>
                          <a:latin typeface="Aptos Narrow" panose="020B0004020202020204" pitchFamily="34" charset="0"/>
                        </a:rPr>
                        <a:t>~80% private</a:t>
                      </a:r>
                    </a:p>
                  </a:txBody>
                  <a:tcPr marL="9525" marR="9525" marT="9525" marB="0" anchor="b">
                    <a:lnL>
                      <a:noFill/>
                    </a:lnL>
                    <a:lnR>
                      <a:noFill/>
                    </a:lnR>
                    <a:lnT>
                      <a:noFill/>
                    </a:lnT>
                    <a:lnB>
                      <a:noFill/>
                    </a:lnB>
                    <a:noFill/>
                  </a:tcPr>
                </a:tc>
                <a:extLst>
                  <a:ext uri="{0D108BD9-81ED-4DB2-BD59-A6C34878D82A}">
                    <a16:rowId xmlns:a16="http://schemas.microsoft.com/office/drawing/2014/main" val="3213546958"/>
                  </a:ext>
                </a:extLst>
              </a:tr>
              <a:tr h="203200">
                <a:tc>
                  <a:txBody>
                    <a:bodyPr/>
                    <a:lstStyle/>
                    <a:p>
                      <a:pPr algn="l" fontAlgn="b"/>
                      <a:r>
                        <a:rPr lang="en-US" sz="1800" b="0" i="0" u="none" strike="noStrike" dirty="0">
                          <a:solidFill>
                            <a:srgbClr val="000000"/>
                          </a:solidFill>
                          <a:effectLst/>
                          <a:latin typeface="Aptos Narrow" panose="020B0004020202020204" pitchFamily="34" charset="0"/>
                        </a:rPr>
                        <a:t>Use of Faustmann</a:t>
                      </a:r>
                    </a:p>
                  </a:txBody>
                  <a:tcPr marL="9525" marR="9525" marT="9525" marB="0" anchor="b">
                    <a:lnL>
                      <a:noFill/>
                    </a:lnL>
                    <a:lnR>
                      <a:noFill/>
                    </a:lnR>
                    <a:lnT>
                      <a:noFill/>
                    </a:lnT>
                    <a:lnB>
                      <a:noFill/>
                    </a:lnB>
                    <a:noFill/>
                  </a:tcPr>
                </a:tc>
                <a:tc>
                  <a:txBody>
                    <a:bodyPr/>
                    <a:lstStyle/>
                    <a:p>
                      <a:pPr algn="l" fontAlgn="b"/>
                      <a:r>
                        <a:rPr lang="en-US" sz="1800" b="0" i="0" u="none" strike="noStrike" dirty="0">
                          <a:solidFill>
                            <a:srgbClr val="000000"/>
                          </a:solidFill>
                          <a:effectLst/>
                          <a:latin typeface="Aptos Narrow" panose="020B0004020202020204" pitchFamily="34" charset="0"/>
                        </a:rPr>
                        <a:t>Directly for state rotation planning and LEV mapping</a:t>
                      </a:r>
                    </a:p>
                  </a:txBody>
                  <a:tcPr marL="9525" marR="9525" marT="9525" marB="0" anchor="b">
                    <a:lnL>
                      <a:noFill/>
                    </a:lnL>
                    <a:lnR>
                      <a:noFill/>
                    </a:lnR>
                    <a:lnT>
                      <a:noFill/>
                    </a:lnT>
                    <a:lnB>
                      <a:noFill/>
                    </a:lnB>
                    <a:noFill/>
                  </a:tcPr>
                </a:tc>
                <a:tc>
                  <a:txBody>
                    <a:bodyPr/>
                    <a:lstStyle/>
                    <a:p>
                      <a:pPr algn="l" fontAlgn="b"/>
                      <a:r>
                        <a:rPr lang="en-US" sz="1800" b="0" i="0" u="none" strike="noStrike" dirty="0">
                          <a:solidFill>
                            <a:srgbClr val="000000"/>
                          </a:solidFill>
                          <a:effectLst/>
                          <a:latin typeface="Aptos Narrow" panose="020B0004020202020204" pitchFamily="34" charset="0"/>
                        </a:rPr>
                        <a:t>Strategic planning and </a:t>
                      </a:r>
                      <a:r>
                        <a:rPr lang="en-US" sz="1800" b="1" i="1" u="none" strike="noStrike" dirty="0">
                          <a:solidFill>
                            <a:srgbClr val="000000"/>
                          </a:solidFill>
                          <a:effectLst/>
                          <a:latin typeface="Aptos Narrow" panose="020B0004020202020204" pitchFamily="34" charset="0"/>
                        </a:rPr>
                        <a:t>private advising</a:t>
                      </a:r>
                    </a:p>
                  </a:txBody>
                  <a:tcPr marL="9525" marR="9525" marT="9525" marB="0" anchor="b">
                    <a:lnL>
                      <a:noFill/>
                    </a:lnL>
                    <a:lnR>
                      <a:noFill/>
                    </a:lnR>
                    <a:lnT>
                      <a:noFill/>
                    </a:lnT>
                    <a:lnB>
                      <a:noFill/>
                    </a:lnB>
                    <a:noFill/>
                  </a:tcPr>
                </a:tc>
                <a:extLst>
                  <a:ext uri="{0D108BD9-81ED-4DB2-BD59-A6C34878D82A}">
                    <a16:rowId xmlns:a16="http://schemas.microsoft.com/office/drawing/2014/main" val="3238055523"/>
                  </a:ext>
                </a:extLst>
              </a:tr>
              <a:tr h="203200">
                <a:tc>
                  <a:txBody>
                    <a:bodyPr/>
                    <a:lstStyle/>
                    <a:p>
                      <a:pPr algn="l" fontAlgn="b"/>
                      <a:r>
                        <a:rPr lang="en-US" sz="1800" b="0" i="0" u="none" strike="noStrike">
                          <a:solidFill>
                            <a:srgbClr val="000000"/>
                          </a:solidFill>
                          <a:effectLst/>
                          <a:latin typeface="Aptos Narrow" panose="020B0004020202020204" pitchFamily="34" charset="0"/>
                        </a:rPr>
                        <a:t>Biodiversity integration</a:t>
                      </a:r>
                    </a:p>
                  </a:txBody>
                  <a:tcPr marL="9525" marR="9525" marT="9525" marB="0" anchor="b">
                    <a:lnL>
                      <a:noFill/>
                    </a:lnL>
                    <a:lnR>
                      <a:noFill/>
                    </a:lnR>
                    <a:lnT>
                      <a:noFill/>
                    </a:lnT>
                    <a:lnB>
                      <a:noFill/>
                    </a:lnB>
                    <a:noFill/>
                  </a:tcPr>
                </a:tc>
                <a:tc>
                  <a:txBody>
                    <a:bodyPr/>
                    <a:lstStyle/>
                    <a:p>
                      <a:pPr algn="l" fontAlgn="b"/>
                      <a:r>
                        <a:rPr lang="en-US" sz="1800" b="0" i="0" u="none" strike="noStrike">
                          <a:solidFill>
                            <a:srgbClr val="000000"/>
                          </a:solidFill>
                          <a:effectLst/>
                          <a:latin typeface="Aptos Narrow" panose="020B0004020202020204" pitchFamily="34" charset="0"/>
                        </a:rPr>
                        <a:t>Hartman-style extensions common</a:t>
                      </a:r>
                    </a:p>
                  </a:txBody>
                  <a:tcPr marL="9525" marR="9525" marT="9525" marB="0" anchor="b">
                    <a:lnL>
                      <a:noFill/>
                    </a:lnL>
                    <a:lnR>
                      <a:noFill/>
                    </a:lnR>
                    <a:lnT>
                      <a:noFill/>
                    </a:lnT>
                    <a:lnB>
                      <a:noFill/>
                    </a:lnB>
                    <a:noFill/>
                  </a:tcPr>
                </a:tc>
                <a:tc>
                  <a:txBody>
                    <a:bodyPr/>
                    <a:lstStyle/>
                    <a:p>
                      <a:pPr algn="l" fontAlgn="b"/>
                      <a:r>
                        <a:rPr lang="en-US" sz="1800" b="0" i="0" u="none" strike="noStrike">
                          <a:solidFill>
                            <a:srgbClr val="000000"/>
                          </a:solidFill>
                          <a:effectLst/>
                          <a:latin typeface="Aptos Narrow" panose="020B0004020202020204" pitchFamily="34" charset="0"/>
                        </a:rPr>
                        <a:t>Multi-objective optimization more common</a:t>
                      </a:r>
                    </a:p>
                  </a:txBody>
                  <a:tcPr marL="9525" marR="9525" marT="9525" marB="0" anchor="b">
                    <a:lnL>
                      <a:noFill/>
                    </a:lnL>
                    <a:lnR>
                      <a:noFill/>
                    </a:lnR>
                    <a:lnT>
                      <a:noFill/>
                    </a:lnT>
                    <a:lnB>
                      <a:noFill/>
                    </a:lnB>
                    <a:noFill/>
                  </a:tcPr>
                </a:tc>
                <a:extLst>
                  <a:ext uri="{0D108BD9-81ED-4DB2-BD59-A6C34878D82A}">
                    <a16:rowId xmlns:a16="http://schemas.microsoft.com/office/drawing/2014/main" val="1508630436"/>
                  </a:ext>
                </a:extLst>
              </a:tr>
              <a:tr h="203200">
                <a:tc>
                  <a:txBody>
                    <a:bodyPr/>
                    <a:lstStyle/>
                    <a:p>
                      <a:pPr algn="l" fontAlgn="b"/>
                      <a:r>
                        <a:rPr lang="en-US" sz="1800" b="0" i="0" u="none" strike="noStrike">
                          <a:solidFill>
                            <a:srgbClr val="000000"/>
                          </a:solidFill>
                          <a:effectLst/>
                          <a:latin typeface="Aptos Narrow" panose="020B0004020202020204" pitchFamily="34" charset="0"/>
                        </a:rPr>
                        <a:t>Modeling platforms</a:t>
                      </a:r>
                    </a:p>
                  </a:txBody>
                  <a:tcPr marL="9525" marR="9525" marT="9525" marB="0" anchor="b">
                    <a:lnL>
                      <a:noFill/>
                    </a:lnL>
                    <a:lnR>
                      <a:noFill/>
                    </a:lnR>
                    <a:lnT>
                      <a:noFill/>
                    </a:lnT>
                    <a:lnB>
                      <a:noFill/>
                    </a:lnB>
                    <a:noFill/>
                  </a:tcPr>
                </a:tc>
                <a:tc>
                  <a:txBody>
                    <a:bodyPr/>
                    <a:lstStyle/>
                    <a:p>
                      <a:pPr algn="l" fontAlgn="b"/>
                      <a:r>
                        <a:rPr lang="en-US" sz="1800" b="0" i="0" u="none" strike="noStrike">
                          <a:solidFill>
                            <a:srgbClr val="000000"/>
                          </a:solidFill>
                          <a:effectLst/>
                          <a:latin typeface="Aptos Narrow" panose="020B0004020202020204" pitchFamily="34" charset="0"/>
                        </a:rPr>
                        <a:t>SIMO, Heureka</a:t>
                      </a:r>
                    </a:p>
                  </a:txBody>
                  <a:tcPr marL="9525" marR="9525" marT="9525" marB="0" anchor="b">
                    <a:lnL>
                      <a:noFill/>
                    </a:lnL>
                    <a:lnR>
                      <a:noFill/>
                    </a:lnR>
                    <a:lnT>
                      <a:noFill/>
                    </a:lnT>
                    <a:lnB>
                      <a:noFill/>
                    </a:lnB>
                    <a:noFill/>
                  </a:tcPr>
                </a:tc>
                <a:tc>
                  <a:txBody>
                    <a:bodyPr/>
                    <a:lstStyle/>
                    <a:p>
                      <a:pPr algn="l" fontAlgn="b"/>
                      <a:r>
                        <a:rPr lang="en-US" sz="1800" b="0" i="0" u="none" strike="noStrike">
                          <a:solidFill>
                            <a:srgbClr val="000000"/>
                          </a:solidFill>
                          <a:effectLst/>
                          <a:latin typeface="Aptos Narrow" panose="020B0004020202020204" pitchFamily="34" charset="0"/>
                        </a:rPr>
                        <a:t>PlanWise, Heureka</a:t>
                      </a:r>
                    </a:p>
                  </a:txBody>
                  <a:tcPr marL="9525" marR="9525" marT="9525" marB="0" anchor="b">
                    <a:lnL>
                      <a:noFill/>
                    </a:lnL>
                    <a:lnR>
                      <a:noFill/>
                    </a:lnR>
                    <a:lnT>
                      <a:noFill/>
                    </a:lnT>
                    <a:lnB>
                      <a:noFill/>
                    </a:lnB>
                    <a:noFill/>
                  </a:tcPr>
                </a:tc>
                <a:extLst>
                  <a:ext uri="{0D108BD9-81ED-4DB2-BD59-A6C34878D82A}">
                    <a16:rowId xmlns:a16="http://schemas.microsoft.com/office/drawing/2014/main" val="2861764129"/>
                  </a:ext>
                </a:extLst>
              </a:tr>
              <a:tr h="203200">
                <a:tc>
                  <a:txBody>
                    <a:bodyPr/>
                    <a:lstStyle/>
                    <a:p>
                      <a:pPr algn="l" fontAlgn="b"/>
                      <a:r>
                        <a:rPr lang="en-US" sz="1800" b="0" i="0" u="none" strike="noStrike">
                          <a:solidFill>
                            <a:srgbClr val="000000"/>
                          </a:solidFill>
                          <a:effectLst/>
                          <a:latin typeface="Aptos Narrow" panose="020B0004020202020204" pitchFamily="34" charset="0"/>
                        </a:rPr>
                        <a:t>Discount rate differences</a:t>
                      </a:r>
                    </a:p>
                  </a:txBody>
                  <a:tcPr marL="9525" marR="9525" marT="9525" marB="0" anchor="b">
                    <a:lnL>
                      <a:noFill/>
                    </a:lnL>
                    <a:lnR>
                      <a:noFill/>
                    </a:lnR>
                    <a:lnT>
                      <a:noFill/>
                    </a:lnT>
                    <a:lnB>
                      <a:noFill/>
                    </a:lnB>
                    <a:noFill/>
                  </a:tcPr>
                </a:tc>
                <a:tc>
                  <a:txBody>
                    <a:bodyPr/>
                    <a:lstStyle/>
                    <a:p>
                      <a:pPr algn="l" fontAlgn="b"/>
                      <a:r>
                        <a:rPr lang="en-US" sz="1800" b="0" i="0" u="none" strike="noStrike">
                          <a:solidFill>
                            <a:srgbClr val="000000"/>
                          </a:solidFill>
                          <a:effectLst/>
                          <a:latin typeface="Aptos Narrow" panose="020B0004020202020204" pitchFamily="34" charset="0"/>
                        </a:rPr>
                        <a:t>Lower for state/public forest objectives</a:t>
                      </a:r>
                    </a:p>
                  </a:txBody>
                  <a:tcPr marL="9525" marR="9525" marT="9525" marB="0" anchor="b">
                    <a:lnL>
                      <a:noFill/>
                    </a:lnL>
                    <a:lnR>
                      <a:noFill/>
                    </a:lnR>
                    <a:lnT>
                      <a:noFill/>
                    </a:lnT>
                    <a:lnB>
                      <a:noFill/>
                    </a:lnB>
                    <a:noFill/>
                  </a:tcPr>
                </a:tc>
                <a:tc>
                  <a:txBody>
                    <a:bodyPr/>
                    <a:lstStyle/>
                    <a:p>
                      <a:pPr algn="l" fontAlgn="b"/>
                      <a:r>
                        <a:rPr lang="en-US" sz="1800" b="0" i="0" u="none" strike="noStrike" dirty="0">
                          <a:solidFill>
                            <a:srgbClr val="000000"/>
                          </a:solidFill>
                          <a:effectLst/>
                          <a:latin typeface="Aptos Narrow" panose="020B0004020202020204" pitchFamily="34" charset="0"/>
                        </a:rPr>
                        <a:t>More market-based in private land models</a:t>
                      </a:r>
                    </a:p>
                  </a:txBody>
                  <a:tcPr marL="9525" marR="9525" marT="9525" marB="0" anchor="b">
                    <a:lnL>
                      <a:noFill/>
                    </a:lnL>
                    <a:lnR>
                      <a:noFill/>
                    </a:lnR>
                    <a:lnT>
                      <a:noFill/>
                    </a:lnT>
                    <a:lnB>
                      <a:noFill/>
                    </a:lnB>
                    <a:noFill/>
                  </a:tcPr>
                </a:tc>
                <a:extLst>
                  <a:ext uri="{0D108BD9-81ED-4DB2-BD59-A6C34878D82A}">
                    <a16:rowId xmlns:a16="http://schemas.microsoft.com/office/drawing/2014/main" val="1482556590"/>
                  </a:ext>
                </a:extLst>
              </a:tr>
            </a:tbl>
          </a:graphicData>
        </a:graphic>
      </p:graphicFrame>
      <p:pic>
        <p:nvPicPr>
          <p:cNvPr id="4098" name="Picture 2" descr="Finland - Wikipedia">
            <a:extLst>
              <a:ext uri="{FF2B5EF4-FFF2-40B4-BE49-F238E27FC236}">
                <a16:creationId xmlns:a16="http://schemas.microsoft.com/office/drawing/2014/main" id="{4F55F89D-EFE8-AC1B-1D3F-945E67D7775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35350" y="1517650"/>
            <a:ext cx="3175000" cy="1943100"/>
          </a:xfrm>
          <a:prstGeom prst="rect">
            <a:avLst/>
          </a:prstGeom>
          <a:noFill/>
          <a:extLst>
            <a:ext uri="{909E8E84-426E-40DD-AFC4-6F175D3DCCD1}">
              <a14:hiddenFill xmlns:a14="http://schemas.microsoft.com/office/drawing/2010/main">
                <a:solidFill>
                  <a:srgbClr val="FFFFFF"/>
                </a:solidFill>
              </a14:hiddenFill>
            </a:ext>
          </a:extLst>
        </p:spPr>
      </p:pic>
      <p:pic>
        <p:nvPicPr>
          <p:cNvPr id="4100" name="Picture 4" descr="Sweden - Wikipedia">
            <a:extLst>
              <a:ext uri="{FF2B5EF4-FFF2-40B4-BE49-F238E27FC236}">
                <a16:creationId xmlns:a16="http://schemas.microsoft.com/office/drawing/2014/main" id="{F10808E8-944F-3805-EDFA-0D8364A4858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28000" y="1578769"/>
            <a:ext cx="3175000" cy="19939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94816360"/>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a:extLst>
              <a:ext uri="{FF2B5EF4-FFF2-40B4-BE49-F238E27FC236}">
                <a16:creationId xmlns:a16="http://schemas.microsoft.com/office/drawing/2014/main" id="{9FD24E47-DE7D-4765-15F9-7A72A97FA7E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972375" y="1437556"/>
            <a:ext cx="5970476" cy="4160745"/>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24F7F8E4-CAAF-4454-242E-B6CABA5D0765}"/>
              </a:ext>
            </a:extLst>
          </p:cNvPr>
          <p:cNvSpPr>
            <a:spLocks noGrp="1"/>
          </p:cNvSpPr>
          <p:nvPr>
            <p:ph type="title"/>
          </p:nvPr>
        </p:nvSpPr>
        <p:spPr/>
        <p:txBody>
          <a:bodyPr/>
          <a:lstStyle/>
          <a:p>
            <a:r>
              <a:rPr lang="en-US" dirty="0"/>
              <a:t>Faustmann in Practice [III]</a:t>
            </a:r>
          </a:p>
        </p:txBody>
      </p:sp>
      <p:sp>
        <p:nvSpPr>
          <p:cNvPr id="3" name="Content Placeholder 2">
            <a:extLst>
              <a:ext uri="{FF2B5EF4-FFF2-40B4-BE49-F238E27FC236}">
                <a16:creationId xmlns:a16="http://schemas.microsoft.com/office/drawing/2014/main" id="{8DF7C886-BF70-6C80-BC2E-CA4607C066A8}"/>
              </a:ext>
            </a:extLst>
          </p:cNvPr>
          <p:cNvSpPr>
            <a:spLocks noGrp="1"/>
          </p:cNvSpPr>
          <p:nvPr>
            <p:ph idx="1"/>
          </p:nvPr>
        </p:nvSpPr>
        <p:spPr>
          <a:xfrm>
            <a:off x="257227" y="1812836"/>
            <a:ext cx="6432550" cy="4351338"/>
          </a:xfrm>
        </p:spPr>
        <p:txBody>
          <a:bodyPr>
            <a:normAutofit lnSpcReduction="10000"/>
          </a:bodyPr>
          <a:lstStyle/>
          <a:p>
            <a:r>
              <a:rPr lang="en-US" dirty="0"/>
              <a:t>Extension of Faustman = Hartman</a:t>
            </a:r>
          </a:p>
          <a:p>
            <a:r>
              <a:rPr lang="en-US" dirty="0"/>
              <a:t>Includes ecological/environmental services</a:t>
            </a:r>
          </a:p>
          <a:p>
            <a:endParaRPr lang="en-US" dirty="0"/>
          </a:p>
          <a:p>
            <a:r>
              <a:rPr lang="en-US" dirty="0"/>
              <a:t>Used by REDD+ </a:t>
            </a:r>
          </a:p>
          <a:p>
            <a:pPr lvl="1"/>
            <a:r>
              <a:rPr lang="en-US" b="0" i="0" dirty="0">
                <a:solidFill>
                  <a:srgbClr val="001D35"/>
                </a:solidFill>
                <a:effectLst/>
                <a:latin typeface="Google Sans"/>
              </a:rPr>
              <a:t>Reducing Emissions from Deforestation and Forest Degradation</a:t>
            </a:r>
          </a:p>
          <a:p>
            <a:pPr lvl="1"/>
            <a:r>
              <a:rPr lang="en-US" dirty="0">
                <a:solidFill>
                  <a:srgbClr val="001D35"/>
                </a:solidFill>
                <a:latin typeface="Google Sans"/>
              </a:rPr>
              <a:t>Discussed previously – provides carbon offset credits</a:t>
            </a:r>
          </a:p>
          <a:p>
            <a:pPr lvl="1"/>
            <a:r>
              <a:rPr lang="en-US" dirty="0">
                <a:solidFill>
                  <a:srgbClr val="001D35"/>
                </a:solidFill>
                <a:latin typeface="Google Sans"/>
              </a:rPr>
              <a:t>Pays countries/landowners not to deforest</a:t>
            </a:r>
          </a:p>
          <a:p>
            <a:pPr lvl="1"/>
            <a:r>
              <a:rPr lang="en-US" dirty="0">
                <a:solidFill>
                  <a:srgbClr val="001D35"/>
                </a:solidFill>
                <a:latin typeface="Google Sans"/>
              </a:rPr>
              <a:t>Equivalent to CRP but for forests</a:t>
            </a:r>
            <a:endParaRPr lang="en-US" dirty="0"/>
          </a:p>
        </p:txBody>
      </p:sp>
    </p:spTree>
    <p:extLst>
      <p:ext uri="{BB962C8B-B14F-4D97-AF65-F5344CB8AC3E}">
        <p14:creationId xmlns:p14="http://schemas.microsoft.com/office/powerpoint/2010/main" val="3814534073"/>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4C8BE2-4551-135A-0057-A35639F16A0B}"/>
              </a:ext>
            </a:extLst>
          </p:cNvPr>
          <p:cNvSpPr>
            <a:spLocks noGrp="1"/>
          </p:cNvSpPr>
          <p:nvPr>
            <p:ph type="title"/>
          </p:nvPr>
        </p:nvSpPr>
        <p:spPr>
          <a:xfrm>
            <a:off x="804672" y="802955"/>
            <a:ext cx="4766330" cy="1454051"/>
          </a:xfrm>
        </p:spPr>
        <p:txBody>
          <a:bodyPr>
            <a:normAutofit/>
          </a:bodyPr>
          <a:lstStyle/>
          <a:p>
            <a:r>
              <a:rPr lang="en-US" sz="3600">
                <a:solidFill>
                  <a:schemeClr val="tx2"/>
                </a:solidFill>
              </a:rPr>
              <a:t>Brief on Hartman Model</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F46B26B1-4644-5C6D-40C9-CAE7EF1DC226}"/>
                  </a:ext>
                </a:extLst>
              </p:cNvPr>
              <p:cNvSpPr>
                <a:spLocks noGrp="1"/>
              </p:cNvSpPr>
              <p:nvPr>
                <p:ph idx="1"/>
              </p:nvPr>
            </p:nvSpPr>
            <p:spPr>
              <a:xfrm>
                <a:off x="804672" y="2421683"/>
                <a:ext cx="4765949" cy="3353476"/>
              </a:xfrm>
            </p:spPr>
            <p:txBody>
              <a:bodyPr anchor="t">
                <a:normAutofit/>
              </a:bodyPr>
              <a:lstStyle/>
              <a:p>
                <a:pPr marL="0" indent="0">
                  <a:buNone/>
                </a:pPr>
                <a:r>
                  <a:rPr lang="en-US" sz="1800">
                    <a:solidFill>
                      <a:schemeClr val="tx2"/>
                    </a:solidFill>
                  </a:rPr>
                  <a:t>Extends Faustman to add on the value of amenities:</a:t>
                </a:r>
              </a:p>
              <a:p>
                <a:pPr marL="0" indent="0">
                  <a:buNone/>
                </a:pPr>
                <a:endParaRPr lang="en-US" sz="1800" i="1">
                  <a:solidFill>
                    <a:schemeClr val="tx2"/>
                  </a:solidFill>
                  <a:latin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m>
                        <m:mPr>
                          <m:mcs>
                            <m:mc>
                              <m:mcPr>
                                <m:count m:val="1"/>
                                <m:mcJc m:val="center"/>
                              </m:mcPr>
                            </m:mc>
                          </m:mcs>
                          <m:ctrlPr>
                            <a:rPr lang="en-US" sz="1800" i="1">
                              <a:solidFill>
                                <a:schemeClr val="tx2"/>
                              </a:solidFill>
                              <a:latin typeface="Cambria Math" panose="02040503050406030204" pitchFamily="18" charset="0"/>
                            </a:rPr>
                          </m:ctrlPr>
                        </m:mPr>
                        <m:mr>
                          <m:e>
                            <m:r>
                              <m:rPr>
                                <m:brk m:alnAt="7"/>
                              </m:rPr>
                              <a:rPr lang="en-US" sz="1800" i="1">
                                <a:solidFill>
                                  <a:schemeClr val="tx2"/>
                                </a:solidFill>
                                <a:latin typeface="Cambria Math" panose="02040503050406030204" pitchFamily="18" charset="0"/>
                              </a:rPr>
                              <m:t>𝑀</m:t>
                            </m:r>
                            <m:r>
                              <a:rPr lang="en-US" sz="1800" i="1">
                                <a:solidFill>
                                  <a:schemeClr val="tx2"/>
                                </a:solidFill>
                                <a:latin typeface="Cambria Math" panose="02040503050406030204" pitchFamily="18" charset="0"/>
                              </a:rPr>
                              <m:t>𝑎𝑥</m:t>
                            </m:r>
                          </m:e>
                        </m:mr>
                        <m:mr>
                          <m:e>
                            <m:r>
                              <a:rPr lang="en-US" sz="1800" i="1">
                                <a:solidFill>
                                  <a:schemeClr val="tx2"/>
                                </a:solidFill>
                                <a:latin typeface="Cambria Math" panose="02040503050406030204" pitchFamily="18" charset="0"/>
                              </a:rPr>
                              <m:t>𝑇</m:t>
                            </m:r>
                          </m:e>
                        </m:mr>
                      </m:m>
                      <m:r>
                        <a:rPr lang="en-US" sz="1800" i="1">
                          <a:solidFill>
                            <a:schemeClr val="tx2"/>
                          </a:solidFill>
                          <a:latin typeface="Cambria Math" panose="02040503050406030204" pitchFamily="18" charset="0"/>
                        </a:rPr>
                        <m:t> </m:t>
                      </m:r>
                      <m:r>
                        <a:rPr lang="en-US" sz="1800" i="1">
                          <a:solidFill>
                            <a:schemeClr val="tx2"/>
                          </a:solidFill>
                          <a:latin typeface="Cambria Math" panose="02040503050406030204" pitchFamily="18" charset="0"/>
                        </a:rPr>
                        <m:t>𝐿𝐸𝑉</m:t>
                      </m:r>
                      <m:d>
                        <m:dPr>
                          <m:ctrlPr>
                            <a:rPr lang="en-US" sz="1800" i="1">
                              <a:solidFill>
                                <a:schemeClr val="tx2"/>
                              </a:solidFill>
                              <a:latin typeface="Cambria Math" panose="02040503050406030204" pitchFamily="18" charset="0"/>
                            </a:rPr>
                          </m:ctrlPr>
                        </m:dPr>
                        <m:e>
                          <m:r>
                            <a:rPr lang="en-US" sz="1800" i="1">
                              <a:solidFill>
                                <a:schemeClr val="tx2"/>
                              </a:solidFill>
                              <a:latin typeface="Cambria Math" panose="02040503050406030204" pitchFamily="18" charset="0"/>
                            </a:rPr>
                            <m:t>𝑇</m:t>
                          </m:r>
                        </m:e>
                      </m:d>
                      <m:r>
                        <a:rPr lang="en-US" sz="1800" i="1">
                          <a:solidFill>
                            <a:schemeClr val="tx2"/>
                          </a:solidFill>
                          <a:latin typeface="Cambria Math" panose="02040503050406030204" pitchFamily="18" charset="0"/>
                        </a:rPr>
                        <m:t>=</m:t>
                      </m:r>
                      <m:f>
                        <m:fPr>
                          <m:ctrlPr>
                            <a:rPr lang="en-US" sz="1800" i="1">
                              <a:solidFill>
                                <a:schemeClr val="tx2"/>
                              </a:solidFill>
                              <a:latin typeface="Cambria Math" panose="02040503050406030204" pitchFamily="18" charset="0"/>
                            </a:rPr>
                          </m:ctrlPr>
                        </m:fPr>
                        <m:num>
                          <m:r>
                            <a:rPr lang="en-US" sz="1800" i="1">
                              <a:solidFill>
                                <a:schemeClr val="tx2"/>
                              </a:solidFill>
                              <a:latin typeface="Cambria Math" panose="02040503050406030204" pitchFamily="18" charset="0"/>
                            </a:rPr>
                            <m:t>𝑉</m:t>
                          </m:r>
                          <m:d>
                            <m:dPr>
                              <m:ctrlPr>
                                <a:rPr lang="en-US" sz="1800" i="1">
                                  <a:solidFill>
                                    <a:schemeClr val="tx2"/>
                                  </a:solidFill>
                                  <a:latin typeface="Cambria Math" panose="02040503050406030204" pitchFamily="18" charset="0"/>
                                </a:rPr>
                              </m:ctrlPr>
                            </m:dPr>
                            <m:e>
                              <m:r>
                                <a:rPr lang="en-US" sz="1800" i="1">
                                  <a:solidFill>
                                    <a:schemeClr val="tx2"/>
                                  </a:solidFill>
                                  <a:latin typeface="Cambria Math" panose="02040503050406030204" pitchFamily="18" charset="0"/>
                                </a:rPr>
                                <m:t>𝑇</m:t>
                              </m:r>
                            </m:e>
                          </m:d>
                          <m:r>
                            <a:rPr lang="en-US" sz="1800" i="1">
                              <a:solidFill>
                                <a:schemeClr val="tx2"/>
                              </a:solidFill>
                              <a:latin typeface="Cambria Math" panose="02040503050406030204" pitchFamily="18" charset="0"/>
                            </a:rPr>
                            <m:t>−</m:t>
                          </m:r>
                          <m:r>
                            <a:rPr lang="en-US" sz="1800" i="1">
                              <a:solidFill>
                                <a:schemeClr val="tx2"/>
                              </a:solidFill>
                              <a:latin typeface="Cambria Math" panose="02040503050406030204" pitchFamily="18" charset="0"/>
                            </a:rPr>
                            <m:t>𝑐</m:t>
                          </m:r>
                          <m:r>
                            <a:rPr lang="en-US" sz="1800" b="0" i="1">
                              <a:solidFill>
                                <a:schemeClr val="tx2"/>
                              </a:solidFill>
                              <a:latin typeface="Cambria Math" panose="02040503050406030204" pitchFamily="18" charset="0"/>
                            </a:rPr>
                            <m:t>+</m:t>
                          </m:r>
                          <m:nary>
                            <m:naryPr>
                              <m:limLoc m:val="undOvr"/>
                              <m:ctrlPr>
                                <a:rPr lang="en-US" sz="1800" b="1" i="1">
                                  <a:solidFill>
                                    <a:schemeClr val="tx2"/>
                                  </a:solidFill>
                                  <a:latin typeface="Cambria Math" panose="02040503050406030204" pitchFamily="18" charset="0"/>
                                </a:rPr>
                              </m:ctrlPr>
                            </m:naryPr>
                            <m:sub>
                              <m:r>
                                <m:rPr>
                                  <m:brk m:alnAt="24"/>
                                </m:rPr>
                                <a:rPr lang="en-US" sz="1800" b="1" i="1">
                                  <a:solidFill>
                                    <a:schemeClr val="tx2"/>
                                  </a:solidFill>
                                  <a:latin typeface="Cambria Math" panose="02040503050406030204" pitchFamily="18" charset="0"/>
                                </a:rPr>
                                <m:t>𝟎</m:t>
                              </m:r>
                            </m:sub>
                            <m:sup>
                              <m:r>
                                <a:rPr lang="en-US" sz="1800" b="1" i="1">
                                  <a:solidFill>
                                    <a:schemeClr val="tx2"/>
                                  </a:solidFill>
                                  <a:latin typeface="Cambria Math" panose="02040503050406030204" pitchFamily="18" charset="0"/>
                                </a:rPr>
                                <m:t>𝑻</m:t>
                              </m:r>
                            </m:sup>
                            <m:e>
                              <m:r>
                                <a:rPr lang="en-US" sz="1800" b="1" i="1">
                                  <a:solidFill>
                                    <a:schemeClr val="tx2"/>
                                  </a:solidFill>
                                  <a:latin typeface="Cambria Math" panose="02040503050406030204" pitchFamily="18" charset="0"/>
                                </a:rPr>
                                <m:t>𝑨</m:t>
                              </m:r>
                              <m:d>
                                <m:dPr>
                                  <m:ctrlPr>
                                    <a:rPr lang="en-US" sz="1800" b="1" i="1">
                                      <a:solidFill>
                                        <a:schemeClr val="tx2"/>
                                      </a:solidFill>
                                      <a:latin typeface="Cambria Math" panose="02040503050406030204" pitchFamily="18" charset="0"/>
                                    </a:rPr>
                                  </m:ctrlPr>
                                </m:dPr>
                                <m:e>
                                  <m:r>
                                    <a:rPr lang="en-US" sz="1800" b="1" i="1">
                                      <a:solidFill>
                                        <a:schemeClr val="tx2"/>
                                      </a:solidFill>
                                      <a:latin typeface="Cambria Math" panose="02040503050406030204" pitchFamily="18" charset="0"/>
                                    </a:rPr>
                                    <m:t>𝒕</m:t>
                                  </m:r>
                                </m:e>
                              </m:d>
                              <m:sSup>
                                <m:sSupPr>
                                  <m:ctrlPr>
                                    <a:rPr lang="en-US" sz="1800" b="1" i="1">
                                      <a:solidFill>
                                        <a:schemeClr val="tx2"/>
                                      </a:solidFill>
                                      <a:latin typeface="Cambria Math" panose="02040503050406030204" pitchFamily="18" charset="0"/>
                                    </a:rPr>
                                  </m:ctrlPr>
                                </m:sSupPr>
                                <m:e>
                                  <m:r>
                                    <a:rPr lang="en-US" sz="1800" b="1" i="1">
                                      <a:solidFill>
                                        <a:schemeClr val="tx2"/>
                                      </a:solidFill>
                                      <a:latin typeface="Cambria Math" panose="02040503050406030204" pitchFamily="18" charset="0"/>
                                    </a:rPr>
                                    <m:t>𝒆</m:t>
                                  </m:r>
                                </m:e>
                                <m:sup>
                                  <m:r>
                                    <a:rPr lang="en-US" sz="1800" b="1" i="1">
                                      <a:solidFill>
                                        <a:schemeClr val="tx2"/>
                                      </a:solidFill>
                                      <a:latin typeface="Cambria Math" panose="02040503050406030204" pitchFamily="18" charset="0"/>
                                    </a:rPr>
                                    <m:t>−</m:t>
                                  </m:r>
                                  <m:r>
                                    <a:rPr lang="en-US" sz="1800" b="1" i="1">
                                      <a:solidFill>
                                        <a:schemeClr val="tx2"/>
                                      </a:solidFill>
                                      <a:latin typeface="Cambria Math" panose="02040503050406030204" pitchFamily="18" charset="0"/>
                                    </a:rPr>
                                    <m:t>𝒓𝒕</m:t>
                                  </m:r>
                                </m:sup>
                              </m:sSup>
                              <m:r>
                                <a:rPr lang="en-US" sz="1800" b="1" i="1">
                                  <a:solidFill>
                                    <a:schemeClr val="tx2"/>
                                  </a:solidFill>
                                  <a:latin typeface="Cambria Math" panose="02040503050406030204" pitchFamily="18" charset="0"/>
                                </a:rPr>
                                <m:t>𝒅𝒕</m:t>
                              </m:r>
                            </m:e>
                          </m:nary>
                        </m:num>
                        <m:den>
                          <m:sSup>
                            <m:sSupPr>
                              <m:ctrlPr>
                                <a:rPr lang="en-US" sz="1800" i="1">
                                  <a:solidFill>
                                    <a:schemeClr val="tx2"/>
                                  </a:solidFill>
                                  <a:latin typeface="Cambria Math" panose="02040503050406030204" pitchFamily="18" charset="0"/>
                                </a:rPr>
                              </m:ctrlPr>
                            </m:sSupPr>
                            <m:e>
                              <m:r>
                                <a:rPr lang="en-US" sz="1800" i="1">
                                  <a:solidFill>
                                    <a:schemeClr val="tx2"/>
                                  </a:solidFill>
                                  <a:latin typeface="Cambria Math" panose="02040503050406030204" pitchFamily="18" charset="0"/>
                                </a:rPr>
                                <m:t>𝑒</m:t>
                              </m:r>
                            </m:e>
                            <m:sup>
                              <m:r>
                                <a:rPr lang="en-US" sz="1800" i="1">
                                  <a:solidFill>
                                    <a:schemeClr val="tx2"/>
                                  </a:solidFill>
                                  <a:latin typeface="Cambria Math" panose="02040503050406030204" pitchFamily="18" charset="0"/>
                                </a:rPr>
                                <m:t>𝑟𝑇</m:t>
                              </m:r>
                            </m:sup>
                          </m:sSup>
                          <m:r>
                            <a:rPr lang="en-US" sz="1800" i="1">
                              <a:solidFill>
                                <a:schemeClr val="tx2"/>
                              </a:solidFill>
                              <a:latin typeface="Cambria Math" panose="02040503050406030204" pitchFamily="18" charset="0"/>
                            </a:rPr>
                            <m:t>−1</m:t>
                          </m:r>
                        </m:den>
                      </m:f>
                    </m:oMath>
                  </m:oMathPara>
                </a14:m>
                <a:endParaRPr lang="en-US" sz="1800">
                  <a:solidFill>
                    <a:schemeClr val="tx2"/>
                  </a:solidFill>
                </a:endParaRPr>
              </a:p>
              <a:p>
                <a:pPr marL="0" indent="0">
                  <a:buNone/>
                </a:pPr>
                <a:endParaRPr lang="en-US" sz="1800">
                  <a:solidFill>
                    <a:schemeClr val="tx2"/>
                  </a:solidFill>
                </a:endParaRPr>
              </a:p>
              <a:p>
                <a:pPr marL="0" indent="0">
                  <a:buNone/>
                </a:pPr>
                <a:r>
                  <a:rPr lang="en-US" sz="1800">
                    <a:solidFill>
                      <a:schemeClr val="tx2"/>
                    </a:solidFill>
                  </a:rPr>
                  <a:t>Basically: adds value to longer rotations – gaining amenity services while the forest stands</a:t>
                </a:r>
              </a:p>
            </p:txBody>
          </p:sp>
        </mc:Choice>
        <mc:Fallback xmlns="">
          <p:sp>
            <p:nvSpPr>
              <p:cNvPr id="3" name="Content Placeholder 2">
                <a:extLst>
                  <a:ext uri="{FF2B5EF4-FFF2-40B4-BE49-F238E27FC236}">
                    <a16:creationId xmlns:a16="http://schemas.microsoft.com/office/drawing/2014/main" id="{F46B26B1-4644-5C6D-40C9-CAE7EF1DC226}"/>
                  </a:ext>
                </a:extLst>
              </p:cNvPr>
              <p:cNvSpPr>
                <a:spLocks noGrp="1" noRot="1" noChangeAspect="1" noMove="1" noResize="1" noEditPoints="1" noAdjustHandles="1" noChangeArrowheads="1" noChangeShapeType="1" noTextEdit="1"/>
              </p:cNvSpPr>
              <p:nvPr>
                <p:ph idx="1"/>
              </p:nvPr>
            </p:nvSpPr>
            <p:spPr>
              <a:xfrm>
                <a:off x="804672" y="2421683"/>
                <a:ext cx="4765949" cy="3353476"/>
              </a:xfrm>
              <a:blipFill>
                <a:blip r:embed="rId2"/>
                <a:stretch>
                  <a:fillRect l="-1064" t="-1509"/>
                </a:stretch>
              </a:blipFill>
            </p:spPr>
            <p:txBody>
              <a:bodyPr/>
              <a:lstStyle/>
              <a:p>
                <a:r>
                  <a:rPr lang="en-US">
                    <a:noFill/>
                  </a:rPr>
                  <a:t> </a:t>
                </a:r>
              </a:p>
            </p:txBody>
          </p:sp>
        </mc:Fallback>
      </mc:AlternateContent>
      <p:graphicFrame>
        <p:nvGraphicFramePr>
          <p:cNvPr id="5" name="Table 4">
            <a:extLst>
              <a:ext uri="{FF2B5EF4-FFF2-40B4-BE49-F238E27FC236}">
                <a16:creationId xmlns:a16="http://schemas.microsoft.com/office/drawing/2014/main" id="{670D871E-0F09-BDB9-3982-5C9C767A12CD}"/>
              </a:ext>
            </a:extLst>
          </p:cNvPr>
          <p:cNvGraphicFramePr>
            <a:graphicFrameLocks noGrp="1"/>
          </p:cNvGraphicFramePr>
          <p:nvPr/>
        </p:nvGraphicFramePr>
        <p:xfrm>
          <a:off x="7105650" y="2075715"/>
          <a:ext cx="4744976" cy="3630115"/>
        </p:xfrm>
        <a:graphic>
          <a:graphicData uri="http://schemas.openxmlformats.org/drawingml/2006/table">
            <a:tbl>
              <a:tblPr/>
              <a:tblGrid>
                <a:gridCol w="1585461">
                  <a:extLst>
                    <a:ext uri="{9D8B030D-6E8A-4147-A177-3AD203B41FA5}">
                      <a16:colId xmlns:a16="http://schemas.microsoft.com/office/drawing/2014/main" val="431854112"/>
                    </a:ext>
                  </a:extLst>
                </a:gridCol>
                <a:gridCol w="1745164">
                  <a:extLst>
                    <a:ext uri="{9D8B030D-6E8A-4147-A177-3AD203B41FA5}">
                      <a16:colId xmlns:a16="http://schemas.microsoft.com/office/drawing/2014/main" val="879348937"/>
                    </a:ext>
                  </a:extLst>
                </a:gridCol>
                <a:gridCol w="1414351">
                  <a:extLst>
                    <a:ext uri="{9D8B030D-6E8A-4147-A177-3AD203B41FA5}">
                      <a16:colId xmlns:a16="http://schemas.microsoft.com/office/drawing/2014/main" val="2132404881"/>
                    </a:ext>
                  </a:extLst>
                </a:gridCol>
              </a:tblGrid>
              <a:tr h="400985">
                <a:tc>
                  <a:txBody>
                    <a:bodyPr/>
                    <a:lstStyle/>
                    <a:p>
                      <a:r>
                        <a:rPr lang="en-US" sz="1800" b="1" dirty="0"/>
                        <a:t>Feature</a:t>
                      </a:r>
                    </a:p>
                  </a:txBody>
                  <a:tcPr marL="91880" marR="91880" marT="45940" marB="459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800" b="1" dirty="0"/>
                        <a:t>Faustmann</a:t>
                      </a:r>
                    </a:p>
                  </a:txBody>
                  <a:tcPr marL="91880" marR="91880" marT="45940" marB="459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800" b="1"/>
                        <a:t>Hartman</a:t>
                      </a:r>
                    </a:p>
                  </a:txBody>
                  <a:tcPr marL="91880" marR="91880" marT="45940" marB="459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00367506"/>
                  </a:ext>
                </a:extLst>
              </a:tr>
              <a:tr h="942715">
                <a:tc>
                  <a:txBody>
                    <a:bodyPr/>
                    <a:lstStyle/>
                    <a:p>
                      <a:r>
                        <a:rPr lang="en-US" sz="1800" dirty="0"/>
                        <a:t>Maximizes</a:t>
                      </a:r>
                    </a:p>
                  </a:txBody>
                  <a:tcPr marL="91880" marR="91880" marT="45940" marB="459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800" dirty="0"/>
                        <a:t>Timber value</a:t>
                      </a:r>
                    </a:p>
                  </a:txBody>
                  <a:tcPr marL="91880" marR="91880" marT="45940" marB="459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800"/>
                        <a:t>Timber + amenity value</a:t>
                      </a:r>
                    </a:p>
                  </a:txBody>
                  <a:tcPr marL="91880" marR="91880" marT="45940" marB="459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71715516"/>
                  </a:ext>
                </a:extLst>
              </a:tr>
              <a:tr h="671850">
                <a:tc>
                  <a:txBody>
                    <a:bodyPr/>
                    <a:lstStyle/>
                    <a:p>
                      <a:r>
                        <a:rPr lang="en-US" sz="1800"/>
                        <a:t>Rotation age</a:t>
                      </a:r>
                    </a:p>
                  </a:txBody>
                  <a:tcPr marL="91880" marR="91880" marT="45940" marB="459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800" dirty="0"/>
                        <a:t>Usually shorter</a:t>
                      </a:r>
                    </a:p>
                  </a:txBody>
                  <a:tcPr marL="91880" marR="91880" marT="45940" marB="459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800" dirty="0"/>
                        <a:t>Often longer</a:t>
                      </a:r>
                    </a:p>
                  </a:txBody>
                  <a:tcPr marL="91880" marR="91880" marT="45940" marB="459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391397617"/>
                  </a:ext>
                </a:extLst>
              </a:tr>
              <a:tr h="671850">
                <a:tc>
                  <a:txBody>
                    <a:bodyPr/>
                    <a:lstStyle/>
                    <a:p>
                      <a:r>
                        <a:rPr lang="en-US" sz="1800"/>
                        <a:t>Ecological services</a:t>
                      </a:r>
                    </a:p>
                  </a:txBody>
                  <a:tcPr marL="91880" marR="91880" marT="45940" marB="459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800" dirty="0"/>
                        <a:t>Ignored</a:t>
                      </a:r>
                    </a:p>
                  </a:txBody>
                  <a:tcPr marL="91880" marR="91880" marT="45940" marB="459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800"/>
                        <a:t>Included explicitly</a:t>
                      </a:r>
                    </a:p>
                  </a:txBody>
                  <a:tcPr marL="91880" marR="91880" marT="45940" marB="459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60628622"/>
                  </a:ext>
                </a:extLst>
              </a:tr>
              <a:tr h="942715">
                <a:tc>
                  <a:txBody>
                    <a:bodyPr/>
                    <a:lstStyle/>
                    <a:p>
                      <a:r>
                        <a:rPr lang="en-US" sz="1800"/>
                        <a:t>Relevant to</a:t>
                      </a:r>
                    </a:p>
                  </a:txBody>
                  <a:tcPr marL="91880" marR="91880" marT="45940" marB="459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800" dirty="0"/>
                        <a:t>Industrial timberland</a:t>
                      </a:r>
                    </a:p>
                  </a:txBody>
                  <a:tcPr marL="91880" marR="91880" marT="45940" marB="459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800" dirty="0"/>
                        <a:t>Multi-use or public forests</a:t>
                      </a:r>
                    </a:p>
                  </a:txBody>
                  <a:tcPr marL="91880" marR="91880" marT="45940" marB="459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365271754"/>
                  </a:ext>
                </a:extLst>
              </a:tr>
            </a:tbl>
          </a:graphicData>
        </a:graphic>
      </p:graphicFrame>
    </p:spTree>
    <p:extLst>
      <p:ext uri="{BB962C8B-B14F-4D97-AF65-F5344CB8AC3E}">
        <p14:creationId xmlns:p14="http://schemas.microsoft.com/office/powerpoint/2010/main" val="3530461120"/>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50FCC7-214B-59D9-948B-08C7405E244B}"/>
              </a:ext>
            </a:extLst>
          </p:cNvPr>
          <p:cNvSpPr>
            <a:spLocks noGrp="1"/>
          </p:cNvSpPr>
          <p:nvPr>
            <p:ph type="title"/>
          </p:nvPr>
        </p:nvSpPr>
        <p:spPr/>
        <p:txBody>
          <a:bodyPr/>
          <a:lstStyle/>
          <a:p>
            <a:r>
              <a:rPr lang="en-US" dirty="0"/>
              <a:t>Richard Hartman</a:t>
            </a:r>
          </a:p>
        </p:txBody>
      </p:sp>
      <p:sp>
        <p:nvSpPr>
          <p:cNvPr id="3" name="Content Placeholder 2">
            <a:extLst>
              <a:ext uri="{FF2B5EF4-FFF2-40B4-BE49-F238E27FC236}">
                <a16:creationId xmlns:a16="http://schemas.microsoft.com/office/drawing/2014/main" id="{F5B44119-3F09-06A7-5006-4C96268D01CD}"/>
              </a:ext>
            </a:extLst>
          </p:cNvPr>
          <p:cNvSpPr>
            <a:spLocks noGrp="1"/>
          </p:cNvSpPr>
          <p:nvPr>
            <p:ph idx="1"/>
          </p:nvPr>
        </p:nvSpPr>
        <p:spPr>
          <a:xfrm>
            <a:off x="294143" y="2717621"/>
            <a:ext cx="3734333" cy="3459341"/>
          </a:xfrm>
        </p:spPr>
        <p:txBody>
          <a:bodyPr/>
          <a:lstStyle/>
          <a:p>
            <a:r>
              <a:rPr lang="en-US" dirty="0"/>
              <a:t>Genuinely.. Tough to find more info on him</a:t>
            </a:r>
          </a:p>
          <a:p>
            <a:endParaRPr lang="en-US" dirty="0"/>
          </a:p>
          <a:p>
            <a:r>
              <a:rPr lang="en-US" dirty="0"/>
              <a:t>Forestry paper cited 1000+ times</a:t>
            </a:r>
          </a:p>
        </p:txBody>
      </p:sp>
      <p:pic>
        <p:nvPicPr>
          <p:cNvPr id="4" name="Picture 3">
            <a:extLst>
              <a:ext uri="{FF2B5EF4-FFF2-40B4-BE49-F238E27FC236}">
                <a16:creationId xmlns:a16="http://schemas.microsoft.com/office/drawing/2014/main" id="{DE016F5F-1B63-952E-A72F-0935E826C446}"/>
              </a:ext>
            </a:extLst>
          </p:cNvPr>
          <p:cNvPicPr>
            <a:picLocks noChangeAspect="1"/>
          </p:cNvPicPr>
          <p:nvPr/>
        </p:nvPicPr>
        <p:blipFill>
          <a:blip r:embed="rId2"/>
          <a:stretch>
            <a:fillRect/>
          </a:stretch>
        </p:blipFill>
        <p:spPr>
          <a:xfrm>
            <a:off x="4222306" y="1780376"/>
            <a:ext cx="7772400" cy="4307719"/>
          </a:xfrm>
          <a:prstGeom prst="rect">
            <a:avLst/>
          </a:prstGeom>
        </p:spPr>
      </p:pic>
    </p:spTree>
    <p:extLst>
      <p:ext uri="{BB962C8B-B14F-4D97-AF65-F5344CB8AC3E}">
        <p14:creationId xmlns:p14="http://schemas.microsoft.com/office/powerpoint/2010/main" val="671365220"/>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5D304D-1FFA-D742-BDC5-9D56C6621F03}"/>
              </a:ext>
            </a:extLst>
          </p:cNvPr>
          <p:cNvSpPr>
            <a:spLocks noGrp="1"/>
          </p:cNvSpPr>
          <p:nvPr>
            <p:ph type="title"/>
          </p:nvPr>
        </p:nvSpPr>
        <p:spPr/>
        <p:txBody>
          <a:bodyPr/>
          <a:lstStyle/>
          <a:p>
            <a:r>
              <a:rPr lang="en-US" dirty="0"/>
              <a:t>Faustmann in Practice [IV]</a:t>
            </a:r>
          </a:p>
        </p:txBody>
      </p:sp>
      <p:graphicFrame>
        <p:nvGraphicFramePr>
          <p:cNvPr id="5" name="Content Placeholder 2">
            <a:extLst>
              <a:ext uri="{FF2B5EF4-FFF2-40B4-BE49-F238E27FC236}">
                <a16:creationId xmlns:a16="http://schemas.microsoft.com/office/drawing/2014/main" id="{DB4D7906-0DE9-7BD6-413D-367A9E7E2971}"/>
              </a:ext>
            </a:extLst>
          </p:cNvPr>
          <p:cNvGraphicFramePr>
            <a:graphicFrameLocks noGrp="1"/>
          </p:cNvGraphicFramePr>
          <p:nvPr>
            <p:ph idx="1"/>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93720717"/>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93DA0C-A99E-BD65-5417-4E0592BBB3B3}"/>
              </a:ext>
            </a:extLst>
          </p:cNvPr>
          <p:cNvSpPr>
            <a:spLocks noGrp="1"/>
          </p:cNvSpPr>
          <p:nvPr>
            <p:ph type="title"/>
          </p:nvPr>
        </p:nvSpPr>
        <p:spPr/>
        <p:txBody>
          <a:bodyPr/>
          <a:lstStyle/>
          <a:p>
            <a:r>
              <a:rPr lang="en-US" dirty="0"/>
              <a:t>Relationship to Hotelling</a:t>
            </a:r>
          </a:p>
        </p:txBody>
      </p:sp>
      <p:sp>
        <p:nvSpPr>
          <p:cNvPr id="3" name="Content Placeholder 2">
            <a:extLst>
              <a:ext uri="{FF2B5EF4-FFF2-40B4-BE49-F238E27FC236}">
                <a16:creationId xmlns:a16="http://schemas.microsoft.com/office/drawing/2014/main" id="{769A5B00-9CC6-2767-82AF-C586B46F526C}"/>
              </a:ext>
            </a:extLst>
          </p:cNvPr>
          <p:cNvSpPr>
            <a:spLocks noGrp="1"/>
          </p:cNvSpPr>
          <p:nvPr>
            <p:ph idx="1"/>
          </p:nvPr>
        </p:nvSpPr>
        <p:spPr>
          <a:xfrm>
            <a:off x="838200" y="2857499"/>
            <a:ext cx="10515600" cy="3319463"/>
          </a:xfrm>
        </p:spPr>
        <p:txBody>
          <a:bodyPr/>
          <a:lstStyle/>
          <a:p>
            <a:r>
              <a:rPr lang="en-US" dirty="0"/>
              <a:t>Hotelling -&gt; once you’ve extracted, there is no going back</a:t>
            </a:r>
          </a:p>
          <a:p>
            <a:pPr lvl="1"/>
            <a:r>
              <a:rPr lang="en-US" dirty="0"/>
              <a:t>Market structure makes for an interesting comparison</a:t>
            </a:r>
          </a:p>
          <a:p>
            <a:pPr lvl="1"/>
            <a:endParaRPr lang="en-US" dirty="0"/>
          </a:p>
          <a:p>
            <a:r>
              <a:rPr lang="en-US" dirty="0"/>
              <a:t>Faustmann -&gt; restarts the cycle</a:t>
            </a:r>
          </a:p>
          <a:p>
            <a:pPr lvl="1"/>
            <a:r>
              <a:rPr lang="en-US" dirty="0"/>
              <a:t>Thus, land value and replacement cost must be accounted for</a:t>
            </a:r>
          </a:p>
          <a:p>
            <a:endParaRPr lang="en-US" dirty="0"/>
          </a:p>
        </p:txBody>
      </p:sp>
    </p:spTree>
    <p:extLst>
      <p:ext uri="{BB962C8B-B14F-4D97-AF65-F5344CB8AC3E}">
        <p14:creationId xmlns:p14="http://schemas.microsoft.com/office/powerpoint/2010/main" val="3531349341"/>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115757-B70D-90CB-5AFD-F0D4C8607902}"/>
              </a:ext>
            </a:extLst>
          </p:cNvPr>
          <p:cNvSpPr>
            <a:spLocks noGrp="1"/>
          </p:cNvSpPr>
          <p:nvPr>
            <p:ph type="title"/>
          </p:nvPr>
        </p:nvSpPr>
        <p:spPr>
          <a:xfrm>
            <a:off x="352572" y="2967648"/>
            <a:ext cx="11624310" cy="1325563"/>
          </a:xfrm>
        </p:spPr>
        <p:txBody>
          <a:bodyPr/>
          <a:lstStyle/>
          <a:p>
            <a:pPr algn="ctr"/>
            <a:r>
              <a:rPr lang="en-US" dirty="0"/>
              <a:t>Do we see any problems with Faustmann?</a:t>
            </a:r>
          </a:p>
        </p:txBody>
      </p:sp>
    </p:spTree>
    <p:extLst>
      <p:ext uri="{BB962C8B-B14F-4D97-AF65-F5344CB8AC3E}">
        <p14:creationId xmlns:p14="http://schemas.microsoft.com/office/powerpoint/2010/main" val="4255933419"/>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531F62-3EAC-7671-25E6-56C15D063759}"/>
              </a:ext>
            </a:extLst>
          </p:cNvPr>
          <p:cNvSpPr>
            <a:spLocks noGrp="1"/>
          </p:cNvSpPr>
          <p:nvPr>
            <p:ph type="title"/>
          </p:nvPr>
        </p:nvSpPr>
        <p:spPr/>
        <p:txBody>
          <a:bodyPr/>
          <a:lstStyle/>
          <a:p>
            <a:r>
              <a:rPr lang="en-US" dirty="0"/>
              <a:t>Pros/cons of Faustmann</a:t>
            </a:r>
          </a:p>
        </p:txBody>
      </p:sp>
      <p:pic>
        <p:nvPicPr>
          <p:cNvPr id="1026" name="Picture 2" descr="The Debate Over the Clearcutting Method">
            <a:extLst>
              <a:ext uri="{FF2B5EF4-FFF2-40B4-BE49-F238E27FC236}">
                <a16:creationId xmlns:a16="http://schemas.microsoft.com/office/drawing/2014/main" id="{ACE2F7FE-6342-4F10-656B-74597720B908}"/>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5429012" y="1815545"/>
            <a:ext cx="6540087" cy="4351338"/>
          </a:xfrm>
          <a:prstGeom prst="rect">
            <a:avLst/>
          </a:prstGeom>
          <a:noFill/>
          <a:extLst>
            <a:ext uri="{909E8E84-426E-40DD-AFC4-6F175D3DCCD1}">
              <a14:hiddenFill xmlns:a14="http://schemas.microsoft.com/office/drawing/2010/main">
                <a:solidFill>
                  <a:srgbClr val="FFFFFF"/>
                </a:solidFill>
              </a14:hiddenFill>
            </a:ext>
          </a:extLst>
        </p:spPr>
      </p:pic>
      <p:sp>
        <p:nvSpPr>
          <p:cNvPr id="4" name="Content Placeholder 2">
            <a:extLst>
              <a:ext uri="{FF2B5EF4-FFF2-40B4-BE49-F238E27FC236}">
                <a16:creationId xmlns:a16="http://schemas.microsoft.com/office/drawing/2014/main" id="{79D668AE-0637-FB1F-4D62-16A7BDFD1774}"/>
              </a:ext>
            </a:extLst>
          </p:cNvPr>
          <p:cNvSpPr txBox="1">
            <a:spLocks/>
          </p:cNvSpPr>
          <p:nvPr/>
        </p:nvSpPr>
        <p:spPr>
          <a:xfrm>
            <a:off x="269098" y="1521069"/>
            <a:ext cx="5038259" cy="487973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Pros:</a:t>
            </a:r>
          </a:p>
          <a:p>
            <a:pPr lvl="1"/>
            <a:r>
              <a:rPr lang="en-US" dirty="0"/>
              <a:t>Easy/intuitive</a:t>
            </a:r>
          </a:p>
          <a:p>
            <a:pPr lvl="1"/>
            <a:r>
              <a:rPr lang="en-US" dirty="0"/>
              <a:t>Focus on PV</a:t>
            </a:r>
          </a:p>
          <a:p>
            <a:pPr lvl="1"/>
            <a:r>
              <a:rPr lang="en-US" dirty="0"/>
              <a:t>Easily-expandable</a:t>
            </a:r>
          </a:p>
          <a:p>
            <a:pPr lvl="1"/>
            <a:endParaRPr lang="en-US" dirty="0"/>
          </a:p>
          <a:p>
            <a:r>
              <a:rPr lang="en-US" dirty="0"/>
              <a:t>Cons:</a:t>
            </a:r>
          </a:p>
          <a:p>
            <a:pPr lvl="1"/>
            <a:r>
              <a:rPr lang="en-US" dirty="0"/>
              <a:t>Even-aged, clear-cutting</a:t>
            </a:r>
          </a:p>
          <a:p>
            <a:pPr lvl="1"/>
            <a:r>
              <a:rPr lang="en-US" dirty="0"/>
              <a:t>Ignores ecological services</a:t>
            </a:r>
          </a:p>
          <a:p>
            <a:pPr lvl="1"/>
            <a:r>
              <a:rPr lang="en-US" dirty="0"/>
              <a:t>Perfect foresight</a:t>
            </a:r>
          </a:p>
          <a:p>
            <a:pPr lvl="1"/>
            <a:r>
              <a:rPr lang="en-US" dirty="0"/>
              <a:t>Super simple</a:t>
            </a:r>
          </a:p>
          <a:p>
            <a:pPr lvl="1"/>
            <a:endParaRPr lang="en-US" dirty="0"/>
          </a:p>
          <a:p>
            <a:endParaRPr lang="en-US" dirty="0"/>
          </a:p>
        </p:txBody>
      </p:sp>
    </p:spTree>
    <p:extLst>
      <p:ext uri="{BB962C8B-B14F-4D97-AF65-F5344CB8AC3E}">
        <p14:creationId xmlns:p14="http://schemas.microsoft.com/office/powerpoint/2010/main" val="2485607064"/>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EF7F56-D079-C1DE-149F-E40A453E4384}"/>
              </a:ext>
            </a:extLst>
          </p:cNvPr>
          <p:cNvSpPr>
            <a:spLocks noGrp="1"/>
          </p:cNvSpPr>
          <p:nvPr>
            <p:ph type="title"/>
          </p:nvPr>
        </p:nvSpPr>
        <p:spPr>
          <a:xfrm>
            <a:off x="0" y="0"/>
            <a:ext cx="10515600" cy="1325563"/>
          </a:xfrm>
        </p:spPr>
        <p:txBody>
          <a:bodyPr/>
          <a:lstStyle/>
          <a:p>
            <a:r>
              <a:rPr lang="en-US" dirty="0"/>
              <a:t>Enter a new challenger – Managed forests</a:t>
            </a:r>
          </a:p>
        </p:txBody>
      </p:sp>
      <p:sp>
        <p:nvSpPr>
          <p:cNvPr id="3" name="Content Placeholder 2">
            <a:extLst>
              <a:ext uri="{FF2B5EF4-FFF2-40B4-BE49-F238E27FC236}">
                <a16:creationId xmlns:a16="http://schemas.microsoft.com/office/drawing/2014/main" id="{43EDB931-BB54-62AA-D55D-E8B5950C8364}"/>
              </a:ext>
            </a:extLst>
          </p:cNvPr>
          <p:cNvSpPr>
            <a:spLocks noGrp="1"/>
          </p:cNvSpPr>
          <p:nvPr>
            <p:ph idx="1"/>
          </p:nvPr>
        </p:nvSpPr>
        <p:spPr>
          <a:xfrm>
            <a:off x="838200" y="2232025"/>
            <a:ext cx="10515600" cy="4351338"/>
          </a:xfrm>
        </p:spPr>
        <p:txBody>
          <a:bodyPr/>
          <a:lstStyle/>
          <a:p>
            <a:r>
              <a:rPr lang="en-US" dirty="0"/>
              <a:t>It doesn’t always make sense to just clear-cut a forest</a:t>
            </a:r>
          </a:p>
          <a:p>
            <a:endParaRPr lang="en-US" dirty="0"/>
          </a:p>
          <a:p>
            <a:r>
              <a:rPr lang="en-US" dirty="0"/>
              <a:t>Similar to fisheries – we can harvest some trees when the time is right but wait for others to mature and become more valuable</a:t>
            </a:r>
          </a:p>
          <a:p>
            <a:endParaRPr lang="en-US" dirty="0"/>
          </a:p>
          <a:p>
            <a:r>
              <a:rPr lang="en-US" dirty="0"/>
              <a:t>Thus, need to introduce the idea that we want to optimize via choosing a quantity to harvest, not a harvest period</a:t>
            </a:r>
          </a:p>
        </p:txBody>
      </p:sp>
    </p:spTree>
    <p:extLst>
      <p:ext uri="{BB962C8B-B14F-4D97-AF65-F5344CB8AC3E}">
        <p14:creationId xmlns:p14="http://schemas.microsoft.com/office/powerpoint/2010/main" val="91192991"/>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4F5105-B2BF-11DC-5DC0-127332CD4896}"/>
              </a:ext>
            </a:extLst>
          </p:cNvPr>
          <p:cNvSpPr>
            <a:spLocks noGrp="1"/>
          </p:cNvSpPr>
          <p:nvPr>
            <p:ph type="title"/>
          </p:nvPr>
        </p:nvSpPr>
        <p:spPr/>
        <p:txBody>
          <a:bodyPr/>
          <a:lstStyle/>
          <a:p>
            <a:r>
              <a:rPr lang="en-US" dirty="0"/>
              <a:t>Subtle difference</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AAB9ECEC-FEA9-95C8-878A-0D6863542F04}"/>
                  </a:ext>
                </a:extLst>
              </p:cNvPr>
              <p:cNvSpPr>
                <a:spLocks noGrp="1"/>
              </p:cNvSpPr>
              <p:nvPr>
                <p:ph idx="1"/>
              </p:nvPr>
            </p:nvSpPr>
            <p:spPr/>
            <p:txBody>
              <a:bodyPr/>
              <a:lstStyle/>
              <a:p>
                <a:pPr marL="0" indent="0">
                  <a:buNone/>
                </a:pPr>
                <a:r>
                  <a:rPr lang="en-US" dirty="0"/>
                  <a:t>In our previous model:</a:t>
                </a:r>
              </a:p>
              <a:p>
                <a:pPr marL="0" indent="0">
                  <a:buNone/>
                </a:pPr>
                <a14:m>
                  <m:oMathPara xmlns:m="http://schemas.openxmlformats.org/officeDocument/2006/math">
                    <m:oMathParaPr>
                      <m:jc m:val="centerGroup"/>
                    </m:oMathParaPr>
                    <m:oMath xmlns:m="http://schemas.openxmlformats.org/officeDocument/2006/math">
                      <m:m>
                        <m:mPr>
                          <m:mcs>
                            <m:mc>
                              <m:mcPr>
                                <m:count m:val="1"/>
                                <m:mcJc m:val="center"/>
                              </m:mcPr>
                            </m:mc>
                          </m:mcs>
                          <m:ctrlPr>
                            <a:rPr lang="en-US" b="0" i="1" smtClean="0">
                              <a:latin typeface="Cambria Math" panose="02040503050406030204" pitchFamily="18" charset="0"/>
                            </a:rPr>
                          </m:ctrlPr>
                        </m:mPr>
                        <m:mr>
                          <m:e>
                            <m:r>
                              <m:rPr>
                                <m:brk m:alnAt="7"/>
                              </m:rPr>
                              <a:rPr lang="en-US" b="0" i="1" smtClean="0">
                                <a:latin typeface="Cambria Math" panose="02040503050406030204" pitchFamily="18" charset="0"/>
                              </a:rPr>
                              <m:t>𝑀</m:t>
                            </m:r>
                            <m:r>
                              <a:rPr lang="en-US" b="0" i="1" smtClean="0">
                                <a:latin typeface="Cambria Math" panose="02040503050406030204" pitchFamily="18" charset="0"/>
                              </a:rPr>
                              <m:t>𝑎𝑥</m:t>
                            </m:r>
                          </m:e>
                        </m:mr>
                        <m:mr>
                          <m:e>
                            <m:r>
                              <a:rPr lang="en-US" b="1" i="1" smtClean="0">
                                <a:highlight>
                                  <a:srgbClr val="FFFF00"/>
                                </a:highlight>
                                <a:latin typeface="Cambria Math" panose="02040503050406030204" pitchFamily="18" charset="0"/>
                              </a:rPr>
                              <m:t>𝑻</m:t>
                            </m:r>
                          </m:e>
                        </m:mr>
                      </m:m>
                      <m:r>
                        <a:rPr lang="en-US" b="0" i="1" smtClean="0">
                          <a:latin typeface="Cambria Math" panose="02040503050406030204" pitchFamily="18" charset="0"/>
                        </a:rPr>
                        <m:t> </m:t>
                      </m:r>
                      <m:r>
                        <a:rPr lang="en-US" b="0" i="1" smtClean="0">
                          <a:latin typeface="Cambria Math" panose="02040503050406030204" pitchFamily="18" charset="0"/>
                        </a:rPr>
                        <m:t>𝐿𝐸𝑉</m:t>
                      </m:r>
                      <m:d>
                        <m:dPr>
                          <m:ctrlPr>
                            <a:rPr lang="en-US" b="0" i="1" smtClean="0">
                              <a:latin typeface="Cambria Math" panose="02040503050406030204" pitchFamily="18" charset="0"/>
                            </a:rPr>
                          </m:ctrlPr>
                        </m:dPr>
                        <m:e>
                          <m:r>
                            <a:rPr lang="en-US" b="0" i="1" smtClean="0">
                              <a:latin typeface="Cambria Math" panose="02040503050406030204" pitchFamily="18" charset="0"/>
                            </a:rPr>
                            <m:t>𝑇</m:t>
                          </m:r>
                        </m:e>
                      </m:d>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𝑉</m:t>
                          </m:r>
                          <m:d>
                            <m:dPr>
                              <m:ctrlPr>
                                <a:rPr lang="en-US" b="0" i="1" smtClean="0">
                                  <a:latin typeface="Cambria Math" panose="02040503050406030204" pitchFamily="18" charset="0"/>
                                </a:rPr>
                              </m:ctrlPr>
                            </m:dPr>
                            <m:e>
                              <m:r>
                                <a:rPr lang="en-US" b="0" i="1" smtClean="0">
                                  <a:latin typeface="Cambria Math" panose="02040503050406030204" pitchFamily="18" charset="0"/>
                                </a:rPr>
                                <m:t>𝑇</m:t>
                              </m:r>
                            </m:e>
                          </m:d>
                          <m:r>
                            <a:rPr lang="en-US" b="0" i="1" smtClean="0">
                              <a:latin typeface="Cambria Math" panose="02040503050406030204" pitchFamily="18" charset="0"/>
                            </a:rPr>
                            <m:t>−</m:t>
                          </m:r>
                          <m:r>
                            <a:rPr lang="en-US" b="0" i="1" smtClean="0">
                              <a:latin typeface="Cambria Math" panose="02040503050406030204" pitchFamily="18" charset="0"/>
                            </a:rPr>
                            <m:t>𝑐</m:t>
                          </m:r>
                        </m:num>
                        <m:den>
                          <m:sSup>
                            <m:sSupPr>
                              <m:ctrlPr>
                                <a:rPr lang="en-US" b="0" i="1" smtClean="0">
                                  <a:latin typeface="Cambria Math" panose="02040503050406030204" pitchFamily="18" charset="0"/>
                                </a:rPr>
                              </m:ctrlPr>
                            </m:sSupPr>
                            <m:e>
                              <m:r>
                                <a:rPr lang="en-US" b="0" i="1" smtClean="0">
                                  <a:latin typeface="Cambria Math" panose="02040503050406030204" pitchFamily="18" charset="0"/>
                                </a:rPr>
                                <m:t>𝑒</m:t>
                              </m:r>
                            </m:e>
                            <m:sup>
                              <m:r>
                                <a:rPr lang="en-US" b="0" i="1" smtClean="0">
                                  <a:latin typeface="Cambria Math" panose="02040503050406030204" pitchFamily="18" charset="0"/>
                                </a:rPr>
                                <m:t>𝑟𝑇</m:t>
                              </m:r>
                            </m:sup>
                          </m:sSup>
                          <m:r>
                            <a:rPr lang="en-US" b="0" i="1" smtClean="0">
                              <a:latin typeface="Cambria Math" panose="02040503050406030204" pitchFamily="18" charset="0"/>
                            </a:rPr>
                            <m:t>−1</m:t>
                          </m:r>
                        </m:den>
                      </m:f>
                    </m:oMath>
                  </m:oMathPara>
                </a14:m>
                <a:endParaRPr lang="en-US" dirty="0"/>
              </a:p>
              <a:p>
                <a:pPr marL="0" indent="0">
                  <a:buNone/>
                </a:pPr>
                <a:endParaRPr lang="en-US" dirty="0"/>
              </a:p>
              <a:p>
                <a:pPr marL="0" indent="0">
                  <a:buNone/>
                </a:pPr>
                <a:r>
                  <a:rPr lang="en-US" dirty="0"/>
                  <a:t>Now:</a:t>
                </a:r>
              </a:p>
              <a:p>
                <a:pPr marL="0" indent="0">
                  <a:buNone/>
                </a:pPr>
                <a14:m>
                  <m:oMathPara xmlns:m="http://schemas.openxmlformats.org/officeDocument/2006/math">
                    <m:oMathParaPr>
                      <m:jc m:val="centerGroup"/>
                    </m:oMathParaPr>
                    <m:oMath xmlns:m="http://schemas.openxmlformats.org/officeDocument/2006/math">
                      <m:m>
                        <m:mPr>
                          <m:mcs>
                            <m:mc>
                              <m:mcPr>
                                <m:count m:val="1"/>
                                <m:mcJc m:val="center"/>
                              </m:mcPr>
                            </m:mc>
                          </m:mcs>
                          <m:ctrlPr>
                            <a:rPr lang="en-US" i="1" smtClean="0">
                              <a:latin typeface="Cambria Math" panose="02040503050406030204" pitchFamily="18" charset="0"/>
                            </a:rPr>
                          </m:ctrlPr>
                        </m:mPr>
                        <m:mr>
                          <m:e>
                            <m:r>
                              <m:rPr>
                                <m:brk m:alnAt="7"/>
                              </m:rPr>
                              <a:rPr lang="en-US" b="0" i="1" smtClean="0">
                                <a:latin typeface="Cambria Math" panose="02040503050406030204" pitchFamily="18" charset="0"/>
                              </a:rPr>
                              <m:t>𝑀</m:t>
                            </m:r>
                            <m:r>
                              <a:rPr lang="en-US" b="0" i="1" smtClean="0">
                                <a:latin typeface="Cambria Math" panose="02040503050406030204" pitchFamily="18" charset="0"/>
                              </a:rPr>
                              <m:t>𝑎𝑥</m:t>
                            </m:r>
                          </m:e>
                        </m:mr>
                        <m:mr>
                          <m:e>
                            <m:sSub>
                              <m:sSubPr>
                                <m:ctrlPr>
                                  <a:rPr lang="en-US" b="0" i="1" smtClean="0">
                                    <a:highlight>
                                      <a:srgbClr val="FFFF00"/>
                                    </a:highlight>
                                    <a:latin typeface="Cambria Math" panose="02040503050406030204" pitchFamily="18" charset="0"/>
                                  </a:rPr>
                                </m:ctrlPr>
                              </m:sSubPr>
                              <m:e>
                                <m:r>
                                  <a:rPr lang="en-US" b="0" i="1" smtClean="0">
                                    <a:highlight>
                                      <a:srgbClr val="FFFF00"/>
                                    </a:highlight>
                                    <a:latin typeface="Cambria Math" panose="02040503050406030204" pitchFamily="18" charset="0"/>
                                  </a:rPr>
                                  <m:t>𝐻</m:t>
                                </m:r>
                              </m:e>
                              <m:sub>
                                <m:r>
                                  <a:rPr lang="en-US" b="0" i="1" smtClean="0">
                                    <a:highlight>
                                      <a:srgbClr val="FFFF00"/>
                                    </a:highlight>
                                    <a:latin typeface="Cambria Math" panose="02040503050406030204" pitchFamily="18" charset="0"/>
                                  </a:rPr>
                                  <m:t>𝑡</m:t>
                                </m:r>
                              </m:sub>
                            </m:sSub>
                          </m:e>
                        </m:mr>
                      </m:m>
                      <m:r>
                        <a:rPr lang="en-US" b="0" i="1" smtClean="0">
                          <a:latin typeface="Cambria Math" panose="02040503050406030204" pitchFamily="18" charset="0"/>
                        </a:rPr>
                        <m:t> </m:t>
                      </m:r>
                      <m:nary>
                        <m:naryPr>
                          <m:chr m:val="∑"/>
                          <m:supHide m:val="on"/>
                          <m:ctrlPr>
                            <a:rPr lang="en-US" b="0" i="1" smtClean="0">
                              <a:latin typeface="Cambria Math" panose="02040503050406030204" pitchFamily="18" charset="0"/>
                            </a:rPr>
                          </m:ctrlPr>
                        </m:naryPr>
                        <m:sub>
                          <m:r>
                            <a:rPr lang="en-US" b="0" i="1" smtClean="0">
                              <a:latin typeface="Cambria Math" panose="02040503050406030204" pitchFamily="18" charset="0"/>
                            </a:rPr>
                            <m:t>𝑡</m:t>
                          </m:r>
                        </m:sub>
                        <m:sup/>
                        <m:e>
                          <m:sSub>
                            <m:sSubPr>
                              <m:ctrlPr>
                                <a:rPr lang="en-US" b="0" i="1" smtClean="0">
                                  <a:latin typeface="Cambria Math" panose="02040503050406030204" pitchFamily="18" charset="0"/>
                                </a:rPr>
                              </m:ctrlPr>
                            </m:sSubPr>
                            <m:e>
                              <m:r>
                                <a:rPr lang="en-US" b="0" i="1" smtClean="0">
                                  <a:latin typeface="Cambria Math" panose="02040503050406030204" pitchFamily="18" charset="0"/>
                                </a:rPr>
                                <m:t>𝛿</m:t>
                              </m:r>
                            </m:e>
                            <m:sub>
                              <m:r>
                                <a:rPr lang="en-US" b="0" i="1" smtClean="0">
                                  <a:latin typeface="Cambria Math" panose="02040503050406030204" pitchFamily="18" charset="0"/>
                                </a:rPr>
                                <m:t>𝑡</m:t>
                              </m:r>
                            </m:sub>
                          </m:sSub>
                        </m:e>
                      </m:nary>
                      <m:d>
                        <m:dPr>
                          <m:ctrlPr>
                            <a:rPr lang="en-US" b="0" i="1" smtClean="0">
                              <a:latin typeface="Cambria Math" panose="02040503050406030204" pitchFamily="18" charset="0"/>
                            </a:rPr>
                          </m:ctrlPr>
                        </m:dPr>
                        <m:e>
                          <m:r>
                            <a:rPr lang="en-US" i="1">
                              <a:latin typeface="Cambria Math" panose="02040503050406030204" pitchFamily="18" charset="0"/>
                            </a:rPr>
                            <m:t>𝑉</m:t>
                          </m:r>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𝐻</m:t>
                                  </m:r>
                                </m:e>
                                <m:sub>
                                  <m:r>
                                    <a:rPr lang="en-US" i="1">
                                      <a:latin typeface="Cambria Math" panose="02040503050406030204" pitchFamily="18" charset="0"/>
                                    </a:rPr>
                                    <m:t>𝑡</m:t>
                                  </m:r>
                                </m:sub>
                              </m:sSub>
                            </m:e>
                          </m:d>
                          <m:r>
                            <a:rPr lang="en-US" i="1">
                              <a:latin typeface="Cambria Math" panose="02040503050406030204" pitchFamily="18" charset="0"/>
                            </a:rPr>
                            <m:t>−</m:t>
                          </m:r>
                          <m:r>
                            <a:rPr lang="en-US" i="1">
                              <a:latin typeface="Cambria Math" panose="02040503050406030204" pitchFamily="18" charset="0"/>
                            </a:rPr>
                            <m:t>𝑐</m:t>
                          </m:r>
                        </m:e>
                      </m:d>
                    </m:oMath>
                  </m:oMathPara>
                </a14:m>
                <a:endParaRPr lang="en-US" dirty="0"/>
              </a:p>
              <a:p>
                <a:pPr marL="0" indent="0">
                  <a:buNone/>
                </a:pPr>
                <a:endParaRPr lang="en-US" dirty="0"/>
              </a:p>
              <a:p>
                <a:endParaRPr lang="en-US" dirty="0"/>
              </a:p>
            </p:txBody>
          </p:sp>
        </mc:Choice>
        <mc:Fallback xmlns="">
          <p:sp>
            <p:nvSpPr>
              <p:cNvPr id="3" name="Content Placeholder 2">
                <a:extLst>
                  <a:ext uri="{FF2B5EF4-FFF2-40B4-BE49-F238E27FC236}">
                    <a16:creationId xmlns:a16="http://schemas.microsoft.com/office/drawing/2014/main" id="{AAB9ECEC-FEA9-95C8-878A-0D6863542F04}"/>
                  </a:ext>
                </a:extLst>
              </p:cNvPr>
              <p:cNvSpPr>
                <a:spLocks noGrp="1" noRot="1" noChangeAspect="1" noMove="1" noResize="1" noEditPoints="1" noAdjustHandles="1" noChangeArrowheads="1" noChangeShapeType="1" noTextEdit="1"/>
              </p:cNvSpPr>
              <p:nvPr>
                <p:ph idx="1"/>
              </p:nvPr>
            </p:nvSpPr>
            <p:spPr>
              <a:blipFill>
                <a:blip r:embed="rId2"/>
                <a:stretch>
                  <a:fillRect l="-1206" t="-2326" b="-21512"/>
                </a:stretch>
              </a:blipFill>
            </p:spPr>
            <p:txBody>
              <a:bodyPr/>
              <a:lstStyle/>
              <a:p>
                <a:r>
                  <a:rPr lang="en-US">
                    <a:noFill/>
                  </a:rPr>
                  <a:t> </a:t>
                </a:r>
              </a:p>
            </p:txBody>
          </p:sp>
        </mc:Fallback>
      </mc:AlternateContent>
    </p:spTree>
    <p:extLst>
      <p:ext uri="{BB962C8B-B14F-4D97-AF65-F5344CB8AC3E}">
        <p14:creationId xmlns:p14="http://schemas.microsoft.com/office/powerpoint/2010/main" val="1879354399"/>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52FA14-B1C1-2A01-EF4B-85B752C8956B}"/>
              </a:ext>
            </a:extLst>
          </p:cNvPr>
          <p:cNvSpPr>
            <a:spLocks noGrp="1"/>
          </p:cNvSpPr>
          <p:nvPr>
            <p:ph type="title"/>
          </p:nvPr>
        </p:nvSpPr>
        <p:spPr/>
        <p:txBody>
          <a:bodyPr/>
          <a:lstStyle/>
          <a:p>
            <a:r>
              <a:rPr lang="en-US" dirty="0"/>
              <a:t>The full managed model</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E2AC9A54-A65F-497D-5505-C2E4DD581767}"/>
                  </a:ext>
                </a:extLst>
              </p:cNvPr>
              <p:cNvSpPr>
                <a:spLocks noGrp="1"/>
              </p:cNvSpPr>
              <p:nvPr>
                <p:ph idx="1"/>
              </p:nvPr>
            </p:nvSpPr>
            <p:spPr/>
            <p:txBody>
              <a:bodyPr>
                <a:normAutofit lnSpcReduction="10000"/>
              </a:bodyPr>
              <a:lstStyle/>
              <a:p>
                <a:pPr marL="0" indent="0">
                  <a:buNone/>
                </a:pPr>
                <a:r>
                  <a:rPr lang="en-US" dirty="0"/>
                  <a:t>Index</a:t>
                </a:r>
              </a:p>
              <a:p>
                <a:pPr marL="0" indent="0">
                  <a:buNone/>
                </a:pPr>
                <a:r>
                  <a:rPr lang="en-US" dirty="0"/>
                  <a:t>y: year (</a:t>
                </a:r>
                <a14:m>
                  <m:oMath xmlns:m="http://schemas.openxmlformats.org/officeDocument/2006/math">
                    <m:r>
                      <a:rPr lang="en-US" b="0" i="1" smtClean="0">
                        <a:latin typeface="Cambria Math" panose="02040503050406030204" pitchFamily="18" charset="0"/>
                      </a:rPr>
                      <m:t>𝑦</m:t>
                    </m:r>
                    <m:r>
                      <a:rPr lang="en-US" b="0" i="1" smtClean="0">
                        <a:latin typeface="Cambria Math" panose="02040503050406030204" pitchFamily="18" charset="0"/>
                      </a:rPr>
                      <m:t>∈{1,..,100}</m:t>
                    </m:r>
                  </m:oMath>
                </a14:m>
                <a:r>
                  <a:rPr lang="en-US" dirty="0"/>
                  <a:t>)</a:t>
                </a:r>
              </a:p>
              <a:p>
                <a:pPr marL="0" indent="0">
                  <a:buNone/>
                </a:pPr>
                <a:endParaRPr lang="en-US" dirty="0"/>
              </a:p>
              <a:p>
                <a:pPr marL="0" indent="0">
                  <a:buNone/>
                </a:pPr>
                <a:r>
                  <a:rPr lang="en-US" dirty="0"/>
                  <a:t>Parameters</a:t>
                </a:r>
              </a:p>
              <a:p>
                <a:pPr marL="0" indent="0">
                  <a:buNone/>
                </a:pPr>
                <a:r>
                  <a:rPr lang="en-US" dirty="0"/>
                  <a:t>p: price = 1000</a:t>
                </a:r>
              </a:p>
              <a:p>
                <a:pPr marL="0" indent="0">
                  <a:buNone/>
                </a:pPr>
                <a:r>
                  <a:rPr lang="en-US" dirty="0"/>
                  <a:t>r: discount rate = 0.1</a:t>
                </a:r>
              </a:p>
              <a:p>
                <a:pPr marL="0" indent="0">
                  <a:buNone/>
                </a:pPr>
                <a:r>
                  <a:rPr lang="en-US" dirty="0"/>
                  <a:t>c: replanting cost = 500</a:t>
                </a:r>
              </a:p>
              <a:p>
                <a:pPr marL="0" indent="0">
                  <a:buNone/>
                </a:pPr>
                <a:r>
                  <a:rPr lang="en-US" dirty="0"/>
                  <a:t>f: growth rate = 0.08</a:t>
                </a:r>
              </a:p>
              <a:p>
                <a:pPr marL="0" indent="0">
                  <a:buNone/>
                </a:pPr>
                <a14:m>
                  <m:oMath xmlns:m="http://schemas.openxmlformats.org/officeDocument/2006/math">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𝑠</m:t>
                        </m:r>
                      </m:e>
                    </m:acc>
                  </m:oMath>
                </a14:m>
                <a:r>
                  <a:rPr lang="en-US" dirty="0"/>
                  <a:t>: initial stand = 100</a:t>
                </a:r>
              </a:p>
              <a:p>
                <a:pPr marL="0" indent="0">
                  <a:buNone/>
                </a:pPr>
                <a:endParaRPr lang="en-US" dirty="0"/>
              </a:p>
            </p:txBody>
          </p:sp>
        </mc:Choice>
        <mc:Fallback xmlns="">
          <p:sp>
            <p:nvSpPr>
              <p:cNvPr id="3" name="Content Placeholder 2">
                <a:extLst>
                  <a:ext uri="{FF2B5EF4-FFF2-40B4-BE49-F238E27FC236}">
                    <a16:creationId xmlns:a16="http://schemas.microsoft.com/office/drawing/2014/main" id="{E2AC9A54-A65F-497D-5505-C2E4DD581767}"/>
                  </a:ext>
                </a:extLst>
              </p:cNvPr>
              <p:cNvSpPr>
                <a:spLocks noGrp="1" noRot="1" noChangeAspect="1" noMove="1" noResize="1" noEditPoints="1" noAdjustHandles="1" noChangeArrowheads="1" noChangeShapeType="1" noTextEdit="1"/>
              </p:cNvSpPr>
              <p:nvPr>
                <p:ph idx="1"/>
              </p:nvPr>
            </p:nvSpPr>
            <p:spPr>
              <a:blipFill>
                <a:blip r:embed="rId2"/>
                <a:stretch>
                  <a:fillRect l="-1206" t="-3198" b="-29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 name="Content Placeholder 2">
                <a:extLst>
                  <a:ext uri="{FF2B5EF4-FFF2-40B4-BE49-F238E27FC236}">
                    <a16:creationId xmlns:a16="http://schemas.microsoft.com/office/drawing/2014/main" id="{CC53A4A3-A144-9E8B-CC17-DBE82C540C83}"/>
                  </a:ext>
                </a:extLst>
              </p:cNvPr>
              <p:cNvSpPr txBox="1">
                <a:spLocks/>
              </p:cNvSpPr>
              <p:nvPr/>
            </p:nvSpPr>
            <p:spPr>
              <a:xfrm>
                <a:off x="6096000" y="1690688"/>
                <a:ext cx="5403850" cy="4351338"/>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dirty="0"/>
                  <a:t>Variables</a:t>
                </a:r>
              </a:p>
              <a:p>
                <a:pPr marL="0" indent="0">
                  <a:buFont typeface="Arial" panose="020B0604020202020204" pitchFamily="34" charset="0"/>
                  <a:buNone/>
                </a:pPr>
                <a:r>
                  <a:rPr lang="en-US" dirty="0"/>
                  <a:t>Z – present value of profit</a:t>
                </a:r>
              </a:p>
              <a:p>
                <a:pPr marL="0" indent="0">
                  <a:buFont typeface="Arial" panose="020B0604020202020204" pitchFamily="34" charset="0"/>
                  <a:buNone/>
                </a:pP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𝐻</m:t>
                        </m:r>
                      </m:e>
                      <m:sub>
                        <m:r>
                          <a:rPr lang="en-US" b="0" i="1" smtClean="0">
                            <a:latin typeface="Cambria Math" panose="02040503050406030204" pitchFamily="18" charset="0"/>
                          </a:rPr>
                          <m:t>𝑦</m:t>
                        </m:r>
                      </m:sub>
                    </m:sSub>
                  </m:oMath>
                </a14:m>
                <a:r>
                  <a:rPr lang="en-US" dirty="0"/>
                  <a:t>– harvest (timber products / yr)</a:t>
                </a:r>
              </a:p>
              <a:p>
                <a:pPr marL="0" indent="0">
                  <a:buFont typeface="Arial" panose="020B0604020202020204" pitchFamily="34" charset="0"/>
                  <a:buNone/>
                </a:pPr>
                <a:r>
                  <a:rPr lang="en-US" dirty="0"/>
                  <a:t>TV – terminal value of stock</a:t>
                </a:r>
              </a:p>
              <a:p>
                <a:pPr marL="0" indent="0">
                  <a:buFont typeface="Arial" panose="020B0604020202020204" pitchFamily="34" charset="0"/>
                  <a:buNone/>
                </a:pPr>
                <a:endParaRPr lang="en-US" dirty="0"/>
              </a:p>
              <a:p>
                <a:pPr marL="0" indent="0">
                  <a:buFont typeface="Arial" panose="020B0604020202020204" pitchFamily="34" charset="0"/>
                  <a:buNone/>
                </a:pPr>
                <a:r>
                  <a:rPr lang="en-US" dirty="0"/>
                  <a:t>Objective:</a:t>
                </a:r>
                <a:br>
                  <a:rPr lang="en-US" dirty="0"/>
                </a:br>
                <a:endParaRPr lang="en-US" dirty="0"/>
              </a:p>
              <a:p>
                <a:pPr marL="0" indent="0">
                  <a:buNone/>
                </a:pPr>
                <a14:m>
                  <m:oMathPara xmlns:m="http://schemas.openxmlformats.org/officeDocument/2006/math">
                    <m:oMathParaPr>
                      <m:jc m:val="centerGroup"/>
                    </m:oMathParaPr>
                    <m:oMath xmlns:m="http://schemas.openxmlformats.org/officeDocument/2006/math">
                      <m:m>
                        <m:mPr>
                          <m:mcs>
                            <m:mc>
                              <m:mcPr>
                                <m:count m:val="1"/>
                                <m:mcJc m:val="center"/>
                              </m:mcPr>
                            </m:mc>
                          </m:mcs>
                          <m:ctrlPr>
                            <a:rPr lang="en-US" i="1" smtClean="0">
                              <a:latin typeface="Cambria Math" panose="02040503050406030204" pitchFamily="18" charset="0"/>
                            </a:rPr>
                          </m:ctrlPr>
                        </m:mPr>
                        <m:mr>
                          <m:e>
                            <m:r>
                              <m:rPr>
                                <m:brk m:alnAt="7"/>
                              </m:rPr>
                              <a:rPr lang="en-US" b="0" i="1" smtClean="0">
                                <a:latin typeface="Cambria Math" panose="02040503050406030204" pitchFamily="18" charset="0"/>
                              </a:rPr>
                              <m:t>𝑀</m:t>
                            </m:r>
                            <m:r>
                              <a:rPr lang="en-US" b="0" i="1" smtClean="0">
                                <a:latin typeface="Cambria Math" panose="02040503050406030204" pitchFamily="18" charset="0"/>
                              </a:rPr>
                              <m:t>𝑎𝑥</m:t>
                            </m:r>
                          </m:e>
                        </m:mr>
                        <m:mr>
                          <m:e>
                            <m:sSub>
                              <m:sSubPr>
                                <m:ctrlPr>
                                  <a:rPr lang="en-US" b="0" i="1" smtClean="0">
                                    <a:latin typeface="Cambria Math" panose="02040503050406030204" pitchFamily="18" charset="0"/>
                                  </a:rPr>
                                </m:ctrlPr>
                              </m:sSubPr>
                              <m:e>
                                <m:r>
                                  <a:rPr lang="en-US" b="0" i="1" smtClean="0">
                                    <a:latin typeface="Cambria Math" panose="02040503050406030204" pitchFamily="18" charset="0"/>
                                  </a:rPr>
                                  <m:t>𝐻</m:t>
                                </m:r>
                              </m:e>
                              <m:sub>
                                <m:r>
                                  <a:rPr lang="en-US" b="0" i="1" smtClean="0">
                                    <a:latin typeface="Cambria Math" panose="02040503050406030204" pitchFamily="18" charset="0"/>
                                  </a:rPr>
                                  <m:t>𝑦</m:t>
                                </m:r>
                              </m:sub>
                            </m:sSub>
                          </m:e>
                        </m:mr>
                      </m:m>
                      <m:r>
                        <a:rPr lang="en-US" b="0" i="1" smtClean="0">
                          <a:latin typeface="Cambria Math" panose="02040503050406030204" pitchFamily="18" charset="0"/>
                        </a:rPr>
                        <m:t> </m:t>
                      </m:r>
                      <m:r>
                        <a:rPr lang="en-US" b="0" i="0" smtClean="0">
                          <a:latin typeface="Cambria Math" panose="02040503050406030204" pitchFamily="18" charset="0"/>
                        </a:rPr>
                        <m:t> </m:t>
                      </m:r>
                      <m:nary>
                        <m:naryPr>
                          <m:chr m:val="∑"/>
                          <m:supHide m:val="on"/>
                          <m:ctrlPr>
                            <a:rPr lang="en-US" b="0" i="1" smtClean="0">
                              <a:latin typeface="Cambria Math" panose="02040503050406030204" pitchFamily="18" charset="0"/>
                            </a:rPr>
                          </m:ctrlPr>
                        </m:naryPr>
                        <m:sub>
                          <m:r>
                            <a:rPr lang="en-US" b="0" i="1" smtClean="0">
                              <a:latin typeface="Cambria Math" panose="02040503050406030204" pitchFamily="18" charset="0"/>
                            </a:rPr>
                            <m:t>𝑦</m:t>
                          </m:r>
                        </m:sub>
                        <m:sup/>
                        <m:e>
                          <m:sSub>
                            <m:sSubPr>
                              <m:ctrlPr>
                                <a:rPr lang="en-US" b="0" i="1" smtClean="0">
                                  <a:latin typeface="Cambria Math" panose="02040503050406030204" pitchFamily="18" charset="0"/>
                                </a:rPr>
                              </m:ctrlPr>
                            </m:sSubPr>
                            <m:e>
                              <m:r>
                                <a:rPr lang="en-US" b="0" i="1" smtClean="0">
                                  <a:latin typeface="Cambria Math" panose="02040503050406030204" pitchFamily="18" charset="0"/>
                                </a:rPr>
                                <m:t>𝛿</m:t>
                              </m:r>
                            </m:e>
                            <m:sub>
                              <m:r>
                                <a:rPr lang="en-US" b="0" i="1" smtClean="0">
                                  <a:latin typeface="Cambria Math" panose="02040503050406030204" pitchFamily="18" charset="0"/>
                                </a:rPr>
                                <m:t>𝑦</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𝐻</m:t>
                              </m:r>
                            </m:e>
                            <m:sub>
                              <m:r>
                                <a:rPr lang="en-US" b="0" i="1" smtClean="0">
                                  <a:latin typeface="Cambria Math" panose="02040503050406030204" pitchFamily="18" charset="0"/>
                                </a:rPr>
                                <m:t>𝑦</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𝑝</m:t>
                              </m:r>
                              <m:r>
                                <a:rPr lang="en-US" b="0" i="1" smtClean="0">
                                  <a:latin typeface="Cambria Math" panose="02040503050406030204" pitchFamily="18" charset="0"/>
                                </a:rPr>
                                <m:t>−</m:t>
                              </m:r>
                              <m:r>
                                <a:rPr lang="en-US" b="0" i="1" smtClean="0">
                                  <a:latin typeface="Cambria Math" panose="02040503050406030204" pitchFamily="18" charset="0"/>
                                </a:rPr>
                                <m:t>𝑐</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𝐻</m:t>
                                  </m:r>
                                </m:e>
                                <m:sub>
                                  <m:r>
                                    <a:rPr lang="en-US" b="0" i="1" smtClean="0">
                                      <a:latin typeface="Cambria Math" panose="02040503050406030204" pitchFamily="18" charset="0"/>
                                    </a:rPr>
                                    <m:t>𝑦</m:t>
                                  </m:r>
                                </m:sub>
                              </m:sSub>
                            </m:e>
                          </m:d>
                          <m:r>
                            <a:rPr lang="en-US" b="0" i="1" smtClean="0">
                              <a:latin typeface="Cambria Math" panose="02040503050406030204" pitchFamily="18" charset="0"/>
                            </a:rPr>
                            <m:t>+</m:t>
                          </m:r>
                          <m:r>
                            <a:rPr lang="en-US" b="0" i="1" smtClean="0">
                              <a:latin typeface="Cambria Math" panose="02040503050406030204" pitchFamily="18" charset="0"/>
                            </a:rPr>
                            <m:t>𝑇𝑉</m:t>
                          </m:r>
                        </m:e>
                      </m:nary>
                    </m:oMath>
                  </m:oMathPara>
                </a14:m>
                <a:endParaRPr lang="en-US" dirty="0"/>
              </a:p>
            </p:txBody>
          </p:sp>
        </mc:Choice>
        <mc:Fallback xmlns="">
          <p:sp>
            <p:nvSpPr>
              <p:cNvPr id="4" name="Content Placeholder 2">
                <a:extLst>
                  <a:ext uri="{FF2B5EF4-FFF2-40B4-BE49-F238E27FC236}">
                    <a16:creationId xmlns:a16="http://schemas.microsoft.com/office/drawing/2014/main" id="{CC53A4A3-A144-9E8B-CC17-DBE82C540C83}"/>
                  </a:ext>
                </a:extLst>
              </p:cNvPr>
              <p:cNvSpPr txBox="1">
                <a:spLocks noRot="1" noChangeAspect="1" noMove="1" noResize="1" noEditPoints="1" noAdjustHandles="1" noChangeArrowheads="1" noChangeShapeType="1" noTextEdit="1"/>
              </p:cNvSpPr>
              <p:nvPr/>
            </p:nvSpPr>
            <p:spPr>
              <a:xfrm>
                <a:off x="6096000" y="1690688"/>
                <a:ext cx="5403850" cy="4351338"/>
              </a:xfrm>
              <a:prstGeom prst="rect">
                <a:avLst/>
              </a:prstGeom>
              <a:blipFill>
                <a:blip r:embed="rId3"/>
                <a:stretch>
                  <a:fillRect l="-2582" t="-3198" b="-42442"/>
                </a:stretch>
              </a:blipFill>
            </p:spPr>
            <p:txBody>
              <a:bodyPr/>
              <a:lstStyle/>
              <a:p>
                <a:r>
                  <a:rPr lang="en-US">
                    <a:noFill/>
                  </a:rPr>
                  <a:t> </a:t>
                </a:r>
              </a:p>
            </p:txBody>
          </p:sp>
        </mc:Fallback>
      </mc:AlternateContent>
    </p:spTree>
    <p:extLst>
      <p:ext uri="{BB962C8B-B14F-4D97-AF65-F5344CB8AC3E}">
        <p14:creationId xmlns:p14="http://schemas.microsoft.com/office/powerpoint/2010/main" val="1180493682"/>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E7F75E-E427-EA35-2FD0-B512522CF7D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D72FAAD-BDB8-337D-550B-5D55B1672B78}"/>
              </a:ext>
            </a:extLst>
          </p:cNvPr>
          <p:cNvSpPr>
            <a:spLocks noGrp="1"/>
          </p:cNvSpPr>
          <p:nvPr>
            <p:ph type="title"/>
          </p:nvPr>
        </p:nvSpPr>
        <p:spPr/>
        <p:txBody>
          <a:bodyPr/>
          <a:lstStyle/>
          <a:p>
            <a:r>
              <a:rPr lang="en-US" dirty="0"/>
              <a:t>The full managed model</a:t>
            </a:r>
          </a:p>
        </p:txBody>
      </p:sp>
      <mc:AlternateContent xmlns:mc="http://schemas.openxmlformats.org/markup-compatibility/2006" xmlns:a14="http://schemas.microsoft.com/office/drawing/2010/main">
        <mc:Choice Requires="a14">
          <p:sp>
            <p:nvSpPr>
              <p:cNvPr id="4" name="Content Placeholder 2">
                <a:extLst>
                  <a:ext uri="{FF2B5EF4-FFF2-40B4-BE49-F238E27FC236}">
                    <a16:creationId xmlns:a16="http://schemas.microsoft.com/office/drawing/2014/main" id="{FDE7222F-D6B3-1CF0-1ACA-636F77DDDA86}"/>
                  </a:ext>
                </a:extLst>
              </p:cNvPr>
              <p:cNvSpPr txBox="1">
                <a:spLocks/>
              </p:cNvSpPr>
              <p:nvPr/>
            </p:nvSpPr>
            <p:spPr>
              <a:xfrm>
                <a:off x="984250" y="1690688"/>
                <a:ext cx="10515600" cy="4351338"/>
              </a:xfrm>
              <a:prstGeom prst="rect">
                <a:avLst/>
              </a:prstGeom>
            </p:spPr>
            <p:txBody>
              <a:bodyPr vert="horz" lIns="91440" tIns="45720" rIns="91440" bIns="45720" rtlCol="0">
                <a:normAutofit fontScale="925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endParaRPr lang="en-US" dirty="0"/>
              </a:p>
              <a:p>
                <a:pPr marL="0" indent="0">
                  <a:buNone/>
                </a:pPr>
                <a14:m>
                  <m:oMathPara xmlns:m="http://schemas.openxmlformats.org/officeDocument/2006/math">
                    <m:oMathParaPr>
                      <m:jc m:val="centerGroup"/>
                    </m:oMathParaPr>
                    <m:oMath xmlns:m="http://schemas.openxmlformats.org/officeDocument/2006/math">
                      <m:m>
                        <m:mPr>
                          <m:mcs>
                            <m:mc>
                              <m:mcPr>
                                <m:count m:val="1"/>
                                <m:mcJc m:val="center"/>
                              </m:mcPr>
                            </m:mc>
                          </m:mcs>
                          <m:ctrlPr>
                            <a:rPr lang="en-US" i="1" smtClean="0">
                              <a:latin typeface="Cambria Math" panose="02040503050406030204" pitchFamily="18" charset="0"/>
                            </a:rPr>
                          </m:ctrlPr>
                        </m:mPr>
                        <m:mr>
                          <m:e>
                            <m:r>
                              <m:rPr>
                                <m:brk m:alnAt="7"/>
                              </m:rPr>
                              <a:rPr lang="en-US" b="0" i="1" smtClean="0">
                                <a:latin typeface="Cambria Math" panose="02040503050406030204" pitchFamily="18" charset="0"/>
                              </a:rPr>
                              <m:t>𝑀</m:t>
                            </m:r>
                            <m:r>
                              <a:rPr lang="en-US" b="0" i="1" smtClean="0">
                                <a:latin typeface="Cambria Math" panose="02040503050406030204" pitchFamily="18" charset="0"/>
                              </a:rPr>
                              <m:t>𝑎𝑥</m:t>
                            </m:r>
                          </m:e>
                        </m:mr>
                        <m:mr>
                          <m:e>
                            <m:sSub>
                              <m:sSubPr>
                                <m:ctrlPr>
                                  <a:rPr lang="en-US" b="0" i="1" smtClean="0">
                                    <a:latin typeface="Cambria Math" panose="02040503050406030204" pitchFamily="18" charset="0"/>
                                  </a:rPr>
                                </m:ctrlPr>
                              </m:sSubPr>
                              <m:e>
                                <m:r>
                                  <a:rPr lang="en-US" b="0" i="1" smtClean="0">
                                    <a:latin typeface="Cambria Math" panose="02040503050406030204" pitchFamily="18" charset="0"/>
                                  </a:rPr>
                                  <m:t>𝐻</m:t>
                                </m:r>
                              </m:e>
                              <m:sub>
                                <m:r>
                                  <a:rPr lang="en-US" b="0" i="1" smtClean="0">
                                    <a:latin typeface="Cambria Math" panose="02040503050406030204" pitchFamily="18" charset="0"/>
                                  </a:rPr>
                                  <m:t>𝑦</m:t>
                                </m:r>
                              </m:sub>
                            </m:sSub>
                          </m:e>
                        </m:mr>
                      </m:m>
                      <m:r>
                        <a:rPr lang="en-US" b="0" i="1" smtClean="0">
                          <a:latin typeface="Cambria Math" panose="02040503050406030204" pitchFamily="18" charset="0"/>
                        </a:rPr>
                        <m:t> </m:t>
                      </m:r>
                      <m:r>
                        <a:rPr lang="en-US" b="0" i="0" smtClean="0">
                          <a:latin typeface="Cambria Math" panose="02040503050406030204" pitchFamily="18" charset="0"/>
                        </a:rPr>
                        <m:t> </m:t>
                      </m:r>
                      <m:nary>
                        <m:naryPr>
                          <m:chr m:val="∑"/>
                          <m:supHide m:val="on"/>
                          <m:ctrlPr>
                            <a:rPr lang="en-US" b="0" i="1" smtClean="0">
                              <a:latin typeface="Cambria Math" panose="02040503050406030204" pitchFamily="18" charset="0"/>
                            </a:rPr>
                          </m:ctrlPr>
                        </m:naryPr>
                        <m:sub>
                          <m:r>
                            <a:rPr lang="en-US" b="0" i="1" smtClean="0">
                              <a:latin typeface="Cambria Math" panose="02040503050406030204" pitchFamily="18" charset="0"/>
                            </a:rPr>
                            <m:t>𝑦</m:t>
                          </m:r>
                        </m:sub>
                        <m:sup/>
                        <m:e>
                          <m:sSub>
                            <m:sSubPr>
                              <m:ctrlPr>
                                <a:rPr lang="en-US" b="0" i="1" smtClean="0">
                                  <a:latin typeface="Cambria Math" panose="02040503050406030204" pitchFamily="18" charset="0"/>
                                </a:rPr>
                              </m:ctrlPr>
                            </m:sSubPr>
                            <m:e>
                              <m:r>
                                <a:rPr lang="en-US" b="0" i="1" smtClean="0">
                                  <a:latin typeface="Cambria Math" panose="02040503050406030204" pitchFamily="18" charset="0"/>
                                </a:rPr>
                                <m:t>𝛿</m:t>
                              </m:r>
                            </m:e>
                            <m:sub>
                              <m:r>
                                <a:rPr lang="en-US" b="0" i="1" smtClean="0">
                                  <a:latin typeface="Cambria Math" panose="02040503050406030204" pitchFamily="18" charset="0"/>
                                </a:rPr>
                                <m:t>𝑦</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𝐻</m:t>
                              </m:r>
                            </m:e>
                            <m:sub>
                              <m:r>
                                <a:rPr lang="en-US" b="0" i="1" smtClean="0">
                                  <a:latin typeface="Cambria Math" panose="02040503050406030204" pitchFamily="18" charset="0"/>
                                </a:rPr>
                                <m:t>𝑦</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𝑝</m:t>
                              </m:r>
                              <m:r>
                                <a:rPr lang="en-US" b="0" i="1" smtClean="0">
                                  <a:latin typeface="Cambria Math" panose="02040503050406030204" pitchFamily="18" charset="0"/>
                                </a:rPr>
                                <m:t>−</m:t>
                              </m:r>
                              <m:r>
                                <a:rPr lang="en-US" b="0" i="1" smtClean="0">
                                  <a:latin typeface="Cambria Math" panose="02040503050406030204" pitchFamily="18" charset="0"/>
                                </a:rPr>
                                <m:t>𝑐</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𝐻</m:t>
                                  </m:r>
                                </m:e>
                                <m:sub>
                                  <m:r>
                                    <a:rPr lang="en-US" b="0" i="1" smtClean="0">
                                      <a:latin typeface="Cambria Math" panose="02040503050406030204" pitchFamily="18" charset="0"/>
                                    </a:rPr>
                                    <m:t>𝑦</m:t>
                                  </m:r>
                                </m:sub>
                              </m:sSub>
                            </m:e>
                          </m:d>
                          <m:r>
                            <a:rPr lang="en-US" b="0" i="1" smtClean="0">
                              <a:latin typeface="Cambria Math" panose="02040503050406030204" pitchFamily="18" charset="0"/>
                            </a:rPr>
                            <m:t>+</m:t>
                          </m:r>
                          <m:r>
                            <a:rPr lang="en-US" b="0" i="1" smtClean="0">
                              <a:latin typeface="Cambria Math" panose="02040503050406030204" pitchFamily="18" charset="0"/>
                            </a:rPr>
                            <m:t>𝑇𝑉</m:t>
                          </m:r>
                        </m:e>
                      </m:nary>
                    </m:oMath>
                  </m:oMathPara>
                </a14:m>
                <a:endParaRPr lang="en-US" dirty="0"/>
              </a:p>
              <a:p>
                <a:pPr marL="0" indent="0">
                  <a:buNone/>
                </a:pPr>
                <a:r>
                  <a:rPr lang="en-US" dirty="0"/>
                  <a:t>		S.T….</a:t>
                </a:r>
              </a:p>
              <a:p>
                <a:pPr marL="0"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𝑇𝑉</m:t>
                      </m:r>
                      <m:r>
                        <a:rPr lang="en-US" b="0" i="1" smtClean="0">
                          <a:latin typeface="Cambria Math" panose="02040503050406030204" pitchFamily="18" charset="0"/>
                        </a:rPr>
                        <m:t>=</m:t>
                      </m:r>
                      <m:d>
                        <m:dPr>
                          <m:ctrlPr>
                            <a:rPr lang="en-US" b="0" i="1" smtClean="0">
                              <a:latin typeface="Cambria Math" panose="02040503050406030204" pitchFamily="18" charset="0"/>
                            </a:rPr>
                          </m:ctrlPr>
                        </m:dPr>
                        <m:e>
                          <m:r>
                            <a:rPr lang="en-US" b="0" i="1" smtClean="0">
                              <a:latin typeface="Cambria Math" panose="02040503050406030204" pitchFamily="18" charset="0"/>
                            </a:rPr>
                            <m:t>𝑝</m:t>
                          </m:r>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𝑐</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𝑆</m:t>
                                  </m:r>
                                </m:e>
                                <m:sub>
                                  <m:r>
                                    <a:rPr lang="en-US" b="0" i="1" smtClean="0">
                                      <a:latin typeface="Cambria Math" panose="02040503050406030204" pitchFamily="18" charset="0"/>
                                    </a:rPr>
                                    <m:t>𝑌</m:t>
                                  </m:r>
                                </m:sub>
                              </m:sSub>
                            </m:num>
                            <m:den>
                              <m:r>
                                <a:rPr lang="en-US" b="0" i="1" smtClean="0">
                                  <a:latin typeface="Cambria Math" panose="02040503050406030204" pitchFamily="18" charset="0"/>
                                </a:rPr>
                                <m:t>20</m:t>
                              </m:r>
                            </m:den>
                          </m:f>
                        </m:e>
                      </m:d>
                      <m:sSub>
                        <m:sSubPr>
                          <m:ctrlPr>
                            <a:rPr lang="en-US" b="0" i="1" smtClean="0">
                              <a:latin typeface="Cambria Math" panose="02040503050406030204" pitchFamily="18" charset="0"/>
                            </a:rPr>
                          </m:ctrlPr>
                        </m:sSubPr>
                        <m:e>
                          <m:r>
                            <a:rPr lang="en-US" b="0" i="1" smtClean="0">
                              <a:latin typeface="Cambria Math" panose="02040503050406030204" pitchFamily="18" charset="0"/>
                            </a:rPr>
                            <m:t>𝑆</m:t>
                          </m:r>
                        </m:e>
                        <m:sub>
                          <m:r>
                            <a:rPr lang="en-US" b="0" i="1" smtClean="0">
                              <a:latin typeface="Cambria Math" panose="02040503050406030204" pitchFamily="18" charset="0"/>
                            </a:rPr>
                            <m:t>𝑌</m:t>
                          </m:r>
                        </m:sub>
                      </m:sSub>
                      <m:r>
                        <a:rPr lang="en-US" b="0" i="1" smtClean="0">
                          <a:latin typeface="Cambria Math" panose="02040503050406030204" pitchFamily="18" charset="0"/>
                        </a:rPr>
                        <m:t> ∀ </m:t>
                      </m:r>
                      <m:r>
                        <a:rPr lang="en-US" b="0" i="1" smtClean="0">
                          <a:latin typeface="Cambria Math" panose="02040503050406030204" pitchFamily="18" charset="0"/>
                        </a:rPr>
                        <m:t>𝑌</m:t>
                      </m:r>
                      <m:r>
                        <a:rPr lang="en-US" b="0" i="1" smtClean="0">
                          <a:latin typeface="Cambria Math" panose="02040503050406030204" pitchFamily="18" charset="0"/>
                        </a:rPr>
                        <m:t>∈{100}</m:t>
                      </m:r>
                    </m:oMath>
                  </m:oMathPara>
                </a14:m>
                <a:endParaRPr lang="en-US" dirty="0"/>
              </a:p>
              <a:p>
                <a:pPr marL="0" indent="0">
                  <a:buNone/>
                </a:pPr>
                <a:endParaRPr lang="en-US" b="0" i="1" dirty="0">
                  <a:latin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𝑆</m:t>
                          </m:r>
                        </m:e>
                        <m:sub>
                          <m:r>
                            <a:rPr lang="en-US" b="0" i="1" smtClean="0">
                              <a:latin typeface="Cambria Math" panose="02040503050406030204" pitchFamily="18" charset="0"/>
                            </a:rPr>
                            <m:t>𝑦</m:t>
                          </m:r>
                        </m:sub>
                      </m:sSub>
                      <m:r>
                        <a:rPr lang="en-US" b="0" i="1" smtClean="0">
                          <a:latin typeface="Cambria Math" panose="02040503050406030204" pitchFamily="18" charset="0"/>
                        </a:rPr>
                        <m:t>=</m:t>
                      </m:r>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𝑆</m:t>
                              </m:r>
                            </m:e>
                            <m:sub>
                              <m:r>
                                <a:rPr lang="en-US" b="0" i="1" smtClean="0">
                                  <a:latin typeface="Cambria Math" panose="02040503050406030204" pitchFamily="18" charset="0"/>
                                </a:rPr>
                                <m:t>𝑦</m:t>
                              </m:r>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𝐻</m:t>
                              </m:r>
                            </m:e>
                            <m:sub>
                              <m:r>
                                <a:rPr lang="en-US" b="0" i="1" smtClean="0">
                                  <a:latin typeface="Cambria Math" panose="02040503050406030204" pitchFamily="18" charset="0"/>
                                </a:rPr>
                                <m:t>𝑦</m:t>
                              </m:r>
                              <m:r>
                                <a:rPr lang="en-US" b="0" i="1" smtClean="0">
                                  <a:latin typeface="Cambria Math" panose="02040503050406030204" pitchFamily="18" charset="0"/>
                                </a:rPr>
                                <m:t>−1</m:t>
                              </m:r>
                            </m:sub>
                          </m:sSub>
                        </m:e>
                      </m:d>
                      <m:d>
                        <m:dPr>
                          <m:ctrlPr>
                            <a:rPr lang="en-US" b="0" i="1" smtClean="0">
                              <a:latin typeface="Cambria Math" panose="02040503050406030204" pitchFamily="18" charset="0"/>
                            </a:rPr>
                          </m:ctrlPr>
                        </m:dPr>
                        <m:e>
                          <m:r>
                            <a:rPr lang="en-US" b="0" i="1" smtClean="0">
                              <a:latin typeface="Cambria Math" panose="02040503050406030204" pitchFamily="18" charset="0"/>
                            </a:rPr>
                            <m:t>1+</m:t>
                          </m:r>
                          <m:r>
                            <a:rPr lang="en-US" b="0" i="1" smtClean="0">
                              <a:latin typeface="Cambria Math" panose="02040503050406030204" pitchFamily="18" charset="0"/>
                            </a:rPr>
                            <m:t>𝑓</m:t>
                          </m:r>
                        </m:e>
                      </m:d>
                    </m:oMath>
                  </m:oMathPara>
                </a14:m>
                <a:endParaRPr lang="en-US" dirty="0"/>
              </a:p>
              <a:p>
                <a:pPr marL="0" indent="0">
                  <a:buNone/>
                </a:pPr>
                <a:endParaRPr lang="en-US" dirty="0"/>
              </a:p>
              <a:p>
                <a:pPr marL="0" indent="0">
                  <a:buNone/>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𝑆</m:t>
                          </m:r>
                        </m:e>
                        <m:sub>
                          <m:r>
                            <a:rPr lang="en-US" b="0" i="1" smtClean="0">
                              <a:latin typeface="Cambria Math" panose="02040503050406030204" pitchFamily="18" charset="0"/>
                            </a:rPr>
                            <m:t>𝑦</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𝐻</m:t>
                          </m:r>
                        </m:e>
                        <m:sub>
                          <m:r>
                            <a:rPr lang="en-US" b="0" i="1" smtClean="0">
                              <a:latin typeface="Cambria Math" panose="02040503050406030204" pitchFamily="18" charset="0"/>
                            </a:rPr>
                            <m:t>𝑦</m:t>
                          </m:r>
                        </m:sub>
                      </m:sSub>
                    </m:oMath>
                  </m:oMathPara>
                </a14:m>
                <a:endParaRPr lang="en-US" dirty="0"/>
              </a:p>
            </p:txBody>
          </p:sp>
        </mc:Choice>
        <mc:Fallback xmlns="">
          <p:sp>
            <p:nvSpPr>
              <p:cNvPr id="4" name="Content Placeholder 2">
                <a:extLst>
                  <a:ext uri="{FF2B5EF4-FFF2-40B4-BE49-F238E27FC236}">
                    <a16:creationId xmlns:a16="http://schemas.microsoft.com/office/drawing/2014/main" id="{FDE7222F-D6B3-1CF0-1ACA-636F77DDDA86}"/>
                  </a:ext>
                </a:extLst>
              </p:cNvPr>
              <p:cNvSpPr txBox="1">
                <a:spLocks noRot="1" noChangeAspect="1" noMove="1" noResize="1" noEditPoints="1" noAdjustHandles="1" noChangeArrowheads="1" noChangeShapeType="1" noTextEdit="1"/>
              </p:cNvSpPr>
              <p:nvPr/>
            </p:nvSpPr>
            <p:spPr>
              <a:xfrm>
                <a:off x="984250" y="1690688"/>
                <a:ext cx="10515600" cy="4351338"/>
              </a:xfrm>
              <a:prstGeom prst="rect">
                <a:avLst/>
              </a:prstGeom>
              <a:blipFill>
                <a:blip r:embed="rId2"/>
                <a:stretch>
                  <a:fillRect t="-25581"/>
                </a:stretch>
              </a:blipFill>
            </p:spPr>
            <p:txBody>
              <a:bodyPr/>
              <a:lstStyle/>
              <a:p>
                <a:r>
                  <a:rPr lang="en-US">
                    <a:noFill/>
                  </a:rPr>
                  <a:t> </a:t>
                </a:r>
              </a:p>
            </p:txBody>
          </p:sp>
        </mc:Fallback>
      </mc:AlternateContent>
    </p:spTree>
    <p:extLst>
      <p:ext uri="{BB962C8B-B14F-4D97-AF65-F5344CB8AC3E}">
        <p14:creationId xmlns:p14="http://schemas.microsoft.com/office/powerpoint/2010/main" val="3889051892"/>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FA91C4-3482-FC3E-89E2-4621EB801E85}"/>
              </a:ext>
            </a:extLst>
          </p:cNvPr>
          <p:cNvSpPr>
            <a:spLocks noGrp="1"/>
          </p:cNvSpPr>
          <p:nvPr>
            <p:ph type="title"/>
          </p:nvPr>
        </p:nvSpPr>
        <p:spPr/>
        <p:txBody>
          <a:bodyPr/>
          <a:lstStyle/>
          <a:p>
            <a:r>
              <a:rPr lang="en-US" dirty="0"/>
              <a:t>To the GAMS model!</a:t>
            </a:r>
          </a:p>
        </p:txBody>
      </p:sp>
      <p:sp>
        <p:nvSpPr>
          <p:cNvPr id="3" name="Content Placeholder 2">
            <a:extLst>
              <a:ext uri="{FF2B5EF4-FFF2-40B4-BE49-F238E27FC236}">
                <a16:creationId xmlns:a16="http://schemas.microsoft.com/office/drawing/2014/main" id="{33A84E3A-3708-CD78-410D-05ACAD89A01D}"/>
              </a:ext>
            </a:extLst>
          </p:cNvPr>
          <p:cNvSpPr>
            <a:spLocks noGrp="1"/>
          </p:cNvSpPr>
          <p:nvPr>
            <p:ph idx="1"/>
          </p:nvPr>
        </p:nvSpPr>
        <p:spPr/>
        <p:txBody>
          <a:bodyPr/>
          <a:lstStyle/>
          <a:p>
            <a:r>
              <a:rPr lang="en-US" dirty="0"/>
              <a:t>And Tableau!</a:t>
            </a:r>
          </a:p>
        </p:txBody>
      </p:sp>
    </p:spTree>
    <p:extLst>
      <p:ext uri="{BB962C8B-B14F-4D97-AF65-F5344CB8AC3E}">
        <p14:creationId xmlns:p14="http://schemas.microsoft.com/office/powerpoint/2010/main" val="311063331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1104</TotalTime>
  <Words>4800</Words>
  <Application>Microsoft Macintosh PowerPoint</Application>
  <PresentationFormat>Widescreen</PresentationFormat>
  <Paragraphs>840</Paragraphs>
  <Slides>99</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99</vt:i4>
      </vt:variant>
    </vt:vector>
  </HeadingPairs>
  <TitlesOfParts>
    <vt:vector size="106" baseType="lpstr">
      <vt:lpstr>Aptos</vt:lpstr>
      <vt:lpstr>Aptos Display</vt:lpstr>
      <vt:lpstr>Aptos Narrow</vt:lpstr>
      <vt:lpstr>Arial</vt:lpstr>
      <vt:lpstr>Cambria Math</vt:lpstr>
      <vt:lpstr>Google Sans</vt:lpstr>
      <vt:lpstr>Office Theme</vt:lpstr>
      <vt:lpstr>EBGN645: Day 10</vt:lpstr>
      <vt:lpstr>Notes</vt:lpstr>
      <vt:lpstr>Scheduling notes</vt:lpstr>
      <vt:lpstr>Questions</vt:lpstr>
      <vt:lpstr>Bigger picture</vt:lpstr>
      <vt:lpstr>Homework – Question 1</vt:lpstr>
      <vt:lpstr>Q1a</vt:lpstr>
      <vt:lpstr>Q1a</vt:lpstr>
      <vt:lpstr>Q1a</vt:lpstr>
      <vt:lpstr>Q1b</vt:lpstr>
      <vt:lpstr>Q1c</vt:lpstr>
      <vt:lpstr>June’s Jellybeans</vt:lpstr>
      <vt:lpstr>PowerPoint Presentation</vt:lpstr>
      <vt:lpstr>Q1a – indices, parameters, variables, objective, constraints</vt:lpstr>
      <vt:lpstr>Q1a – indices, parameters, variables, objective, constraints</vt:lpstr>
      <vt:lpstr>Q2b – write the model in GAMS</vt:lpstr>
      <vt:lpstr>Q2c – Maximum deviation</vt:lpstr>
      <vt:lpstr>Q2c – Maximum deviation</vt:lpstr>
      <vt:lpstr>Q2d – Conditional on production</vt:lpstr>
      <vt:lpstr>Now… Models of resource management</vt:lpstr>
      <vt:lpstr>OARs and PPGs</vt:lpstr>
      <vt:lpstr>Three models for resources management</vt:lpstr>
      <vt:lpstr>Characteristics of non-renewable resources</vt:lpstr>
      <vt:lpstr>Prompt</vt:lpstr>
      <vt:lpstr>Review of Hotelling’s model</vt:lpstr>
      <vt:lpstr>Importance of Hotelling’s rule</vt:lpstr>
      <vt:lpstr>Another important rule</vt:lpstr>
      <vt:lpstr>New Prompt</vt:lpstr>
      <vt:lpstr>Now – what if we had price control?</vt:lpstr>
      <vt:lpstr>Monopolistic Resource Extraction</vt:lpstr>
      <vt:lpstr>Let’s code up the models in GAMS</vt:lpstr>
      <vt:lpstr>GAMS model - PC</vt:lpstr>
      <vt:lpstr>GAMS model - monopolist, continued</vt:lpstr>
      <vt:lpstr>Bigger picture of Hotelling and non-renewable resource extraction</vt:lpstr>
      <vt:lpstr>Meme break</vt:lpstr>
      <vt:lpstr>Short discussion</vt:lpstr>
      <vt:lpstr>Now – renewable resources</vt:lpstr>
      <vt:lpstr>Specific to fisheries</vt:lpstr>
      <vt:lpstr>Some terms we need to know…</vt:lpstr>
      <vt:lpstr>The exponential growth function</vt:lpstr>
      <vt:lpstr>Exponential growth not realistic though</vt:lpstr>
      <vt:lpstr>Exponential growth not realistic though</vt:lpstr>
      <vt:lpstr>Exponential growth not realistic though</vt:lpstr>
      <vt:lpstr>Logistic growth and Maximum Sustainable Yield</vt:lpstr>
      <vt:lpstr>Logistic growth and Maximum Sustainable Yield</vt:lpstr>
      <vt:lpstr>MSY Logic </vt:lpstr>
      <vt:lpstr>Now – what if we add harvesting?</vt:lpstr>
      <vt:lpstr>What if we don’t want the stock to change?</vt:lpstr>
      <vt:lpstr>Let’s bring money into this..</vt:lpstr>
      <vt:lpstr>Evaluating OA level of effort</vt:lpstr>
      <vt:lpstr>But we care about profit… that π in the sky</vt:lpstr>
      <vt:lpstr>Important note here</vt:lpstr>
      <vt:lpstr>In GAMS..</vt:lpstr>
      <vt:lpstr>What if we change α?</vt:lpstr>
      <vt:lpstr>Commonly-proposed policies</vt:lpstr>
      <vt:lpstr>Policies in practice [I]</vt:lpstr>
      <vt:lpstr>New Zealand Hoki Fishery Management</vt:lpstr>
      <vt:lpstr>Iceland Cod Fishery</vt:lpstr>
      <vt:lpstr>ITQs in practice</vt:lpstr>
      <vt:lpstr>Policies in practice [II]</vt:lpstr>
      <vt:lpstr>Denmark’s effort tax</vt:lpstr>
      <vt:lpstr>Indonesia’s effort tax</vt:lpstr>
      <vt:lpstr>Effort taxes in practice</vt:lpstr>
      <vt:lpstr>Policies in practice [III]</vt:lpstr>
      <vt:lpstr>Great Barrier Reef Marine Park</vt:lpstr>
      <vt:lpstr>Philippines</vt:lpstr>
      <vt:lpstr>Marine Protected Areas in Practice</vt:lpstr>
      <vt:lpstr>Takeaways from fisheries</vt:lpstr>
      <vt:lpstr>Prompt</vt:lpstr>
      <vt:lpstr>Pause</vt:lpstr>
      <vt:lpstr>Pause</vt:lpstr>
      <vt:lpstr>Forestry</vt:lpstr>
      <vt:lpstr>Martin Faustmann</vt:lpstr>
      <vt:lpstr>The Faustmann Model</vt:lpstr>
      <vt:lpstr>Main difference with Faustmann and others</vt:lpstr>
      <vt:lpstr>The Faustmann Model</vt:lpstr>
      <vt:lpstr>The Faustmann Model [II]</vt:lpstr>
      <vt:lpstr>The Faustmann Model [II]</vt:lpstr>
      <vt:lpstr>The Faustmann Model [III]</vt:lpstr>
      <vt:lpstr>The Faustmann Equation [I]</vt:lpstr>
      <vt:lpstr>The Faustmann Equation [II]</vt:lpstr>
      <vt:lpstr>The Faustmann Equation [III]</vt:lpstr>
      <vt:lpstr>The Faustmann Equation [III]</vt:lpstr>
      <vt:lpstr>The full Faustmann model…</vt:lpstr>
      <vt:lpstr>Faustmann in practice</vt:lpstr>
      <vt:lpstr>Faustmann in practice [I]</vt:lpstr>
      <vt:lpstr>Faustmann in practice [II]</vt:lpstr>
      <vt:lpstr>Faustmann in Practice [III]</vt:lpstr>
      <vt:lpstr>Brief on Hartman Model</vt:lpstr>
      <vt:lpstr>Richard Hartman</vt:lpstr>
      <vt:lpstr>Faustmann in Practice [IV]</vt:lpstr>
      <vt:lpstr>Relationship to Hotelling</vt:lpstr>
      <vt:lpstr>Do we see any problems with Faustmann?</vt:lpstr>
      <vt:lpstr>Pros/cons of Faustmann</vt:lpstr>
      <vt:lpstr>Enter a new challenger – Managed forests</vt:lpstr>
      <vt:lpstr>Subtle difference</vt:lpstr>
      <vt:lpstr>The full managed model</vt:lpstr>
      <vt:lpstr>The full managed model</vt:lpstr>
      <vt:lpstr>To the GAMS model!</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Maxwell Brown</dc:creator>
  <cp:lastModifiedBy>Maxwell Brown</cp:lastModifiedBy>
  <cp:revision>44</cp:revision>
  <dcterms:created xsi:type="dcterms:W3CDTF">2024-08-23T18:45:09Z</dcterms:created>
  <dcterms:modified xsi:type="dcterms:W3CDTF">2025-10-06T20:12:51Z</dcterms:modified>
</cp:coreProperties>
</file>