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3"/>
  </p:notesMasterIdLst>
  <p:sldIdLst>
    <p:sldId id="256" r:id="rId2"/>
    <p:sldId id="2147378245" r:id="rId3"/>
    <p:sldId id="2147378269" r:id="rId4"/>
    <p:sldId id="2147378267" r:id="rId5"/>
    <p:sldId id="2147378246" r:id="rId6"/>
    <p:sldId id="2147378255" r:id="rId7"/>
    <p:sldId id="2147377673" r:id="rId8"/>
    <p:sldId id="2147377674" r:id="rId9"/>
    <p:sldId id="2147377672" r:id="rId10"/>
    <p:sldId id="2147377681" r:id="rId11"/>
    <p:sldId id="2147377675" r:id="rId12"/>
    <p:sldId id="2147377680" r:id="rId13"/>
    <p:sldId id="2147377678" r:id="rId14"/>
    <p:sldId id="258" r:id="rId15"/>
    <p:sldId id="297" r:id="rId16"/>
    <p:sldId id="2147378268" r:id="rId17"/>
    <p:sldId id="2147378248" r:id="rId18"/>
    <p:sldId id="2147378249" r:id="rId19"/>
    <p:sldId id="2147378258" r:id="rId20"/>
    <p:sldId id="2147378257" r:id="rId21"/>
    <p:sldId id="284" r:id="rId22"/>
    <p:sldId id="282" r:id="rId23"/>
    <p:sldId id="283" r:id="rId24"/>
    <p:sldId id="2147378250" r:id="rId25"/>
    <p:sldId id="289" r:id="rId26"/>
    <p:sldId id="263" r:id="rId27"/>
    <p:sldId id="2147378251" r:id="rId28"/>
    <p:sldId id="2147378252" r:id="rId29"/>
    <p:sldId id="291" r:id="rId30"/>
    <p:sldId id="298" r:id="rId31"/>
    <p:sldId id="290" r:id="rId32"/>
    <p:sldId id="294" r:id="rId33"/>
    <p:sldId id="2147378270" r:id="rId34"/>
    <p:sldId id="2147378265" r:id="rId35"/>
    <p:sldId id="2147378266" r:id="rId36"/>
    <p:sldId id="299" r:id="rId37"/>
    <p:sldId id="300" r:id="rId38"/>
    <p:sldId id="303" r:id="rId39"/>
    <p:sldId id="2147378253" r:id="rId40"/>
    <p:sldId id="296" r:id="rId41"/>
    <p:sldId id="259" r:id="rId42"/>
    <p:sldId id="260" r:id="rId43"/>
    <p:sldId id="265" r:id="rId44"/>
    <p:sldId id="270" r:id="rId45"/>
    <p:sldId id="262" r:id="rId46"/>
    <p:sldId id="267" r:id="rId47"/>
    <p:sldId id="261" r:id="rId48"/>
    <p:sldId id="268" r:id="rId49"/>
    <p:sldId id="269" r:id="rId50"/>
    <p:sldId id="271" r:id="rId51"/>
    <p:sldId id="272" r:id="rId52"/>
    <p:sldId id="273" r:id="rId53"/>
    <p:sldId id="276" r:id="rId54"/>
    <p:sldId id="274" r:id="rId55"/>
    <p:sldId id="264" r:id="rId56"/>
    <p:sldId id="2147378261" r:id="rId57"/>
    <p:sldId id="2147378262" r:id="rId58"/>
    <p:sldId id="2147378263" r:id="rId59"/>
    <p:sldId id="266" r:id="rId60"/>
    <p:sldId id="2147378264" r:id="rId61"/>
    <p:sldId id="2147377714" r:id="rId6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189"/>
    <p:restoredTop sz="94589"/>
  </p:normalViewPr>
  <p:slideViewPr>
    <p:cSldViewPr snapToGrid="0">
      <p:cViewPr varScale="1">
        <p:scale>
          <a:sx n="115" d="100"/>
          <a:sy n="115" d="100"/>
        </p:scale>
        <p:origin x="816"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iagrams/_rels/data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4" Type="http://schemas.openxmlformats.org/officeDocument/2006/relationships/image" Target="../media/image21.svg"/></Relationships>
</file>

<file path=ppt/diagrams/_rels/drawing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4" Type="http://schemas.openxmlformats.org/officeDocument/2006/relationships/image" Target="../media/image21.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19F528D-445F-46A7-8D40-8A88923F127E}"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89572880-7EF2-4076-A406-50ADD41C09C2}">
      <dgm:prSet/>
      <dgm:spPr/>
      <dgm:t>
        <a:bodyPr/>
        <a:lstStyle/>
        <a:p>
          <a:r>
            <a:rPr lang="en-US"/>
            <a:t>What if Woody’s raises it’s pizza price by 10%?</a:t>
          </a:r>
        </a:p>
      </dgm:t>
    </dgm:pt>
    <dgm:pt modelId="{B5215776-C999-494D-9C0D-80E32052101C}" type="parTrans" cxnId="{00874C62-A1A7-4F9B-B225-D8D9DFCE08C9}">
      <dgm:prSet/>
      <dgm:spPr/>
      <dgm:t>
        <a:bodyPr/>
        <a:lstStyle/>
        <a:p>
          <a:endParaRPr lang="en-US"/>
        </a:p>
      </dgm:t>
    </dgm:pt>
    <dgm:pt modelId="{99548994-F9FE-471C-8513-82701344D7B6}" type="sibTrans" cxnId="{00874C62-A1A7-4F9B-B225-D8D9DFCE08C9}">
      <dgm:prSet/>
      <dgm:spPr/>
      <dgm:t>
        <a:bodyPr/>
        <a:lstStyle/>
        <a:p>
          <a:endParaRPr lang="en-US"/>
        </a:p>
      </dgm:t>
    </dgm:pt>
    <dgm:pt modelId="{F9576A8D-7FFE-4C1B-BEA9-8CCC2659F2BC}">
      <dgm:prSet/>
      <dgm:spPr/>
      <dgm:t>
        <a:bodyPr/>
        <a:lstStyle/>
        <a:p>
          <a:r>
            <a:rPr lang="en-US"/>
            <a:t>What if our agent makes 50% more money?</a:t>
          </a:r>
        </a:p>
      </dgm:t>
    </dgm:pt>
    <dgm:pt modelId="{42F45DEE-D8ED-4293-91E3-A644E9A51D87}" type="parTrans" cxnId="{1DE5F7B8-05E4-45EB-86A2-585FF71FF51E}">
      <dgm:prSet/>
      <dgm:spPr/>
      <dgm:t>
        <a:bodyPr/>
        <a:lstStyle/>
        <a:p>
          <a:endParaRPr lang="en-US"/>
        </a:p>
      </dgm:t>
    </dgm:pt>
    <dgm:pt modelId="{08832A91-6BB3-4860-B510-15055EDDE65F}" type="sibTrans" cxnId="{1DE5F7B8-05E4-45EB-86A2-585FF71FF51E}">
      <dgm:prSet/>
      <dgm:spPr/>
      <dgm:t>
        <a:bodyPr/>
        <a:lstStyle/>
        <a:p>
          <a:endParaRPr lang="en-US"/>
        </a:p>
      </dgm:t>
    </dgm:pt>
    <dgm:pt modelId="{A95C5C0C-DB8D-4839-9AD1-A4D9633AAD7C}" type="pres">
      <dgm:prSet presAssocID="{B19F528D-445F-46A7-8D40-8A88923F127E}" presName="root" presStyleCnt="0">
        <dgm:presLayoutVars>
          <dgm:dir/>
          <dgm:resizeHandles val="exact"/>
        </dgm:presLayoutVars>
      </dgm:prSet>
      <dgm:spPr/>
    </dgm:pt>
    <dgm:pt modelId="{9E6F64E1-ADEF-48BF-AA19-E7A97FB41A8C}" type="pres">
      <dgm:prSet presAssocID="{89572880-7EF2-4076-A406-50ADD41C09C2}" presName="compNode" presStyleCnt="0"/>
      <dgm:spPr/>
    </dgm:pt>
    <dgm:pt modelId="{DC292A72-99A7-4CA4-898D-30B42FD1AFD0}" type="pres">
      <dgm:prSet presAssocID="{89572880-7EF2-4076-A406-50ADD41C09C2}"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izza"/>
        </a:ext>
      </dgm:extLst>
    </dgm:pt>
    <dgm:pt modelId="{D1087922-BCD1-4996-9A30-114F252FF115}" type="pres">
      <dgm:prSet presAssocID="{89572880-7EF2-4076-A406-50ADD41C09C2}" presName="spaceRect" presStyleCnt="0"/>
      <dgm:spPr/>
    </dgm:pt>
    <dgm:pt modelId="{E1DA4CDA-1D09-4410-8A03-2D877B074AD7}" type="pres">
      <dgm:prSet presAssocID="{89572880-7EF2-4076-A406-50ADD41C09C2}" presName="textRect" presStyleLbl="revTx" presStyleIdx="0" presStyleCnt="2">
        <dgm:presLayoutVars>
          <dgm:chMax val="1"/>
          <dgm:chPref val="1"/>
        </dgm:presLayoutVars>
      </dgm:prSet>
      <dgm:spPr/>
    </dgm:pt>
    <dgm:pt modelId="{2BC80F34-C189-4FAA-A912-EA5189B6E8D3}" type="pres">
      <dgm:prSet presAssocID="{99548994-F9FE-471C-8513-82701344D7B6}" presName="sibTrans" presStyleCnt="0"/>
      <dgm:spPr/>
    </dgm:pt>
    <dgm:pt modelId="{C82FE18C-205A-42B2-8998-FFA4399EC137}" type="pres">
      <dgm:prSet presAssocID="{F9576A8D-7FFE-4C1B-BEA9-8CCC2659F2BC}" presName="compNode" presStyleCnt="0"/>
      <dgm:spPr/>
    </dgm:pt>
    <dgm:pt modelId="{BC324922-704E-449E-873D-7BAF43A118AE}" type="pres">
      <dgm:prSet presAssocID="{F9576A8D-7FFE-4C1B-BEA9-8CCC2659F2BC}"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oney"/>
        </a:ext>
      </dgm:extLst>
    </dgm:pt>
    <dgm:pt modelId="{F7B65FBF-FE41-462F-A296-027CBD1579B3}" type="pres">
      <dgm:prSet presAssocID="{F9576A8D-7FFE-4C1B-BEA9-8CCC2659F2BC}" presName="spaceRect" presStyleCnt="0"/>
      <dgm:spPr/>
    </dgm:pt>
    <dgm:pt modelId="{BF58FEE9-A4D3-4358-85B0-64331EC327F4}" type="pres">
      <dgm:prSet presAssocID="{F9576A8D-7FFE-4C1B-BEA9-8CCC2659F2BC}" presName="textRect" presStyleLbl="revTx" presStyleIdx="1" presStyleCnt="2">
        <dgm:presLayoutVars>
          <dgm:chMax val="1"/>
          <dgm:chPref val="1"/>
        </dgm:presLayoutVars>
      </dgm:prSet>
      <dgm:spPr/>
    </dgm:pt>
  </dgm:ptLst>
  <dgm:cxnLst>
    <dgm:cxn modelId="{927D5519-02A1-41F1-BDA8-ADAD65B56D11}" type="presOf" srcId="{B19F528D-445F-46A7-8D40-8A88923F127E}" destId="{A95C5C0C-DB8D-4839-9AD1-A4D9633AAD7C}" srcOrd="0" destOrd="0" presId="urn:microsoft.com/office/officeart/2018/2/layout/IconLabelList"/>
    <dgm:cxn modelId="{A59B8423-7151-4922-91EA-27CC581B0A62}" type="presOf" srcId="{F9576A8D-7FFE-4C1B-BEA9-8CCC2659F2BC}" destId="{BF58FEE9-A4D3-4358-85B0-64331EC327F4}" srcOrd="0" destOrd="0" presId="urn:microsoft.com/office/officeart/2018/2/layout/IconLabelList"/>
    <dgm:cxn modelId="{00874C62-A1A7-4F9B-B225-D8D9DFCE08C9}" srcId="{B19F528D-445F-46A7-8D40-8A88923F127E}" destId="{89572880-7EF2-4076-A406-50ADD41C09C2}" srcOrd="0" destOrd="0" parTransId="{B5215776-C999-494D-9C0D-80E32052101C}" sibTransId="{99548994-F9FE-471C-8513-82701344D7B6}"/>
    <dgm:cxn modelId="{D4028080-4D87-4891-A589-3A3D73D77285}" type="presOf" srcId="{89572880-7EF2-4076-A406-50ADD41C09C2}" destId="{E1DA4CDA-1D09-4410-8A03-2D877B074AD7}" srcOrd="0" destOrd="0" presId="urn:microsoft.com/office/officeart/2018/2/layout/IconLabelList"/>
    <dgm:cxn modelId="{1DE5F7B8-05E4-45EB-86A2-585FF71FF51E}" srcId="{B19F528D-445F-46A7-8D40-8A88923F127E}" destId="{F9576A8D-7FFE-4C1B-BEA9-8CCC2659F2BC}" srcOrd="1" destOrd="0" parTransId="{42F45DEE-D8ED-4293-91E3-A644E9A51D87}" sibTransId="{08832A91-6BB3-4860-B510-15055EDDE65F}"/>
    <dgm:cxn modelId="{CE7EFE02-4BB5-4467-AD75-B24C3E967242}" type="presParOf" srcId="{A95C5C0C-DB8D-4839-9AD1-A4D9633AAD7C}" destId="{9E6F64E1-ADEF-48BF-AA19-E7A97FB41A8C}" srcOrd="0" destOrd="0" presId="urn:microsoft.com/office/officeart/2018/2/layout/IconLabelList"/>
    <dgm:cxn modelId="{480E9A71-FE3B-470E-90FC-4A601E8EE943}" type="presParOf" srcId="{9E6F64E1-ADEF-48BF-AA19-E7A97FB41A8C}" destId="{DC292A72-99A7-4CA4-898D-30B42FD1AFD0}" srcOrd="0" destOrd="0" presId="urn:microsoft.com/office/officeart/2018/2/layout/IconLabelList"/>
    <dgm:cxn modelId="{DD67C121-2608-4FDA-80A4-3467E831B84D}" type="presParOf" srcId="{9E6F64E1-ADEF-48BF-AA19-E7A97FB41A8C}" destId="{D1087922-BCD1-4996-9A30-114F252FF115}" srcOrd="1" destOrd="0" presId="urn:microsoft.com/office/officeart/2018/2/layout/IconLabelList"/>
    <dgm:cxn modelId="{E83C14A5-6254-4CF9-AA25-309EDF9599C4}" type="presParOf" srcId="{9E6F64E1-ADEF-48BF-AA19-E7A97FB41A8C}" destId="{E1DA4CDA-1D09-4410-8A03-2D877B074AD7}" srcOrd="2" destOrd="0" presId="urn:microsoft.com/office/officeart/2018/2/layout/IconLabelList"/>
    <dgm:cxn modelId="{457168C9-03DB-40D7-BF9E-A910A02AC7BA}" type="presParOf" srcId="{A95C5C0C-DB8D-4839-9AD1-A4D9633AAD7C}" destId="{2BC80F34-C189-4FAA-A912-EA5189B6E8D3}" srcOrd="1" destOrd="0" presId="urn:microsoft.com/office/officeart/2018/2/layout/IconLabelList"/>
    <dgm:cxn modelId="{55CFC0AF-51D9-411B-A986-18B42A4BD3CD}" type="presParOf" srcId="{A95C5C0C-DB8D-4839-9AD1-A4D9633AAD7C}" destId="{C82FE18C-205A-42B2-8998-FFA4399EC137}" srcOrd="2" destOrd="0" presId="urn:microsoft.com/office/officeart/2018/2/layout/IconLabelList"/>
    <dgm:cxn modelId="{B1C88764-97B1-44E0-9C70-0DCC2F8BBF2E}" type="presParOf" srcId="{C82FE18C-205A-42B2-8998-FFA4399EC137}" destId="{BC324922-704E-449E-873D-7BAF43A118AE}" srcOrd="0" destOrd="0" presId="urn:microsoft.com/office/officeart/2018/2/layout/IconLabelList"/>
    <dgm:cxn modelId="{AE79348E-6273-483E-A4E0-DF2A0F18D3EB}" type="presParOf" srcId="{C82FE18C-205A-42B2-8998-FFA4399EC137}" destId="{F7B65FBF-FE41-462F-A296-027CBD1579B3}" srcOrd="1" destOrd="0" presId="urn:microsoft.com/office/officeart/2018/2/layout/IconLabelList"/>
    <dgm:cxn modelId="{B48218BF-BF24-4ED1-B3BA-6C1F1336925F}" type="presParOf" srcId="{C82FE18C-205A-42B2-8998-FFA4399EC137}" destId="{BF58FEE9-A4D3-4358-85B0-64331EC327F4}"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292A72-99A7-4CA4-898D-30B42FD1AFD0}">
      <dsp:nvSpPr>
        <dsp:cNvPr id="0" name=""/>
        <dsp:cNvSpPr/>
      </dsp:nvSpPr>
      <dsp:spPr>
        <a:xfrm>
          <a:off x="1679220" y="37850"/>
          <a:ext cx="1944000" cy="1944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1DA4CDA-1D09-4410-8A03-2D877B074AD7}">
      <dsp:nvSpPr>
        <dsp:cNvPr id="0" name=""/>
        <dsp:cNvSpPr/>
      </dsp:nvSpPr>
      <dsp:spPr>
        <a:xfrm>
          <a:off x="491220" y="2452051"/>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pPr>
          <a:r>
            <a:rPr lang="en-US" sz="2500" kern="1200"/>
            <a:t>What if Woody’s raises it’s pizza price by 10%?</a:t>
          </a:r>
        </a:p>
      </dsp:txBody>
      <dsp:txXfrm>
        <a:off x="491220" y="2452051"/>
        <a:ext cx="4320000" cy="720000"/>
      </dsp:txXfrm>
    </dsp:sp>
    <dsp:sp modelId="{BC324922-704E-449E-873D-7BAF43A118AE}">
      <dsp:nvSpPr>
        <dsp:cNvPr id="0" name=""/>
        <dsp:cNvSpPr/>
      </dsp:nvSpPr>
      <dsp:spPr>
        <a:xfrm>
          <a:off x="6755220" y="37850"/>
          <a:ext cx="1944000" cy="1944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F58FEE9-A4D3-4358-85B0-64331EC327F4}">
      <dsp:nvSpPr>
        <dsp:cNvPr id="0" name=""/>
        <dsp:cNvSpPr/>
      </dsp:nvSpPr>
      <dsp:spPr>
        <a:xfrm>
          <a:off x="5567220" y="2452051"/>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pPr>
          <a:r>
            <a:rPr lang="en-US" sz="2500" kern="1200"/>
            <a:t>What if our agent makes 50% more money?</a:t>
          </a:r>
        </a:p>
      </dsp:txBody>
      <dsp:txXfrm>
        <a:off x="5567220" y="2452051"/>
        <a:ext cx="4320000" cy="72000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67AEF6-7701-A448-8306-967C4ED74540}" type="datetimeFigureOut">
              <a:rPr lang="en-US" smtClean="0"/>
              <a:t>11/5/25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0181CC-B7D7-204E-8212-B1D5B8EC04A4}" type="slidenum">
              <a:rPr lang="en-US" smtClean="0"/>
              <a:t>‹#›</a:t>
            </a:fld>
            <a:endParaRPr lang="en-US"/>
          </a:p>
        </p:txBody>
      </p:sp>
    </p:spTree>
    <p:extLst>
      <p:ext uri="{BB962C8B-B14F-4D97-AF65-F5344CB8AC3E}">
        <p14:creationId xmlns:p14="http://schemas.microsoft.com/office/powerpoint/2010/main" val="23650463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D8A2AB-04B4-4044-BFE1-C42BA4766344}" type="slidenum">
              <a:rPr lang="en-US" smtClean="0"/>
              <a:t>60</a:t>
            </a:fld>
            <a:endParaRPr lang="en-US"/>
          </a:p>
        </p:txBody>
      </p:sp>
    </p:spTree>
    <p:extLst>
      <p:ext uri="{BB962C8B-B14F-4D97-AF65-F5344CB8AC3E}">
        <p14:creationId xmlns:p14="http://schemas.microsoft.com/office/powerpoint/2010/main" val="17234270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D8685-BF39-1495-CF24-4F1B0307D8C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7570D9A-C5D2-FF7C-3644-A4DF8E89E91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2B66580-4BD6-903B-24E8-248EE1848F4C}"/>
              </a:ext>
            </a:extLst>
          </p:cNvPr>
          <p:cNvSpPr>
            <a:spLocks noGrp="1"/>
          </p:cNvSpPr>
          <p:nvPr>
            <p:ph type="dt" sz="half" idx="10"/>
          </p:nvPr>
        </p:nvSpPr>
        <p:spPr/>
        <p:txBody>
          <a:bodyPr/>
          <a:lstStyle/>
          <a:p>
            <a:fld id="{FAF0BA02-0F25-D340-918E-D8EE852131BC}" type="datetimeFigureOut">
              <a:rPr lang="en-US" smtClean="0"/>
              <a:t>11/5/25</a:t>
            </a:fld>
            <a:endParaRPr lang="en-US"/>
          </a:p>
        </p:txBody>
      </p:sp>
      <p:sp>
        <p:nvSpPr>
          <p:cNvPr id="5" name="Footer Placeholder 4">
            <a:extLst>
              <a:ext uri="{FF2B5EF4-FFF2-40B4-BE49-F238E27FC236}">
                <a16:creationId xmlns:a16="http://schemas.microsoft.com/office/drawing/2014/main" id="{A28C833E-E817-74EA-AF0F-7BE77F457A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5ACE881-D5F7-4DFC-EDD7-5B4CB70566F0}"/>
              </a:ext>
            </a:extLst>
          </p:cNvPr>
          <p:cNvSpPr>
            <a:spLocks noGrp="1"/>
          </p:cNvSpPr>
          <p:nvPr>
            <p:ph type="sldNum" sz="quarter" idx="12"/>
          </p:nvPr>
        </p:nvSpPr>
        <p:spPr/>
        <p:txBody>
          <a:bodyPr/>
          <a:lstStyle/>
          <a:p>
            <a:fld id="{F3E529D2-2E2C-C047-A7F6-02E756C41443}" type="slidenum">
              <a:rPr lang="en-US" smtClean="0"/>
              <a:t>‹#›</a:t>
            </a:fld>
            <a:endParaRPr lang="en-US"/>
          </a:p>
        </p:txBody>
      </p:sp>
    </p:spTree>
    <p:extLst>
      <p:ext uri="{BB962C8B-B14F-4D97-AF65-F5344CB8AC3E}">
        <p14:creationId xmlns:p14="http://schemas.microsoft.com/office/powerpoint/2010/main" val="39488540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7DADB-B80F-4DBE-2089-E463BF701DC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4949650-58FD-6F35-5CFE-A6132BD1F6F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009DA3-C902-45CF-1E5A-AF70F6242221}"/>
              </a:ext>
            </a:extLst>
          </p:cNvPr>
          <p:cNvSpPr>
            <a:spLocks noGrp="1"/>
          </p:cNvSpPr>
          <p:nvPr>
            <p:ph type="dt" sz="half" idx="10"/>
          </p:nvPr>
        </p:nvSpPr>
        <p:spPr/>
        <p:txBody>
          <a:bodyPr/>
          <a:lstStyle/>
          <a:p>
            <a:fld id="{FAF0BA02-0F25-D340-918E-D8EE852131BC}" type="datetimeFigureOut">
              <a:rPr lang="en-US" smtClean="0"/>
              <a:t>11/5/25</a:t>
            </a:fld>
            <a:endParaRPr lang="en-US"/>
          </a:p>
        </p:txBody>
      </p:sp>
      <p:sp>
        <p:nvSpPr>
          <p:cNvPr id="5" name="Footer Placeholder 4">
            <a:extLst>
              <a:ext uri="{FF2B5EF4-FFF2-40B4-BE49-F238E27FC236}">
                <a16:creationId xmlns:a16="http://schemas.microsoft.com/office/drawing/2014/main" id="{2148F805-C836-5139-139D-9E094B8DF9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85012B-7603-ED21-D784-A0D7ED1D78CB}"/>
              </a:ext>
            </a:extLst>
          </p:cNvPr>
          <p:cNvSpPr>
            <a:spLocks noGrp="1"/>
          </p:cNvSpPr>
          <p:nvPr>
            <p:ph type="sldNum" sz="quarter" idx="12"/>
          </p:nvPr>
        </p:nvSpPr>
        <p:spPr/>
        <p:txBody>
          <a:bodyPr/>
          <a:lstStyle/>
          <a:p>
            <a:fld id="{F3E529D2-2E2C-C047-A7F6-02E756C41443}" type="slidenum">
              <a:rPr lang="en-US" smtClean="0"/>
              <a:t>‹#›</a:t>
            </a:fld>
            <a:endParaRPr lang="en-US"/>
          </a:p>
        </p:txBody>
      </p:sp>
    </p:spTree>
    <p:extLst>
      <p:ext uri="{BB962C8B-B14F-4D97-AF65-F5344CB8AC3E}">
        <p14:creationId xmlns:p14="http://schemas.microsoft.com/office/powerpoint/2010/main" val="8319051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F3600-9272-D9D7-798D-8D73A0BB232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F6C3236-7D2D-CF0A-7AD8-975A408D2AD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AAA09E9-C946-D66F-DB27-46E004F6076A}"/>
              </a:ext>
            </a:extLst>
          </p:cNvPr>
          <p:cNvSpPr>
            <a:spLocks noGrp="1"/>
          </p:cNvSpPr>
          <p:nvPr>
            <p:ph type="dt" sz="half" idx="10"/>
          </p:nvPr>
        </p:nvSpPr>
        <p:spPr/>
        <p:txBody>
          <a:bodyPr/>
          <a:lstStyle/>
          <a:p>
            <a:fld id="{FAF0BA02-0F25-D340-918E-D8EE852131BC}" type="datetimeFigureOut">
              <a:rPr lang="en-US" smtClean="0"/>
              <a:t>11/5/25</a:t>
            </a:fld>
            <a:endParaRPr lang="en-US"/>
          </a:p>
        </p:txBody>
      </p:sp>
      <p:sp>
        <p:nvSpPr>
          <p:cNvPr id="5" name="Footer Placeholder 4">
            <a:extLst>
              <a:ext uri="{FF2B5EF4-FFF2-40B4-BE49-F238E27FC236}">
                <a16:creationId xmlns:a16="http://schemas.microsoft.com/office/drawing/2014/main" id="{9FB57067-F01C-1BFC-D433-5910030F78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A5947D-1648-B7E2-CD4F-9458A0EE9F5C}"/>
              </a:ext>
            </a:extLst>
          </p:cNvPr>
          <p:cNvSpPr>
            <a:spLocks noGrp="1"/>
          </p:cNvSpPr>
          <p:nvPr>
            <p:ph type="sldNum" sz="quarter" idx="12"/>
          </p:nvPr>
        </p:nvSpPr>
        <p:spPr/>
        <p:txBody>
          <a:bodyPr/>
          <a:lstStyle/>
          <a:p>
            <a:fld id="{F3E529D2-2E2C-C047-A7F6-02E756C41443}" type="slidenum">
              <a:rPr lang="en-US" smtClean="0"/>
              <a:t>‹#›</a:t>
            </a:fld>
            <a:endParaRPr lang="en-US"/>
          </a:p>
        </p:txBody>
      </p:sp>
    </p:spTree>
    <p:extLst>
      <p:ext uri="{BB962C8B-B14F-4D97-AF65-F5344CB8AC3E}">
        <p14:creationId xmlns:p14="http://schemas.microsoft.com/office/powerpoint/2010/main" val="796167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B5E61-F812-1423-34EE-6FEC7757EF1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DAA3AAA-69FB-12A5-6737-C7F5373CAC4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E0847A6-5FEF-46A4-12D6-EF4C61A7EB6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5BFC1ED-BF91-EA9D-6BFC-EDCD4CBC6857}"/>
              </a:ext>
            </a:extLst>
          </p:cNvPr>
          <p:cNvSpPr>
            <a:spLocks noGrp="1"/>
          </p:cNvSpPr>
          <p:nvPr>
            <p:ph type="dt" sz="half" idx="10"/>
          </p:nvPr>
        </p:nvSpPr>
        <p:spPr/>
        <p:txBody>
          <a:bodyPr/>
          <a:lstStyle/>
          <a:p>
            <a:fld id="{FAF0BA02-0F25-D340-918E-D8EE852131BC}" type="datetimeFigureOut">
              <a:rPr lang="en-US" smtClean="0"/>
              <a:t>11/5/25</a:t>
            </a:fld>
            <a:endParaRPr lang="en-US"/>
          </a:p>
        </p:txBody>
      </p:sp>
      <p:sp>
        <p:nvSpPr>
          <p:cNvPr id="6" name="Footer Placeholder 5">
            <a:extLst>
              <a:ext uri="{FF2B5EF4-FFF2-40B4-BE49-F238E27FC236}">
                <a16:creationId xmlns:a16="http://schemas.microsoft.com/office/drawing/2014/main" id="{C4B997AC-3D60-39F1-8974-DD22A3938DA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D0B4E5-D22A-4CA8-6CA7-84AB229ADF25}"/>
              </a:ext>
            </a:extLst>
          </p:cNvPr>
          <p:cNvSpPr>
            <a:spLocks noGrp="1"/>
          </p:cNvSpPr>
          <p:nvPr>
            <p:ph type="sldNum" sz="quarter" idx="12"/>
          </p:nvPr>
        </p:nvSpPr>
        <p:spPr/>
        <p:txBody>
          <a:bodyPr/>
          <a:lstStyle/>
          <a:p>
            <a:fld id="{F3E529D2-2E2C-C047-A7F6-02E756C41443}" type="slidenum">
              <a:rPr lang="en-US" smtClean="0"/>
              <a:t>‹#›</a:t>
            </a:fld>
            <a:endParaRPr lang="en-US"/>
          </a:p>
        </p:txBody>
      </p:sp>
    </p:spTree>
    <p:extLst>
      <p:ext uri="{BB962C8B-B14F-4D97-AF65-F5344CB8AC3E}">
        <p14:creationId xmlns:p14="http://schemas.microsoft.com/office/powerpoint/2010/main" val="37060839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03BA90-0A1F-DA9D-19F2-88E1DED1801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A334331-C7A8-1A51-2C79-AE089269D4F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E231F30-3CF7-A0AC-BBD8-5E10E34EC90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4F5D109-61E9-D8F1-E494-6BF5ADD7532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21BE70D-79AB-B43B-DB6D-C147C090170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949B1AB-0C7E-450B-370C-332C3CEF0DB3}"/>
              </a:ext>
            </a:extLst>
          </p:cNvPr>
          <p:cNvSpPr>
            <a:spLocks noGrp="1"/>
          </p:cNvSpPr>
          <p:nvPr>
            <p:ph type="dt" sz="half" idx="10"/>
          </p:nvPr>
        </p:nvSpPr>
        <p:spPr/>
        <p:txBody>
          <a:bodyPr/>
          <a:lstStyle/>
          <a:p>
            <a:fld id="{FAF0BA02-0F25-D340-918E-D8EE852131BC}" type="datetimeFigureOut">
              <a:rPr lang="en-US" smtClean="0"/>
              <a:t>11/5/25</a:t>
            </a:fld>
            <a:endParaRPr lang="en-US"/>
          </a:p>
        </p:txBody>
      </p:sp>
      <p:sp>
        <p:nvSpPr>
          <p:cNvPr id="8" name="Footer Placeholder 7">
            <a:extLst>
              <a:ext uri="{FF2B5EF4-FFF2-40B4-BE49-F238E27FC236}">
                <a16:creationId xmlns:a16="http://schemas.microsoft.com/office/drawing/2014/main" id="{B975CFB9-9629-CD38-647F-DEC7E331530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D298033-3117-7EB5-AF93-43DD7EA74C99}"/>
              </a:ext>
            </a:extLst>
          </p:cNvPr>
          <p:cNvSpPr>
            <a:spLocks noGrp="1"/>
          </p:cNvSpPr>
          <p:nvPr>
            <p:ph type="sldNum" sz="quarter" idx="12"/>
          </p:nvPr>
        </p:nvSpPr>
        <p:spPr/>
        <p:txBody>
          <a:bodyPr/>
          <a:lstStyle/>
          <a:p>
            <a:fld id="{F3E529D2-2E2C-C047-A7F6-02E756C41443}" type="slidenum">
              <a:rPr lang="en-US" smtClean="0"/>
              <a:t>‹#›</a:t>
            </a:fld>
            <a:endParaRPr lang="en-US"/>
          </a:p>
        </p:txBody>
      </p:sp>
    </p:spTree>
    <p:extLst>
      <p:ext uri="{BB962C8B-B14F-4D97-AF65-F5344CB8AC3E}">
        <p14:creationId xmlns:p14="http://schemas.microsoft.com/office/powerpoint/2010/main" val="21340520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FFBD4-AECC-E8C5-699F-0C0903C7ED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F549BC2-4D8F-48F9-AD49-909ED7E228D2}"/>
              </a:ext>
            </a:extLst>
          </p:cNvPr>
          <p:cNvSpPr>
            <a:spLocks noGrp="1"/>
          </p:cNvSpPr>
          <p:nvPr>
            <p:ph type="dt" sz="half" idx="10"/>
          </p:nvPr>
        </p:nvSpPr>
        <p:spPr/>
        <p:txBody>
          <a:bodyPr/>
          <a:lstStyle/>
          <a:p>
            <a:fld id="{FAF0BA02-0F25-D340-918E-D8EE852131BC}" type="datetimeFigureOut">
              <a:rPr lang="en-US" smtClean="0"/>
              <a:t>11/5/25</a:t>
            </a:fld>
            <a:endParaRPr lang="en-US"/>
          </a:p>
        </p:txBody>
      </p:sp>
      <p:sp>
        <p:nvSpPr>
          <p:cNvPr id="4" name="Footer Placeholder 3">
            <a:extLst>
              <a:ext uri="{FF2B5EF4-FFF2-40B4-BE49-F238E27FC236}">
                <a16:creationId xmlns:a16="http://schemas.microsoft.com/office/drawing/2014/main" id="{6352770D-597A-F527-A555-5F513FBD167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BFCECB0-C3A8-A297-ED7D-3A216E473DD0}"/>
              </a:ext>
            </a:extLst>
          </p:cNvPr>
          <p:cNvSpPr>
            <a:spLocks noGrp="1"/>
          </p:cNvSpPr>
          <p:nvPr>
            <p:ph type="sldNum" sz="quarter" idx="12"/>
          </p:nvPr>
        </p:nvSpPr>
        <p:spPr/>
        <p:txBody>
          <a:bodyPr/>
          <a:lstStyle/>
          <a:p>
            <a:fld id="{F3E529D2-2E2C-C047-A7F6-02E756C41443}" type="slidenum">
              <a:rPr lang="en-US" smtClean="0"/>
              <a:t>‹#›</a:t>
            </a:fld>
            <a:endParaRPr lang="en-US"/>
          </a:p>
        </p:txBody>
      </p:sp>
    </p:spTree>
    <p:extLst>
      <p:ext uri="{BB962C8B-B14F-4D97-AF65-F5344CB8AC3E}">
        <p14:creationId xmlns:p14="http://schemas.microsoft.com/office/powerpoint/2010/main" val="205741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7918144-F63D-4592-FB39-3F0FC0B0D014}"/>
              </a:ext>
            </a:extLst>
          </p:cNvPr>
          <p:cNvSpPr>
            <a:spLocks noGrp="1"/>
          </p:cNvSpPr>
          <p:nvPr>
            <p:ph type="dt" sz="half" idx="10"/>
          </p:nvPr>
        </p:nvSpPr>
        <p:spPr/>
        <p:txBody>
          <a:bodyPr/>
          <a:lstStyle/>
          <a:p>
            <a:fld id="{FAF0BA02-0F25-D340-918E-D8EE852131BC}" type="datetimeFigureOut">
              <a:rPr lang="en-US" smtClean="0"/>
              <a:t>11/5/25</a:t>
            </a:fld>
            <a:endParaRPr lang="en-US"/>
          </a:p>
        </p:txBody>
      </p:sp>
      <p:sp>
        <p:nvSpPr>
          <p:cNvPr id="3" name="Footer Placeholder 2">
            <a:extLst>
              <a:ext uri="{FF2B5EF4-FFF2-40B4-BE49-F238E27FC236}">
                <a16:creationId xmlns:a16="http://schemas.microsoft.com/office/drawing/2014/main" id="{9619F033-E09A-ED79-82B5-84084274DDE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05CD2E4-7CFD-80DD-AC76-B4678D1BF180}"/>
              </a:ext>
            </a:extLst>
          </p:cNvPr>
          <p:cNvSpPr>
            <a:spLocks noGrp="1"/>
          </p:cNvSpPr>
          <p:nvPr>
            <p:ph type="sldNum" sz="quarter" idx="12"/>
          </p:nvPr>
        </p:nvSpPr>
        <p:spPr/>
        <p:txBody>
          <a:bodyPr/>
          <a:lstStyle/>
          <a:p>
            <a:fld id="{F3E529D2-2E2C-C047-A7F6-02E756C41443}" type="slidenum">
              <a:rPr lang="en-US" smtClean="0"/>
              <a:t>‹#›</a:t>
            </a:fld>
            <a:endParaRPr lang="en-US"/>
          </a:p>
        </p:txBody>
      </p:sp>
    </p:spTree>
    <p:extLst>
      <p:ext uri="{BB962C8B-B14F-4D97-AF65-F5344CB8AC3E}">
        <p14:creationId xmlns:p14="http://schemas.microsoft.com/office/powerpoint/2010/main" val="150217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4EC68-9E8A-1C4E-3870-837460FB0F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70A7183-3209-1E66-2BF7-1E1A4929C8E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36AE320-2885-02E9-B408-B65255068F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8DE966-F088-C19B-82CC-03B3041D3012}"/>
              </a:ext>
            </a:extLst>
          </p:cNvPr>
          <p:cNvSpPr>
            <a:spLocks noGrp="1"/>
          </p:cNvSpPr>
          <p:nvPr>
            <p:ph type="dt" sz="half" idx="10"/>
          </p:nvPr>
        </p:nvSpPr>
        <p:spPr/>
        <p:txBody>
          <a:bodyPr/>
          <a:lstStyle/>
          <a:p>
            <a:fld id="{FAF0BA02-0F25-D340-918E-D8EE852131BC}" type="datetimeFigureOut">
              <a:rPr lang="en-US" smtClean="0"/>
              <a:t>11/5/25</a:t>
            </a:fld>
            <a:endParaRPr lang="en-US"/>
          </a:p>
        </p:txBody>
      </p:sp>
      <p:sp>
        <p:nvSpPr>
          <p:cNvPr id="6" name="Footer Placeholder 5">
            <a:extLst>
              <a:ext uri="{FF2B5EF4-FFF2-40B4-BE49-F238E27FC236}">
                <a16:creationId xmlns:a16="http://schemas.microsoft.com/office/drawing/2014/main" id="{7A208DAD-768A-4C0A-F45B-F3FB43354AB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00889F-7F15-E862-45CC-BE877A533D30}"/>
              </a:ext>
            </a:extLst>
          </p:cNvPr>
          <p:cNvSpPr>
            <a:spLocks noGrp="1"/>
          </p:cNvSpPr>
          <p:nvPr>
            <p:ph type="sldNum" sz="quarter" idx="12"/>
          </p:nvPr>
        </p:nvSpPr>
        <p:spPr/>
        <p:txBody>
          <a:bodyPr/>
          <a:lstStyle/>
          <a:p>
            <a:fld id="{F3E529D2-2E2C-C047-A7F6-02E756C41443}" type="slidenum">
              <a:rPr lang="en-US" smtClean="0"/>
              <a:t>‹#›</a:t>
            </a:fld>
            <a:endParaRPr lang="en-US"/>
          </a:p>
        </p:txBody>
      </p:sp>
    </p:spTree>
    <p:extLst>
      <p:ext uri="{BB962C8B-B14F-4D97-AF65-F5344CB8AC3E}">
        <p14:creationId xmlns:p14="http://schemas.microsoft.com/office/powerpoint/2010/main" val="37825998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090D12-6DAD-171E-5C44-1C933DBAA33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3F5210E-6C87-CE34-5144-9869CA0A86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7210B58-298A-786B-6B20-C8620C51A7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012C1E-0CC0-0198-4AAC-338809C6ECD8}"/>
              </a:ext>
            </a:extLst>
          </p:cNvPr>
          <p:cNvSpPr>
            <a:spLocks noGrp="1"/>
          </p:cNvSpPr>
          <p:nvPr>
            <p:ph type="dt" sz="half" idx="10"/>
          </p:nvPr>
        </p:nvSpPr>
        <p:spPr/>
        <p:txBody>
          <a:bodyPr/>
          <a:lstStyle/>
          <a:p>
            <a:fld id="{FAF0BA02-0F25-D340-918E-D8EE852131BC}" type="datetimeFigureOut">
              <a:rPr lang="en-US" smtClean="0"/>
              <a:t>11/5/25</a:t>
            </a:fld>
            <a:endParaRPr lang="en-US"/>
          </a:p>
        </p:txBody>
      </p:sp>
      <p:sp>
        <p:nvSpPr>
          <p:cNvPr id="6" name="Footer Placeholder 5">
            <a:extLst>
              <a:ext uri="{FF2B5EF4-FFF2-40B4-BE49-F238E27FC236}">
                <a16:creationId xmlns:a16="http://schemas.microsoft.com/office/drawing/2014/main" id="{A0083992-6824-C0C3-BD44-70007CBE38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E6427E1-DE32-B61D-721C-F6029E9A492E}"/>
              </a:ext>
            </a:extLst>
          </p:cNvPr>
          <p:cNvSpPr>
            <a:spLocks noGrp="1"/>
          </p:cNvSpPr>
          <p:nvPr>
            <p:ph type="sldNum" sz="quarter" idx="12"/>
          </p:nvPr>
        </p:nvSpPr>
        <p:spPr/>
        <p:txBody>
          <a:bodyPr/>
          <a:lstStyle/>
          <a:p>
            <a:fld id="{F3E529D2-2E2C-C047-A7F6-02E756C41443}" type="slidenum">
              <a:rPr lang="en-US" smtClean="0"/>
              <a:t>‹#›</a:t>
            </a:fld>
            <a:endParaRPr lang="en-US"/>
          </a:p>
        </p:txBody>
      </p:sp>
    </p:spTree>
    <p:extLst>
      <p:ext uri="{BB962C8B-B14F-4D97-AF65-F5344CB8AC3E}">
        <p14:creationId xmlns:p14="http://schemas.microsoft.com/office/powerpoint/2010/main" val="33821512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CA54F-0914-1D5E-53DA-546EE30E902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75933A5-10B3-8922-AFE2-FA3A0D2318F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CA5B6B-E662-D7EE-403C-422DA0DF943F}"/>
              </a:ext>
            </a:extLst>
          </p:cNvPr>
          <p:cNvSpPr>
            <a:spLocks noGrp="1"/>
          </p:cNvSpPr>
          <p:nvPr>
            <p:ph type="dt" sz="half" idx="10"/>
          </p:nvPr>
        </p:nvSpPr>
        <p:spPr/>
        <p:txBody>
          <a:bodyPr/>
          <a:lstStyle/>
          <a:p>
            <a:fld id="{FAF0BA02-0F25-D340-918E-D8EE852131BC}" type="datetimeFigureOut">
              <a:rPr lang="en-US" smtClean="0"/>
              <a:t>11/5/25</a:t>
            </a:fld>
            <a:endParaRPr lang="en-US"/>
          </a:p>
        </p:txBody>
      </p:sp>
      <p:sp>
        <p:nvSpPr>
          <p:cNvPr id="5" name="Footer Placeholder 4">
            <a:extLst>
              <a:ext uri="{FF2B5EF4-FFF2-40B4-BE49-F238E27FC236}">
                <a16:creationId xmlns:a16="http://schemas.microsoft.com/office/drawing/2014/main" id="{89C06DC3-D311-881F-12C0-2FE33C0AE4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012770-8D29-70D7-240E-A5D28D8B1620}"/>
              </a:ext>
            </a:extLst>
          </p:cNvPr>
          <p:cNvSpPr>
            <a:spLocks noGrp="1"/>
          </p:cNvSpPr>
          <p:nvPr>
            <p:ph type="sldNum" sz="quarter" idx="12"/>
          </p:nvPr>
        </p:nvSpPr>
        <p:spPr/>
        <p:txBody>
          <a:bodyPr/>
          <a:lstStyle/>
          <a:p>
            <a:fld id="{F3E529D2-2E2C-C047-A7F6-02E756C41443}" type="slidenum">
              <a:rPr lang="en-US" smtClean="0"/>
              <a:t>‹#›</a:t>
            </a:fld>
            <a:endParaRPr lang="en-US"/>
          </a:p>
        </p:txBody>
      </p:sp>
    </p:spTree>
    <p:extLst>
      <p:ext uri="{BB962C8B-B14F-4D97-AF65-F5344CB8AC3E}">
        <p14:creationId xmlns:p14="http://schemas.microsoft.com/office/powerpoint/2010/main" val="25852959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C264A2C-5C3D-7618-54D9-236EE375EC8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12CC421-D912-2B56-4407-EB582E3C37C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02B872-E8F9-D888-62B2-24851297FEF9}"/>
              </a:ext>
            </a:extLst>
          </p:cNvPr>
          <p:cNvSpPr>
            <a:spLocks noGrp="1"/>
          </p:cNvSpPr>
          <p:nvPr>
            <p:ph type="dt" sz="half" idx="10"/>
          </p:nvPr>
        </p:nvSpPr>
        <p:spPr/>
        <p:txBody>
          <a:bodyPr/>
          <a:lstStyle/>
          <a:p>
            <a:fld id="{FAF0BA02-0F25-D340-918E-D8EE852131BC}" type="datetimeFigureOut">
              <a:rPr lang="en-US" smtClean="0"/>
              <a:t>11/5/25</a:t>
            </a:fld>
            <a:endParaRPr lang="en-US"/>
          </a:p>
        </p:txBody>
      </p:sp>
      <p:sp>
        <p:nvSpPr>
          <p:cNvPr id="5" name="Footer Placeholder 4">
            <a:extLst>
              <a:ext uri="{FF2B5EF4-FFF2-40B4-BE49-F238E27FC236}">
                <a16:creationId xmlns:a16="http://schemas.microsoft.com/office/drawing/2014/main" id="{BF6F562E-3003-3833-0DFA-C3E2ED5A9A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05A6C1-A554-A489-BF47-674D944FAC40}"/>
              </a:ext>
            </a:extLst>
          </p:cNvPr>
          <p:cNvSpPr>
            <a:spLocks noGrp="1"/>
          </p:cNvSpPr>
          <p:nvPr>
            <p:ph type="sldNum" sz="quarter" idx="12"/>
          </p:nvPr>
        </p:nvSpPr>
        <p:spPr/>
        <p:txBody>
          <a:bodyPr/>
          <a:lstStyle/>
          <a:p>
            <a:fld id="{F3E529D2-2E2C-C047-A7F6-02E756C41443}" type="slidenum">
              <a:rPr lang="en-US" smtClean="0"/>
              <a:t>‹#›</a:t>
            </a:fld>
            <a:endParaRPr lang="en-US"/>
          </a:p>
        </p:txBody>
      </p:sp>
    </p:spTree>
    <p:extLst>
      <p:ext uri="{BB962C8B-B14F-4D97-AF65-F5344CB8AC3E}">
        <p14:creationId xmlns:p14="http://schemas.microsoft.com/office/powerpoint/2010/main" val="32567968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36F00F-E4B5-6449-3F27-7F7400DF6D5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6B53526-985E-710C-A6C0-ABF1E758FBD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CCAF5F-ECEE-FE4F-325D-5A7DE3A869E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AF0BA02-0F25-D340-918E-D8EE852131BC}" type="datetimeFigureOut">
              <a:rPr lang="en-US" smtClean="0"/>
              <a:t>11/5/25</a:t>
            </a:fld>
            <a:endParaRPr lang="en-US"/>
          </a:p>
        </p:txBody>
      </p:sp>
      <p:sp>
        <p:nvSpPr>
          <p:cNvPr id="5" name="Footer Placeholder 4">
            <a:extLst>
              <a:ext uri="{FF2B5EF4-FFF2-40B4-BE49-F238E27FC236}">
                <a16:creationId xmlns:a16="http://schemas.microsoft.com/office/drawing/2014/main" id="{B8BACCA8-3B4C-02C5-3971-C6C37AC0EFC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48537C8-E258-F0CF-E7E9-564B96C59D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3E529D2-2E2C-C047-A7F6-02E756C41443}" type="slidenum">
              <a:rPr lang="en-US" smtClean="0"/>
              <a:t>‹#›</a:t>
            </a:fld>
            <a:endParaRPr lang="en-US"/>
          </a:p>
        </p:txBody>
      </p:sp>
    </p:spTree>
    <p:extLst>
      <p:ext uri="{BB962C8B-B14F-4D97-AF65-F5344CB8AC3E}">
        <p14:creationId xmlns:p14="http://schemas.microsoft.com/office/powerpoint/2010/main" val="16434289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docs.google.com/spreadsheets/d/1eRkK5JlFJ86rkI5_e_Zcm9km8ex4nRKUB69_8BENvr4/edit?usp=sharing"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9.gi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11.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1.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gif"/></Relationships>
</file>

<file path=ppt/slides/_rels/slide33.xml.rels><?xml version="1.0" encoding="UTF-8" standalone="yes"?>
<Relationships xmlns="http://schemas.openxmlformats.org/package/2006/relationships"><Relationship Id="rId2" Type="http://schemas.openxmlformats.org/officeDocument/2006/relationships/hyperlink" Target="https://jgea.org/ojs/index.php/jgea/article/view/178/225"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00.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8" Type="http://schemas.openxmlformats.org/officeDocument/2006/relationships/image" Target="../media/image250.png"/><Relationship Id="rId3" Type="http://schemas.openxmlformats.org/officeDocument/2006/relationships/image" Target="../media/image20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230.png"/><Relationship Id="rId11" Type="http://schemas.openxmlformats.org/officeDocument/2006/relationships/image" Target="../media/image28.png"/><Relationship Id="rId5" Type="http://schemas.openxmlformats.org/officeDocument/2006/relationships/image" Target="../media/image220.png"/><Relationship Id="rId10" Type="http://schemas.openxmlformats.org/officeDocument/2006/relationships/image" Target="../media/image260.png"/><Relationship Id="rId4" Type="http://schemas.openxmlformats.org/officeDocument/2006/relationships/image" Target="../media/image21.png"/><Relationship Id="rId9" Type="http://schemas.openxmlformats.org/officeDocument/2006/relationships/image" Target="../media/image18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hyperlink" Target="https://www2.econ.iastate.edu/classes/econ501/Hallam/documents/FunctionalForms.pdf" TargetMode="External"/><Relationship Id="rId2" Type="http://schemas.openxmlformats.org/officeDocument/2006/relationships/hyperlink" Target="https://windc.wisc.edu/downloads/summercourse_2021/thursday/ces.pdf"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9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2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3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4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8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2.xml"/><Relationship Id="rId4" Type="http://schemas.openxmlformats.org/officeDocument/2006/relationships/image" Target="NULL"/></Relationships>
</file>

<file path=ppt/slides/_rels/slide58.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2.xml"/><Relationship Id="rId4" Type="http://schemas.openxmlformats.org/officeDocument/2006/relationships/image" Target="NULL"/></Relationships>
</file>

<file path=ppt/slides/_rels/slide59.xml.rels><?xml version="1.0" encoding="UTF-8" standalone="yes"?>
<Relationships xmlns="http://schemas.openxmlformats.org/package/2006/relationships"><Relationship Id="rId2" Type="http://schemas.openxmlformats.org/officeDocument/2006/relationships/image" Target="../media/image310.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NULL"/></Relationships>
</file>

<file path=ppt/slides/_rels/slide6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9" name="Freeform: Shape 28">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1" name="Freeform: Shape 30">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4360B5F-040E-C296-9511-14682DFA96C2}"/>
              </a:ext>
            </a:extLst>
          </p:cNvPr>
          <p:cNvSpPr>
            <a:spLocks noGrp="1"/>
          </p:cNvSpPr>
          <p:nvPr>
            <p:ph type="ctrTitle"/>
          </p:nvPr>
        </p:nvSpPr>
        <p:spPr>
          <a:xfrm>
            <a:off x="1524003" y="1999615"/>
            <a:ext cx="9144000" cy="2764028"/>
          </a:xfrm>
        </p:spPr>
        <p:txBody>
          <a:bodyPr vert="horz" lIns="91440" tIns="45720" rIns="91440" bIns="45720" rtlCol="0" anchor="ctr">
            <a:normAutofit fontScale="90000"/>
          </a:bodyPr>
          <a:lstStyle/>
          <a:p>
            <a:r>
              <a:rPr lang="en-US" sz="3400" dirty="0"/>
              <a:t>EBGN645</a:t>
            </a:r>
            <a:br>
              <a:rPr lang="en-US" sz="3400" dirty="0"/>
            </a:br>
            <a:br>
              <a:rPr lang="en-US" sz="3400" dirty="0"/>
            </a:br>
            <a:br>
              <a:rPr lang="en-US" sz="3400" dirty="0"/>
            </a:br>
            <a:r>
              <a:rPr lang="en-US" sz="3400" dirty="0"/>
              <a:t>Market models</a:t>
            </a:r>
            <a:br>
              <a:rPr lang="en-US" sz="3400" dirty="0"/>
            </a:br>
            <a:r>
              <a:rPr lang="en-US" sz="3400" dirty="0"/>
              <a:t>Ramsey model</a:t>
            </a:r>
            <a:br>
              <a:rPr lang="en-US" sz="3400" dirty="0"/>
            </a:br>
            <a:endParaRPr lang="en-US" sz="3400" dirty="0"/>
          </a:p>
        </p:txBody>
      </p:sp>
      <p:sp>
        <p:nvSpPr>
          <p:cNvPr id="33" name="Rectangle 32">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360063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F6097A-DED3-3CD6-B544-E79915CFAB90}"/>
              </a:ext>
            </a:extLst>
          </p:cNvPr>
          <p:cNvSpPr>
            <a:spLocks noGrp="1"/>
          </p:cNvSpPr>
          <p:nvPr>
            <p:ph type="title"/>
          </p:nvPr>
        </p:nvSpPr>
        <p:spPr/>
        <p:txBody>
          <a:bodyPr/>
          <a:lstStyle/>
          <a:p>
            <a:r>
              <a:rPr lang="en-US" dirty="0"/>
              <a:t>Notes</a:t>
            </a:r>
          </a:p>
        </p:txBody>
      </p:sp>
      <p:sp>
        <p:nvSpPr>
          <p:cNvPr id="3" name="Content Placeholder 2">
            <a:extLst>
              <a:ext uri="{FF2B5EF4-FFF2-40B4-BE49-F238E27FC236}">
                <a16:creationId xmlns:a16="http://schemas.microsoft.com/office/drawing/2014/main" id="{D9F5D46A-FD99-3951-10ED-20F71F0F4DBA}"/>
              </a:ext>
            </a:extLst>
          </p:cNvPr>
          <p:cNvSpPr>
            <a:spLocks noGrp="1"/>
          </p:cNvSpPr>
          <p:nvPr>
            <p:ph idx="1"/>
          </p:nvPr>
        </p:nvSpPr>
        <p:spPr/>
        <p:txBody>
          <a:bodyPr>
            <a:normAutofit/>
          </a:bodyPr>
          <a:lstStyle/>
          <a:p>
            <a:r>
              <a:rPr lang="en-US" dirty="0"/>
              <a:t>Classes 11/10 and 11/12</a:t>
            </a:r>
          </a:p>
          <a:p>
            <a:pPr lvl="1"/>
            <a:r>
              <a:rPr lang="en-US" dirty="0"/>
              <a:t>I will email Sunday and Tuesday night </a:t>
            </a:r>
          </a:p>
          <a:p>
            <a:pPr lvl="1"/>
            <a:r>
              <a:rPr lang="en-US" dirty="0"/>
              <a:t>Still: optional -but- watch the recording if it happens</a:t>
            </a:r>
          </a:p>
          <a:p>
            <a:pPr lvl="1"/>
            <a:endParaRPr lang="en-US" dirty="0"/>
          </a:p>
          <a:p>
            <a:r>
              <a:rPr lang="en-US" dirty="0"/>
              <a:t>Sign-up sheet for presentations:</a:t>
            </a:r>
          </a:p>
          <a:p>
            <a:pPr marL="0" indent="0">
              <a:buNone/>
            </a:pPr>
            <a:r>
              <a:rPr lang="en-US" dirty="0">
                <a:hlinkClick r:id="rId2"/>
              </a:rPr>
              <a:t>https://docs.google.com/spreadsheets/d/1eRkK5JlFJ86rkI5_e_Zcm9km8ex4nRKUB69_8BENvr4/edit?usp=sharing</a:t>
            </a:r>
            <a:endParaRPr lang="en-US" dirty="0"/>
          </a:p>
          <a:p>
            <a:pPr marL="0" indent="0">
              <a:buNone/>
            </a:pPr>
            <a:endParaRPr lang="en-US" dirty="0"/>
          </a:p>
          <a:p>
            <a:pPr marL="0" indent="0">
              <a:buNone/>
            </a:pPr>
            <a:endParaRPr lang="en-US" dirty="0"/>
          </a:p>
          <a:p>
            <a:endParaRPr lang="en-US" dirty="0"/>
          </a:p>
          <a:p>
            <a:endParaRPr lang="en-US" dirty="0"/>
          </a:p>
        </p:txBody>
      </p:sp>
    </p:spTree>
    <p:extLst>
      <p:ext uri="{BB962C8B-B14F-4D97-AF65-F5344CB8AC3E}">
        <p14:creationId xmlns:p14="http://schemas.microsoft.com/office/powerpoint/2010/main" val="27669256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9AB867-C041-F7BD-BBEF-F1DE9B6FA1FA}"/>
              </a:ext>
            </a:extLst>
          </p:cNvPr>
          <p:cNvSpPr>
            <a:spLocks noGrp="1"/>
          </p:cNvSpPr>
          <p:nvPr>
            <p:ph type="title"/>
          </p:nvPr>
        </p:nvSpPr>
        <p:spPr/>
        <p:txBody>
          <a:bodyPr/>
          <a:lstStyle/>
          <a:p>
            <a:r>
              <a:rPr lang="en-US" dirty="0"/>
              <a:t>Something I’m playing with..</a:t>
            </a:r>
          </a:p>
        </p:txBody>
      </p:sp>
      <p:pic>
        <p:nvPicPr>
          <p:cNvPr id="4" name="Picture 3">
            <a:extLst>
              <a:ext uri="{FF2B5EF4-FFF2-40B4-BE49-F238E27FC236}">
                <a16:creationId xmlns:a16="http://schemas.microsoft.com/office/drawing/2014/main" id="{2562DCCE-9B98-55D3-93AA-CB330F0CDE3B}"/>
              </a:ext>
            </a:extLst>
          </p:cNvPr>
          <p:cNvPicPr>
            <a:picLocks noChangeAspect="1"/>
          </p:cNvPicPr>
          <p:nvPr/>
        </p:nvPicPr>
        <p:blipFill>
          <a:blip r:embed="rId2"/>
          <a:stretch>
            <a:fillRect/>
          </a:stretch>
        </p:blipFill>
        <p:spPr>
          <a:xfrm>
            <a:off x="2452544" y="1690688"/>
            <a:ext cx="6959600" cy="4267200"/>
          </a:xfrm>
          <a:prstGeom prst="rect">
            <a:avLst/>
          </a:prstGeom>
        </p:spPr>
      </p:pic>
      <p:cxnSp>
        <p:nvCxnSpPr>
          <p:cNvPr id="14" name="Straight Connector 13">
            <a:extLst>
              <a:ext uri="{FF2B5EF4-FFF2-40B4-BE49-F238E27FC236}">
                <a16:creationId xmlns:a16="http://schemas.microsoft.com/office/drawing/2014/main" id="{C6588130-9E6C-DC57-BCA9-F2E1EFFE655D}"/>
              </a:ext>
            </a:extLst>
          </p:cNvPr>
          <p:cNvCxnSpPr/>
          <p:nvPr/>
        </p:nvCxnSpPr>
        <p:spPr>
          <a:xfrm>
            <a:off x="5731727" y="4951141"/>
            <a:ext cx="364273" cy="0"/>
          </a:xfrm>
          <a:prstGeom prst="line">
            <a:avLst/>
          </a:prstGeom>
          <a:ln w="28575"/>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6B86608E-B588-EF63-F91F-955D04BCBA58}"/>
              </a:ext>
            </a:extLst>
          </p:cNvPr>
          <p:cNvCxnSpPr/>
          <p:nvPr/>
        </p:nvCxnSpPr>
        <p:spPr>
          <a:xfrm>
            <a:off x="6096000" y="4713249"/>
            <a:ext cx="364273" cy="0"/>
          </a:xfrm>
          <a:prstGeom prst="line">
            <a:avLst/>
          </a:prstGeom>
          <a:ln w="28575"/>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6F4E33E4-8ED1-B0A9-C244-D05DDAF8CAEA}"/>
              </a:ext>
            </a:extLst>
          </p:cNvPr>
          <p:cNvCxnSpPr/>
          <p:nvPr/>
        </p:nvCxnSpPr>
        <p:spPr>
          <a:xfrm>
            <a:off x="6460273" y="4319239"/>
            <a:ext cx="364273" cy="0"/>
          </a:xfrm>
          <a:prstGeom prst="line">
            <a:avLst/>
          </a:prstGeom>
          <a:ln w="28575"/>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A5CDAD69-4876-2A29-68DA-750013B3A7BA}"/>
              </a:ext>
            </a:extLst>
          </p:cNvPr>
          <p:cNvCxnSpPr/>
          <p:nvPr/>
        </p:nvCxnSpPr>
        <p:spPr>
          <a:xfrm>
            <a:off x="6824546" y="4036742"/>
            <a:ext cx="364273" cy="0"/>
          </a:xfrm>
          <a:prstGeom prst="line">
            <a:avLst/>
          </a:prstGeom>
          <a:ln w="285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974654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A009EF-131D-A4D6-EB9A-4F6948FFE66C}"/>
              </a:ext>
            </a:extLst>
          </p:cNvPr>
          <p:cNvSpPr>
            <a:spLocks noGrp="1"/>
          </p:cNvSpPr>
          <p:nvPr>
            <p:ph type="title"/>
          </p:nvPr>
        </p:nvSpPr>
        <p:spPr/>
        <p:txBody>
          <a:bodyPr/>
          <a:lstStyle/>
          <a:p>
            <a:r>
              <a:rPr lang="en-US" dirty="0"/>
              <a:t>Today’s examples</a:t>
            </a:r>
          </a:p>
        </p:txBody>
      </p:sp>
      <p:sp>
        <p:nvSpPr>
          <p:cNvPr id="3" name="Content Placeholder 2">
            <a:extLst>
              <a:ext uri="{FF2B5EF4-FFF2-40B4-BE49-F238E27FC236}">
                <a16:creationId xmlns:a16="http://schemas.microsoft.com/office/drawing/2014/main" id="{D0BBDFDE-078C-B93E-80A1-949D21553B29}"/>
              </a:ext>
            </a:extLst>
          </p:cNvPr>
          <p:cNvSpPr>
            <a:spLocks noGrp="1"/>
          </p:cNvSpPr>
          <p:nvPr>
            <p:ph idx="1"/>
          </p:nvPr>
        </p:nvSpPr>
        <p:spPr/>
        <p:txBody>
          <a:bodyPr/>
          <a:lstStyle/>
          <a:p>
            <a:endParaRPr lang="en-US" dirty="0"/>
          </a:p>
          <a:p>
            <a:r>
              <a:rPr lang="en-US" dirty="0"/>
              <a:t>Back to basics (pizza/beer) for a few things – trying to keep things simple/easy</a:t>
            </a:r>
          </a:p>
          <a:p>
            <a:pPr lvl="1"/>
            <a:r>
              <a:rPr lang="en-US" dirty="0"/>
              <a:t>Any examples here could be adapted to your projects</a:t>
            </a:r>
          </a:p>
          <a:p>
            <a:endParaRPr lang="en-US" dirty="0"/>
          </a:p>
          <a:p>
            <a:r>
              <a:rPr lang="en-US" dirty="0"/>
              <a:t>Ramsey model pre-coded.. so many areas for mistakes.. Can cover in more detail in next few classes</a:t>
            </a:r>
          </a:p>
        </p:txBody>
      </p:sp>
    </p:spTree>
    <p:extLst>
      <p:ext uri="{BB962C8B-B14F-4D97-AF65-F5344CB8AC3E}">
        <p14:creationId xmlns:p14="http://schemas.microsoft.com/office/powerpoint/2010/main" val="18197060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6D830-5544-D7D8-8467-1688BA05CE29}"/>
              </a:ext>
            </a:extLst>
          </p:cNvPr>
          <p:cNvSpPr>
            <a:spLocks noGrp="1"/>
          </p:cNvSpPr>
          <p:nvPr>
            <p:ph type="title"/>
          </p:nvPr>
        </p:nvSpPr>
        <p:spPr>
          <a:xfrm>
            <a:off x="553212" y="365125"/>
            <a:ext cx="10800588" cy="1325563"/>
          </a:xfrm>
        </p:spPr>
        <p:txBody>
          <a:bodyPr/>
          <a:lstStyle/>
          <a:p>
            <a:r>
              <a:rPr lang="en-US" dirty="0"/>
              <a:t>Agenda – next few classes (aka this slide deck)</a:t>
            </a:r>
          </a:p>
        </p:txBody>
      </p:sp>
      <p:sp>
        <p:nvSpPr>
          <p:cNvPr id="3" name="Content Placeholder 2">
            <a:extLst>
              <a:ext uri="{FF2B5EF4-FFF2-40B4-BE49-F238E27FC236}">
                <a16:creationId xmlns:a16="http://schemas.microsoft.com/office/drawing/2014/main" id="{0009427B-EA54-88B6-ED71-B3F03115B8CA}"/>
              </a:ext>
            </a:extLst>
          </p:cNvPr>
          <p:cNvSpPr>
            <a:spLocks noGrp="1"/>
          </p:cNvSpPr>
          <p:nvPr>
            <p:ph idx="1"/>
          </p:nvPr>
        </p:nvSpPr>
        <p:spPr>
          <a:xfrm>
            <a:off x="553212" y="2048255"/>
            <a:ext cx="11085576" cy="3982403"/>
          </a:xfrm>
        </p:spPr>
        <p:txBody>
          <a:bodyPr>
            <a:normAutofit fontScale="92500" lnSpcReduction="10000"/>
          </a:bodyPr>
          <a:lstStyle/>
          <a:p>
            <a:r>
              <a:rPr lang="en-US" strike="sngStrike" dirty="0"/>
              <a:t>Brief review of electricity dispatch Lagrangian and interpretation</a:t>
            </a:r>
          </a:p>
          <a:p>
            <a:r>
              <a:rPr lang="en-US" strike="sngStrike" dirty="0"/>
              <a:t>Coding up that model</a:t>
            </a:r>
          </a:p>
          <a:p>
            <a:r>
              <a:rPr lang="en-US" strike="sngStrike" dirty="0"/>
              <a:t>Plotting results, adding elasticity, comparing</a:t>
            </a:r>
          </a:p>
          <a:p>
            <a:r>
              <a:rPr lang="en-US" dirty="0"/>
              <a:t>Rambling on investment and terminal conditions</a:t>
            </a:r>
          </a:p>
          <a:p>
            <a:r>
              <a:rPr lang="en-US" dirty="0"/>
              <a:t>Moving into discussion on NLP market models</a:t>
            </a:r>
          </a:p>
          <a:p>
            <a:pPr lvl="1"/>
            <a:r>
              <a:rPr lang="en-US" dirty="0"/>
              <a:t>Basics</a:t>
            </a:r>
          </a:p>
          <a:p>
            <a:pPr lvl="1"/>
            <a:r>
              <a:rPr lang="en-US" dirty="0"/>
              <a:t>Utility maximization (pizza/beer)</a:t>
            </a:r>
          </a:p>
          <a:p>
            <a:pPr lvl="1"/>
            <a:r>
              <a:rPr lang="en-US" dirty="0"/>
              <a:t>Supply competition (gas/</a:t>
            </a:r>
            <a:r>
              <a:rPr lang="en-US" dirty="0" err="1"/>
              <a:t>oth</a:t>
            </a:r>
            <a:r>
              <a:rPr lang="en-US" dirty="0"/>
              <a:t>)</a:t>
            </a:r>
          </a:p>
          <a:p>
            <a:pPr lvl="1"/>
            <a:r>
              <a:rPr lang="en-US" dirty="0"/>
              <a:t>Ramsey model - tentative</a:t>
            </a:r>
          </a:p>
          <a:p>
            <a:r>
              <a:rPr lang="en-US" dirty="0"/>
              <a:t>Then: Duality, converting models to MCPs</a:t>
            </a:r>
          </a:p>
        </p:txBody>
      </p:sp>
    </p:spTree>
    <p:extLst>
      <p:ext uri="{BB962C8B-B14F-4D97-AF65-F5344CB8AC3E}">
        <p14:creationId xmlns:p14="http://schemas.microsoft.com/office/powerpoint/2010/main" val="7660034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CE6A3A-8123-D376-24CB-780A38ED3D89}"/>
              </a:ext>
            </a:extLst>
          </p:cNvPr>
          <p:cNvSpPr>
            <a:spLocks noGrp="1"/>
          </p:cNvSpPr>
          <p:nvPr>
            <p:ph type="title"/>
          </p:nvPr>
        </p:nvSpPr>
        <p:spPr/>
        <p:txBody>
          <a:bodyPr/>
          <a:lstStyle/>
          <a:p>
            <a:r>
              <a:rPr lang="en-US" dirty="0"/>
              <a:t>Investment – overview/ramblings</a:t>
            </a:r>
          </a:p>
        </p:txBody>
      </p:sp>
      <p:sp>
        <p:nvSpPr>
          <p:cNvPr id="3" name="Content Placeholder 2">
            <a:extLst>
              <a:ext uri="{FF2B5EF4-FFF2-40B4-BE49-F238E27FC236}">
                <a16:creationId xmlns:a16="http://schemas.microsoft.com/office/drawing/2014/main" id="{2E5D3C7D-ECC3-2A85-048D-FDBA27042ECF}"/>
              </a:ext>
            </a:extLst>
          </p:cNvPr>
          <p:cNvSpPr>
            <a:spLocks noGrp="1"/>
          </p:cNvSpPr>
          <p:nvPr>
            <p:ph idx="1"/>
          </p:nvPr>
        </p:nvSpPr>
        <p:spPr>
          <a:xfrm>
            <a:off x="838200" y="1825625"/>
            <a:ext cx="10515600" cy="4819724"/>
          </a:xfrm>
        </p:spPr>
        <p:txBody>
          <a:bodyPr>
            <a:normAutofit/>
          </a:bodyPr>
          <a:lstStyle/>
          <a:p>
            <a:r>
              <a:rPr lang="en-US" dirty="0"/>
              <a:t>Big decision: myopic vs intertemporal</a:t>
            </a:r>
          </a:p>
          <a:p>
            <a:pPr lvl="1"/>
            <a:r>
              <a:rPr lang="en-US" dirty="0"/>
              <a:t>Myopic: no foresight</a:t>
            </a:r>
          </a:p>
          <a:p>
            <a:pPr lvl="1"/>
            <a:r>
              <a:rPr lang="en-US" dirty="0"/>
              <a:t>‘Window’ : limited foresight</a:t>
            </a:r>
          </a:p>
          <a:p>
            <a:pPr lvl="1"/>
            <a:r>
              <a:rPr lang="en-US" dirty="0"/>
              <a:t>Intertemporal: full foresight</a:t>
            </a:r>
          </a:p>
          <a:p>
            <a:r>
              <a:rPr lang="en-US" dirty="0"/>
              <a:t>Can write as a general setup that allows for all three</a:t>
            </a:r>
          </a:p>
          <a:p>
            <a:r>
              <a:rPr lang="en-US" dirty="0"/>
              <a:t>Choice will determine how you calculate the discount/present value factor (PVF) and distinguishing between capital (k) and operations (v)</a:t>
            </a:r>
          </a:p>
          <a:p>
            <a:r>
              <a:rPr lang="en-US" dirty="0"/>
              <a:t>Alternatively, can represent as annualized cash flow/balance</a:t>
            </a:r>
          </a:p>
        </p:txBody>
      </p:sp>
    </p:spTree>
    <p:extLst>
      <p:ext uri="{BB962C8B-B14F-4D97-AF65-F5344CB8AC3E}">
        <p14:creationId xmlns:p14="http://schemas.microsoft.com/office/powerpoint/2010/main" val="41280872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DBEE66-A0F6-2F2F-E285-8C6CBA5D35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BE5B9D-C4C4-93C9-7E6F-8F13E5248607}"/>
              </a:ext>
            </a:extLst>
          </p:cNvPr>
          <p:cNvSpPr>
            <a:spLocks noGrp="1"/>
          </p:cNvSpPr>
          <p:nvPr>
            <p:ph type="title"/>
          </p:nvPr>
        </p:nvSpPr>
        <p:spPr/>
        <p:txBody>
          <a:bodyPr/>
          <a:lstStyle/>
          <a:p>
            <a:r>
              <a:rPr lang="en-US" dirty="0"/>
              <a:t>Investment – terminal conditions</a:t>
            </a:r>
          </a:p>
        </p:txBody>
      </p:sp>
      <p:sp>
        <p:nvSpPr>
          <p:cNvPr id="3" name="Content Placeholder 2">
            <a:extLst>
              <a:ext uri="{FF2B5EF4-FFF2-40B4-BE49-F238E27FC236}">
                <a16:creationId xmlns:a16="http://schemas.microsoft.com/office/drawing/2014/main" id="{AE36B7B0-E6FC-ACD0-6B05-7B7D1CED7293}"/>
              </a:ext>
            </a:extLst>
          </p:cNvPr>
          <p:cNvSpPr>
            <a:spLocks noGrp="1"/>
          </p:cNvSpPr>
          <p:nvPr>
            <p:ph idx="1"/>
          </p:nvPr>
        </p:nvSpPr>
        <p:spPr>
          <a:xfrm>
            <a:off x="838200" y="1335506"/>
            <a:ext cx="10515600" cy="5305926"/>
          </a:xfrm>
        </p:spPr>
        <p:txBody>
          <a:bodyPr>
            <a:normAutofit/>
          </a:bodyPr>
          <a:lstStyle/>
          <a:p>
            <a:r>
              <a:rPr lang="en-US" b="1" i="1" dirty="0"/>
              <a:t>Terminal conditions</a:t>
            </a:r>
            <a:r>
              <a:rPr lang="en-US" dirty="0"/>
              <a:t>: what happens when time ends</a:t>
            </a:r>
          </a:p>
          <a:p>
            <a:r>
              <a:rPr lang="en-US" dirty="0"/>
              <a:t>For myopic, need to weight by a certain number of years. For example, I’m choosing investment now and looking for a payback in the next X years</a:t>
            </a:r>
          </a:p>
          <a:p>
            <a:r>
              <a:rPr lang="en-US" dirty="0"/>
              <a:t>For intertemporal/window, four options:</a:t>
            </a:r>
          </a:p>
          <a:p>
            <a:pPr lvl="1"/>
            <a:r>
              <a:rPr lang="en-US" dirty="0"/>
              <a:t>Do nothing – a lot of models do this (but it is wrong)</a:t>
            </a:r>
          </a:p>
          <a:p>
            <a:pPr lvl="1"/>
            <a:r>
              <a:rPr lang="en-US" dirty="0"/>
              <a:t>Weight the last year(s) similar to a myopic solve - easy</a:t>
            </a:r>
          </a:p>
          <a:p>
            <a:pPr lvl="1"/>
            <a:r>
              <a:rPr lang="en-US" dirty="0"/>
              <a:t>Solve to T+X years, cut solution to T – also wrong, but convenient</a:t>
            </a:r>
          </a:p>
          <a:p>
            <a:pPr lvl="1"/>
            <a:r>
              <a:rPr lang="en-US" dirty="0"/>
              <a:t>Salvage value of investment – complicated (sometimes)</a:t>
            </a:r>
          </a:p>
          <a:p>
            <a:pPr lvl="1"/>
            <a:r>
              <a:rPr lang="en-US" dirty="0"/>
              <a:t>Barr-Manne terminal investment condition..</a:t>
            </a:r>
          </a:p>
          <a:p>
            <a:pPr lvl="2"/>
            <a:r>
              <a:rPr lang="en-US" dirty="0"/>
              <a:t>Basically: make enough investment in the terminal period to sustain the near future</a:t>
            </a:r>
          </a:p>
          <a:p>
            <a:pPr lvl="2"/>
            <a:r>
              <a:rPr lang="en-US" dirty="0"/>
              <a:t>Difficult when you have many technologies</a:t>
            </a:r>
          </a:p>
          <a:p>
            <a:pPr lvl="2"/>
            <a:r>
              <a:rPr lang="en-US" dirty="0"/>
              <a:t>Covered more in the Ramsey model</a:t>
            </a:r>
          </a:p>
        </p:txBody>
      </p:sp>
    </p:spTree>
    <p:extLst>
      <p:ext uri="{BB962C8B-B14F-4D97-AF65-F5344CB8AC3E}">
        <p14:creationId xmlns:p14="http://schemas.microsoft.com/office/powerpoint/2010/main" val="8373595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B76B7-6AD7-5C98-8FA9-95C0EF910B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8ACE8B-FE03-F704-461B-A3D9BE81E895}"/>
              </a:ext>
            </a:extLst>
          </p:cNvPr>
          <p:cNvSpPr>
            <a:spLocks noGrp="1"/>
          </p:cNvSpPr>
          <p:nvPr>
            <p:ph type="title"/>
          </p:nvPr>
        </p:nvSpPr>
        <p:spPr/>
        <p:txBody>
          <a:bodyPr/>
          <a:lstStyle/>
          <a:p>
            <a:r>
              <a:rPr lang="en-US" dirty="0"/>
              <a:t>General investment model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1E778C-07AE-7E5D-A493-370B834A65D2}"/>
                  </a:ext>
                </a:extLst>
              </p:cNvPr>
              <p:cNvSpPr>
                <a:spLocks noGrp="1"/>
              </p:cNvSpPr>
              <p:nvPr>
                <p:ph idx="1"/>
              </p:nvPr>
            </p:nvSpPr>
            <p:spPr>
              <a:xfrm>
                <a:off x="838200" y="1371600"/>
                <a:ext cx="9881937" cy="5329990"/>
              </a:xfrm>
            </p:spPr>
            <p:txBody>
              <a:bodyPr>
                <a:normAutofit fontScale="77500" lnSpcReduction="20000"/>
              </a:bodyPr>
              <a:lstStyle/>
              <a:p>
                <a:r>
                  <a:rPr lang="en-US" dirty="0"/>
                  <a:t>Indices:</a:t>
                </a:r>
              </a:p>
              <a:p>
                <a:pPr lvl="1"/>
                <a14:m>
                  <m:oMath xmlns:m="http://schemas.openxmlformats.org/officeDocument/2006/math">
                    <m:r>
                      <a:rPr lang="en-US" b="0" i="1" smtClean="0">
                        <a:latin typeface="Cambria Math" panose="02040503050406030204" pitchFamily="18" charset="0"/>
                      </a:rPr>
                      <m:t>𝑖</m:t>
                    </m:r>
                  </m:oMath>
                </a14:m>
                <a:r>
                  <a:rPr lang="en-US" dirty="0"/>
                  <a:t>: technology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𝑖</m:t>
                        </m:r>
                        <m:r>
                          <a:rPr lang="en-US" b="0" i="1" smtClean="0">
                            <a:latin typeface="Cambria Math" panose="02040503050406030204" pitchFamily="18" charset="0"/>
                          </a:rPr>
                          <m:t>1,</m:t>
                        </m:r>
                        <m:r>
                          <a:rPr lang="en-US" b="0" i="1" smtClean="0">
                            <a:latin typeface="Cambria Math" panose="02040503050406030204" pitchFamily="18" charset="0"/>
                          </a:rPr>
                          <m:t>𝑖</m:t>
                        </m:r>
                        <m:r>
                          <a:rPr lang="en-US" b="0" i="1" smtClean="0">
                            <a:latin typeface="Cambria Math" panose="02040503050406030204" pitchFamily="18" charset="0"/>
                          </a:rPr>
                          <m:t>2,</m:t>
                        </m:r>
                        <m:r>
                          <a:rPr lang="en-US" b="0" i="1" smtClean="0">
                            <a:latin typeface="Cambria Math" panose="02040503050406030204" pitchFamily="18" charset="0"/>
                          </a:rPr>
                          <m:t>𝑖</m:t>
                        </m:r>
                        <m:r>
                          <a:rPr lang="en-US" b="0" i="1" smtClean="0">
                            <a:latin typeface="Cambria Math" panose="02040503050406030204" pitchFamily="18" charset="0"/>
                          </a:rPr>
                          <m:t>3,…</m:t>
                        </m:r>
                      </m:e>
                    </m:d>
                  </m:oMath>
                </a14:m>
                <a:endParaRPr lang="en-US" b="0" dirty="0"/>
              </a:p>
              <a:p>
                <a:pPr lvl="1"/>
                <a14:m>
                  <m:oMath xmlns:m="http://schemas.openxmlformats.org/officeDocument/2006/math">
                    <m:r>
                      <a:rPr lang="en-US" b="0" i="1" smtClean="0">
                        <a:latin typeface="Cambria Math" panose="02040503050406030204" pitchFamily="18" charset="0"/>
                      </a:rPr>
                      <m:t>𝑡</m:t>
                    </m:r>
                  </m:oMath>
                </a14:m>
                <a:r>
                  <a:rPr lang="en-US" dirty="0"/>
                  <a:t>: time/year </a:t>
                </a:r>
                <a14:m>
                  <m:oMath xmlns:m="http://schemas.openxmlformats.org/officeDocument/2006/math">
                    <m:r>
                      <a:rPr lang="en-US" b="0" i="1" smtClean="0">
                        <a:latin typeface="Cambria Math" panose="02040503050406030204" pitchFamily="18" charset="0"/>
                      </a:rPr>
                      <m:t>∈{2024, 2025, …}</m:t>
                    </m:r>
                  </m:oMath>
                </a14:m>
                <a:endParaRPr lang="en-US" dirty="0"/>
              </a:p>
              <a:p>
                <a:pPr lvl="1"/>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𝑡</m:t>
                        </m:r>
                      </m:e>
                      <m:sup>
                        <m:r>
                          <a:rPr lang="en-US" b="0" i="1" smtClean="0">
                            <a:latin typeface="Cambria Math" panose="02040503050406030204" pitchFamily="18" charset="0"/>
                          </a:rPr>
                          <m:t>𝑚</m:t>
                        </m:r>
                      </m:sup>
                    </m:sSup>
                  </m:oMath>
                </a14:m>
                <a:r>
                  <a:rPr lang="en-US" dirty="0"/>
                  <a:t>: modeled year(s)</a:t>
                </a:r>
              </a:p>
              <a:p>
                <a:endParaRPr lang="en-US" dirty="0"/>
              </a:p>
              <a:p>
                <a:r>
                  <a:rPr lang="en-US" dirty="0"/>
                  <a:t>Parameters:</a:t>
                </a:r>
              </a:p>
              <a:p>
                <a:pPr lvl="1"/>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𝛿</m:t>
                        </m:r>
                      </m:e>
                      <m:sub>
                        <m:r>
                          <a:rPr lang="en-US" b="0" i="1" smtClean="0">
                            <a:latin typeface="Cambria Math" panose="02040503050406030204" pitchFamily="18" charset="0"/>
                          </a:rPr>
                          <m:t>𝑡</m:t>
                        </m:r>
                      </m:sub>
                      <m:sup>
                        <m:r>
                          <a:rPr lang="en-US" b="0" i="1" smtClean="0">
                            <a:latin typeface="Cambria Math" panose="02040503050406030204" pitchFamily="18" charset="0"/>
                          </a:rPr>
                          <m:t>𝑘</m:t>
                        </m:r>
                      </m:sup>
                    </m:sSubSup>
                  </m:oMath>
                </a14:m>
                <a:r>
                  <a:rPr lang="en-US" dirty="0"/>
                  <a:t>: discount factor for capital</a:t>
                </a:r>
              </a:p>
              <a:p>
                <a:pPr lvl="1"/>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𝛿</m:t>
                        </m:r>
                      </m:e>
                      <m:sub>
                        <m:r>
                          <a:rPr lang="en-US" b="0" i="1" smtClean="0">
                            <a:latin typeface="Cambria Math" panose="02040503050406030204" pitchFamily="18" charset="0"/>
                          </a:rPr>
                          <m:t>𝑡</m:t>
                        </m:r>
                      </m:sub>
                      <m:sup>
                        <m:r>
                          <a:rPr lang="en-US" b="0" i="1" smtClean="0">
                            <a:latin typeface="Cambria Math" panose="02040503050406030204" pitchFamily="18" charset="0"/>
                          </a:rPr>
                          <m:t>𝑣</m:t>
                        </m:r>
                      </m:sup>
                    </m:sSubSup>
                  </m:oMath>
                </a14:m>
                <a:r>
                  <a:rPr lang="en-US" dirty="0"/>
                  <a:t>: discount factor for operations</a:t>
                </a:r>
              </a:p>
              <a:p>
                <a:pPr lvl="1"/>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𝑐</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sub>
                      <m:sup>
                        <m:r>
                          <a:rPr lang="en-US" b="0" i="1" smtClean="0">
                            <a:latin typeface="Cambria Math" panose="02040503050406030204" pitchFamily="18" charset="0"/>
                          </a:rPr>
                          <m:t>𝑋</m:t>
                        </m:r>
                      </m:sup>
                    </m:sSubSup>
                  </m:oMath>
                </a14:m>
                <a:r>
                  <a:rPr lang="en-US" dirty="0"/>
                  <a:t>: cost of operations  ($ / output unit)</a:t>
                </a:r>
              </a:p>
              <a:p>
                <a:pPr lvl="1"/>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𝑐</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sub>
                      <m:sup>
                        <m:r>
                          <a:rPr lang="en-US" b="0" i="1" smtClean="0">
                            <a:latin typeface="Cambria Math" panose="02040503050406030204" pitchFamily="18" charset="0"/>
                          </a:rPr>
                          <m:t>𝐾</m:t>
                        </m:r>
                      </m:sup>
                    </m:sSubSup>
                  </m:oMath>
                </a14:m>
                <a:r>
                  <a:rPr lang="en-US" dirty="0"/>
                  <a:t>: fixed cost of capacity ($ / unit of capacity-</a:t>
                </a:r>
                <a:r>
                  <a:rPr lang="en-US" dirty="0" err="1"/>
                  <a:t>yr</a:t>
                </a:r>
                <a:r>
                  <a:rPr lang="en-US" dirty="0"/>
                  <a:t>)</a:t>
                </a:r>
              </a:p>
              <a:p>
                <a:pPr lvl="1"/>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𝑐</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𝑖</m:t>
                        </m:r>
                      </m:sub>
                      <m:sup>
                        <m:r>
                          <a:rPr lang="en-US" b="0" i="1" smtClean="0">
                            <a:latin typeface="Cambria Math" panose="02040503050406030204" pitchFamily="18" charset="0"/>
                          </a:rPr>
                          <m:t>𝐼</m:t>
                        </m:r>
                      </m:sup>
                    </m:sSubSup>
                  </m:oMath>
                </a14:m>
                <a:r>
                  <a:rPr lang="en-US" dirty="0"/>
                  <a:t>: cost of investment ($ / unit of installed capacity)</a:t>
                </a:r>
              </a:p>
              <a:p>
                <a:pPr lvl="1"/>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𝑘</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sub>
                      <m:sup>
                        <m:r>
                          <a:rPr lang="en-US" b="0" i="1" smtClean="0">
                            <a:latin typeface="Cambria Math" panose="02040503050406030204" pitchFamily="18" charset="0"/>
                          </a:rPr>
                          <m:t>0</m:t>
                        </m:r>
                      </m:sup>
                    </m:sSubSup>
                  </m:oMath>
                </a14:m>
                <a:r>
                  <a:rPr lang="en-US" dirty="0"/>
                  <a:t>: initial/exogenous capacity (output units-</a:t>
                </a:r>
                <a:r>
                  <a:rPr lang="en-US" dirty="0" err="1"/>
                  <a:t>yr</a:t>
                </a:r>
                <a:r>
                  <a:rPr lang="en-US" dirty="0"/>
                  <a:t>)</a:t>
                </a:r>
              </a:p>
              <a:p>
                <a:endParaRPr lang="en-US" dirty="0"/>
              </a:p>
              <a:p>
                <a:r>
                  <a:rPr lang="en-US" dirty="0"/>
                  <a:t>Variables:</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sub>
                    </m:sSub>
                  </m:oMath>
                </a14:m>
                <a:r>
                  <a:rPr lang="en-US" dirty="0"/>
                  <a:t>: operations (output units)</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sub>
                    </m:sSub>
                  </m:oMath>
                </a14:m>
                <a:r>
                  <a:rPr lang="en-US" dirty="0"/>
                  <a:t>: capacity (output units / year)</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sub>
                    </m:sSub>
                  </m:oMath>
                </a14:m>
                <a:r>
                  <a:rPr lang="en-US" dirty="0"/>
                  <a:t>: investment (output units / year)</a:t>
                </a:r>
              </a:p>
            </p:txBody>
          </p:sp>
        </mc:Choice>
        <mc:Fallback xmlns="">
          <p:sp>
            <p:nvSpPr>
              <p:cNvPr id="3" name="Content Placeholder 2">
                <a:extLst>
                  <a:ext uri="{FF2B5EF4-FFF2-40B4-BE49-F238E27FC236}">
                    <a16:creationId xmlns:a16="http://schemas.microsoft.com/office/drawing/2014/main" id="{F21E778C-07AE-7E5D-A493-370B834A65D2}"/>
                  </a:ext>
                </a:extLst>
              </p:cNvPr>
              <p:cNvSpPr>
                <a:spLocks noGrp="1" noRot="1" noChangeAspect="1" noMove="1" noResize="1" noEditPoints="1" noAdjustHandles="1" noChangeArrowheads="1" noChangeShapeType="1" noTextEdit="1"/>
              </p:cNvSpPr>
              <p:nvPr>
                <p:ph idx="1"/>
              </p:nvPr>
            </p:nvSpPr>
            <p:spPr>
              <a:xfrm>
                <a:off x="838200" y="1371600"/>
                <a:ext cx="9881937" cy="5329990"/>
              </a:xfrm>
              <a:blipFill>
                <a:blip r:embed="rId2"/>
                <a:stretch>
                  <a:fillRect l="-770" t="-2381"/>
                </a:stretch>
              </a:blipFill>
            </p:spPr>
            <p:txBody>
              <a:bodyPr/>
              <a:lstStyle/>
              <a:p>
                <a:r>
                  <a:rPr lang="en-US">
                    <a:noFill/>
                  </a:rPr>
                  <a:t> </a:t>
                </a:r>
              </a:p>
            </p:txBody>
          </p:sp>
        </mc:Fallback>
      </mc:AlternateContent>
    </p:spTree>
    <p:extLst>
      <p:ext uri="{BB962C8B-B14F-4D97-AF65-F5344CB8AC3E}">
        <p14:creationId xmlns:p14="http://schemas.microsoft.com/office/powerpoint/2010/main" val="31657481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C6286-C0FB-1599-95AF-90CA250CDC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FBB733-5DFE-56CF-6571-384BBE2BA3C5}"/>
              </a:ext>
            </a:extLst>
          </p:cNvPr>
          <p:cNvSpPr>
            <a:spLocks noGrp="1"/>
          </p:cNvSpPr>
          <p:nvPr>
            <p:ph type="title"/>
          </p:nvPr>
        </p:nvSpPr>
        <p:spPr/>
        <p:txBody>
          <a:bodyPr/>
          <a:lstStyle/>
          <a:p>
            <a:r>
              <a:rPr lang="en-US" dirty="0"/>
              <a:t>General investment concept</a:t>
            </a:r>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A1E43F82-8C7E-5605-9A22-7ACDBD3671A5}"/>
                  </a:ext>
                </a:extLst>
              </p:cNvPr>
              <p:cNvSpPr txBox="1">
                <a:spLocks/>
              </p:cNvSpPr>
              <p:nvPr/>
            </p:nvSpPr>
            <p:spPr>
              <a:xfrm>
                <a:off x="838200" y="1541721"/>
                <a:ext cx="10515600" cy="512377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Objective function</a:t>
                </a:r>
              </a:p>
              <a:p>
                <a:endParaRPr lang="en-US" dirty="0"/>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i="1" smtClean="0">
                              <a:latin typeface="Cambria Math" panose="02040503050406030204" pitchFamily="18" charset="0"/>
                            </a:rPr>
                          </m:ctrlPr>
                        </m:mPr>
                        <m:mr>
                          <m:e>
                            <m:r>
                              <m:rPr>
                                <m:brk m:alnAt="7"/>
                              </m:rPr>
                              <a:rPr lang="en-US" i="1" smtClean="0">
                                <a:latin typeface="Cambria Math" panose="02040503050406030204" pitchFamily="18" charset="0"/>
                              </a:rPr>
                              <m:t>𝑚</m:t>
                            </m:r>
                            <m:r>
                              <a:rPr lang="en-US" i="1" smtClean="0">
                                <a:latin typeface="Cambria Math" panose="02040503050406030204" pitchFamily="18" charset="0"/>
                              </a:rPr>
                              <m:t>𝑖𝑛</m:t>
                            </m:r>
                          </m:e>
                        </m:mr>
                        <m:mr>
                          <m:e>
                            <m:sSub>
                              <m:sSubPr>
                                <m:ctrlPr>
                                  <a:rPr lang="en-US" i="1" smtClean="0">
                                    <a:latin typeface="Cambria Math" panose="02040503050406030204" pitchFamily="18" charset="0"/>
                                  </a:rPr>
                                </m:ctrlPr>
                              </m:sSubPr>
                              <m:e>
                                <m:r>
                                  <a:rPr lang="en-US" i="1" smtClean="0">
                                    <a:latin typeface="Cambria Math" panose="02040503050406030204" pitchFamily="18" charset="0"/>
                                  </a:rPr>
                                  <m:t>𝑋</m:t>
                                </m:r>
                              </m:e>
                              <m:sub>
                                <m:r>
                                  <a:rPr lang="en-US" i="1" smtClean="0">
                                    <a:latin typeface="Cambria Math" panose="02040503050406030204" pitchFamily="18" charset="0"/>
                                  </a:rPr>
                                  <m:t>𝑖</m:t>
                                </m:r>
                                <m:r>
                                  <a:rPr lang="en-US" i="1" smtClean="0">
                                    <a:latin typeface="Cambria Math" panose="02040503050406030204" pitchFamily="18" charset="0"/>
                                  </a:rPr>
                                  <m:t>,</m:t>
                                </m:r>
                                <m:r>
                                  <a:rPr lang="en-US" i="1" smtClean="0">
                                    <a:latin typeface="Cambria Math" panose="02040503050406030204" pitchFamily="18" charset="0"/>
                                  </a:rPr>
                                  <m:t>𝑡</m:t>
                                </m:r>
                              </m:sub>
                            </m:sSub>
                            <m:r>
                              <a:rPr lang="en-US" i="1" smtClean="0">
                                <a:latin typeface="Cambria Math" panose="02040503050406030204" pitchFamily="18" charset="0"/>
                              </a:rPr>
                              <m:t>,</m:t>
                            </m:r>
                            <m:sSub>
                              <m:sSubPr>
                                <m:ctrlPr>
                                  <a:rPr lang="en-US" i="1" smtClean="0">
                                    <a:latin typeface="Cambria Math" panose="02040503050406030204" pitchFamily="18" charset="0"/>
                                  </a:rPr>
                                </m:ctrlPr>
                              </m:sSubPr>
                              <m:e>
                                <m:r>
                                  <a:rPr lang="en-US" i="1" smtClean="0">
                                    <a:latin typeface="Cambria Math" panose="02040503050406030204" pitchFamily="18" charset="0"/>
                                  </a:rPr>
                                  <m:t>𝐼</m:t>
                                </m:r>
                              </m:e>
                              <m:sub>
                                <m:r>
                                  <a:rPr lang="en-US" i="1" smtClean="0">
                                    <a:latin typeface="Cambria Math" panose="02040503050406030204" pitchFamily="18" charset="0"/>
                                  </a:rPr>
                                  <m:t>𝑖</m:t>
                                </m:r>
                                <m:r>
                                  <a:rPr lang="en-US" i="1" smtClean="0">
                                    <a:latin typeface="Cambria Math" panose="02040503050406030204" pitchFamily="18" charset="0"/>
                                  </a:rPr>
                                  <m:t>,</m:t>
                                </m:r>
                                <m:r>
                                  <a:rPr lang="en-US" i="1" smtClean="0">
                                    <a:latin typeface="Cambria Math" panose="02040503050406030204" pitchFamily="18" charset="0"/>
                                  </a:rPr>
                                  <m:t>𝑡</m:t>
                                </m:r>
                              </m:sub>
                            </m:sSub>
                            <m:r>
                              <a:rPr lang="en-US" i="1" smtClean="0">
                                <a:latin typeface="Cambria Math" panose="02040503050406030204" pitchFamily="18" charset="0"/>
                              </a:rPr>
                              <m:t>,</m:t>
                            </m:r>
                            <m:sSub>
                              <m:sSubPr>
                                <m:ctrlPr>
                                  <a:rPr lang="en-US" i="1" smtClean="0">
                                    <a:latin typeface="Cambria Math" panose="02040503050406030204" pitchFamily="18" charset="0"/>
                                  </a:rPr>
                                </m:ctrlPr>
                              </m:sSubPr>
                              <m:e>
                                <m:r>
                                  <a:rPr lang="en-US" i="1" smtClean="0">
                                    <a:latin typeface="Cambria Math" panose="02040503050406030204" pitchFamily="18" charset="0"/>
                                  </a:rPr>
                                  <m:t>𝐾</m:t>
                                </m:r>
                              </m:e>
                              <m:sub>
                                <m:r>
                                  <a:rPr lang="en-US" i="1" smtClean="0">
                                    <a:latin typeface="Cambria Math" panose="02040503050406030204" pitchFamily="18" charset="0"/>
                                  </a:rPr>
                                  <m:t>𝑖</m:t>
                                </m:r>
                                <m:r>
                                  <a:rPr lang="en-US" i="1" smtClean="0">
                                    <a:latin typeface="Cambria Math" panose="02040503050406030204" pitchFamily="18" charset="0"/>
                                  </a:rPr>
                                  <m:t>,</m:t>
                                </m:r>
                                <m:r>
                                  <a:rPr lang="en-US" i="1" smtClean="0">
                                    <a:latin typeface="Cambria Math" panose="02040503050406030204" pitchFamily="18" charset="0"/>
                                  </a:rPr>
                                  <m:t>𝑡</m:t>
                                </m:r>
                              </m:sub>
                            </m:sSub>
                          </m:e>
                        </m:mr>
                      </m:m>
                      <m:nary>
                        <m:naryPr>
                          <m:chr m:val="∑"/>
                          <m:supHide m:val="on"/>
                          <m:ctrlPr>
                            <a:rPr lang="en-US" i="1" smtClean="0">
                              <a:latin typeface="Cambria Math" panose="02040503050406030204" pitchFamily="18" charset="0"/>
                            </a:rPr>
                          </m:ctrlPr>
                        </m:naryPr>
                        <m:sub>
                          <m:r>
                            <m:rPr>
                              <m:brk m:alnAt="7"/>
                            </m:rPr>
                            <a:rPr lang="en-US" i="1" smtClean="0">
                              <a:latin typeface="Cambria Math" panose="02040503050406030204" pitchFamily="18" charset="0"/>
                            </a:rPr>
                            <m:t>𝑖</m:t>
                          </m:r>
                          <m:r>
                            <a:rPr lang="en-US" i="1" smtClean="0">
                              <a:latin typeface="Cambria Math" panose="02040503050406030204" pitchFamily="18" charset="0"/>
                            </a:rPr>
                            <m:t>,</m:t>
                          </m:r>
                          <m:r>
                            <a:rPr lang="en-US" i="1" smtClean="0">
                              <a:latin typeface="Cambria Math" panose="02040503050406030204" pitchFamily="18" charset="0"/>
                            </a:rPr>
                            <m:t>𝑡</m:t>
                          </m:r>
                          <m:r>
                            <a:rPr lang="en-US" i="1" smtClean="0">
                              <a:latin typeface="Cambria Math" panose="02040503050406030204" pitchFamily="18" charset="0"/>
                            </a:rPr>
                            <m:t>∈</m:t>
                          </m:r>
                          <m:sSup>
                            <m:sSupPr>
                              <m:ctrlPr>
                                <a:rPr lang="en-US" i="1" smtClean="0">
                                  <a:latin typeface="Cambria Math" panose="02040503050406030204" pitchFamily="18" charset="0"/>
                                </a:rPr>
                              </m:ctrlPr>
                            </m:sSupPr>
                            <m:e>
                              <m:r>
                                <a:rPr lang="en-US" i="1" smtClean="0">
                                  <a:latin typeface="Cambria Math" panose="02040503050406030204" pitchFamily="18" charset="0"/>
                                </a:rPr>
                                <m:t>𝑡</m:t>
                              </m:r>
                            </m:e>
                            <m:sup>
                              <m:r>
                                <a:rPr lang="en-US" i="1" smtClean="0">
                                  <a:latin typeface="Cambria Math" panose="02040503050406030204" pitchFamily="18" charset="0"/>
                                </a:rPr>
                                <m:t>𝑚</m:t>
                              </m:r>
                            </m:sup>
                          </m:sSup>
                        </m:sub>
                        <m:sup/>
                        <m:e>
                          <m:sSubSup>
                            <m:sSubSupPr>
                              <m:ctrlPr>
                                <a:rPr lang="en-US" b="0" i="1" smtClean="0">
                                  <a:latin typeface="Cambria Math" panose="02040503050406030204" pitchFamily="18" charset="0"/>
                                </a:rPr>
                              </m:ctrlPr>
                            </m:sSubSupPr>
                            <m:e>
                              <m:r>
                                <a:rPr lang="en-US" i="1" smtClean="0">
                                  <a:latin typeface="Cambria Math" panose="02040503050406030204" pitchFamily="18" charset="0"/>
                                </a:rPr>
                                <m:t>𝛿</m:t>
                              </m:r>
                            </m:e>
                            <m:sub>
                              <m:r>
                                <a:rPr lang="en-US" b="0" i="1" smtClean="0">
                                  <a:latin typeface="Cambria Math" panose="02040503050406030204" pitchFamily="18" charset="0"/>
                                </a:rPr>
                                <m:t>𝑡</m:t>
                              </m:r>
                            </m:sub>
                            <m:sup>
                              <m:r>
                                <a:rPr lang="en-US" b="0" i="1" smtClean="0">
                                  <a:latin typeface="Cambria Math" panose="02040503050406030204" pitchFamily="18" charset="0"/>
                                </a:rPr>
                                <m:t>𝑘</m:t>
                              </m:r>
                            </m:sup>
                          </m:sSub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𝑐</m:t>
                              </m:r>
                            </m:e>
                            <m:sub>
                              <m:r>
                                <a:rPr lang="en-US" b="0" i="1" smtClean="0">
                                  <a:latin typeface="Cambria Math" panose="02040503050406030204" pitchFamily="18" charset="0"/>
                                </a:rPr>
                                <m:t>𝑡</m:t>
                              </m:r>
                            </m:sub>
                            <m:sup>
                              <m:r>
                                <a:rPr lang="en-US" b="0" i="1" smtClean="0">
                                  <a:latin typeface="Cambria Math" panose="02040503050406030204" pitchFamily="18" charset="0"/>
                                </a:rPr>
                                <m:t>𝐼</m:t>
                              </m:r>
                            </m:sup>
                          </m:sSubSup>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sub>
                          </m:sSub>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𝛿</m:t>
                              </m:r>
                            </m:e>
                            <m:sub>
                              <m:r>
                                <a:rPr lang="en-US" b="0" i="1" smtClean="0">
                                  <a:latin typeface="Cambria Math" panose="02040503050406030204" pitchFamily="18" charset="0"/>
                                </a:rPr>
                                <m:t>𝑡</m:t>
                              </m:r>
                            </m:sub>
                            <m:sup>
                              <m:r>
                                <a:rPr lang="en-US" b="0" i="1" smtClean="0">
                                  <a:latin typeface="Cambria Math" panose="02040503050406030204" pitchFamily="18" charset="0"/>
                                </a:rPr>
                                <m:t>𝑣</m:t>
                              </m:r>
                            </m:sup>
                          </m:sSubSup>
                          <m:d>
                            <m:dPr>
                              <m:ctrlPr>
                                <a:rPr lang="en-US" b="0" i="1" smtClean="0">
                                  <a:latin typeface="Cambria Math" panose="02040503050406030204" pitchFamily="18" charset="0"/>
                                </a:rPr>
                              </m:ctrlPr>
                            </m:dPr>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𝑐</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sub>
                                <m:sup>
                                  <m:r>
                                    <a:rPr lang="en-US" b="0" i="1" smtClean="0">
                                      <a:latin typeface="Cambria Math" panose="02040503050406030204" pitchFamily="18" charset="0"/>
                                    </a:rPr>
                                    <m:t>𝑋</m:t>
                                  </m:r>
                                </m:sup>
                              </m:sSubSup>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sub>
                              </m:sSub>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𝑐</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sub>
                                <m:sup>
                                  <m:r>
                                    <a:rPr lang="en-US" b="0" i="1" smtClean="0">
                                      <a:latin typeface="Cambria Math" panose="02040503050406030204" pitchFamily="18" charset="0"/>
                                    </a:rPr>
                                    <m:t>𝐾</m:t>
                                  </m:r>
                                </m:sup>
                              </m:sSubSup>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sub>
                              </m:sSub>
                            </m:e>
                          </m:d>
                        </m:e>
                      </m:nary>
                    </m:oMath>
                  </m:oMathPara>
                </a14:m>
                <a:endParaRPr lang="en-US" dirty="0"/>
              </a:p>
            </p:txBody>
          </p:sp>
        </mc:Choice>
        <mc:Fallback xmlns="">
          <p:sp>
            <p:nvSpPr>
              <p:cNvPr id="7" name="Content Placeholder 2">
                <a:extLst>
                  <a:ext uri="{FF2B5EF4-FFF2-40B4-BE49-F238E27FC236}">
                    <a16:creationId xmlns:a16="http://schemas.microsoft.com/office/drawing/2014/main" id="{A1E43F82-8C7E-5605-9A22-7ACDBD3671A5}"/>
                  </a:ext>
                </a:extLst>
              </p:cNvPr>
              <p:cNvSpPr txBox="1">
                <a:spLocks noRot="1" noChangeAspect="1" noMove="1" noResize="1" noEditPoints="1" noAdjustHandles="1" noChangeArrowheads="1" noChangeShapeType="1" noTextEdit="1"/>
              </p:cNvSpPr>
              <p:nvPr/>
            </p:nvSpPr>
            <p:spPr>
              <a:xfrm>
                <a:off x="838200" y="1541721"/>
                <a:ext cx="10515600" cy="5123774"/>
              </a:xfrm>
              <a:prstGeom prst="rect">
                <a:avLst/>
              </a:prstGeom>
              <a:blipFill>
                <a:blip r:embed="rId2"/>
                <a:stretch>
                  <a:fillRect l="-1086" t="-13366"/>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8EE38367-7778-5ABE-7F12-80F519DEB901}"/>
              </a:ext>
            </a:extLst>
          </p:cNvPr>
          <p:cNvSpPr txBox="1"/>
          <p:nvPr/>
        </p:nvSpPr>
        <p:spPr>
          <a:xfrm>
            <a:off x="4688181" y="3967066"/>
            <a:ext cx="1931363" cy="369332"/>
          </a:xfrm>
          <a:prstGeom prst="rect">
            <a:avLst/>
          </a:prstGeom>
          <a:noFill/>
        </p:spPr>
        <p:txBody>
          <a:bodyPr wrap="none" rtlCol="0">
            <a:spAutoFit/>
          </a:bodyPr>
          <a:lstStyle/>
          <a:p>
            <a:r>
              <a:rPr lang="en-US" dirty="0"/>
              <a:t>Investment Costs</a:t>
            </a:r>
          </a:p>
        </p:txBody>
      </p:sp>
      <p:sp>
        <p:nvSpPr>
          <p:cNvPr id="9" name="TextBox 8">
            <a:extLst>
              <a:ext uri="{FF2B5EF4-FFF2-40B4-BE49-F238E27FC236}">
                <a16:creationId xmlns:a16="http://schemas.microsoft.com/office/drawing/2014/main" id="{4CBCFA3B-5A87-62FE-58F7-18F1EBEC96D2}"/>
              </a:ext>
            </a:extLst>
          </p:cNvPr>
          <p:cNvSpPr txBox="1"/>
          <p:nvPr/>
        </p:nvSpPr>
        <p:spPr>
          <a:xfrm>
            <a:off x="7158704" y="3967066"/>
            <a:ext cx="1992918" cy="369332"/>
          </a:xfrm>
          <a:prstGeom prst="rect">
            <a:avLst/>
          </a:prstGeom>
          <a:noFill/>
        </p:spPr>
        <p:txBody>
          <a:bodyPr wrap="none" rtlCol="0">
            <a:spAutoFit/>
          </a:bodyPr>
          <a:lstStyle/>
          <a:p>
            <a:r>
              <a:rPr lang="en-US" dirty="0"/>
              <a:t>Operational Costs</a:t>
            </a:r>
          </a:p>
        </p:txBody>
      </p:sp>
      <p:sp>
        <p:nvSpPr>
          <p:cNvPr id="10" name="Left Brace 9">
            <a:extLst>
              <a:ext uri="{FF2B5EF4-FFF2-40B4-BE49-F238E27FC236}">
                <a16:creationId xmlns:a16="http://schemas.microsoft.com/office/drawing/2014/main" id="{BD6A50EA-6FBD-0050-AB80-ED92DFB29324}"/>
              </a:ext>
            </a:extLst>
          </p:cNvPr>
          <p:cNvSpPr/>
          <p:nvPr/>
        </p:nvSpPr>
        <p:spPr>
          <a:xfrm rot="16200000">
            <a:off x="5515640" y="2811462"/>
            <a:ext cx="276446" cy="1111102"/>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1" name="Left Brace 10">
            <a:extLst>
              <a:ext uri="{FF2B5EF4-FFF2-40B4-BE49-F238E27FC236}">
                <a16:creationId xmlns:a16="http://schemas.microsoft.com/office/drawing/2014/main" id="{4655671E-8F3D-96C1-85BB-ADCFF12E9951}"/>
              </a:ext>
            </a:extLst>
          </p:cNvPr>
          <p:cNvSpPr/>
          <p:nvPr/>
        </p:nvSpPr>
        <p:spPr>
          <a:xfrm rot="16200000">
            <a:off x="8016940" y="1875543"/>
            <a:ext cx="276446" cy="2963357"/>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47C1AB28-8682-8421-DA55-A998C6739D32}"/>
              </a:ext>
            </a:extLst>
          </p:cNvPr>
          <p:cNvCxnSpPr>
            <a:stCxn id="8" idx="0"/>
            <a:endCxn id="10" idx="1"/>
          </p:cNvCxnSpPr>
          <p:nvPr/>
        </p:nvCxnSpPr>
        <p:spPr>
          <a:xfrm flipV="1">
            <a:off x="5653863" y="3505236"/>
            <a:ext cx="0" cy="461830"/>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3378F0E9-07FB-00AC-DFEA-0E93DDB207D4}"/>
              </a:ext>
            </a:extLst>
          </p:cNvPr>
          <p:cNvCxnSpPr/>
          <p:nvPr/>
        </p:nvCxnSpPr>
        <p:spPr>
          <a:xfrm flipV="1">
            <a:off x="8155163" y="3474179"/>
            <a:ext cx="0" cy="461830"/>
          </a:xfrm>
          <a:prstGeom prst="line">
            <a:avLst/>
          </a:prstGeom>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6703B3F2-771E-CC2F-58D4-28D8E5CC7FFC}"/>
              </a:ext>
            </a:extLst>
          </p:cNvPr>
          <p:cNvSpPr txBox="1"/>
          <p:nvPr/>
        </p:nvSpPr>
        <p:spPr>
          <a:xfrm>
            <a:off x="2154313" y="4544768"/>
            <a:ext cx="1992918" cy="1200329"/>
          </a:xfrm>
          <a:prstGeom prst="rect">
            <a:avLst/>
          </a:prstGeom>
          <a:noFill/>
        </p:spPr>
        <p:txBody>
          <a:bodyPr wrap="square" rtlCol="0">
            <a:spAutoFit/>
          </a:bodyPr>
          <a:lstStyle/>
          <a:p>
            <a:pPr algn="ctr"/>
            <a:r>
              <a:rPr lang="en-US" dirty="0"/>
              <a:t>Modeled years – makes it easy to change temporal resolution!</a:t>
            </a:r>
          </a:p>
        </p:txBody>
      </p:sp>
      <p:cxnSp>
        <p:nvCxnSpPr>
          <p:cNvPr id="16" name="Straight Connector 15">
            <a:extLst>
              <a:ext uri="{FF2B5EF4-FFF2-40B4-BE49-F238E27FC236}">
                <a16:creationId xmlns:a16="http://schemas.microsoft.com/office/drawing/2014/main" id="{A8F41503-7B8E-391A-2958-EF759639B32B}"/>
              </a:ext>
            </a:extLst>
          </p:cNvPr>
          <p:cNvCxnSpPr>
            <a:cxnSpLocks/>
          </p:cNvCxnSpPr>
          <p:nvPr/>
        </p:nvCxnSpPr>
        <p:spPr>
          <a:xfrm flipV="1">
            <a:off x="3150772" y="3505236"/>
            <a:ext cx="1537409" cy="1008475"/>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847756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4FFA8C-427F-87D3-4762-FD07231177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1AD313-C8ED-2A84-88A4-A290063EAD2B}"/>
              </a:ext>
            </a:extLst>
          </p:cNvPr>
          <p:cNvSpPr>
            <a:spLocks noGrp="1"/>
          </p:cNvSpPr>
          <p:nvPr>
            <p:ph type="title"/>
          </p:nvPr>
        </p:nvSpPr>
        <p:spPr/>
        <p:txBody>
          <a:bodyPr/>
          <a:lstStyle/>
          <a:p>
            <a:r>
              <a:rPr lang="en-US" dirty="0"/>
              <a:t>General investment concept</a:t>
            </a:r>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E28EC6B9-1224-6463-EC62-7BAF7E6C3B5C}"/>
                  </a:ext>
                </a:extLst>
              </p:cNvPr>
              <p:cNvSpPr txBox="1">
                <a:spLocks/>
              </p:cNvSpPr>
              <p:nvPr/>
            </p:nvSpPr>
            <p:spPr>
              <a:xfrm>
                <a:off x="838200" y="1541721"/>
                <a:ext cx="10515600" cy="512377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Objective function</a:t>
                </a: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i="1" smtClean="0">
                              <a:latin typeface="Cambria Math" panose="02040503050406030204" pitchFamily="18" charset="0"/>
                            </a:rPr>
                          </m:ctrlPr>
                        </m:mPr>
                        <m:mr>
                          <m:e>
                            <m:r>
                              <m:rPr>
                                <m:brk m:alnAt="7"/>
                              </m:rPr>
                              <a:rPr lang="en-US" i="1" smtClean="0">
                                <a:latin typeface="Cambria Math" panose="02040503050406030204" pitchFamily="18" charset="0"/>
                              </a:rPr>
                              <m:t>𝑚</m:t>
                            </m:r>
                            <m:r>
                              <a:rPr lang="en-US" i="1" smtClean="0">
                                <a:latin typeface="Cambria Math" panose="02040503050406030204" pitchFamily="18" charset="0"/>
                              </a:rPr>
                              <m:t>𝑖𝑛</m:t>
                            </m:r>
                          </m:e>
                        </m:mr>
                        <m:mr>
                          <m:e>
                            <m:sSub>
                              <m:sSubPr>
                                <m:ctrlPr>
                                  <a:rPr lang="en-US" i="1" smtClean="0">
                                    <a:latin typeface="Cambria Math" panose="02040503050406030204" pitchFamily="18" charset="0"/>
                                  </a:rPr>
                                </m:ctrlPr>
                              </m:sSubPr>
                              <m:e>
                                <m:r>
                                  <a:rPr lang="en-US" i="1" smtClean="0">
                                    <a:latin typeface="Cambria Math" panose="02040503050406030204" pitchFamily="18" charset="0"/>
                                  </a:rPr>
                                  <m:t>𝑋</m:t>
                                </m:r>
                              </m:e>
                              <m:sub>
                                <m:r>
                                  <a:rPr lang="en-US" i="1" smtClean="0">
                                    <a:latin typeface="Cambria Math" panose="02040503050406030204" pitchFamily="18" charset="0"/>
                                  </a:rPr>
                                  <m:t>𝑖</m:t>
                                </m:r>
                                <m:r>
                                  <a:rPr lang="en-US" i="1" smtClean="0">
                                    <a:latin typeface="Cambria Math" panose="02040503050406030204" pitchFamily="18" charset="0"/>
                                  </a:rPr>
                                  <m:t>,</m:t>
                                </m:r>
                                <m:r>
                                  <a:rPr lang="en-US" i="1" smtClean="0">
                                    <a:latin typeface="Cambria Math" panose="02040503050406030204" pitchFamily="18" charset="0"/>
                                  </a:rPr>
                                  <m:t>𝑡</m:t>
                                </m:r>
                              </m:sub>
                            </m:sSub>
                            <m:r>
                              <a:rPr lang="en-US" i="1" smtClean="0">
                                <a:latin typeface="Cambria Math" panose="02040503050406030204" pitchFamily="18" charset="0"/>
                              </a:rPr>
                              <m:t>,</m:t>
                            </m:r>
                            <m:sSub>
                              <m:sSubPr>
                                <m:ctrlPr>
                                  <a:rPr lang="en-US" i="1" smtClean="0">
                                    <a:latin typeface="Cambria Math" panose="02040503050406030204" pitchFamily="18" charset="0"/>
                                  </a:rPr>
                                </m:ctrlPr>
                              </m:sSubPr>
                              <m:e>
                                <m:r>
                                  <a:rPr lang="en-US" i="1" smtClean="0">
                                    <a:latin typeface="Cambria Math" panose="02040503050406030204" pitchFamily="18" charset="0"/>
                                  </a:rPr>
                                  <m:t>𝐼</m:t>
                                </m:r>
                              </m:e>
                              <m:sub>
                                <m:r>
                                  <a:rPr lang="en-US" i="1" smtClean="0">
                                    <a:latin typeface="Cambria Math" panose="02040503050406030204" pitchFamily="18" charset="0"/>
                                  </a:rPr>
                                  <m:t>𝑖</m:t>
                                </m:r>
                                <m:r>
                                  <a:rPr lang="en-US" i="1" smtClean="0">
                                    <a:latin typeface="Cambria Math" panose="02040503050406030204" pitchFamily="18" charset="0"/>
                                  </a:rPr>
                                  <m:t>,</m:t>
                                </m:r>
                                <m:r>
                                  <a:rPr lang="en-US" i="1" smtClean="0">
                                    <a:latin typeface="Cambria Math" panose="02040503050406030204" pitchFamily="18" charset="0"/>
                                  </a:rPr>
                                  <m:t>𝑡</m:t>
                                </m:r>
                              </m:sub>
                            </m:sSub>
                            <m:r>
                              <a:rPr lang="en-US" i="1" smtClean="0">
                                <a:latin typeface="Cambria Math" panose="02040503050406030204" pitchFamily="18" charset="0"/>
                              </a:rPr>
                              <m:t>,</m:t>
                            </m:r>
                            <m:sSub>
                              <m:sSubPr>
                                <m:ctrlPr>
                                  <a:rPr lang="en-US" i="1" smtClean="0">
                                    <a:latin typeface="Cambria Math" panose="02040503050406030204" pitchFamily="18" charset="0"/>
                                  </a:rPr>
                                </m:ctrlPr>
                              </m:sSubPr>
                              <m:e>
                                <m:r>
                                  <a:rPr lang="en-US" i="1" smtClean="0">
                                    <a:latin typeface="Cambria Math" panose="02040503050406030204" pitchFamily="18" charset="0"/>
                                  </a:rPr>
                                  <m:t>𝐾</m:t>
                                </m:r>
                              </m:e>
                              <m:sub>
                                <m:r>
                                  <a:rPr lang="en-US" i="1" smtClean="0">
                                    <a:latin typeface="Cambria Math" panose="02040503050406030204" pitchFamily="18" charset="0"/>
                                  </a:rPr>
                                  <m:t>𝑖</m:t>
                                </m:r>
                                <m:r>
                                  <a:rPr lang="en-US" i="1" smtClean="0">
                                    <a:latin typeface="Cambria Math" panose="02040503050406030204" pitchFamily="18" charset="0"/>
                                  </a:rPr>
                                  <m:t>,</m:t>
                                </m:r>
                                <m:r>
                                  <a:rPr lang="en-US" i="1" smtClean="0">
                                    <a:latin typeface="Cambria Math" panose="02040503050406030204" pitchFamily="18" charset="0"/>
                                  </a:rPr>
                                  <m:t>𝑡</m:t>
                                </m:r>
                              </m:sub>
                            </m:sSub>
                          </m:e>
                        </m:mr>
                      </m:m>
                      <m:nary>
                        <m:naryPr>
                          <m:chr m:val="∑"/>
                          <m:supHide m:val="on"/>
                          <m:ctrlPr>
                            <a:rPr lang="en-US" i="1" smtClean="0">
                              <a:latin typeface="Cambria Math" panose="02040503050406030204" pitchFamily="18" charset="0"/>
                            </a:rPr>
                          </m:ctrlPr>
                        </m:naryPr>
                        <m:sub>
                          <m:r>
                            <m:rPr>
                              <m:brk m:alnAt="7"/>
                            </m:rPr>
                            <a:rPr lang="en-US" i="1" smtClean="0">
                              <a:latin typeface="Cambria Math" panose="02040503050406030204" pitchFamily="18" charset="0"/>
                            </a:rPr>
                            <m:t>𝑖</m:t>
                          </m:r>
                          <m:r>
                            <a:rPr lang="en-US" i="1" smtClean="0">
                              <a:latin typeface="Cambria Math" panose="02040503050406030204" pitchFamily="18" charset="0"/>
                            </a:rPr>
                            <m:t>,</m:t>
                          </m:r>
                          <m:r>
                            <a:rPr lang="en-US" i="1" smtClean="0">
                              <a:latin typeface="Cambria Math" panose="02040503050406030204" pitchFamily="18" charset="0"/>
                            </a:rPr>
                            <m:t>𝑡</m:t>
                          </m:r>
                          <m:r>
                            <a:rPr lang="en-US" i="1" smtClean="0">
                              <a:latin typeface="Cambria Math" panose="02040503050406030204" pitchFamily="18" charset="0"/>
                            </a:rPr>
                            <m:t>∈</m:t>
                          </m:r>
                          <m:sSup>
                            <m:sSupPr>
                              <m:ctrlPr>
                                <a:rPr lang="en-US" i="1" smtClean="0">
                                  <a:latin typeface="Cambria Math" panose="02040503050406030204" pitchFamily="18" charset="0"/>
                                </a:rPr>
                              </m:ctrlPr>
                            </m:sSupPr>
                            <m:e>
                              <m:r>
                                <a:rPr lang="en-US" i="1" smtClean="0">
                                  <a:latin typeface="Cambria Math" panose="02040503050406030204" pitchFamily="18" charset="0"/>
                                </a:rPr>
                                <m:t>𝑡</m:t>
                              </m:r>
                            </m:e>
                            <m:sup>
                              <m:r>
                                <a:rPr lang="en-US" i="1" smtClean="0">
                                  <a:latin typeface="Cambria Math" panose="02040503050406030204" pitchFamily="18" charset="0"/>
                                </a:rPr>
                                <m:t>𝑚</m:t>
                              </m:r>
                            </m:sup>
                          </m:sSup>
                        </m:sub>
                        <m:sup/>
                        <m:e>
                          <m:sSubSup>
                            <m:sSubSupPr>
                              <m:ctrlPr>
                                <a:rPr lang="en-US" b="0" i="1" smtClean="0">
                                  <a:latin typeface="Cambria Math" panose="02040503050406030204" pitchFamily="18" charset="0"/>
                                </a:rPr>
                              </m:ctrlPr>
                            </m:sSubSupPr>
                            <m:e>
                              <m:r>
                                <a:rPr lang="en-US" i="1" smtClean="0">
                                  <a:latin typeface="Cambria Math" panose="02040503050406030204" pitchFamily="18" charset="0"/>
                                </a:rPr>
                                <m:t>𝛿</m:t>
                              </m:r>
                            </m:e>
                            <m:sub>
                              <m:r>
                                <a:rPr lang="en-US" b="0" i="1" smtClean="0">
                                  <a:latin typeface="Cambria Math" panose="02040503050406030204" pitchFamily="18" charset="0"/>
                                </a:rPr>
                                <m:t>𝑡</m:t>
                              </m:r>
                            </m:sub>
                            <m:sup>
                              <m:r>
                                <a:rPr lang="en-US" b="0" i="1" smtClean="0">
                                  <a:latin typeface="Cambria Math" panose="02040503050406030204" pitchFamily="18" charset="0"/>
                                </a:rPr>
                                <m:t>𝑘</m:t>
                              </m:r>
                            </m:sup>
                          </m:sSub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𝑐</m:t>
                              </m:r>
                            </m:e>
                            <m:sub>
                              <m:r>
                                <a:rPr lang="en-US" b="0" i="1" smtClean="0">
                                  <a:latin typeface="Cambria Math" panose="02040503050406030204" pitchFamily="18" charset="0"/>
                                </a:rPr>
                                <m:t>𝑡</m:t>
                              </m:r>
                            </m:sub>
                            <m:sup>
                              <m:r>
                                <a:rPr lang="en-US" b="0" i="1" smtClean="0">
                                  <a:latin typeface="Cambria Math" panose="02040503050406030204" pitchFamily="18" charset="0"/>
                                </a:rPr>
                                <m:t>𝐼</m:t>
                              </m:r>
                            </m:sup>
                          </m:sSubSup>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sub>
                          </m:sSub>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𝛿</m:t>
                              </m:r>
                            </m:e>
                            <m:sub>
                              <m:r>
                                <a:rPr lang="en-US" b="0" i="1" smtClean="0">
                                  <a:latin typeface="Cambria Math" panose="02040503050406030204" pitchFamily="18" charset="0"/>
                                </a:rPr>
                                <m:t>𝑡</m:t>
                              </m:r>
                            </m:sub>
                            <m:sup>
                              <m:r>
                                <a:rPr lang="en-US" b="0" i="1" smtClean="0">
                                  <a:latin typeface="Cambria Math" panose="02040503050406030204" pitchFamily="18" charset="0"/>
                                </a:rPr>
                                <m:t>𝑣</m:t>
                              </m:r>
                            </m:sup>
                          </m:sSubSup>
                          <m:d>
                            <m:dPr>
                              <m:ctrlPr>
                                <a:rPr lang="en-US" b="0" i="1" smtClean="0">
                                  <a:latin typeface="Cambria Math" panose="02040503050406030204" pitchFamily="18" charset="0"/>
                                </a:rPr>
                              </m:ctrlPr>
                            </m:dPr>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𝑐</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sub>
                                <m:sup>
                                  <m:r>
                                    <a:rPr lang="en-US" b="0" i="1" smtClean="0">
                                      <a:latin typeface="Cambria Math" panose="02040503050406030204" pitchFamily="18" charset="0"/>
                                    </a:rPr>
                                    <m:t>𝑋</m:t>
                                  </m:r>
                                </m:sup>
                              </m:sSubSup>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sub>
                              </m:sSub>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𝑐</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sub>
                                <m:sup>
                                  <m:r>
                                    <a:rPr lang="en-US" b="0" i="1" smtClean="0">
                                      <a:latin typeface="Cambria Math" panose="02040503050406030204" pitchFamily="18" charset="0"/>
                                    </a:rPr>
                                    <m:t>𝐾</m:t>
                                  </m:r>
                                </m:sup>
                              </m:sSubSup>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sub>
                              </m:sSub>
                            </m:e>
                          </m:d>
                        </m:e>
                      </m:nary>
                    </m:oMath>
                  </m:oMathPara>
                </a14:m>
                <a:endParaRPr lang="en-US" dirty="0"/>
              </a:p>
              <a:p>
                <a:pPr marL="0" indent="0">
                  <a:buFont typeface="Arial" panose="020B0604020202020204" pitchFamily="34" charset="0"/>
                  <a:buNone/>
                </a:pPr>
                <a:endParaRPr lang="en-US" dirty="0"/>
              </a:p>
              <a:p>
                <a:r>
                  <a:rPr lang="en-US" dirty="0"/>
                  <a:t>Cannot produce more than you have capacity for:</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sub>
                      </m:sSub>
                      <m:r>
                        <a:rPr lang="en-US" b="0" i="1" smtClean="0">
                          <a:latin typeface="Cambria Math" panose="02040503050406030204" pitchFamily="18" charset="0"/>
                        </a:rPr>
                        <m:t> ∀ </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𝑡</m:t>
                          </m:r>
                        </m:e>
                        <m:sup>
                          <m:r>
                            <a:rPr lang="en-US" b="0" i="1" smtClean="0">
                              <a:latin typeface="Cambria Math" panose="02040503050406030204" pitchFamily="18" charset="0"/>
                            </a:rPr>
                            <m:t>𝑚</m:t>
                          </m:r>
                        </m:sup>
                      </m:sSup>
                    </m:oMath>
                  </m:oMathPara>
                </a14:m>
                <a:endParaRPr lang="en-US" dirty="0"/>
              </a:p>
              <a:p>
                <a:pPr marL="0" indent="0">
                  <a:buNone/>
                </a:pPr>
                <a:endParaRPr lang="en-US" dirty="0"/>
              </a:p>
              <a:p>
                <a:r>
                  <a:rPr lang="en-US" dirty="0"/>
                  <a:t>Capacity is the accumulation of investment plus starting capacity:</a:t>
                </a:r>
              </a:p>
              <a:p>
                <a:pPr marL="0" indent="0">
                  <a:buNone/>
                </a:pPr>
                <a14:m>
                  <m:oMathPara xmlns:m="http://schemas.openxmlformats.org/officeDocument/2006/math">
                    <m:oMathParaPr>
                      <m:jc m:val="centerGroup"/>
                    </m:oMathParaPr>
                    <m:oMath xmlns:m="http://schemas.openxmlformats.org/officeDocument/2006/math">
                      <m:nary>
                        <m:naryPr>
                          <m:chr m:val="∑"/>
                          <m:supHide m:val="on"/>
                          <m:ctrlPr>
                            <a:rPr lang="en-US" b="0" i="1" smtClean="0">
                              <a:latin typeface="Cambria Math" panose="02040503050406030204" pitchFamily="18" charset="0"/>
                            </a:rPr>
                          </m:ctrlPr>
                        </m:naryPr>
                        <m:sub>
                          <m:sSup>
                            <m:sSupPr>
                              <m:ctrlPr>
                                <a:rPr lang="en-US" b="0" i="1" smtClean="0">
                                  <a:latin typeface="Cambria Math" panose="02040503050406030204" pitchFamily="18" charset="0"/>
                                </a:rPr>
                              </m:ctrlPr>
                            </m:sSupPr>
                            <m:e>
                              <m:r>
                                <a:rPr lang="en-US" b="0" i="1" smtClean="0">
                                  <a:latin typeface="Cambria Math" panose="02040503050406030204" pitchFamily="18" charset="0"/>
                                </a:rPr>
                                <m:t>𝑡</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𝑡</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𝑖</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𝑡</m:t>
                                  </m:r>
                                </m:e>
                                <m:sup>
                                  <m:r>
                                    <a:rPr lang="en-US" b="0" i="1" smtClean="0">
                                      <a:latin typeface="Cambria Math" panose="02040503050406030204" pitchFamily="18" charset="0"/>
                                    </a:rPr>
                                    <m:t>′</m:t>
                                  </m:r>
                                </m:sup>
                              </m:sSup>
                            </m:sub>
                          </m:sSub>
                        </m:e>
                      </m:nary>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𝑘</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sub>
                        <m:sup>
                          <m:r>
                            <a:rPr lang="en-US" b="0" i="1" smtClean="0">
                              <a:latin typeface="Cambria Math" panose="02040503050406030204" pitchFamily="18" charset="0"/>
                            </a:rPr>
                            <m:t>0</m:t>
                          </m:r>
                        </m:sup>
                      </m:sSub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sub>
                      </m:sSub>
                      <m:r>
                        <a:rPr lang="en-US" b="0" i="1" smtClean="0">
                          <a:latin typeface="Cambria Math" panose="02040503050406030204" pitchFamily="18" charset="0"/>
                        </a:rPr>
                        <m:t> ∀ </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𝑡</m:t>
                          </m:r>
                        </m:e>
                        <m:sup>
                          <m:r>
                            <a:rPr lang="en-US" b="0" i="1" smtClean="0">
                              <a:latin typeface="Cambria Math" panose="02040503050406030204" pitchFamily="18" charset="0"/>
                            </a:rPr>
                            <m:t>𝑚</m:t>
                          </m:r>
                        </m:sup>
                      </m:sSup>
                    </m:oMath>
                  </m:oMathPara>
                </a14:m>
                <a:endParaRPr lang="en-US" dirty="0"/>
              </a:p>
            </p:txBody>
          </p:sp>
        </mc:Choice>
        <mc:Fallback xmlns="">
          <p:sp>
            <p:nvSpPr>
              <p:cNvPr id="7" name="Content Placeholder 2">
                <a:extLst>
                  <a:ext uri="{FF2B5EF4-FFF2-40B4-BE49-F238E27FC236}">
                    <a16:creationId xmlns:a16="http://schemas.microsoft.com/office/drawing/2014/main" id="{E28EC6B9-1224-6463-EC62-7BAF7E6C3B5C}"/>
                  </a:ext>
                </a:extLst>
              </p:cNvPr>
              <p:cNvSpPr txBox="1">
                <a:spLocks noRot="1" noChangeAspect="1" noMove="1" noResize="1" noEditPoints="1" noAdjustHandles="1" noChangeArrowheads="1" noChangeShapeType="1" noTextEdit="1"/>
              </p:cNvSpPr>
              <p:nvPr/>
            </p:nvSpPr>
            <p:spPr>
              <a:xfrm>
                <a:off x="838200" y="1541721"/>
                <a:ext cx="10515600" cy="5123774"/>
              </a:xfrm>
              <a:prstGeom prst="rect">
                <a:avLst/>
              </a:prstGeom>
              <a:blipFill>
                <a:blip r:embed="rId2"/>
                <a:stretch>
                  <a:fillRect l="-1086" t="-23267" r="-965" b="-35396"/>
                </a:stretch>
              </a:blipFill>
            </p:spPr>
            <p:txBody>
              <a:bodyPr/>
              <a:lstStyle/>
              <a:p>
                <a:r>
                  <a:rPr lang="en-US">
                    <a:noFill/>
                  </a:rPr>
                  <a:t> </a:t>
                </a:r>
              </a:p>
            </p:txBody>
          </p:sp>
        </mc:Fallback>
      </mc:AlternateContent>
    </p:spTree>
    <p:extLst>
      <p:ext uri="{BB962C8B-B14F-4D97-AF65-F5344CB8AC3E}">
        <p14:creationId xmlns:p14="http://schemas.microsoft.com/office/powerpoint/2010/main" val="15583330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0F4CAAF1-1A8E-7347-1485-6DDEBF50C657}"/>
                  </a:ext>
                </a:extLst>
              </p:cNvPr>
              <p:cNvSpPr>
                <a:spLocks noGrp="1"/>
              </p:cNvSpPr>
              <p:nvPr>
                <p:ph type="title"/>
              </p:nvPr>
            </p:nvSpPr>
            <p:spPr/>
            <p:txBody>
              <a:bodyPr/>
              <a:lstStyle/>
              <a:p>
                <a:r>
                  <a:rPr lang="en-US" dirty="0"/>
                  <a:t>Setting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𝛿</m:t>
                        </m:r>
                      </m:e>
                      <m:sub>
                        <m:r>
                          <a:rPr lang="en-US" b="0" i="1" smtClean="0">
                            <a:latin typeface="Cambria Math" panose="02040503050406030204" pitchFamily="18" charset="0"/>
                          </a:rPr>
                          <m:t>𝑡</m:t>
                        </m:r>
                      </m:sub>
                      <m:sup>
                        <m:r>
                          <a:rPr lang="en-US" b="0" i="1" smtClean="0">
                            <a:latin typeface="Cambria Math" panose="02040503050406030204" pitchFamily="18" charset="0"/>
                          </a:rPr>
                          <m:t>𝑘</m:t>
                        </m:r>
                      </m:sup>
                    </m:sSubSup>
                  </m:oMath>
                </a14:m>
                <a:r>
                  <a:rPr lang="en-US" dirty="0"/>
                  <a:t> and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𝛿</m:t>
                        </m:r>
                      </m:e>
                      <m:sub>
                        <m:r>
                          <a:rPr lang="en-US" b="0" i="1" smtClean="0">
                            <a:latin typeface="Cambria Math" panose="02040503050406030204" pitchFamily="18" charset="0"/>
                          </a:rPr>
                          <m:t>𝑡</m:t>
                        </m:r>
                      </m:sub>
                      <m:sup>
                        <m:r>
                          <a:rPr lang="en-US" b="0" i="1" smtClean="0">
                            <a:latin typeface="Cambria Math" panose="02040503050406030204" pitchFamily="18" charset="0"/>
                          </a:rPr>
                          <m:t>𝑣</m:t>
                        </m:r>
                      </m:sup>
                    </m:sSubSup>
                  </m:oMath>
                </a14:m>
                <a:endParaRPr lang="en-US" dirty="0"/>
              </a:p>
            </p:txBody>
          </p:sp>
        </mc:Choice>
        <mc:Fallback xmlns="">
          <p:sp>
            <p:nvSpPr>
              <p:cNvPr id="2" name="Title 1">
                <a:extLst>
                  <a:ext uri="{FF2B5EF4-FFF2-40B4-BE49-F238E27FC236}">
                    <a16:creationId xmlns:a16="http://schemas.microsoft.com/office/drawing/2014/main" id="{0F4CAAF1-1A8E-7347-1485-6DDEBF50C657}"/>
                  </a:ext>
                </a:extLst>
              </p:cNvPr>
              <p:cNvSpPr>
                <a:spLocks noGrp="1" noRot="1" noChangeAspect="1" noMove="1" noResize="1" noEditPoints="1" noAdjustHandles="1" noChangeArrowheads="1" noChangeShapeType="1" noTextEdit="1"/>
              </p:cNvSpPr>
              <p:nvPr>
                <p:ph type="title"/>
              </p:nvPr>
            </p:nvSpPr>
            <p:spPr>
              <a:blipFill>
                <a:blip r:embed="rId2"/>
                <a:stretch>
                  <a:fillRect l="-24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F263D4C-99FC-DDC2-6890-39E4C1E2EE48}"/>
                  </a:ext>
                </a:extLst>
              </p:cNvPr>
              <p:cNvSpPr>
                <a:spLocks noGrp="1"/>
              </p:cNvSpPr>
              <p:nvPr>
                <p:ph idx="1"/>
              </p:nvPr>
            </p:nvSpPr>
            <p:spPr>
              <a:xfrm>
                <a:off x="838200" y="1503947"/>
                <a:ext cx="10515600" cy="5221706"/>
              </a:xfrm>
            </p:spPr>
            <p:txBody>
              <a:bodyPr>
                <a:normAutofit fontScale="85000" lnSpcReduction="20000"/>
              </a:bodyPr>
              <a:lstStyle/>
              <a:p>
                <a:r>
                  <a:rPr lang="en-US" dirty="0"/>
                  <a:t>For intertemporal, easy:</a:t>
                </a:r>
              </a:p>
              <a:p>
                <a:pPr marL="0" indent="0">
                  <a:buNone/>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𝛿</m:t>
                          </m:r>
                        </m:e>
                        <m:sub>
                          <m:r>
                            <a:rPr lang="en-US" b="0" i="1" smtClean="0">
                              <a:latin typeface="Cambria Math" panose="02040503050406030204" pitchFamily="18" charset="0"/>
                            </a:rPr>
                            <m:t>𝑡</m:t>
                          </m:r>
                        </m:sub>
                        <m:sup>
                          <m:r>
                            <a:rPr lang="en-US" b="0" i="1" smtClean="0">
                              <a:latin typeface="Cambria Math" panose="02040503050406030204" pitchFamily="18" charset="0"/>
                            </a:rPr>
                            <m:t>𝑘</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𝛿</m:t>
                          </m:r>
                        </m:e>
                        <m:sub>
                          <m:r>
                            <a:rPr lang="en-US" b="0" i="1" smtClean="0">
                              <a:latin typeface="Cambria Math" panose="02040503050406030204" pitchFamily="18" charset="0"/>
                            </a:rPr>
                            <m:t>𝑡</m:t>
                          </m:r>
                        </m:sub>
                        <m:sup>
                          <m:r>
                            <a:rPr lang="en-US" b="0" i="1" smtClean="0">
                              <a:latin typeface="Cambria Math" panose="02040503050406030204" pitchFamily="18" charset="0"/>
                            </a:rPr>
                            <m:t>𝑣</m:t>
                          </m:r>
                        </m:sup>
                      </m:sSubSup>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1+</m:t>
                                  </m:r>
                                  <m:r>
                                    <a:rPr lang="en-US" i="1">
                                      <a:latin typeface="Cambria Math" panose="02040503050406030204" pitchFamily="18" charset="0"/>
                                    </a:rPr>
                                    <m:t>𝑟</m:t>
                                  </m:r>
                                </m:e>
                              </m:d>
                            </m:e>
                            <m:sup>
                              <m:r>
                                <a:rPr lang="en-US" i="1">
                                  <a:latin typeface="Cambria Math" panose="02040503050406030204" pitchFamily="18" charset="0"/>
                                </a:rPr>
                                <m:t>𝑡</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0</m:t>
                                  </m:r>
                                </m:sub>
                              </m:sSub>
                            </m:sup>
                          </m:sSup>
                        </m:den>
                      </m:f>
                    </m:oMath>
                  </m:oMathPara>
                </a14:m>
                <a:endParaRPr lang="en-US" dirty="0"/>
              </a:p>
              <a:p>
                <a:pPr marL="0" indent="0">
                  <a:buNone/>
                </a:pPr>
                <a:endParaRPr lang="en-US" dirty="0"/>
              </a:p>
              <a:p>
                <a:r>
                  <a:rPr lang="en-US" dirty="0"/>
                  <a:t>However – no value in end-year investments.. Why would I buy a factory if I can only use it for a single year? few options:</a:t>
                </a:r>
              </a:p>
              <a:p>
                <a:pPr lvl="1"/>
                <a:r>
                  <a:rPr lang="en-US" dirty="0"/>
                  <a:t>Weigh operations more heavily – e.g. the last year accounts for 20 years of operating costs</a:t>
                </a:r>
              </a:p>
              <a:p>
                <a:pPr lvl="1"/>
                <a:r>
                  <a:rPr lang="en-US" dirty="0"/>
                  <a:t>Reduce costs of investment – e.g. you only need to pay for ‘T-t’ years worth of capacity</a:t>
                </a:r>
              </a:p>
              <a:p>
                <a:pPr lvl="1"/>
                <a:r>
                  <a:rPr lang="en-US" dirty="0"/>
                  <a:t>Terminal investment conditions (as explained in Ramsey model)</a:t>
                </a:r>
              </a:p>
              <a:p>
                <a:pPr marL="0" indent="0">
                  <a:buNone/>
                </a:pPr>
                <a:endParaRPr lang="en-US" dirty="0"/>
              </a:p>
              <a:p>
                <a:r>
                  <a:rPr lang="en-US" dirty="0"/>
                  <a:t>For myopic, need to adjust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𝛿</m:t>
                        </m:r>
                      </m:e>
                      <m:sub>
                        <m:r>
                          <a:rPr lang="en-US" b="0" i="1" smtClean="0">
                            <a:latin typeface="Cambria Math" panose="02040503050406030204" pitchFamily="18" charset="0"/>
                          </a:rPr>
                          <m:t>𝑡</m:t>
                        </m:r>
                      </m:sub>
                      <m:sup>
                        <m:r>
                          <a:rPr lang="en-US" b="0" i="1" smtClean="0">
                            <a:latin typeface="Cambria Math" panose="02040503050406030204" pitchFamily="18" charset="0"/>
                          </a:rPr>
                          <m:t>𝑣</m:t>
                        </m:r>
                      </m:sup>
                    </m:sSubSup>
                  </m:oMath>
                </a14:m>
                <a:r>
                  <a:rPr lang="en-US" dirty="0"/>
                  <a:t> to reflect the future </a:t>
                </a:r>
                <a14:m>
                  <m:oMath xmlns:m="http://schemas.openxmlformats.org/officeDocument/2006/math">
                    <m:r>
                      <a:rPr lang="en-US" b="0" i="1" smtClean="0">
                        <a:latin typeface="Cambria Math" panose="02040503050406030204" pitchFamily="18" charset="0"/>
                      </a:rPr>
                      <m:t>𝑦</m:t>
                    </m:r>
                  </m:oMath>
                </a14:m>
                <a:r>
                  <a:rPr lang="en-US" dirty="0"/>
                  <a:t> years:</a:t>
                </a:r>
              </a:p>
              <a:p>
                <a:endParaRPr lang="en-US" dirty="0"/>
              </a:p>
              <a:p>
                <a:pPr marL="0" indent="0">
                  <a:buNone/>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𝛿</m:t>
                          </m:r>
                        </m:e>
                        <m:sub>
                          <m:r>
                            <a:rPr lang="en-US" b="0" i="1" smtClean="0">
                              <a:latin typeface="Cambria Math" panose="02040503050406030204" pitchFamily="18" charset="0"/>
                            </a:rPr>
                            <m:t>𝑡</m:t>
                          </m:r>
                        </m:sub>
                        <m:sup>
                          <m:r>
                            <a:rPr lang="en-US" b="0" i="1" smtClean="0">
                              <a:latin typeface="Cambria Math" panose="02040503050406030204" pitchFamily="18" charset="0"/>
                            </a:rPr>
                            <m:t>𝑣</m:t>
                          </m:r>
                        </m:sup>
                      </m:sSubSup>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𝑡</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𝑡</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𝑦</m:t>
                          </m:r>
                        </m:sub>
                        <m:sup/>
                        <m:e>
                          <m:f>
                            <m:fPr>
                              <m:ctrlPr>
                                <a:rPr lang="en-US" i="1">
                                  <a:latin typeface="Cambria Math" panose="02040503050406030204" pitchFamily="18" charset="0"/>
                                </a:rPr>
                              </m:ctrlPr>
                            </m:fPr>
                            <m:num>
                              <m:r>
                                <a:rPr lang="en-US" i="1">
                                  <a:latin typeface="Cambria Math" panose="02040503050406030204" pitchFamily="18" charset="0"/>
                                </a:rPr>
                                <m:t>1</m:t>
                              </m:r>
                            </m:num>
                            <m:den>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1+</m:t>
                                      </m:r>
                                      <m:r>
                                        <a:rPr lang="en-US" i="1">
                                          <a:latin typeface="Cambria Math" panose="02040503050406030204" pitchFamily="18" charset="0"/>
                                        </a:rPr>
                                        <m:t>𝑟</m:t>
                                      </m:r>
                                    </m:e>
                                  </m:d>
                                </m:e>
                                <m:sup>
                                  <m:sSup>
                                    <m:sSupPr>
                                      <m:ctrlPr>
                                        <a:rPr lang="en-US" b="0" i="1" smtClean="0">
                                          <a:latin typeface="Cambria Math" panose="02040503050406030204" pitchFamily="18" charset="0"/>
                                        </a:rPr>
                                      </m:ctrlPr>
                                    </m:sSupPr>
                                    <m:e>
                                      <m:r>
                                        <a:rPr lang="en-US" i="1">
                                          <a:latin typeface="Cambria Math" panose="02040503050406030204" pitchFamily="18" charset="0"/>
                                        </a:rPr>
                                        <m:t>𝑡</m:t>
                                      </m:r>
                                    </m:e>
                                    <m:sup>
                                      <m:r>
                                        <a:rPr lang="en-US" b="0" i="1" smtClean="0">
                                          <a:latin typeface="Cambria Math" panose="02040503050406030204" pitchFamily="18" charset="0"/>
                                        </a:rPr>
                                        <m:t>′</m:t>
                                      </m:r>
                                    </m:sup>
                                  </m:sSup>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0</m:t>
                                      </m:r>
                                    </m:sub>
                                  </m:sSub>
                                </m:sup>
                              </m:sSup>
                            </m:den>
                          </m:f>
                        </m:e>
                      </m:nary>
                    </m:oMath>
                  </m:oMathPara>
                </a14:m>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7F263D4C-99FC-DDC2-6890-39E4C1E2EE48}"/>
                  </a:ext>
                </a:extLst>
              </p:cNvPr>
              <p:cNvSpPr>
                <a:spLocks noGrp="1" noRot="1" noChangeAspect="1" noMove="1" noResize="1" noEditPoints="1" noAdjustHandles="1" noChangeArrowheads="1" noChangeShapeType="1" noTextEdit="1"/>
              </p:cNvSpPr>
              <p:nvPr>
                <p:ph idx="1"/>
              </p:nvPr>
            </p:nvSpPr>
            <p:spPr>
              <a:xfrm>
                <a:off x="838200" y="1503947"/>
                <a:ext cx="10515600" cy="5221706"/>
              </a:xfrm>
              <a:blipFill>
                <a:blip r:embed="rId3"/>
                <a:stretch>
                  <a:fillRect l="-844" t="-2670" b="-31311"/>
                </a:stretch>
              </a:blipFill>
            </p:spPr>
            <p:txBody>
              <a:bodyPr/>
              <a:lstStyle/>
              <a:p>
                <a:r>
                  <a:rPr lang="en-US">
                    <a:noFill/>
                  </a:rPr>
                  <a:t> </a:t>
                </a:r>
              </a:p>
            </p:txBody>
          </p:sp>
        </mc:Fallback>
      </mc:AlternateContent>
    </p:spTree>
    <p:extLst>
      <p:ext uri="{BB962C8B-B14F-4D97-AF65-F5344CB8AC3E}">
        <p14:creationId xmlns:p14="http://schemas.microsoft.com/office/powerpoint/2010/main" val="39202217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000B95-B222-60B3-937F-E89A67368A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EF3A60-1A69-028F-7FDD-671408D8F505}"/>
              </a:ext>
            </a:extLst>
          </p:cNvPr>
          <p:cNvSpPr>
            <a:spLocks noGrp="1"/>
          </p:cNvSpPr>
          <p:nvPr>
            <p:ph type="title"/>
          </p:nvPr>
        </p:nvSpPr>
        <p:spPr/>
        <p:txBody>
          <a:bodyPr/>
          <a:lstStyle/>
          <a:p>
            <a:r>
              <a:rPr lang="en-US" dirty="0"/>
              <a:t>Ramblings on endogenous retirements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3AAE4D5-390E-9969-355E-770805A04951}"/>
                  </a:ext>
                </a:extLst>
              </p:cNvPr>
              <p:cNvSpPr>
                <a:spLocks noGrp="1"/>
              </p:cNvSpPr>
              <p:nvPr>
                <p:ph idx="1"/>
              </p:nvPr>
            </p:nvSpPr>
            <p:spPr>
              <a:xfrm>
                <a:off x="340242" y="1825625"/>
                <a:ext cx="11557591" cy="4351338"/>
              </a:xfrm>
            </p:spPr>
            <p:txBody>
              <a:bodyPr>
                <a:normAutofit fontScale="92500" lnSpcReduction="20000"/>
              </a:bodyPr>
              <a:lstStyle/>
              <a:p>
                <a:r>
                  <a:rPr lang="en-US" dirty="0"/>
                  <a:t>Normally, models will not include endogenous retirements, that is:</a:t>
                </a:r>
              </a:p>
              <a:p>
                <a:pPr marL="0" indent="0">
                  <a:buNone/>
                </a:pPr>
                <a14:m>
                  <m:oMathPara xmlns:m="http://schemas.openxmlformats.org/officeDocument/2006/math">
                    <m:oMathParaPr>
                      <m:jc m:val="centerGroup"/>
                    </m:oMathParaPr>
                    <m:oMath xmlns:m="http://schemas.openxmlformats.org/officeDocument/2006/math">
                      <m:nary>
                        <m:naryPr>
                          <m:chr m:val="∑"/>
                          <m:supHide m:val="on"/>
                          <m:ctrlPr>
                            <a:rPr lang="en-US" i="1">
                              <a:latin typeface="Cambria Math" panose="02040503050406030204" pitchFamily="18" charset="0"/>
                            </a:rPr>
                          </m:ctrlPr>
                        </m:naryPr>
                        <m:sub>
                          <m:sSup>
                            <m:sSupPr>
                              <m:ctrlPr>
                                <a:rPr lang="en-US" i="1">
                                  <a:latin typeface="Cambria Math" panose="02040503050406030204" pitchFamily="18" charset="0"/>
                                </a:rPr>
                              </m:ctrlPr>
                            </m:sSupPr>
                            <m:e>
                              <m:r>
                                <a:rPr lang="en-US" i="1">
                                  <a:latin typeface="Cambria Math" panose="02040503050406030204" pitchFamily="18" charset="0"/>
                                </a:rPr>
                                <m:t>𝑡</m:t>
                              </m:r>
                            </m:e>
                            <m:sup>
                              <m:r>
                                <a:rPr lang="en-US" i="1">
                                  <a:latin typeface="Cambria Math" panose="02040503050406030204" pitchFamily="18" charset="0"/>
                                </a:rPr>
                                <m:t>′</m:t>
                              </m:r>
                            </m:sup>
                          </m:sSup>
                          <m:r>
                            <a:rPr lang="en-US" i="1">
                              <a:latin typeface="Cambria Math" panose="02040503050406030204" pitchFamily="18" charset="0"/>
                            </a:rPr>
                            <m:t>≤</m:t>
                          </m:r>
                          <m:r>
                            <a:rPr lang="en-US" i="1">
                              <a:latin typeface="Cambria Math" panose="02040503050406030204" pitchFamily="18" charset="0"/>
                            </a:rPr>
                            <m:t>𝑡</m:t>
                          </m:r>
                        </m:sub>
                        <m:sup/>
                        <m:e>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𝑖</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𝑡</m:t>
                                  </m:r>
                                </m:e>
                                <m:sup>
                                  <m:r>
                                    <a:rPr lang="en-US" i="1">
                                      <a:latin typeface="Cambria Math" panose="02040503050406030204" pitchFamily="18" charset="0"/>
                                    </a:rPr>
                                    <m:t>′</m:t>
                                  </m:r>
                                </m:sup>
                              </m:sSup>
                            </m:sub>
                          </m:sSub>
                        </m:e>
                      </m:nary>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𝑘</m:t>
                          </m:r>
                        </m:e>
                        <m:sub>
                          <m:r>
                            <a:rPr lang="en-US" i="1">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sub>
                        <m:sup>
                          <m:r>
                            <a:rPr lang="en-US" i="1">
                              <a:latin typeface="Cambria Math" panose="02040503050406030204" pitchFamily="18" charset="0"/>
                            </a:rPr>
                            <m:t>0</m:t>
                          </m:r>
                        </m:sup>
                      </m:sSubSup>
                      <m:r>
                        <a:rPr lang="en-US" b="1" i="1">
                          <a:highlight>
                            <a:srgbClr val="FFFF00"/>
                          </a:highlight>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𝑡</m:t>
                          </m:r>
                        </m:sub>
                      </m:sSub>
                      <m:r>
                        <a:rPr lang="en-US" i="1">
                          <a:latin typeface="Cambria Math" panose="02040503050406030204" pitchFamily="18" charset="0"/>
                        </a:rPr>
                        <m:t> ∀ </m:t>
                      </m:r>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𝑡</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𝑡</m:t>
                          </m:r>
                        </m:e>
                        <m:sup>
                          <m:r>
                            <a:rPr lang="en-US" b="0" i="1" smtClean="0">
                              <a:latin typeface="Cambria Math" panose="02040503050406030204" pitchFamily="18" charset="0"/>
                            </a:rPr>
                            <m:t>𝑚</m:t>
                          </m:r>
                        </m:sup>
                      </m:sSup>
                    </m:oMath>
                  </m:oMathPara>
                </a14:m>
                <a:endParaRPr lang="en-US" dirty="0"/>
              </a:p>
              <a:p>
                <a:endParaRPr lang="en-US" dirty="0"/>
              </a:p>
              <a:p>
                <a:r>
                  <a:rPr lang="en-US" dirty="0"/>
                  <a:t>Easy to give the model the ability to reduce capacity </a:t>
                </a:r>
              </a:p>
              <a:p>
                <a:pPr marL="0" indent="0">
                  <a:buNone/>
                </a:pPr>
                <a14:m>
                  <m:oMathPara xmlns:m="http://schemas.openxmlformats.org/officeDocument/2006/math">
                    <m:oMathParaPr>
                      <m:jc m:val="centerGroup"/>
                    </m:oMathParaPr>
                    <m:oMath xmlns:m="http://schemas.openxmlformats.org/officeDocument/2006/math">
                      <m:nary>
                        <m:naryPr>
                          <m:chr m:val="∑"/>
                          <m:supHide m:val="on"/>
                          <m:ctrlPr>
                            <a:rPr lang="en-US" i="1" smtClean="0">
                              <a:latin typeface="Cambria Math" panose="02040503050406030204" pitchFamily="18" charset="0"/>
                            </a:rPr>
                          </m:ctrlPr>
                        </m:naryPr>
                        <m:sub>
                          <m:sSup>
                            <m:sSupPr>
                              <m:ctrlPr>
                                <a:rPr lang="en-US" i="1">
                                  <a:highlight>
                                    <a:srgbClr val="FFFF00"/>
                                  </a:highlight>
                                  <a:latin typeface="Cambria Math" panose="02040503050406030204" pitchFamily="18" charset="0"/>
                                </a:rPr>
                              </m:ctrlPr>
                            </m:sSupPr>
                            <m:e>
                              <m:r>
                                <a:rPr lang="en-US" i="1">
                                  <a:highlight>
                                    <a:srgbClr val="FFFF00"/>
                                  </a:highlight>
                                  <a:latin typeface="Cambria Math" panose="02040503050406030204" pitchFamily="18" charset="0"/>
                                </a:rPr>
                                <m:t>𝑡</m:t>
                              </m:r>
                            </m:e>
                            <m:sup>
                              <m:r>
                                <a:rPr lang="en-US" i="1">
                                  <a:highlight>
                                    <a:srgbClr val="FFFF00"/>
                                  </a:highlight>
                                  <a:latin typeface="Cambria Math" panose="02040503050406030204" pitchFamily="18" charset="0"/>
                                </a:rPr>
                                <m:t>′</m:t>
                              </m:r>
                            </m:sup>
                          </m:sSup>
                          <m:r>
                            <a:rPr lang="en-US" i="1">
                              <a:highlight>
                                <a:srgbClr val="FFFF00"/>
                              </a:highlight>
                              <a:latin typeface="Cambria Math" panose="02040503050406030204" pitchFamily="18" charset="0"/>
                            </a:rPr>
                            <m:t>≤</m:t>
                          </m:r>
                          <m:r>
                            <a:rPr lang="en-US" i="1">
                              <a:highlight>
                                <a:srgbClr val="FFFF00"/>
                              </a:highlight>
                              <a:latin typeface="Cambria Math" panose="02040503050406030204" pitchFamily="18" charset="0"/>
                            </a:rPr>
                            <m:t>𝑡</m:t>
                          </m:r>
                        </m:sub>
                        <m:sup/>
                        <m:e>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𝑖</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𝑡</m:t>
                                  </m:r>
                                </m:e>
                                <m:sup>
                                  <m:r>
                                    <a:rPr lang="en-US" i="1">
                                      <a:latin typeface="Cambria Math" panose="02040503050406030204" pitchFamily="18" charset="0"/>
                                    </a:rPr>
                                    <m:t>′</m:t>
                                  </m:r>
                                </m:sup>
                              </m:sSup>
                            </m:sub>
                          </m:sSub>
                        </m:e>
                      </m:nary>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𝑘</m:t>
                          </m:r>
                        </m:e>
                        <m:sub>
                          <m:r>
                            <a:rPr lang="en-US" i="1">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sub>
                        <m:sup>
                          <m:r>
                            <a:rPr lang="en-US" i="1">
                              <a:latin typeface="Cambria Math" panose="02040503050406030204" pitchFamily="18" charset="0"/>
                            </a:rPr>
                            <m:t>0</m:t>
                          </m:r>
                        </m:sup>
                      </m:sSubSup>
                      <m:r>
                        <a:rPr lang="en-US" b="1" i="1" smtClean="0">
                          <a:highlight>
                            <a:srgbClr val="FFFF00"/>
                          </a:highlight>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𝑡</m:t>
                          </m:r>
                        </m:sub>
                      </m:sSub>
                      <m:r>
                        <a:rPr lang="en-US" i="1">
                          <a:latin typeface="Cambria Math" panose="02040503050406030204" pitchFamily="18" charset="0"/>
                        </a:rPr>
                        <m:t> ∀ </m:t>
                      </m:r>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𝑡</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𝑡</m:t>
                          </m:r>
                        </m:e>
                        <m:sup>
                          <m:r>
                            <a:rPr lang="en-US" b="0" i="1" smtClean="0">
                              <a:latin typeface="Cambria Math" panose="02040503050406030204" pitchFamily="18" charset="0"/>
                            </a:rPr>
                            <m:t>𝑚</m:t>
                          </m:r>
                        </m:sup>
                      </m:sSup>
                    </m:oMath>
                  </m:oMathPara>
                </a14:m>
                <a:endParaRPr lang="en-US" dirty="0"/>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nary>
                        <m:naryPr>
                          <m:chr m:val="∑"/>
                          <m:supHide m:val="on"/>
                          <m:ctrlPr>
                            <a:rPr lang="en-US" i="1" smtClean="0">
                              <a:latin typeface="Cambria Math" panose="02040503050406030204" pitchFamily="18" charset="0"/>
                            </a:rPr>
                          </m:ctrlPr>
                        </m:naryPr>
                        <m:sub>
                          <m:sSup>
                            <m:sSupPr>
                              <m:ctrlPr>
                                <a:rPr lang="en-US" i="1">
                                  <a:highlight>
                                    <a:srgbClr val="FFFF00"/>
                                  </a:highlight>
                                  <a:latin typeface="Cambria Math" panose="02040503050406030204" pitchFamily="18" charset="0"/>
                                </a:rPr>
                              </m:ctrlPr>
                            </m:sSupPr>
                            <m:e>
                              <m:r>
                                <a:rPr lang="en-US" i="1">
                                  <a:highlight>
                                    <a:srgbClr val="FFFF00"/>
                                  </a:highlight>
                                  <a:latin typeface="Cambria Math" panose="02040503050406030204" pitchFamily="18" charset="0"/>
                                </a:rPr>
                                <m:t>𝑡</m:t>
                              </m:r>
                            </m:e>
                            <m:sup>
                              <m:r>
                                <a:rPr lang="en-US" i="1">
                                  <a:highlight>
                                    <a:srgbClr val="FFFF00"/>
                                  </a:highlight>
                                  <a:latin typeface="Cambria Math" panose="02040503050406030204" pitchFamily="18" charset="0"/>
                                </a:rPr>
                                <m:t>′</m:t>
                              </m:r>
                              <m:r>
                                <a:rPr lang="en-US" b="0" i="1" smtClean="0">
                                  <a:highlight>
                                    <a:srgbClr val="FFFF00"/>
                                  </a:highlight>
                                  <a:latin typeface="Cambria Math" panose="02040503050406030204" pitchFamily="18" charset="0"/>
                                </a:rPr>
                                <m:t>′</m:t>
                              </m:r>
                            </m:sup>
                          </m:sSup>
                          <m:r>
                            <a:rPr lang="en-US" b="0" i="1" smtClean="0">
                              <a:highlight>
                                <a:srgbClr val="FFFF00"/>
                              </a:highlight>
                              <a:latin typeface="Cambria Math" panose="02040503050406030204" pitchFamily="18" charset="0"/>
                            </a:rPr>
                            <m:t>=</m:t>
                          </m:r>
                          <m:r>
                            <a:rPr lang="en-US" i="1">
                              <a:highlight>
                                <a:srgbClr val="FFFF00"/>
                              </a:highlight>
                              <a:latin typeface="Cambria Math" panose="02040503050406030204" pitchFamily="18" charset="0"/>
                            </a:rPr>
                            <m:t>𝑡</m:t>
                          </m:r>
                          <m:r>
                            <a:rPr lang="en-US" b="0" i="1" smtClean="0">
                              <a:highlight>
                                <a:srgbClr val="FFFF00"/>
                              </a:highlight>
                              <a:latin typeface="Cambria Math" panose="02040503050406030204" pitchFamily="18" charset="0"/>
                            </a:rPr>
                            <m:t>−1</m:t>
                          </m:r>
                        </m:sub>
                        <m:sup/>
                        <m:e>
                          <m:sSub>
                            <m:sSubPr>
                              <m:ctrlPr>
                                <a:rPr lang="en-US" i="1">
                                  <a:latin typeface="Cambria Math" panose="02040503050406030204" pitchFamily="18" charset="0"/>
                                </a:rPr>
                              </m:ctrlPr>
                            </m:sSubPr>
                            <m:e>
                              <m:r>
                                <a:rPr lang="en-US" b="0" i="1" smtClean="0">
                                  <a:latin typeface="Cambria Math" panose="02040503050406030204" pitchFamily="18" charset="0"/>
                                </a:rPr>
                                <m:t>𝐾</m:t>
                              </m:r>
                            </m:e>
                            <m:sub>
                              <m:r>
                                <a:rPr lang="en-US" i="1">
                                  <a:latin typeface="Cambria Math" panose="02040503050406030204" pitchFamily="18" charset="0"/>
                                </a:rPr>
                                <m:t>𝑖</m:t>
                              </m:r>
                              <m:r>
                                <a:rPr lang="en-US" i="1">
                                  <a:latin typeface="Cambria Math" panose="02040503050406030204" pitchFamily="18" charset="0"/>
                                </a:rPr>
                                <m:t>,</m:t>
                              </m:r>
                              <m:sSup>
                                <m:sSupPr>
                                  <m:ctrlPr>
                                    <a:rPr lang="en-US" i="1">
                                      <a:highlight>
                                        <a:srgbClr val="FFFF00"/>
                                      </a:highlight>
                                      <a:latin typeface="Cambria Math" panose="02040503050406030204" pitchFamily="18" charset="0"/>
                                    </a:rPr>
                                  </m:ctrlPr>
                                </m:sSupPr>
                                <m:e>
                                  <m:r>
                                    <a:rPr lang="en-US" i="1">
                                      <a:highlight>
                                        <a:srgbClr val="FFFF00"/>
                                      </a:highlight>
                                      <a:latin typeface="Cambria Math" panose="02040503050406030204" pitchFamily="18" charset="0"/>
                                    </a:rPr>
                                    <m:t>𝑡</m:t>
                                  </m:r>
                                </m:e>
                                <m:sup>
                                  <m:r>
                                    <a:rPr lang="en-US" i="1">
                                      <a:highlight>
                                        <a:srgbClr val="FFFF00"/>
                                      </a:highlight>
                                      <a:latin typeface="Cambria Math" panose="02040503050406030204" pitchFamily="18" charset="0"/>
                                    </a:rPr>
                                    <m:t>′</m:t>
                                  </m:r>
                                  <m:r>
                                    <a:rPr lang="en-US" b="0" i="1" smtClean="0">
                                      <a:highlight>
                                        <a:srgbClr val="FFFF00"/>
                                      </a:highlight>
                                      <a:latin typeface="Cambria Math" panose="02040503050406030204" pitchFamily="18" charset="0"/>
                                    </a:rPr>
                                    <m:t>′</m:t>
                                  </m:r>
                                </m:sup>
                              </m:sSup>
                            </m:sub>
                          </m:sSub>
                        </m:e>
                      </m:nary>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𝑡</m:t>
                          </m:r>
                        </m:sub>
                      </m:sSub>
                      <m:r>
                        <a:rPr lang="en-US" b="1" i="1" smtClean="0">
                          <a:highlight>
                            <a:srgbClr val="FFFF00"/>
                          </a:highlight>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𝑡</m:t>
                          </m:r>
                        </m:sub>
                      </m:sSub>
                      <m:r>
                        <a:rPr lang="en-US" i="1">
                          <a:latin typeface="Cambria Math" panose="02040503050406030204" pitchFamily="18" charset="0"/>
                        </a:rPr>
                        <m:t> ∀ </m:t>
                      </m:r>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𝑡</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𝑡</m:t>
                          </m:r>
                        </m:e>
                        <m:sup>
                          <m:r>
                            <a:rPr lang="en-US" b="0" i="1" smtClean="0">
                              <a:latin typeface="Cambria Math" panose="02040503050406030204" pitchFamily="18" charset="0"/>
                            </a:rPr>
                            <m:t>𝑚</m:t>
                          </m:r>
                        </m:sup>
                      </m:sSup>
                    </m:oMath>
                  </m:oMathPara>
                </a14:m>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F3AAE4D5-390E-9969-355E-770805A04951}"/>
                  </a:ext>
                </a:extLst>
              </p:cNvPr>
              <p:cNvSpPr>
                <a:spLocks noGrp="1" noRot="1" noChangeAspect="1" noMove="1" noResize="1" noEditPoints="1" noAdjustHandles="1" noChangeArrowheads="1" noChangeShapeType="1" noTextEdit="1"/>
              </p:cNvSpPr>
              <p:nvPr>
                <p:ph idx="1"/>
              </p:nvPr>
            </p:nvSpPr>
            <p:spPr>
              <a:xfrm>
                <a:off x="340242" y="1825625"/>
                <a:ext cx="11557591" cy="4351338"/>
              </a:xfrm>
              <a:blipFill>
                <a:blip r:embed="rId2"/>
                <a:stretch>
                  <a:fillRect l="-768" t="-27616" b="-42442"/>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85605172-9522-1B05-FFD5-4F8599A5666A}"/>
              </a:ext>
            </a:extLst>
          </p:cNvPr>
          <p:cNvSpPr txBox="1"/>
          <p:nvPr/>
        </p:nvSpPr>
        <p:spPr>
          <a:xfrm>
            <a:off x="4886571" y="6158803"/>
            <a:ext cx="2101658" cy="646331"/>
          </a:xfrm>
          <a:prstGeom prst="rect">
            <a:avLst/>
          </a:prstGeom>
          <a:noFill/>
        </p:spPr>
        <p:txBody>
          <a:bodyPr wrap="square" rtlCol="0">
            <a:spAutoFit/>
          </a:bodyPr>
          <a:lstStyle/>
          <a:p>
            <a:pPr algn="ctr"/>
            <a:r>
              <a:rPr lang="en-US" dirty="0"/>
              <a:t>Contemporaneous </a:t>
            </a:r>
          </a:p>
          <a:p>
            <a:pPr algn="ctr"/>
            <a:r>
              <a:rPr lang="en-US" dirty="0"/>
              <a:t>Investment!</a:t>
            </a:r>
          </a:p>
        </p:txBody>
      </p:sp>
      <p:sp>
        <p:nvSpPr>
          <p:cNvPr id="5" name="Left Brace 4">
            <a:extLst>
              <a:ext uri="{FF2B5EF4-FFF2-40B4-BE49-F238E27FC236}">
                <a16:creationId xmlns:a16="http://schemas.microsoft.com/office/drawing/2014/main" id="{1AB6FA44-2196-7A08-4E71-C8905B24069F}"/>
              </a:ext>
            </a:extLst>
          </p:cNvPr>
          <p:cNvSpPr/>
          <p:nvPr/>
        </p:nvSpPr>
        <p:spPr>
          <a:xfrm rot="16200000">
            <a:off x="5799380" y="5730215"/>
            <a:ext cx="276040" cy="317205"/>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40F85C52-5E0F-DBE0-E44D-1EFCB3F8B867}"/>
              </a:ext>
            </a:extLst>
          </p:cNvPr>
          <p:cNvCxnSpPr>
            <a:cxnSpLocks/>
            <a:stCxn id="4" idx="0"/>
            <a:endCxn id="5" idx="1"/>
          </p:cNvCxnSpPr>
          <p:nvPr/>
        </p:nvCxnSpPr>
        <p:spPr>
          <a:xfrm flipV="1">
            <a:off x="5937400" y="6026838"/>
            <a:ext cx="1" cy="131965"/>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771717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15A98-6095-CC4D-C36B-5EAAD53E91B8}"/>
              </a:ext>
            </a:extLst>
          </p:cNvPr>
          <p:cNvSpPr>
            <a:spLocks noGrp="1"/>
          </p:cNvSpPr>
          <p:nvPr>
            <p:ph type="title"/>
          </p:nvPr>
        </p:nvSpPr>
        <p:spPr/>
        <p:txBody>
          <a:bodyPr/>
          <a:lstStyle/>
          <a:p>
            <a:r>
              <a:rPr lang="en-US" dirty="0"/>
              <a:t>Ramblings on investment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8DAA80F-7358-7392-9103-DA635F4267A4}"/>
                  </a:ext>
                </a:extLst>
              </p:cNvPr>
              <p:cNvSpPr>
                <a:spLocks noGrp="1"/>
              </p:cNvSpPr>
              <p:nvPr>
                <p:ph idx="1"/>
              </p:nvPr>
            </p:nvSpPr>
            <p:spPr>
              <a:xfrm>
                <a:off x="340242" y="1825625"/>
                <a:ext cx="11557591" cy="4351338"/>
              </a:xfrm>
            </p:spPr>
            <p:txBody>
              <a:bodyPr>
                <a:normAutofit/>
              </a:bodyPr>
              <a:lstStyle/>
              <a:p>
                <a:r>
                  <a:rPr lang="en-US" dirty="0"/>
                  <a:t>‘Investment’ here is from a cost-minimization and societal perspective</a:t>
                </a:r>
              </a:p>
              <a:p>
                <a:endParaRPr lang="en-US" dirty="0"/>
              </a:p>
              <a:p>
                <a:r>
                  <a:rPr lang="en-US" dirty="0"/>
                  <a:t>From a business/personal perspective, need to consider:</a:t>
                </a:r>
              </a:p>
              <a:p>
                <a:pPr lvl="1"/>
                <a:r>
                  <a:rPr lang="en-US" dirty="0"/>
                  <a:t>Capital recovery factors – similar to the ratio of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𝛿</m:t>
                        </m:r>
                      </m:e>
                      <m:sub>
                        <m:r>
                          <a:rPr lang="en-US" b="0" i="1" smtClean="0">
                            <a:latin typeface="Cambria Math" panose="02040503050406030204" pitchFamily="18" charset="0"/>
                          </a:rPr>
                          <m:t>𝑡</m:t>
                        </m:r>
                      </m:sub>
                      <m:sup>
                        <m:r>
                          <a:rPr lang="en-US" b="0" i="1" smtClean="0">
                            <a:latin typeface="Cambria Math" panose="02040503050406030204" pitchFamily="18" charset="0"/>
                          </a:rPr>
                          <m:t>𝑘</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𝛿</m:t>
                        </m:r>
                      </m:e>
                      <m:sub>
                        <m:r>
                          <a:rPr lang="en-US" b="0" i="1" smtClean="0">
                            <a:latin typeface="Cambria Math" panose="02040503050406030204" pitchFamily="18" charset="0"/>
                          </a:rPr>
                          <m:t>𝑡</m:t>
                        </m:r>
                      </m:sub>
                      <m:sup>
                        <m:r>
                          <a:rPr lang="en-US" b="0" i="1" smtClean="0">
                            <a:latin typeface="Cambria Math" panose="02040503050406030204" pitchFamily="18" charset="0"/>
                          </a:rPr>
                          <m:t>𝑣</m:t>
                        </m:r>
                      </m:sup>
                    </m:sSubSup>
                  </m:oMath>
                </a14:m>
                <a:endParaRPr lang="en-US" dirty="0"/>
              </a:p>
              <a:p>
                <a:pPr lvl="1"/>
                <a:r>
                  <a:rPr lang="en-US" dirty="0"/>
                  <a:t>Market dynamics, strategy, ‘gaming’ &lt;- later in the course</a:t>
                </a:r>
              </a:p>
              <a:p>
                <a:pPr lvl="1"/>
                <a:r>
                  <a:rPr lang="en-US" dirty="0"/>
                  <a:t>Expected returns, risk appetite, …</a:t>
                </a:r>
              </a:p>
              <a:p>
                <a:pPr lvl="1"/>
                <a:endParaRPr lang="en-US" dirty="0"/>
              </a:p>
              <a:p>
                <a:r>
                  <a:rPr lang="en-US" dirty="0"/>
                  <a:t>See: Anwar et al. (2023) which does this from </a:t>
                </a:r>
              </a:p>
              <a:p>
                <a:pPr marL="0" indent="0">
                  <a:buNone/>
                </a:pPr>
                <a:r>
                  <a:rPr lang="en-US" dirty="0"/>
                  <a:t>	 an agent-based perspective</a:t>
                </a:r>
              </a:p>
            </p:txBody>
          </p:sp>
        </mc:Choice>
        <mc:Fallback xmlns="">
          <p:sp>
            <p:nvSpPr>
              <p:cNvPr id="3" name="Content Placeholder 2">
                <a:extLst>
                  <a:ext uri="{FF2B5EF4-FFF2-40B4-BE49-F238E27FC236}">
                    <a16:creationId xmlns:a16="http://schemas.microsoft.com/office/drawing/2014/main" id="{58DAA80F-7358-7392-9103-DA635F4267A4}"/>
                  </a:ext>
                </a:extLst>
              </p:cNvPr>
              <p:cNvSpPr>
                <a:spLocks noGrp="1" noRot="1" noChangeAspect="1" noMove="1" noResize="1" noEditPoints="1" noAdjustHandles="1" noChangeArrowheads="1" noChangeShapeType="1" noTextEdit="1"/>
              </p:cNvSpPr>
              <p:nvPr>
                <p:ph idx="1"/>
              </p:nvPr>
            </p:nvSpPr>
            <p:spPr>
              <a:xfrm>
                <a:off x="340242" y="1825625"/>
                <a:ext cx="11557591" cy="4351338"/>
              </a:xfrm>
              <a:blipFill>
                <a:blip r:embed="rId2"/>
                <a:stretch>
                  <a:fillRect l="-878" t="-2326"/>
                </a:stretch>
              </a:blipFill>
            </p:spPr>
            <p:txBody>
              <a:bodyPr/>
              <a:lstStyle/>
              <a:p>
                <a:r>
                  <a:rPr lang="en-US">
                    <a:noFill/>
                  </a:rPr>
                  <a:t> </a:t>
                </a:r>
              </a:p>
            </p:txBody>
          </p:sp>
        </mc:Fallback>
      </mc:AlternateContent>
    </p:spTree>
    <p:extLst>
      <p:ext uri="{BB962C8B-B14F-4D97-AF65-F5344CB8AC3E}">
        <p14:creationId xmlns:p14="http://schemas.microsoft.com/office/powerpoint/2010/main" val="29672707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85F4F-7208-42B4-9B99-21FB432AEF53}"/>
              </a:ext>
            </a:extLst>
          </p:cNvPr>
          <p:cNvSpPr>
            <a:spLocks noGrp="1"/>
          </p:cNvSpPr>
          <p:nvPr>
            <p:ph type="title"/>
          </p:nvPr>
        </p:nvSpPr>
        <p:spPr/>
        <p:txBody>
          <a:bodyPr/>
          <a:lstStyle/>
          <a:p>
            <a:r>
              <a:rPr lang="en-US" dirty="0"/>
              <a:t>Agenda - NLPs</a:t>
            </a:r>
          </a:p>
        </p:txBody>
      </p:sp>
      <p:sp>
        <p:nvSpPr>
          <p:cNvPr id="3" name="Content Placeholder 2">
            <a:extLst>
              <a:ext uri="{FF2B5EF4-FFF2-40B4-BE49-F238E27FC236}">
                <a16:creationId xmlns:a16="http://schemas.microsoft.com/office/drawing/2014/main" id="{660B76C7-9B77-A9A8-AF9C-4E29DAC09939}"/>
              </a:ext>
            </a:extLst>
          </p:cNvPr>
          <p:cNvSpPr>
            <a:spLocks noGrp="1"/>
          </p:cNvSpPr>
          <p:nvPr>
            <p:ph idx="1"/>
          </p:nvPr>
        </p:nvSpPr>
        <p:spPr/>
        <p:txBody>
          <a:bodyPr/>
          <a:lstStyle/>
          <a:p>
            <a:r>
              <a:rPr lang="en-US" dirty="0"/>
              <a:t>Reviewing NLPs</a:t>
            </a:r>
          </a:p>
          <a:p>
            <a:r>
              <a:rPr lang="en-US" dirty="0"/>
              <a:t>Review of why we need NLPs</a:t>
            </a:r>
          </a:p>
          <a:p>
            <a:pPr lvl="1"/>
            <a:r>
              <a:rPr lang="en-US" dirty="0"/>
              <a:t>Multiple variables</a:t>
            </a:r>
          </a:p>
          <a:p>
            <a:pPr lvl="1"/>
            <a:r>
              <a:rPr lang="en-US" dirty="0"/>
              <a:t>Non-monotonic relationships (economies of scale)</a:t>
            </a:r>
          </a:p>
          <a:p>
            <a:r>
              <a:rPr lang="en-US" dirty="0"/>
              <a:t>Examples:</a:t>
            </a:r>
          </a:p>
          <a:p>
            <a:pPr lvl="1"/>
            <a:r>
              <a:rPr lang="en-US" dirty="0"/>
              <a:t>Models of social surplus maximization</a:t>
            </a:r>
          </a:p>
          <a:p>
            <a:pPr lvl="1"/>
            <a:r>
              <a:rPr lang="en-US" dirty="0"/>
              <a:t>Utility maximization of multiple goods</a:t>
            </a:r>
          </a:p>
          <a:p>
            <a:pPr lvl="1"/>
            <a:r>
              <a:rPr lang="en-US" dirty="0"/>
              <a:t>Global production/consumption of gas and other energy sources</a:t>
            </a:r>
          </a:p>
          <a:p>
            <a:pPr lvl="1"/>
            <a:r>
              <a:rPr lang="en-US" dirty="0"/>
              <a:t>Ramsey model</a:t>
            </a:r>
          </a:p>
          <a:p>
            <a:pPr lvl="1"/>
            <a:endParaRPr lang="en-US" dirty="0"/>
          </a:p>
        </p:txBody>
      </p:sp>
    </p:spTree>
    <p:extLst>
      <p:ext uri="{BB962C8B-B14F-4D97-AF65-F5344CB8AC3E}">
        <p14:creationId xmlns:p14="http://schemas.microsoft.com/office/powerpoint/2010/main" val="28610838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062C4-AA4C-2818-99B5-A29799BDD5BF}"/>
              </a:ext>
            </a:extLst>
          </p:cNvPr>
          <p:cNvSpPr>
            <a:spLocks noGrp="1"/>
          </p:cNvSpPr>
          <p:nvPr>
            <p:ph type="title"/>
          </p:nvPr>
        </p:nvSpPr>
        <p:spPr/>
        <p:txBody>
          <a:bodyPr/>
          <a:lstStyle/>
          <a:p>
            <a:r>
              <a:rPr lang="en-US" dirty="0"/>
              <a:t>Market models</a:t>
            </a:r>
          </a:p>
        </p:txBody>
      </p:sp>
      <p:sp>
        <p:nvSpPr>
          <p:cNvPr id="3" name="Content Placeholder 2">
            <a:extLst>
              <a:ext uri="{FF2B5EF4-FFF2-40B4-BE49-F238E27FC236}">
                <a16:creationId xmlns:a16="http://schemas.microsoft.com/office/drawing/2014/main" id="{8ECC5EB0-B94E-6656-1ABC-11980E3C6994}"/>
              </a:ext>
            </a:extLst>
          </p:cNvPr>
          <p:cNvSpPr>
            <a:spLocks noGrp="1"/>
          </p:cNvSpPr>
          <p:nvPr>
            <p:ph idx="1"/>
          </p:nvPr>
        </p:nvSpPr>
        <p:spPr/>
        <p:txBody>
          <a:bodyPr/>
          <a:lstStyle/>
          <a:p>
            <a:pPr marL="0" indent="0">
              <a:buNone/>
            </a:pPr>
            <a:r>
              <a:rPr lang="en-US" dirty="0"/>
              <a:t>Going to ramble on my experiences here…</a:t>
            </a:r>
          </a:p>
          <a:p>
            <a:r>
              <a:rPr lang="en-US" dirty="0"/>
              <a:t>University of Maine – first real research project</a:t>
            </a:r>
          </a:p>
          <a:p>
            <a:r>
              <a:rPr lang="en-US" dirty="0"/>
              <a:t>Oak Ridge National Laboratory</a:t>
            </a:r>
          </a:p>
          <a:p>
            <a:r>
              <a:rPr lang="en-US" dirty="0"/>
              <a:t>Rare earth market model</a:t>
            </a:r>
          </a:p>
          <a:p>
            <a:r>
              <a:rPr lang="en-US" dirty="0"/>
              <a:t>FINITO – fossil fuel supply curves</a:t>
            </a:r>
          </a:p>
          <a:p>
            <a:endParaRPr lang="en-US" dirty="0"/>
          </a:p>
          <a:p>
            <a:pPr marL="0" indent="0">
              <a:buNone/>
            </a:pPr>
            <a:r>
              <a:rPr lang="en-US" dirty="0"/>
              <a:t>All of these used calibrated functions from market data</a:t>
            </a:r>
          </a:p>
          <a:p>
            <a:pPr marL="0" indent="0">
              <a:buNone/>
            </a:pPr>
            <a:endParaRPr lang="en-US" dirty="0"/>
          </a:p>
        </p:txBody>
      </p:sp>
    </p:spTree>
    <p:extLst>
      <p:ext uri="{BB962C8B-B14F-4D97-AF65-F5344CB8AC3E}">
        <p14:creationId xmlns:p14="http://schemas.microsoft.com/office/powerpoint/2010/main" val="8010320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F70F4-362B-0134-CD19-E46862774291}"/>
              </a:ext>
            </a:extLst>
          </p:cNvPr>
          <p:cNvSpPr>
            <a:spLocks noGrp="1"/>
          </p:cNvSpPr>
          <p:nvPr>
            <p:ph type="title"/>
          </p:nvPr>
        </p:nvSpPr>
        <p:spPr/>
        <p:txBody>
          <a:bodyPr/>
          <a:lstStyle/>
          <a:p>
            <a:r>
              <a:rPr lang="en-US" dirty="0"/>
              <a:t>Process of creating a market model</a:t>
            </a:r>
          </a:p>
        </p:txBody>
      </p:sp>
      <p:sp>
        <p:nvSpPr>
          <p:cNvPr id="3" name="Content Placeholder 2">
            <a:extLst>
              <a:ext uri="{FF2B5EF4-FFF2-40B4-BE49-F238E27FC236}">
                <a16:creationId xmlns:a16="http://schemas.microsoft.com/office/drawing/2014/main" id="{00216A43-9A01-66DC-8FA5-FF232AD2B149}"/>
              </a:ext>
            </a:extLst>
          </p:cNvPr>
          <p:cNvSpPr>
            <a:spLocks noGrp="1"/>
          </p:cNvSpPr>
          <p:nvPr>
            <p:ph idx="1"/>
          </p:nvPr>
        </p:nvSpPr>
        <p:spPr/>
        <p:txBody>
          <a:bodyPr/>
          <a:lstStyle/>
          <a:p>
            <a:r>
              <a:rPr lang="en-US" dirty="0"/>
              <a:t>Create a general idea w/boundaries</a:t>
            </a:r>
          </a:p>
          <a:p>
            <a:r>
              <a:rPr lang="en-US" dirty="0"/>
              <a:t>Choose a functional form</a:t>
            </a:r>
          </a:p>
          <a:p>
            <a:r>
              <a:rPr lang="en-US" dirty="0"/>
              <a:t>Either:</a:t>
            </a:r>
          </a:p>
          <a:p>
            <a:pPr lvl="1"/>
            <a:r>
              <a:rPr lang="en-US" dirty="0"/>
              <a:t>A) calibrate values to fit reference points</a:t>
            </a:r>
          </a:p>
          <a:p>
            <a:pPr lvl="1"/>
            <a:r>
              <a:rPr lang="en-US" dirty="0"/>
              <a:t>B) use calibrated functional forms</a:t>
            </a:r>
          </a:p>
          <a:p>
            <a:r>
              <a:rPr lang="en-US" dirty="0"/>
              <a:t>Decide on counterfactuals</a:t>
            </a:r>
          </a:p>
          <a:p>
            <a:pPr lvl="1"/>
            <a:r>
              <a:rPr lang="en-US" dirty="0"/>
              <a:t>Taxes/subsidies most common</a:t>
            </a:r>
          </a:p>
          <a:p>
            <a:pPr lvl="1"/>
            <a:r>
              <a:rPr lang="en-US" dirty="0"/>
              <a:t>Shifts in supply/demand</a:t>
            </a:r>
          </a:p>
          <a:p>
            <a:pPr lvl="1"/>
            <a:r>
              <a:rPr lang="en-US" dirty="0"/>
              <a:t>Do </a:t>
            </a:r>
            <a:r>
              <a:rPr lang="en-US" i="1" dirty="0"/>
              <a:t>not</a:t>
            </a:r>
            <a:r>
              <a:rPr lang="en-US" dirty="0"/>
              <a:t> have explicit price controls yet – price is an outcome of the model</a:t>
            </a:r>
          </a:p>
        </p:txBody>
      </p:sp>
    </p:spTree>
    <p:extLst>
      <p:ext uri="{BB962C8B-B14F-4D97-AF65-F5344CB8AC3E}">
        <p14:creationId xmlns:p14="http://schemas.microsoft.com/office/powerpoint/2010/main" val="21774457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1A0E0-F69D-81F6-DEF7-6D68A7B780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9700BF-D3B3-4498-474C-41E2F89928CE}"/>
              </a:ext>
            </a:extLst>
          </p:cNvPr>
          <p:cNvSpPr>
            <a:spLocks noGrp="1"/>
          </p:cNvSpPr>
          <p:nvPr>
            <p:ph type="title"/>
          </p:nvPr>
        </p:nvSpPr>
        <p:spPr>
          <a:xfrm>
            <a:off x="838199" y="365125"/>
            <a:ext cx="11134725" cy="1325563"/>
          </a:xfrm>
        </p:spPr>
        <p:txBody>
          <a:bodyPr/>
          <a:lstStyle/>
          <a:p>
            <a:r>
              <a:rPr lang="en-US" dirty="0"/>
              <a:t>Partial equilibrium - social surplus maximization</a:t>
            </a:r>
          </a:p>
        </p:txBody>
      </p:sp>
      <p:sp>
        <p:nvSpPr>
          <p:cNvPr id="4" name="AutoShape 2" descr="Total Surplus">
            <a:extLst>
              <a:ext uri="{FF2B5EF4-FFF2-40B4-BE49-F238E27FC236}">
                <a16:creationId xmlns:a16="http://schemas.microsoft.com/office/drawing/2014/main" id="{D1A6EB22-3F2E-6FD8-35F5-F4EFB60F6007}"/>
              </a:ext>
            </a:extLst>
          </p:cNvPr>
          <p:cNvSpPr>
            <a:spLocks noChangeAspect="1" noChangeArrowheads="1"/>
          </p:cNvSpPr>
          <p:nvPr/>
        </p:nvSpPr>
        <p:spPr bwMode="auto">
          <a:xfrm>
            <a:off x="5943599" y="3276599"/>
            <a:ext cx="2843213" cy="284321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a:extLst>
              <a:ext uri="{FF2B5EF4-FFF2-40B4-BE49-F238E27FC236}">
                <a16:creationId xmlns:a16="http://schemas.microsoft.com/office/drawing/2014/main" id="{DE218466-D8E8-E9A3-EF48-16E888142FB5}"/>
              </a:ext>
            </a:extLst>
          </p:cNvPr>
          <p:cNvPicPr>
            <a:picLocks noChangeAspect="1"/>
          </p:cNvPicPr>
          <p:nvPr/>
        </p:nvPicPr>
        <p:blipFill>
          <a:blip r:embed="rId2"/>
          <a:stretch>
            <a:fillRect/>
          </a:stretch>
        </p:blipFill>
        <p:spPr>
          <a:xfrm>
            <a:off x="2057399" y="1386386"/>
            <a:ext cx="7772400" cy="5471614"/>
          </a:xfrm>
          <a:prstGeom prst="rect">
            <a:avLst/>
          </a:prstGeom>
        </p:spPr>
      </p:pic>
    </p:spTree>
    <p:extLst>
      <p:ext uri="{BB962C8B-B14F-4D97-AF65-F5344CB8AC3E}">
        <p14:creationId xmlns:p14="http://schemas.microsoft.com/office/powerpoint/2010/main" val="3633271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5C0C546-FF5E-36A1-3E09-4813EA2E3D71}"/>
              </a:ext>
            </a:extLst>
          </p:cNvPr>
          <p:cNvSpPr>
            <a:spLocks noGrp="1"/>
          </p:cNvSpPr>
          <p:nvPr>
            <p:ph type="title"/>
          </p:nvPr>
        </p:nvSpPr>
        <p:spPr>
          <a:xfrm>
            <a:off x="645064" y="525982"/>
            <a:ext cx="4282983" cy="1200361"/>
          </a:xfrm>
        </p:spPr>
        <p:txBody>
          <a:bodyPr anchor="b">
            <a:normAutofit/>
          </a:bodyPr>
          <a:lstStyle/>
          <a:p>
            <a:r>
              <a:rPr lang="en-US" sz="3600"/>
              <a:t>Market models</a:t>
            </a:r>
          </a:p>
        </p:txBody>
      </p:sp>
      <p:sp>
        <p:nvSpPr>
          <p:cNvPr id="2057" name="Rectangle 2056">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9A88279-F858-F705-7621-1B86B39AF509}"/>
                  </a:ext>
                </a:extLst>
              </p:cNvPr>
              <p:cNvSpPr>
                <a:spLocks noGrp="1"/>
              </p:cNvSpPr>
              <p:nvPr>
                <p:ph idx="1"/>
              </p:nvPr>
            </p:nvSpPr>
            <p:spPr>
              <a:xfrm>
                <a:off x="645066" y="2031101"/>
                <a:ext cx="4282984" cy="3511943"/>
              </a:xfrm>
            </p:spPr>
            <p:txBody>
              <a:bodyPr anchor="ctr">
                <a:normAutofit/>
              </a:bodyPr>
              <a:lstStyle/>
              <a:p>
                <a:pPr marL="0" indent="0">
                  <a:buNone/>
                </a:pPr>
                <a:r>
                  <a:rPr lang="en-US" dirty="0"/>
                  <a:t>Let’s set up a simple supply/demand model:</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b="0" i="1">
                              <a:latin typeface="Cambria Math" panose="02040503050406030204" pitchFamily="18" charset="0"/>
                            </a:rPr>
                          </m:ctrlPr>
                        </m:sSubPr>
                        <m:e>
                          <m:r>
                            <a:rPr lang="en-US" b="0" i="1">
                              <a:latin typeface="Cambria Math" panose="02040503050406030204" pitchFamily="18" charset="0"/>
                            </a:rPr>
                            <m:t>𝑄</m:t>
                          </m:r>
                        </m:e>
                        <m:sub>
                          <m:r>
                            <a:rPr lang="en-US" b="0" i="1">
                              <a:latin typeface="Cambria Math" panose="02040503050406030204" pitchFamily="18" charset="0"/>
                            </a:rPr>
                            <m:t>𝑑</m:t>
                          </m:r>
                        </m:sub>
                      </m:sSub>
                      <m:r>
                        <a:rPr lang="en-US" b="0" i="1">
                          <a:latin typeface="Cambria Math" panose="02040503050406030204" pitchFamily="18" charset="0"/>
                        </a:rPr>
                        <m:t>=</m:t>
                      </m:r>
                      <m:sSub>
                        <m:sSubPr>
                          <m:ctrlPr>
                            <a:rPr lang="en-US" b="0" i="1">
                              <a:latin typeface="Cambria Math" panose="02040503050406030204" pitchFamily="18" charset="0"/>
                            </a:rPr>
                          </m:ctrlPr>
                        </m:sSubPr>
                        <m:e>
                          <m:r>
                            <a:rPr lang="en-US" b="0" i="1">
                              <a:latin typeface="Cambria Math" panose="02040503050406030204" pitchFamily="18" charset="0"/>
                            </a:rPr>
                            <m:t>𝑄</m:t>
                          </m:r>
                        </m:e>
                        <m:sub>
                          <m:r>
                            <a:rPr lang="en-US" b="0" i="1">
                              <a:latin typeface="Cambria Math" panose="02040503050406030204" pitchFamily="18" charset="0"/>
                            </a:rPr>
                            <m:t>𝑠</m:t>
                          </m:r>
                        </m:sub>
                      </m:sSub>
                    </m:oMath>
                  </m:oMathPara>
                </a14:m>
                <a:endParaRPr lang="en-US" b="0" dirty="0"/>
              </a:p>
              <a:p>
                <a:pPr marL="0" indent="0">
                  <a:buNone/>
                </a:pPr>
                <a14:m>
                  <m:oMathPara xmlns:m="http://schemas.openxmlformats.org/officeDocument/2006/math">
                    <m:oMathParaPr>
                      <m:jc m:val="centerGroup"/>
                    </m:oMathParaPr>
                    <m:oMath xmlns:m="http://schemas.openxmlformats.org/officeDocument/2006/math">
                      <m:sSub>
                        <m:sSubPr>
                          <m:ctrlPr>
                            <a:rPr lang="en-US" b="0" i="1">
                              <a:latin typeface="Cambria Math" panose="02040503050406030204" pitchFamily="18" charset="0"/>
                            </a:rPr>
                          </m:ctrlPr>
                        </m:sSubPr>
                        <m:e>
                          <m:r>
                            <a:rPr lang="en-US" b="0" i="1">
                              <a:latin typeface="Cambria Math" panose="02040503050406030204" pitchFamily="18" charset="0"/>
                            </a:rPr>
                            <m:t>𝑄</m:t>
                          </m:r>
                        </m:e>
                        <m:sub>
                          <m:r>
                            <a:rPr lang="en-US" b="0" i="1">
                              <a:latin typeface="Cambria Math" panose="02040503050406030204" pitchFamily="18" charset="0"/>
                            </a:rPr>
                            <m:t>𝑑</m:t>
                          </m:r>
                        </m:sub>
                      </m:sSub>
                      <m:r>
                        <a:rPr lang="en-US" b="0" i="1">
                          <a:latin typeface="Cambria Math" panose="02040503050406030204" pitchFamily="18" charset="0"/>
                        </a:rPr>
                        <m:t>=</m:t>
                      </m:r>
                      <m:r>
                        <a:rPr lang="en-US" b="0" i="1">
                          <a:latin typeface="Cambria Math" panose="02040503050406030204" pitchFamily="18" charset="0"/>
                        </a:rPr>
                        <m:t>𝑎</m:t>
                      </m:r>
                      <m:r>
                        <a:rPr lang="en-US" b="0" i="1">
                          <a:latin typeface="Cambria Math" panose="02040503050406030204" pitchFamily="18" charset="0"/>
                        </a:rPr>
                        <m:t>−</m:t>
                      </m:r>
                      <m:r>
                        <a:rPr lang="en-US" b="0" i="1">
                          <a:latin typeface="Cambria Math" panose="02040503050406030204" pitchFamily="18" charset="0"/>
                        </a:rPr>
                        <m:t>𝑏𝑃</m:t>
                      </m:r>
                    </m:oMath>
                  </m:oMathPara>
                </a14:m>
                <a:endParaRPr lang="en-US" b="0" dirty="0"/>
              </a:p>
              <a:p>
                <a:pPr marL="0" indent="0">
                  <a:buNone/>
                </a:pPr>
                <a14:m>
                  <m:oMathPara xmlns:m="http://schemas.openxmlformats.org/officeDocument/2006/math">
                    <m:oMathParaPr>
                      <m:jc m:val="centerGroup"/>
                    </m:oMathParaPr>
                    <m:oMath xmlns:m="http://schemas.openxmlformats.org/officeDocument/2006/math">
                      <m:sSub>
                        <m:sSubPr>
                          <m:ctrlPr>
                            <a:rPr lang="en-US" b="0" i="1">
                              <a:latin typeface="Cambria Math" panose="02040503050406030204" pitchFamily="18" charset="0"/>
                            </a:rPr>
                          </m:ctrlPr>
                        </m:sSubPr>
                        <m:e>
                          <m:r>
                            <a:rPr lang="en-US" b="0" i="1">
                              <a:latin typeface="Cambria Math" panose="02040503050406030204" pitchFamily="18" charset="0"/>
                            </a:rPr>
                            <m:t>𝑄</m:t>
                          </m:r>
                        </m:e>
                        <m:sub>
                          <m:r>
                            <a:rPr lang="en-US" b="0" i="1">
                              <a:latin typeface="Cambria Math" panose="02040503050406030204" pitchFamily="18" charset="0"/>
                            </a:rPr>
                            <m:t>𝑠</m:t>
                          </m:r>
                        </m:sub>
                      </m:sSub>
                      <m:r>
                        <a:rPr lang="en-US" b="0" i="1">
                          <a:latin typeface="Cambria Math" panose="02040503050406030204" pitchFamily="18" charset="0"/>
                        </a:rPr>
                        <m:t>=</m:t>
                      </m:r>
                      <m:r>
                        <a:rPr lang="en-US" b="0" i="1">
                          <a:latin typeface="Cambria Math" panose="02040503050406030204" pitchFamily="18" charset="0"/>
                        </a:rPr>
                        <m:t>𝑐</m:t>
                      </m:r>
                      <m:r>
                        <a:rPr lang="en-US" b="0" i="1">
                          <a:latin typeface="Cambria Math" panose="02040503050406030204" pitchFamily="18" charset="0"/>
                        </a:rPr>
                        <m:t>+</m:t>
                      </m:r>
                      <m:r>
                        <a:rPr lang="en-US" b="0" i="1">
                          <a:latin typeface="Cambria Math" panose="02040503050406030204" pitchFamily="18" charset="0"/>
                        </a:rPr>
                        <m:t>𝑑𝑃</m:t>
                      </m:r>
                    </m:oMath>
                  </m:oMathPara>
                </a14:m>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59A88279-F858-F705-7621-1B86B39AF509}"/>
                  </a:ext>
                </a:extLst>
              </p:cNvPr>
              <p:cNvSpPr>
                <a:spLocks noGrp="1" noRot="1" noChangeAspect="1" noMove="1" noResize="1" noEditPoints="1" noAdjustHandles="1" noChangeArrowheads="1" noChangeShapeType="1" noTextEdit="1"/>
              </p:cNvSpPr>
              <p:nvPr>
                <p:ph idx="1"/>
              </p:nvPr>
            </p:nvSpPr>
            <p:spPr>
              <a:xfrm>
                <a:off x="645066" y="2031101"/>
                <a:ext cx="4282984" cy="3511943"/>
              </a:xfrm>
              <a:blipFill>
                <a:blip r:embed="rId2"/>
                <a:stretch>
                  <a:fillRect l="-2959"/>
                </a:stretch>
              </a:blipFill>
            </p:spPr>
            <p:txBody>
              <a:bodyPr/>
              <a:lstStyle/>
              <a:p>
                <a:r>
                  <a:rPr lang="en-US">
                    <a:noFill/>
                  </a:rPr>
                  <a:t> </a:t>
                </a:r>
              </a:p>
            </p:txBody>
          </p:sp>
        </mc:Fallback>
      </mc:AlternateContent>
      <p:sp>
        <p:nvSpPr>
          <p:cNvPr id="2065" name="Rectangle 2064">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6" name="Rectangle 2065">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7" name="Rectangle 2066">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Economic Memes and Things – Econ Chris Clarke">
            <a:extLst>
              <a:ext uri="{FF2B5EF4-FFF2-40B4-BE49-F238E27FC236}">
                <a16:creationId xmlns:a16="http://schemas.microsoft.com/office/drawing/2014/main" id="{CAEC2D8F-85DD-F2C9-FCD0-9FF2E4427164}"/>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987738" y="737747"/>
            <a:ext cx="5628018" cy="51496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59762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24F77A9-4276-76E3-833B-B39DFECAA84C}"/>
            </a:ext>
          </a:extLst>
        </p:cNvPr>
        <p:cNvGrpSpPr/>
        <p:nvPr/>
      </p:nvGrpSpPr>
      <p:grpSpPr>
        <a:xfrm>
          <a:off x="0" y="0"/>
          <a:ext cx="0" cy="0"/>
          <a:chOff x="0" y="0"/>
          <a:chExt cx="0" cy="0"/>
        </a:xfrm>
      </p:grpSpPr>
      <p:sp useBgFill="1">
        <p:nvSpPr>
          <p:cNvPr id="2072" name="Rectangle 2071">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4" name="Freeform: Shape 2073">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FB7951D-C46D-608B-B423-A08B7FB73086}"/>
              </a:ext>
            </a:extLst>
          </p:cNvPr>
          <p:cNvSpPr>
            <a:spLocks noGrp="1"/>
          </p:cNvSpPr>
          <p:nvPr>
            <p:ph type="title"/>
          </p:nvPr>
        </p:nvSpPr>
        <p:spPr>
          <a:xfrm>
            <a:off x="1137034" y="609597"/>
            <a:ext cx="9392421" cy="1330841"/>
          </a:xfrm>
        </p:spPr>
        <p:txBody>
          <a:bodyPr>
            <a:normAutofit/>
          </a:bodyPr>
          <a:lstStyle/>
          <a:p>
            <a:r>
              <a:rPr lang="en-US"/>
              <a:t>Market models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5888670-78AD-BAB3-94BA-CA2A0E89C047}"/>
                  </a:ext>
                </a:extLst>
              </p:cNvPr>
              <p:cNvSpPr>
                <a:spLocks noGrp="1"/>
              </p:cNvSpPr>
              <p:nvPr>
                <p:ph idx="1"/>
              </p:nvPr>
            </p:nvSpPr>
            <p:spPr>
              <a:xfrm>
                <a:off x="1137034" y="2198362"/>
                <a:ext cx="4958966" cy="3917773"/>
              </a:xfrm>
            </p:spPr>
            <p:txBody>
              <a:bodyPr>
                <a:normAutofit/>
              </a:bodyPr>
              <a:lstStyle/>
              <a:p>
                <a:pPr marL="0" indent="0">
                  <a:buNone/>
                </a:pPr>
                <a:r>
                  <a:rPr lang="en-US" sz="2000"/>
                  <a:t>Let’s set up a simple supply/demand model:</a:t>
                </a:r>
              </a:p>
              <a:p>
                <a:pPr marL="0" indent="0">
                  <a:buNone/>
                </a:pPr>
                <a:endParaRPr lang="en-US" sz="2000"/>
              </a:p>
              <a:p>
                <a:pPr marL="0" indent="0">
                  <a:buNone/>
                </a:pPr>
                <a14:m>
                  <m:oMathPara xmlns:m="http://schemas.openxmlformats.org/officeDocument/2006/math">
                    <m:oMathParaPr>
                      <m:jc m:val="centerGroup"/>
                    </m:oMathParaPr>
                    <m:oMath xmlns:m="http://schemas.openxmlformats.org/officeDocument/2006/math">
                      <m:sSub>
                        <m:sSubPr>
                          <m:ctrlPr>
                            <a:rPr lang="en-US" sz="2000" b="0" i="1">
                              <a:latin typeface="Cambria Math" panose="02040503050406030204" pitchFamily="18" charset="0"/>
                            </a:rPr>
                          </m:ctrlPr>
                        </m:sSubPr>
                        <m:e>
                          <m:r>
                            <a:rPr lang="en-US" sz="2000" b="0" i="1">
                              <a:latin typeface="Cambria Math" panose="02040503050406030204" pitchFamily="18" charset="0"/>
                            </a:rPr>
                            <m:t>𝑄</m:t>
                          </m:r>
                        </m:e>
                        <m:sub>
                          <m:r>
                            <a:rPr lang="en-US" sz="2000" b="0" i="1">
                              <a:latin typeface="Cambria Math" panose="02040503050406030204" pitchFamily="18" charset="0"/>
                            </a:rPr>
                            <m:t>𝑑</m:t>
                          </m:r>
                        </m:sub>
                      </m:sSub>
                      <m:r>
                        <a:rPr lang="en-US" sz="2000" b="0" i="1">
                          <a:latin typeface="Cambria Math" panose="02040503050406030204" pitchFamily="18" charset="0"/>
                        </a:rPr>
                        <m:t>=</m:t>
                      </m:r>
                      <m:sSub>
                        <m:sSubPr>
                          <m:ctrlPr>
                            <a:rPr lang="en-US" sz="2000" b="0" i="1">
                              <a:latin typeface="Cambria Math" panose="02040503050406030204" pitchFamily="18" charset="0"/>
                            </a:rPr>
                          </m:ctrlPr>
                        </m:sSubPr>
                        <m:e>
                          <m:r>
                            <a:rPr lang="en-US" sz="2000" b="0" i="1">
                              <a:latin typeface="Cambria Math" panose="02040503050406030204" pitchFamily="18" charset="0"/>
                            </a:rPr>
                            <m:t>𝑄</m:t>
                          </m:r>
                        </m:e>
                        <m:sub>
                          <m:r>
                            <a:rPr lang="en-US" sz="2000" b="0" i="1">
                              <a:latin typeface="Cambria Math" panose="02040503050406030204" pitchFamily="18" charset="0"/>
                            </a:rPr>
                            <m:t>𝑠</m:t>
                          </m:r>
                        </m:sub>
                      </m:sSub>
                    </m:oMath>
                  </m:oMathPara>
                </a14:m>
                <a:endParaRPr lang="en-US" sz="2000" b="0"/>
              </a:p>
              <a:p>
                <a:pPr marL="0" indent="0">
                  <a:buNone/>
                </a:pPr>
                <a14:m>
                  <m:oMathPara xmlns:m="http://schemas.openxmlformats.org/officeDocument/2006/math">
                    <m:oMathParaPr>
                      <m:jc m:val="centerGroup"/>
                    </m:oMathParaPr>
                    <m:oMath xmlns:m="http://schemas.openxmlformats.org/officeDocument/2006/math">
                      <m:sSub>
                        <m:sSubPr>
                          <m:ctrlPr>
                            <a:rPr lang="en-US" sz="2000" b="0" i="1">
                              <a:latin typeface="Cambria Math" panose="02040503050406030204" pitchFamily="18" charset="0"/>
                            </a:rPr>
                          </m:ctrlPr>
                        </m:sSubPr>
                        <m:e>
                          <m:r>
                            <a:rPr lang="en-US" sz="2000" b="0" i="1">
                              <a:latin typeface="Cambria Math" panose="02040503050406030204" pitchFamily="18" charset="0"/>
                            </a:rPr>
                            <m:t>𝑄</m:t>
                          </m:r>
                        </m:e>
                        <m:sub>
                          <m:r>
                            <a:rPr lang="en-US" sz="2000" b="0" i="1">
                              <a:latin typeface="Cambria Math" panose="02040503050406030204" pitchFamily="18" charset="0"/>
                            </a:rPr>
                            <m:t>𝑑</m:t>
                          </m:r>
                        </m:sub>
                      </m:sSub>
                      <m:r>
                        <a:rPr lang="en-US" sz="2000" b="0" i="1">
                          <a:latin typeface="Cambria Math" panose="02040503050406030204" pitchFamily="18" charset="0"/>
                        </a:rPr>
                        <m:t>=</m:t>
                      </m:r>
                      <m:r>
                        <a:rPr lang="en-US" sz="2000" b="0" i="1">
                          <a:latin typeface="Cambria Math" panose="02040503050406030204" pitchFamily="18" charset="0"/>
                        </a:rPr>
                        <m:t>𝑎</m:t>
                      </m:r>
                      <m:r>
                        <a:rPr lang="en-US" sz="2000" b="0" i="1">
                          <a:latin typeface="Cambria Math" panose="02040503050406030204" pitchFamily="18" charset="0"/>
                        </a:rPr>
                        <m:t>−</m:t>
                      </m:r>
                      <m:r>
                        <a:rPr lang="en-US" sz="2000" b="0" i="1">
                          <a:latin typeface="Cambria Math" panose="02040503050406030204" pitchFamily="18" charset="0"/>
                        </a:rPr>
                        <m:t>𝑏𝑃</m:t>
                      </m:r>
                    </m:oMath>
                  </m:oMathPara>
                </a14:m>
                <a:endParaRPr lang="en-US" sz="2000" b="0"/>
              </a:p>
              <a:p>
                <a:pPr marL="0" indent="0">
                  <a:buNone/>
                </a:pPr>
                <a14:m>
                  <m:oMathPara xmlns:m="http://schemas.openxmlformats.org/officeDocument/2006/math">
                    <m:oMathParaPr>
                      <m:jc m:val="centerGroup"/>
                    </m:oMathParaPr>
                    <m:oMath xmlns:m="http://schemas.openxmlformats.org/officeDocument/2006/math">
                      <m:sSub>
                        <m:sSubPr>
                          <m:ctrlPr>
                            <a:rPr lang="en-US" sz="2000" b="0" i="1">
                              <a:latin typeface="Cambria Math" panose="02040503050406030204" pitchFamily="18" charset="0"/>
                            </a:rPr>
                          </m:ctrlPr>
                        </m:sSubPr>
                        <m:e>
                          <m:r>
                            <a:rPr lang="en-US" sz="2000" b="0" i="1">
                              <a:latin typeface="Cambria Math" panose="02040503050406030204" pitchFamily="18" charset="0"/>
                            </a:rPr>
                            <m:t>𝑄</m:t>
                          </m:r>
                        </m:e>
                        <m:sub>
                          <m:r>
                            <a:rPr lang="en-US" sz="2000" b="0" i="1">
                              <a:latin typeface="Cambria Math" panose="02040503050406030204" pitchFamily="18" charset="0"/>
                            </a:rPr>
                            <m:t>𝑠</m:t>
                          </m:r>
                        </m:sub>
                      </m:sSub>
                      <m:r>
                        <a:rPr lang="en-US" sz="2000" b="0" i="1">
                          <a:latin typeface="Cambria Math" panose="02040503050406030204" pitchFamily="18" charset="0"/>
                        </a:rPr>
                        <m:t>=</m:t>
                      </m:r>
                      <m:r>
                        <a:rPr lang="en-US" sz="2000" b="0" i="1">
                          <a:latin typeface="Cambria Math" panose="02040503050406030204" pitchFamily="18" charset="0"/>
                        </a:rPr>
                        <m:t>𝑐</m:t>
                      </m:r>
                      <m:r>
                        <a:rPr lang="en-US" sz="2000" b="0" i="1">
                          <a:latin typeface="Cambria Math" panose="02040503050406030204" pitchFamily="18" charset="0"/>
                        </a:rPr>
                        <m:t>+</m:t>
                      </m:r>
                      <m:r>
                        <a:rPr lang="en-US" sz="2000" b="0" i="1">
                          <a:latin typeface="Cambria Math" panose="02040503050406030204" pitchFamily="18" charset="0"/>
                        </a:rPr>
                        <m:t>𝑑𝑃</m:t>
                      </m:r>
                    </m:oMath>
                  </m:oMathPara>
                </a14:m>
                <a:endParaRPr lang="en-US" sz="2000"/>
              </a:p>
              <a:p>
                <a:pPr marL="0" indent="0">
                  <a:buNone/>
                </a:pPr>
                <a:endParaRPr lang="en-US" sz="2000"/>
              </a:p>
            </p:txBody>
          </p:sp>
        </mc:Choice>
        <mc:Fallback xmlns="">
          <p:sp>
            <p:nvSpPr>
              <p:cNvPr id="3" name="Content Placeholder 2">
                <a:extLst>
                  <a:ext uri="{FF2B5EF4-FFF2-40B4-BE49-F238E27FC236}">
                    <a16:creationId xmlns:a16="http://schemas.microsoft.com/office/drawing/2014/main" id="{C5888670-78AD-BAB3-94BA-CA2A0E89C047}"/>
                  </a:ext>
                </a:extLst>
              </p:cNvPr>
              <p:cNvSpPr>
                <a:spLocks noGrp="1" noRot="1" noChangeAspect="1" noMove="1" noResize="1" noEditPoints="1" noAdjustHandles="1" noChangeArrowheads="1" noChangeShapeType="1" noTextEdit="1"/>
              </p:cNvSpPr>
              <p:nvPr>
                <p:ph idx="1"/>
              </p:nvPr>
            </p:nvSpPr>
            <p:spPr>
              <a:xfrm>
                <a:off x="1137034" y="2198362"/>
                <a:ext cx="4958966" cy="3917773"/>
              </a:xfrm>
              <a:blipFill>
                <a:blip r:embed="rId2"/>
                <a:stretch>
                  <a:fillRect l="-1276" t="-1618"/>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9A878F8B-F624-0B22-2FA2-DC9B5B3F5AEC}"/>
              </a:ext>
            </a:extLst>
          </p:cNvPr>
          <p:cNvPicPr>
            <a:picLocks noChangeAspect="1"/>
          </p:cNvPicPr>
          <p:nvPr/>
        </p:nvPicPr>
        <p:blipFill>
          <a:blip r:embed="rId3"/>
          <a:stretch>
            <a:fillRect/>
          </a:stretch>
        </p:blipFill>
        <p:spPr>
          <a:xfrm>
            <a:off x="5573329" y="2550035"/>
            <a:ext cx="6192847" cy="2755816"/>
          </a:xfrm>
          <a:prstGeom prst="rect">
            <a:avLst/>
          </a:prstGeom>
        </p:spPr>
      </p:pic>
      <p:sp>
        <p:nvSpPr>
          <p:cNvPr id="2076" name="Freeform: Shape 2075">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4340284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5737B-82AA-6ADA-EF61-078D1EDCD8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C1072C-E09F-B639-F7D8-B0E4B78349E4}"/>
              </a:ext>
            </a:extLst>
          </p:cNvPr>
          <p:cNvSpPr>
            <a:spLocks noGrp="1"/>
          </p:cNvSpPr>
          <p:nvPr>
            <p:ph type="title"/>
          </p:nvPr>
        </p:nvSpPr>
        <p:spPr/>
        <p:txBody>
          <a:bodyPr/>
          <a:lstStyle/>
          <a:p>
            <a:r>
              <a:rPr lang="en-US" dirty="0"/>
              <a:t>Calibrated market models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44CDFD9-6CDC-AFC4-857F-380F83A0B7AC}"/>
                  </a:ext>
                </a:extLst>
              </p:cNvPr>
              <p:cNvSpPr>
                <a:spLocks noGrp="1"/>
              </p:cNvSpPr>
              <p:nvPr>
                <p:ph idx="1"/>
              </p:nvPr>
            </p:nvSpPr>
            <p:spPr>
              <a:xfrm>
                <a:off x="838200" y="1366092"/>
                <a:ext cx="10515600" cy="4810871"/>
              </a:xfrm>
            </p:spPr>
            <p:txBody>
              <a:bodyPr>
                <a:normAutofit lnSpcReduction="10000"/>
              </a:bodyPr>
              <a:lstStyle/>
              <a:p>
                <a:pPr marL="0" indent="0">
                  <a:buNone/>
                </a:pPr>
                <a:r>
                  <a:rPr lang="en-US" dirty="0"/>
                  <a:t>Let’s set up a simple supply/demand model:</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𝑑</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𝑠</m:t>
                          </m:r>
                        </m:sub>
                      </m:sSub>
                    </m:oMath>
                  </m:oMathPara>
                </a14:m>
                <a:endParaRPr lang="en-US" b="0" dirty="0"/>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𝑑</m:t>
                          </m:r>
                        </m:sub>
                      </m:sSub>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𝑏𝑃</m:t>
                      </m:r>
                    </m:oMath>
                  </m:oMathPara>
                </a14:m>
                <a:endParaRPr lang="en-US" b="0" dirty="0"/>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𝑠</m:t>
                          </m:r>
                        </m:sub>
                      </m:sSub>
                      <m:r>
                        <a:rPr lang="en-US" b="0"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m:t>
                      </m:r>
                      <m:r>
                        <a:rPr lang="en-US" b="0" i="1" smtClean="0">
                          <a:latin typeface="Cambria Math" panose="02040503050406030204" pitchFamily="18" charset="0"/>
                        </a:rPr>
                        <m:t>𝑑𝑃</m:t>
                      </m:r>
                    </m:oMath>
                  </m:oMathPara>
                </a14:m>
                <a:endParaRPr lang="en-US" dirty="0"/>
              </a:p>
              <a:p>
                <a:pPr marL="0" indent="0">
                  <a:buNone/>
                </a:pPr>
                <a:r>
                  <a:rPr lang="en-US" dirty="0"/>
                  <a:t>(all parameters/variables are positive)</a:t>
                </a:r>
              </a:p>
              <a:p>
                <a:pPr marL="0" indent="0">
                  <a:buNone/>
                </a:pPr>
                <a:endParaRPr lang="en-US" dirty="0"/>
              </a:p>
              <a:p>
                <a:pPr marL="0" indent="0">
                  <a:buNone/>
                </a:pPr>
                <a:r>
                  <a:rPr lang="en-US" dirty="0"/>
                  <a:t>These are demand/supply functions.. Need inverse demand/supply functions</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𝑑</m:t>
                          </m:r>
                        </m:sub>
                      </m:sSub>
                      <m:r>
                        <a:rPr lang="en-US" b="0" i="1" smtClean="0">
                          <a:latin typeface="Cambria Math" panose="02040503050406030204" pitchFamily="18" charset="0"/>
                        </a:rPr>
                        <m:t>)/</m:t>
                      </m:r>
                      <m:r>
                        <a:rPr lang="en-US" b="0" i="1" smtClean="0">
                          <a:latin typeface="Cambria Math" panose="02040503050406030204" pitchFamily="18" charset="0"/>
                        </a:rPr>
                        <m:t>𝑏</m:t>
                      </m:r>
                    </m:oMath>
                  </m:oMathPara>
                </a14:m>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𝑠</m:t>
                          </m:r>
                        </m:sub>
                      </m:sSub>
                      <m:r>
                        <a:rPr lang="en-US" b="0"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m:t>
                      </m:r>
                      <m:r>
                        <a:rPr lang="en-US" b="0" i="1" smtClean="0">
                          <a:latin typeface="Cambria Math" panose="02040503050406030204" pitchFamily="18" charset="0"/>
                        </a:rPr>
                        <m:t>𝑑</m:t>
                      </m:r>
                    </m:oMath>
                  </m:oMathPara>
                </a14:m>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B44CDFD9-6CDC-AFC4-857F-380F83A0B7AC}"/>
                  </a:ext>
                </a:extLst>
              </p:cNvPr>
              <p:cNvSpPr>
                <a:spLocks noGrp="1" noRot="1" noChangeAspect="1" noMove="1" noResize="1" noEditPoints="1" noAdjustHandles="1" noChangeArrowheads="1" noChangeShapeType="1" noTextEdit="1"/>
              </p:cNvSpPr>
              <p:nvPr>
                <p:ph idx="1"/>
              </p:nvPr>
            </p:nvSpPr>
            <p:spPr>
              <a:xfrm>
                <a:off x="838200" y="1366092"/>
                <a:ext cx="10515600" cy="4810871"/>
              </a:xfrm>
              <a:blipFill>
                <a:blip r:embed="rId2"/>
                <a:stretch>
                  <a:fillRect l="-1206" t="-2895" r="-724"/>
                </a:stretch>
              </a:blipFill>
            </p:spPr>
            <p:txBody>
              <a:bodyPr/>
              <a:lstStyle/>
              <a:p>
                <a:r>
                  <a:rPr lang="en-US">
                    <a:noFill/>
                  </a:rPr>
                  <a:t> </a:t>
                </a:r>
              </a:p>
            </p:txBody>
          </p:sp>
        </mc:Fallback>
      </mc:AlternateContent>
    </p:spTree>
    <p:extLst>
      <p:ext uri="{BB962C8B-B14F-4D97-AF65-F5344CB8AC3E}">
        <p14:creationId xmlns:p14="http://schemas.microsoft.com/office/powerpoint/2010/main" val="36065742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B36EA-E3B8-8C9C-9087-2C99C7BE12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EB06B3-0857-9986-8B27-198D7163C102}"/>
              </a:ext>
            </a:extLst>
          </p:cNvPr>
          <p:cNvSpPr>
            <a:spLocks noGrp="1"/>
          </p:cNvSpPr>
          <p:nvPr>
            <p:ph type="title"/>
          </p:nvPr>
        </p:nvSpPr>
        <p:spPr/>
        <p:txBody>
          <a:bodyPr/>
          <a:lstStyle/>
          <a:p>
            <a:r>
              <a:rPr lang="en-US" dirty="0"/>
              <a:t>Calibrated market models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8D68625-F0AF-4980-F7B8-87B179D60764}"/>
                  </a:ext>
                </a:extLst>
              </p:cNvPr>
              <p:cNvSpPr>
                <a:spLocks noGrp="1"/>
              </p:cNvSpPr>
              <p:nvPr>
                <p:ph idx="1"/>
              </p:nvPr>
            </p:nvSpPr>
            <p:spPr/>
            <p:txBody>
              <a:bodyPr>
                <a:normAutofit/>
              </a:bodyPr>
              <a:lstStyle/>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𝑑</m:t>
                          </m:r>
                        </m:sub>
                      </m:sSub>
                      <m:r>
                        <a:rPr lang="en-US" b="0" i="1" smtClean="0">
                          <a:latin typeface="Cambria Math" panose="02040503050406030204" pitchFamily="18" charset="0"/>
                        </a:rPr>
                        <m:t>)/</m:t>
                      </m:r>
                      <m:r>
                        <a:rPr lang="en-US" b="0" i="1" smtClean="0">
                          <a:latin typeface="Cambria Math" panose="02040503050406030204" pitchFamily="18" charset="0"/>
                        </a:rPr>
                        <m:t>𝑏</m:t>
                      </m:r>
                    </m:oMath>
                  </m:oMathPara>
                </a14:m>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𝑠</m:t>
                          </m:r>
                        </m:sub>
                      </m:sSub>
                      <m:r>
                        <a:rPr lang="en-US" b="0"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m:t>
                      </m:r>
                      <m:r>
                        <a:rPr lang="en-US" b="0" i="1" smtClean="0">
                          <a:latin typeface="Cambria Math" panose="02040503050406030204" pitchFamily="18" charset="0"/>
                        </a:rPr>
                        <m:t>𝑑</m:t>
                      </m:r>
                    </m:oMath>
                  </m:oMathPara>
                </a14:m>
                <a:endParaRPr lang="en-US" dirty="0"/>
              </a:p>
              <a:p>
                <a:pPr marL="0" indent="0">
                  <a:buNone/>
                </a:pPr>
                <a:r>
                  <a:rPr lang="en-US" dirty="0"/>
                  <a:t>Let’s label…</a:t>
                </a:r>
              </a:p>
              <a:p>
                <a:pPr marL="0" indent="0">
                  <a:buNone/>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𝑎</m:t>
                          </m:r>
                        </m:e>
                        <m:sup>
                          <m:r>
                            <a:rPr lang="en-US" b="0" i="1" smtClean="0">
                              <a:latin typeface="Cambria Math" panose="02040503050406030204" pitchFamily="18" charset="0"/>
                            </a:rPr>
                            <m:t>′</m:t>
                          </m:r>
                        </m:sup>
                      </m:sSup>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𝑎</m:t>
                          </m:r>
                        </m:num>
                        <m:den>
                          <m:r>
                            <a:rPr lang="en-US" b="0" i="1" smtClean="0">
                              <a:latin typeface="Cambria Math" panose="02040503050406030204" pitchFamily="18" charset="0"/>
                            </a:rPr>
                            <m:t>𝑏</m:t>
                          </m:r>
                        </m:den>
                      </m:f>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𝑏</m:t>
                          </m:r>
                        </m:e>
                        <m:sup>
                          <m:r>
                            <a:rPr lang="en-US" b="0" i="1" smtClean="0">
                              <a:latin typeface="Cambria Math" panose="02040503050406030204" pitchFamily="18" charset="0"/>
                            </a:rPr>
                            <m:t>′</m:t>
                          </m:r>
                        </m:sup>
                      </m:sSup>
                      <m:r>
                        <a:rPr lang="en-US" b="0" i="1" smtClean="0">
                          <a:latin typeface="Cambria Math" panose="02040503050406030204" pitchFamily="18" charset="0"/>
                        </a:rPr>
                        <m:t>=</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𝑏</m:t>
                              </m:r>
                            </m:den>
                          </m:f>
                        </m:e>
                      </m:d>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𝑐</m:t>
                          </m:r>
                        </m:e>
                        <m:sup>
                          <m:r>
                            <a:rPr lang="en-US" b="0" i="1" smtClean="0">
                              <a:latin typeface="Cambria Math" panose="02040503050406030204" pitchFamily="18" charset="0"/>
                            </a:rPr>
                            <m:t>′</m:t>
                          </m:r>
                        </m:sup>
                      </m:sSup>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𝑐</m:t>
                          </m:r>
                        </m:num>
                        <m:den>
                          <m:r>
                            <a:rPr lang="en-US" b="0" i="1" smtClean="0">
                              <a:latin typeface="Cambria Math" panose="02040503050406030204" pitchFamily="18" charset="0"/>
                            </a:rPr>
                            <m:t>𝑑</m:t>
                          </m:r>
                        </m:den>
                      </m:f>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𝑑</m:t>
                          </m:r>
                        </m:e>
                        <m:sup>
                          <m:r>
                            <a:rPr lang="en-US" b="0" i="1" smtClean="0">
                              <a:latin typeface="Cambria Math" panose="02040503050406030204" pitchFamily="18" charset="0"/>
                            </a:rPr>
                            <m:t>′</m:t>
                          </m:r>
                        </m:sup>
                      </m:sSup>
                      <m:r>
                        <a:rPr lang="en-US" b="0" i="1" smtClean="0">
                          <a:latin typeface="Cambria Math" panose="02040503050406030204" pitchFamily="18" charset="0"/>
                        </a:rPr>
                        <m:t>=</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𝑑</m:t>
                              </m:r>
                            </m:den>
                          </m:f>
                        </m:e>
                      </m:d>
                    </m:oMath>
                  </m:oMathPara>
                </a14:m>
                <a:endParaRPr lang="en-US" dirty="0"/>
              </a:p>
              <a:p>
                <a:pPr marL="0" indent="0">
                  <a:buNone/>
                </a:pPr>
                <a:endParaRPr lang="en-US" dirty="0"/>
              </a:p>
              <a:p>
                <a:pPr marL="0" indent="0">
                  <a:buNone/>
                </a:pPr>
                <a:r>
                  <a:rPr lang="en-US" dirty="0"/>
                  <a:t>Can rewrite as:</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𝑎</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𝑏</m:t>
                          </m:r>
                        </m:e>
                        <m:sup>
                          <m:r>
                            <a:rPr lang="en-US" b="0" i="1" smtClean="0">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𝑑</m:t>
                          </m:r>
                        </m:sub>
                      </m:sSub>
                    </m:oMath>
                  </m:oMathPara>
                </a14:m>
                <a:endParaRPr lang="en-US" b="0"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𝑐</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𝑑</m:t>
                          </m:r>
                        </m:e>
                        <m:sup>
                          <m:r>
                            <a:rPr lang="en-US" b="0" i="1" smtClean="0">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𝑠</m:t>
                          </m:r>
                        </m:sub>
                      </m:sSub>
                    </m:oMath>
                  </m:oMathPara>
                </a14:m>
                <a:endParaRPr lang="en-US" dirty="0"/>
              </a:p>
            </p:txBody>
          </p:sp>
        </mc:Choice>
        <mc:Fallback xmlns="">
          <p:sp>
            <p:nvSpPr>
              <p:cNvPr id="3" name="Content Placeholder 2">
                <a:extLst>
                  <a:ext uri="{FF2B5EF4-FFF2-40B4-BE49-F238E27FC236}">
                    <a16:creationId xmlns:a16="http://schemas.microsoft.com/office/drawing/2014/main" id="{98D68625-F0AF-4980-F7B8-87B179D60764}"/>
                  </a:ext>
                </a:extLst>
              </p:cNvPr>
              <p:cNvSpPr>
                <a:spLocks noGrp="1" noRot="1" noChangeAspect="1" noMove="1" noResize="1" noEditPoints="1" noAdjustHandles="1" noChangeArrowheads="1" noChangeShapeType="1" noTextEdit="1"/>
              </p:cNvSpPr>
              <p:nvPr>
                <p:ph idx="1"/>
              </p:nvPr>
            </p:nvSpPr>
            <p:spPr>
              <a:blipFill>
                <a:blip r:embed="rId2"/>
                <a:stretch>
                  <a:fillRect l="-120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511FAA6-9CBA-239B-932E-AE263EA609BE}"/>
                  </a:ext>
                </a:extLst>
              </p:cNvPr>
              <p:cNvSpPr txBox="1"/>
              <p:nvPr/>
            </p:nvSpPr>
            <p:spPr>
              <a:xfrm>
                <a:off x="7441531" y="566241"/>
                <a:ext cx="6100010" cy="923330"/>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𝑑</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𝑠</m:t>
                          </m:r>
                        </m:sub>
                      </m:sSub>
                    </m:oMath>
                  </m:oMathPara>
                </a14:m>
                <a:endParaRPr lang="en-US" b="0" dirty="0"/>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𝑑</m:t>
                          </m:r>
                        </m:sub>
                      </m:sSub>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𝑏𝑃</m:t>
                      </m:r>
                    </m:oMath>
                  </m:oMathPara>
                </a14:m>
                <a:endParaRPr lang="en-US" b="0" dirty="0"/>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𝑠</m:t>
                          </m:r>
                        </m:sub>
                      </m:sSub>
                      <m:r>
                        <a:rPr lang="en-US" b="0"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m:t>
                      </m:r>
                      <m:r>
                        <a:rPr lang="en-US" b="0" i="1" smtClean="0">
                          <a:latin typeface="Cambria Math" panose="02040503050406030204" pitchFamily="18" charset="0"/>
                        </a:rPr>
                        <m:t>𝑑𝑃</m:t>
                      </m:r>
                    </m:oMath>
                  </m:oMathPara>
                </a14:m>
                <a:endParaRPr lang="en-US" dirty="0"/>
              </a:p>
            </p:txBody>
          </p:sp>
        </mc:Choice>
        <mc:Fallback xmlns="">
          <p:sp>
            <p:nvSpPr>
              <p:cNvPr id="5" name="TextBox 4">
                <a:extLst>
                  <a:ext uri="{FF2B5EF4-FFF2-40B4-BE49-F238E27FC236}">
                    <a16:creationId xmlns:a16="http://schemas.microsoft.com/office/drawing/2014/main" id="{8511FAA6-9CBA-239B-932E-AE263EA609BE}"/>
                  </a:ext>
                </a:extLst>
              </p:cNvPr>
              <p:cNvSpPr txBox="1">
                <a:spLocks noRot="1" noChangeAspect="1" noMove="1" noResize="1" noEditPoints="1" noAdjustHandles="1" noChangeArrowheads="1" noChangeShapeType="1" noTextEdit="1"/>
              </p:cNvSpPr>
              <p:nvPr/>
            </p:nvSpPr>
            <p:spPr>
              <a:xfrm>
                <a:off x="7441531" y="566241"/>
                <a:ext cx="6100010" cy="923330"/>
              </a:xfrm>
              <a:prstGeom prst="rect">
                <a:avLst/>
              </a:prstGeom>
              <a:blipFill>
                <a:blip r:embed="rId3"/>
                <a:stretch>
                  <a:fillRect b="-2703"/>
                </a:stretch>
              </a:blipFill>
            </p:spPr>
            <p:txBody>
              <a:bodyPr/>
              <a:lstStyle/>
              <a:p>
                <a:r>
                  <a:rPr lang="en-US">
                    <a:noFill/>
                  </a:rPr>
                  <a:t> </a:t>
                </a:r>
              </a:p>
            </p:txBody>
          </p:sp>
        </mc:Fallback>
      </mc:AlternateContent>
    </p:spTree>
    <p:extLst>
      <p:ext uri="{BB962C8B-B14F-4D97-AF65-F5344CB8AC3E}">
        <p14:creationId xmlns:p14="http://schemas.microsoft.com/office/powerpoint/2010/main" val="35757935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2CBFF-F863-6FD6-8597-219402BA18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EFC6D1-4AED-F7C5-085E-45D88AC7921F}"/>
              </a:ext>
            </a:extLst>
          </p:cNvPr>
          <p:cNvSpPr>
            <a:spLocks noGrp="1"/>
          </p:cNvSpPr>
          <p:nvPr>
            <p:ph type="title"/>
          </p:nvPr>
        </p:nvSpPr>
        <p:spPr/>
        <p:txBody>
          <a:bodyPr/>
          <a:lstStyle/>
          <a:p>
            <a:r>
              <a:rPr lang="en-US" dirty="0"/>
              <a:t>Model – indices (none), parameters, variables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463CF15-4540-BF40-0A1E-9A50A6EA9C3A}"/>
                  </a:ext>
                </a:extLst>
              </p:cNvPr>
              <p:cNvSpPr>
                <a:spLocks noGrp="1"/>
              </p:cNvSpPr>
              <p:nvPr>
                <p:ph idx="1"/>
              </p:nvPr>
            </p:nvSpPr>
            <p:spPr/>
            <p:txBody>
              <a:bodyPr/>
              <a:lstStyle/>
              <a:p>
                <a:pPr marL="0" indent="0">
                  <a:buNone/>
                </a:pPr>
                <a:r>
                  <a:rPr lang="en-US" dirty="0"/>
                  <a:t>Parameters:</a:t>
                </a:r>
              </a:p>
              <a:p>
                <a:pPr marL="0" indent="0">
                  <a:buNone/>
                </a:pPr>
                <a14:m>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m:t>
                    </m:r>
                    <m:r>
                      <a:rPr lang="en-US" b="0" i="1" smtClean="0">
                        <a:latin typeface="Cambria Math" panose="02040503050406030204" pitchFamily="18" charset="0"/>
                      </a:rPr>
                      <m:t>𝑑</m:t>
                    </m:r>
                  </m:oMath>
                </a14:m>
                <a:r>
                  <a:rPr lang="en-US" dirty="0"/>
                  <a:t>: supply/demand characteristics</a:t>
                </a:r>
              </a:p>
              <a:p>
                <a:pPr marL="0" indent="0">
                  <a:buNone/>
                </a:pPr>
                <a:endParaRPr lang="en-US" dirty="0"/>
              </a:p>
              <a:p>
                <a:pPr marL="0" indent="0">
                  <a:buNone/>
                </a:pPr>
                <a:r>
                  <a:rPr lang="en-US" dirty="0"/>
                  <a:t>Variables:</a:t>
                </a:r>
              </a:p>
              <a:p>
                <a:pPr marL="0" indent="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𝑑</m:t>
                        </m:r>
                      </m:sub>
                    </m:sSub>
                  </m:oMath>
                </a14:m>
                <a:r>
                  <a:rPr lang="en-US" dirty="0"/>
                  <a:t>: quantity demanded</a:t>
                </a:r>
              </a:p>
              <a:p>
                <a:pPr marL="0" indent="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𝑠</m:t>
                        </m:r>
                      </m:sub>
                    </m:sSub>
                  </m:oMath>
                </a14:m>
                <a:r>
                  <a:rPr lang="en-US" dirty="0"/>
                  <a:t>: quantity supplied</a:t>
                </a:r>
              </a:p>
            </p:txBody>
          </p:sp>
        </mc:Choice>
        <mc:Fallback xmlns="">
          <p:sp>
            <p:nvSpPr>
              <p:cNvPr id="3" name="Content Placeholder 2">
                <a:extLst>
                  <a:ext uri="{FF2B5EF4-FFF2-40B4-BE49-F238E27FC236}">
                    <a16:creationId xmlns:a16="http://schemas.microsoft.com/office/drawing/2014/main" id="{C463CF15-4540-BF40-0A1E-9A50A6EA9C3A}"/>
                  </a:ext>
                </a:extLst>
              </p:cNvPr>
              <p:cNvSpPr>
                <a:spLocks noGrp="1" noRot="1" noChangeAspect="1" noMove="1" noResize="1" noEditPoints="1" noAdjustHandles="1" noChangeArrowheads="1" noChangeShapeType="1" noTextEdit="1"/>
              </p:cNvSpPr>
              <p:nvPr>
                <p:ph idx="1"/>
              </p:nvPr>
            </p:nvSpPr>
            <p:spPr>
              <a:blipFill>
                <a:blip r:embed="rId2"/>
                <a:stretch>
                  <a:fillRect l="-1206" t="-2326"/>
                </a:stretch>
              </a:blipFill>
            </p:spPr>
            <p:txBody>
              <a:bodyPr/>
              <a:lstStyle/>
              <a:p>
                <a:r>
                  <a:rPr lang="en-US">
                    <a:noFill/>
                  </a:rPr>
                  <a:t> </a:t>
                </a:r>
              </a:p>
            </p:txBody>
          </p:sp>
        </mc:Fallback>
      </mc:AlternateContent>
    </p:spTree>
    <p:extLst>
      <p:ext uri="{BB962C8B-B14F-4D97-AF65-F5344CB8AC3E}">
        <p14:creationId xmlns:p14="http://schemas.microsoft.com/office/powerpoint/2010/main" val="36740737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9DB76-9859-A314-E29C-9DAE6D1B2600}"/>
              </a:ext>
            </a:extLst>
          </p:cNvPr>
          <p:cNvSpPr>
            <a:spLocks noGrp="1"/>
          </p:cNvSpPr>
          <p:nvPr>
            <p:ph type="title"/>
          </p:nvPr>
        </p:nvSpPr>
        <p:spPr/>
        <p:txBody>
          <a:bodyPr/>
          <a:lstStyle/>
          <a:p>
            <a:r>
              <a:rPr lang="en-US" dirty="0"/>
              <a:t>Model – objective function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3EF8AE4-4177-91BD-F0A8-97DE489D57F0}"/>
                  </a:ext>
                </a:extLst>
              </p:cNvPr>
              <p:cNvSpPr>
                <a:spLocks noGrp="1"/>
              </p:cNvSpPr>
              <p:nvPr>
                <p:ph idx="1"/>
              </p:nvPr>
            </p:nvSpPr>
            <p:spPr>
              <a:xfrm>
                <a:off x="838200" y="1382233"/>
                <a:ext cx="10515600" cy="4794730"/>
              </a:xfrm>
            </p:spPr>
            <p:txBody>
              <a:bodyPr>
                <a:normAutofit lnSpcReduction="10000"/>
              </a:bodyPr>
              <a:lstStyle/>
              <a:p>
                <a:pPr marL="0" indent="0">
                  <a:buNone/>
                </a:pPr>
                <a:r>
                  <a:rPr lang="en-US" dirty="0"/>
                  <a:t>Want to maximize area under the demand curve [less] area under the supply curve:</a:t>
                </a:r>
              </a:p>
              <a:p>
                <a:pPr marL="0" inden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𝑀</m:t>
                            </m:r>
                            <m:r>
                              <a:rPr lang="en-US" b="0" i="1" smtClean="0">
                                <a:latin typeface="Cambria Math" panose="02040503050406030204" pitchFamily="18" charset="0"/>
                              </a:rPr>
                              <m:t>𝑎𝑥</m:t>
                            </m:r>
                          </m:e>
                        </m:mr>
                        <m:m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𝑠</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𝑑</m:t>
                                </m:r>
                              </m:sub>
                            </m:sSub>
                          </m:e>
                        </m:mr>
                      </m:m>
                      <m:nary>
                        <m:naryPr>
                          <m:ctrlPr>
                            <a:rPr lang="en-US" b="0" i="1" smtClean="0">
                              <a:latin typeface="Cambria Math" panose="02040503050406030204" pitchFamily="18" charset="0"/>
                            </a:rPr>
                          </m:ctrlPr>
                        </m:naryPr>
                        <m:sub>
                          <m:r>
                            <a:rPr lang="en-US" b="0" i="1" smtClean="0">
                              <a:latin typeface="Cambria Math" panose="02040503050406030204" pitchFamily="18" charset="0"/>
                            </a:rPr>
                            <m:t>0</m:t>
                          </m:r>
                        </m:sub>
                        <m:sup>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𝑑</m:t>
                              </m:r>
                            </m:sub>
                          </m:sSub>
                        </m:sup>
                        <m:e>
                          <m:sSup>
                            <m:sSupPr>
                              <m:ctrlPr>
                                <a:rPr lang="en-US" i="1">
                                  <a:latin typeface="Cambria Math" panose="02040503050406030204" pitchFamily="18" charset="0"/>
                                </a:rPr>
                              </m:ctrlPr>
                            </m:sSupPr>
                            <m:e>
                              <m:r>
                                <a:rPr lang="en-US" i="1">
                                  <a:latin typeface="Cambria Math" panose="02040503050406030204" pitchFamily="18" charset="0"/>
                                </a:rPr>
                                <m:t>𝑎</m:t>
                              </m:r>
                            </m:e>
                            <m:sup>
                              <m:r>
                                <a:rPr lang="en-US" i="1">
                                  <a:latin typeface="Cambria Math" panose="02040503050406030204" pitchFamily="18" charset="0"/>
                                </a:rPr>
                                <m:t>′</m:t>
                              </m:r>
                            </m:sup>
                          </m:sSup>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𝑏</m:t>
                              </m:r>
                            </m:e>
                            <m:sup>
                              <m:r>
                                <a:rPr lang="en-US" i="1">
                                  <a:latin typeface="Cambria Math" panose="02040503050406030204" pitchFamily="18" charset="0"/>
                                </a:rPr>
                                <m:t>′</m:t>
                              </m:r>
                            </m:sup>
                          </m:sSup>
                          <m:sSub>
                            <m:sSubPr>
                              <m:ctrlPr>
                                <a:rPr lang="en-US" i="1">
                                  <a:latin typeface="Cambria Math" panose="02040503050406030204" pitchFamily="18" charset="0"/>
                                </a:rPr>
                              </m:ctrlPr>
                            </m:sSubPr>
                            <m:e>
                              <m:r>
                                <a:rPr lang="en-US" i="1">
                                  <a:latin typeface="Cambria Math" panose="02040503050406030204" pitchFamily="18" charset="0"/>
                                </a:rPr>
                                <m:t>𝑄</m:t>
                              </m:r>
                            </m:e>
                            <m:sub>
                              <m:r>
                                <a:rPr lang="en-US" i="1">
                                  <a:latin typeface="Cambria Math" panose="02040503050406030204" pitchFamily="18" charset="0"/>
                                </a:rPr>
                                <m:t>𝑑</m:t>
                              </m:r>
                            </m:sub>
                          </m:sSub>
                        </m:e>
                      </m:nary>
                      <m:r>
                        <a:rPr lang="en-US" b="0" i="1" smtClean="0">
                          <a:latin typeface="Cambria Math" panose="02040503050406030204" pitchFamily="18" charset="0"/>
                        </a:rPr>
                        <m:t>−</m:t>
                      </m:r>
                      <m:nary>
                        <m:naryPr>
                          <m:ctrlPr>
                            <a:rPr lang="en-US" i="1">
                              <a:latin typeface="Cambria Math" panose="02040503050406030204" pitchFamily="18" charset="0"/>
                            </a:rPr>
                          </m:ctrlPr>
                        </m:naryPr>
                        <m:sub>
                          <m:r>
                            <a:rPr lang="en-US" i="1">
                              <a:latin typeface="Cambria Math" panose="02040503050406030204" pitchFamily="18" charset="0"/>
                            </a:rPr>
                            <m:t>0</m:t>
                          </m:r>
                        </m:sub>
                        <m:sup>
                          <m:sSub>
                            <m:sSubPr>
                              <m:ctrlPr>
                                <a:rPr lang="en-US" i="1">
                                  <a:latin typeface="Cambria Math" panose="02040503050406030204" pitchFamily="18" charset="0"/>
                                </a:rPr>
                              </m:ctrlPr>
                            </m:sSubPr>
                            <m:e>
                              <m:r>
                                <a:rPr lang="en-US" i="1">
                                  <a:latin typeface="Cambria Math" panose="02040503050406030204" pitchFamily="18" charset="0"/>
                                </a:rPr>
                                <m:t>𝑄</m:t>
                              </m:r>
                            </m:e>
                            <m:sub>
                              <m:r>
                                <a:rPr lang="en-US" b="0" i="1" smtClean="0">
                                  <a:latin typeface="Cambria Math" panose="02040503050406030204" pitchFamily="18" charset="0"/>
                                </a:rPr>
                                <m:t>𝑠</m:t>
                              </m:r>
                            </m:sub>
                          </m:sSub>
                        </m:sup>
                        <m:e>
                          <m:sSup>
                            <m:sSupPr>
                              <m:ctrlPr>
                                <a:rPr lang="en-US" b="0" i="1" smtClean="0">
                                  <a:latin typeface="Cambria Math" panose="02040503050406030204" pitchFamily="18" charset="0"/>
                                </a:rPr>
                              </m:ctrlPr>
                            </m:sSupPr>
                            <m:e>
                              <m:r>
                                <a:rPr lang="en-US" b="0" i="1" smtClean="0">
                                  <a:latin typeface="Cambria Math" panose="02040503050406030204" pitchFamily="18" charset="0"/>
                                </a:rPr>
                                <m:t>𝑐</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i="1">
                                  <a:latin typeface="Cambria Math" panose="02040503050406030204" pitchFamily="18" charset="0"/>
                                </a:rPr>
                              </m:ctrlPr>
                            </m:sSupPr>
                            <m:e>
                              <m:r>
                                <a:rPr lang="en-US" b="0" i="1" smtClean="0">
                                  <a:latin typeface="Cambria Math" panose="02040503050406030204" pitchFamily="18" charset="0"/>
                                </a:rPr>
                                <m:t>𝑑</m:t>
                              </m:r>
                            </m:e>
                            <m:sup>
                              <m:r>
                                <a:rPr lang="en-US" i="1">
                                  <a:latin typeface="Cambria Math" panose="02040503050406030204" pitchFamily="18" charset="0"/>
                                </a:rPr>
                                <m:t>′</m:t>
                              </m:r>
                            </m:sup>
                          </m:sSup>
                          <m:sSub>
                            <m:sSubPr>
                              <m:ctrlPr>
                                <a:rPr lang="en-US" i="1">
                                  <a:latin typeface="Cambria Math" panose="02040503050406030204" pitchFamily="18" charset="0"/>
                                </a:rPr>
                              </m:ctrlPr>
                            </m:sSubPr>
                            <m:e>
                              <m:r>
                                <a:rPr lang="en-US" i="1">
                                  <a:latin typeface="Cambria Math" panose="02040503050406030204" pitchFamily="18" charset="0"/>
                                </a:rPr>
                                <m:t>𝑄</m:t>
                              </m:r>
                            </m:e>
                            <m:sub>
                              <m:r>
                                <a:rPr lang="en-US" b="0" i="1" smtClean="0">
                                  <a:latin typeface="Cambria Math" panose="02040503050406030204" pitchFamily="18" charset="0"/>
                                </a:rPr>
                                <m:t>𝑠</m:t>
                              </m:r>
                            </m:sub>
                          </m:sSub>
                        </m:e>
                      </m:nary>
                    </m:oMath>
                  </m:oMathPara>
                </a14:m>
                <a:endParaRPr lang="en-US" dirty="0"/>
              </a:p>
              <a:p>
                <a:pPr marL="0" indent="0">
                  <a:buNone/>
                </a:pPr>
                <a:endParaRPr lang="en-US" dirty="0"/>
              </a:p>
              <a:p>
                <a:pPr marL="0" indent="0">
                  <a:buNone/>
                </a:pPr>
                <a:r>
                  <a:rPr lang="en-US" dirty="0"/>
                  <a:t>Knowing f(0)=0, can write as:</a:t>
                </a:r>
              </a:p>
              <a:p>
                <a:pPr marL="0" inden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𝑀</m:t>
                            </m:r>
                            <m:r>
                              <a:rPr lang="en-US" b="0" i="1" smtClean="0">
                                <a:latin typeface="Cambria Math" panose="02040503050406030204" pitchFamily="18" charset="0"/>
                              </a:rPr>
                              <m:t>𝑎𝑥</m:t>
                            </m:r>
                          </m:e>
                        </m:mr>
                        <m:m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𝑠</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𝑑</m:t>
                                </m:r>
                              </m:sub>
                            </m:sSub>
                          </m:e>
                        </m:mr>
                      </m:m>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𝑎</m:t>
                              </m:r>
                            </m:e>
                            <m:sup>
                              <m:r>
                                <a:rPr lang="en-US" b="0" i="1" smtClean="0">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𝑑</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𝑏</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𝑄</m:t>
                                  </m:r>
                                </m:e>
                                <m:sub>
                                  <m:r>
                                    <a:rPr lang="en-US" b="0" i="1" smtClean="0">
                                      <a:latin typeface="Cambria Math" panose="02040503050406030204" pitchFamily="18" charset="0"/>
                                    </a:rPr>
                                    <m:t>𝑑</m:t>
                                  </m:r>
                                </m:sub>
                                <m:sup>
                                  <m:r>
                                    <a:rPr lang="en-US" b="0" i="1" smtClean="0">
                                      <a:latin typeface="Cambria Math" panose="02040503050406030204" pitchFamily="18" charset="0"/>
                                    </a:rPr>
                                    <m:t>2</m:t>
                                  </m:r>
                                </m:sup>
                              </m:sSubSup>
                            </m:num>
                            <m:den>
                              <m:r>
                                <a:rPr lang="en-US" b="0" i="1" smtClean="0">
                                  <a:latin typeface="Cambria Math" panose="02040503050406030204" pitchFamily="18" charset="0"/>
                                </a:rPr>
                                <m:t>2</m:t>
                              </m:r>
                            </m:den>
                          </m:f>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𝑐</m:t>
                              </m:r>
                            </m:e>
                            <m:sup>
                              <m:r>
                                <a:rPr lang="en-US" b="0" i="1" smtClean="0">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𝑠</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𝑑</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𝑄</m:t>
                                  </m:r>
                                </m:e>
                                <m:sub>
                                  <m:r>
                                    <a:rPr lang="en-US" b="0" i="1" smtClean="0">
                                      <a:latin typeface="Cambria Math" panose="02040503050406030204" pitchFamily="18" charset="0"/>
                                    </a:rPr>
                                    <m:t>𝑠</m:t>
                                  </m:r>
                                </m:sub>
                                <m:sup>
                                  <m:r>
                                    <a:rPr lang="en-US" b="0" i="1" smtClean="0">
                                      <a:latin typeface="Cambria Math" panose="02040503050406030204" pitchFamily="18" charset="0"/>
                                    </a:rPr>
                                    <m:t>2</m:t>
                                  </m:r>
                                </m:sup>
                              </m:sSubSup>
                            </m:num>
                            <m:den>
                              <m:r>
                                <a:rPr lang="en-US" b="0" i="1" smtClean="0">
                                  <a:latin typeface="Cambria Math" panose="02040503050406030204" pitchFamily="18" charset="0"/>
                                </a:rPr>
                                <m:t>2</m:t>
                              </m:r>
                            </m:den>
                          </m:f>
                        </m:e>
                      </m:d>
                    </m:oMath>
                  </m:oMathPara>
                </a14:m>
                <a:endParaRPr lang="en-US" dirty="0"/>
              </a:p>
              <a:p>
                <a:pPr marL="0" indent="0">
                  <a:buNone/>
                </a:pPr>
                <a:endParaRPr lang="en-US" dirty="0"/>
              </a:p>
              <a:p>
                <a:pPr marL="0" indent="0">
                  <a:buNone/>
                </a:pPr>
                <a:r>
                  <a:rPr lang="en-US" dirty="0"/>
                  <a:t>Equilibrium implies:</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𝑑</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𝑠</m:t>
                          </m:r>
                        </m:sub>
                      </m:sSub>
                    </m:oMath>
                  </m:oMathPara>
                </a14:m>
                <a:endParaRPr lang="en-US" dirty="0"/>
              </a:p>
            </p:txBody>
          </p:sp>
        </mc:Choice>
        <mc:Fallback xmlns="">
          <p:sp>
            <p:nvSpPr>
              <p:cNvPr id="3" name="Content Placeholder 2">
                <a:extLst>
                  <a:ext uri="{FF2B5EF4-FFF2-40B4-BE49-F238E27FC236}">
                    <a16:creationId xmlns:a16="http://schemas.microsoft.com/office/drawing/2014/main" id="{53EF8AE4-4177-91BD-F0A8-97DE489D57F0}"/>
                  </a:ext>
                </a:extLst>
              </p:cNvPr>
              <p:cNvSpPr>
                <a:spLocks noGrp="1" noRot="1" noChangeAspect="1" noMove="1" noResize="1" noEditPoints="1" noAdjustHandles="1" noChangeArrowheads="1" noChangeShapeType="1" noTextEdit="1"/>
              </p:cNvSpPr>
              <p:nvPr>
                <p:ph idx="1"/>
              </p:nvPr>
            </p:nvSpPr>
            <p:spPr>
              <a:xfrm>
                <a:off x="838200" y="1382233"/>
                <a:ext cx="10515600" cy="4794730"/>
              </a:xfrm>
              <a:blipFill>
                <a:blip r:embed="rId2"/>
                <a:stretch>
                  <a:fillRect l="-1206" t="-22955" b="-1055"/>
                </a:stretch>
              </a:blipFill>
            </p:spPr>
            <p:txBody>
              <a:bodyPr/>
              <a:lstStyle/>
              <a:p>
                <a:r>
                  <a:rPr lang="en-US">
                    <a:noFill/>
                  </a:rPr>
                  <a:t> </a:t>
                </a:r>
              </a:p>
            </p:txBody>
          </p:sp>
        </mc:Fallback>
      </mc:AlternateContent>
    </p:spTree>
    <p:extLst>
      <p:ext uri="{BB962C8B-B14F-4D97-AF65-F5344CB8AC3E}">
        <p14:creationId xmlns:p14="http://schemas.microsoft.com/office/powerpoint/2010/main" val="37939258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50179-4E7D-3AEC-58BF-13155714A25A}"/>
              </a:ext>
            </a:extLst>
          </p:cNvPr>
          <p:cNvSpPr>
            <a:spLocks noGrp="1"/>
          </p:cNvSpPr>
          <p:nvPr>
            <p:ph type="title"/>
          </p:nvPr>
        </p:nvSpPr>
        <p:spPr/>
        <p:txBody>
          <a:bodyPr/>
          <a:lstStyle/>
          <a:p>
            <a:r>
              <a:rPr lang="en-US" dirty="0"/>
              <a:t>Let’s put this simple model in GAMS…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5B8034A-8529-C4DA-5DA5-147AE426043F}"/>
                  </a:ext>
                </a:extLst>
              </p:cNvPr>
              <p:cNvSpPr>
                <a:spLocks noGrp="1"/>
              </p:cNvSpPr>
              <p:nvPr>
                <p:ph idx="1"/>
              </p:nvPr>
            </p:nvSpPr>
            <p:spPr/>
            <p:txBody>
              <a:bodyPr/>
              <a:lstStyle/>
              <a:p>
                <a:r>
                  <a:rPr lang="en-US" b="0" dirty="0"/>
                  <a:t>Assuming: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𝑝</m:t>
                        </m:r>
                      </m:e>
                    </m:acc>
                    <m:r>
                      <a:rPr lang="en-US" b="0" i="1" dirty="0" smtClean="0">
                        <a:latin typeface="Cambria Math" panose="02040503050406030204" pitchFamily="18" charset="0"/>
                      </a:rPr>
                      <m:t>=</m:t>
                    </m:r>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𝑞</m:t>
                        </m:r>
                      </m:e>
                    </m:acc>
                    <m:r>
                      <a:rPr lang="en-US" b="0" i="1" dirty="0" smtClean="0">
                        <a:latin typeface="Cambria Math" panose="02040503050406030204" pitchFamily="18" charset="0"/>
                      </a:rPr>
                      <m:t>=1</m:t>
                    </m:r>
                  </m:oMath>
                </a14:m>
                <a:endParaRPr lang="en-US" b="0" dirty="0"/>
              </a:p>
              <a:p>
                <a:r>
                  <a:rPr lang="en-US" dirty="0"/>
                  <a:t>Assuming: </a:t>
                </a:r>
                <a14:m>
                  <m:oMath xmlns:m="http://schemas.openxmlformats.org/officeDocument/2006/math">
                    <m:r>
                      <a:rPr lang="en-US" b="0" i="1" smtClean="0">
                        <a:latin typeface="Cambria Math" panose="02040503050406030204" pitchFamily="18" charset="0"/>
                      </a:rPr>
                      <m:t>𝑏</m:t>
                    </m:r>
                    <m:r>
                      <a:rPr lang="en-US" b="0" i="1" smtClean="0">
                        <a:latin typeface="Cambria Math" panose="02040503050406030204" pitchFamily="18" charset="0"/>
                      </a:rPr>
                      <m:t>′</m:t>
                    </m:r>
                    <m:r>
                      <a:rPr lang="en-US" b="0" i="1" smtClean="0">
                        <a:latin typeface="Cambria Math" panose="02040503050406030204" pitchFamily="18" charset="0"/>
                      </a:rPr>
                      <m:t>=</m:t>
                    </m:r>
                    <m:r>
                      <a:rPr lang="en-US" b="0" i="1" smtClean="0">
                        <a:latin typeface="Cambria Math" panose="02040503050406030204" pitchFamily="18" charset="0"/>
                      </a:rPr>
                      <m:t>𝑑</m:t>
                    </m:r>
                    <m:r>
                      <a:rPr lang="en-US" b="0" i="1" smtClean="0">
                        <a:latin typeface="Cambria Math" panose="02040503050406030204" pitchFamily="18" charset="0"/>
                      </a:rPr>
                      <m:t>′</m:t>
                    </m:r>
                    <m:r>
                      <a:rPr lang="en-US" b="0" i="1" smtClean="0">
                        <a:latin typeface="Cambria Math" panose="02040503050406030204" pitchFamily="18" charset="0"/>
                      </a:rPr>
                      <m:t>=0.5</m:t>
                    </m:r>
                  </m:oMath>
                </a14:m>
                <a:endParaRPr lang="en-US" dirty="0"/>
              </a:p>
            </p:txBody>
          </p:sp>
        </mc:Choice>
        <mc:Fallback>
          <p:sp>
            <p:nvSpPr>
              <p:cNvPr id="3" name="Content Placeholder 2">
                <a:extLst>
                  <a:ext uri="{FF2B5EF4-FFF2-40B4-BE49-F238E27FC236}">
                    <a16:creationId xmlns:a16="http://schemas.microsoft.com/office/drawing/2014/main" id="{75B8034A-8529-C4DA-5DA5-147AE426043F}"/>
                  </a:ext>
                </a:extLst>
              </p:cNvPr>
              <p:cNvSpPr>
                <a:spLocks noGrp="1" noRot="1" noChangeAspect="1" noMove="1" noResize="1" noEditPoints="1" noAdjustHandles="1" noChangeArrowheads="1" noChangeShapeType="1" noTextEdit="1"/>
              </p:cNvSpPr>
              <p:nvPr>
                <p:ph idx="1"/>
              </p:nvPr>
            </p:nvSpPr>
            <p:spPr>
              <a:blipFill>
                <a:blip r:embed="rId2"/>
                <a:stretch>
                  <a:fillRect l="-1086" t="-2326"/>
                </a:stretch>
              </a:blipFill>
            </p:spPr>
            <p:txBody>
              <a:bodyPr/>
              <a:lstStyle/>
              <a:p>
                <a:r>
                  <a:rPr lang="en-US">
                    <a:noFill/>
                  </a:rPr>
                  <a:t> </a:t>
                </a:r>
              </a:p>
            </p:txBody>
          </p:sp>
        </mc:Fallback>
      </mc:AlternateContent>
    </p:spTree>
    <p:extLst>
      <p:ext uri="{BB962C8B-B14F-4D97-AF65-F5344CB8AC3E}">
        <p14:creationId xmlns:p14="http://schemas.microsoft.com/office/powerpoint/2010/main" val="39871373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A7908-DDED-56A0-8D90-56BCA4C29AE2}"/>
              </a:ext>
            </a:extLst>
          </p:cNvPr>
          <p:cNvSpPr>
            <a:spLocks noGrp="1"/>
          </p:cNvSpPr>
          <p:nvPr>
            <p:ph type="title"/>
          </p:nvPr>
        </p:nvSpPr>
        <p:spPr/>
        <p:txBody>
          <a:bodyPr/>
          <a:lstStyle/>
          <a:p>
            <a:r>
              <a:rPr lang="en-US"/>
              <a:t>Remember these?</a:t>
            </a:r>
            <a:endParaRPr lang="en-US" dirty="0"/>
          </a:p>
        </p:txBody>
      </p:sp>
      <p:cxnSp>
        <p:nvCxnSpPr>
          <p:cNvPr id="5" name="Straight Arrow Connector 4">
            <a:extLst>
              <a:ext uri="{FF2B5EF4-FFF2-40B4-BE49-F238E27FC236}">
                <a16:creationId xmlns:a16="http://schemas.microsoft.com/office/drawing/2014/main" id="{CA817FF4-167A-28E6-B141-F267066A0D3B}"/>
              </a:ext>
            </a:extLst>
          </p:cNvPr>
          <p:cNvCxnSpPr/>
          <p:nvPr/>
        </p:nvCxnSpPr>
        <p:spPr>
          <a:xfrm flipV="1">
            <a:off x="2479716" y="2796645"/>
            <a:ext cx="0" cy="2721167"/>
          </a:xfrm>
          <a:prstGeom prst="straightConnector1">
            <a:avLst/>
          </a:prstGeom>
          <a:ln w="28575">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6" name="Straight Arrow Connector 5">
            <a:extLst>
              <a:ext uri="{FF2B5EF4-FFF2-40B4-BE49-F238E27FC236}">
                <a16:creationId xmlns:a16="http://schemas.microsoft.com/office/drawing/2014/main" id="{0FC99FF4-0D6F-B37C-698E-A2F4F8BE5F71}"/>
              </a:ext>
            </a:extLst>
          </p:cNvPr>
          <p:cNvCxnSpPr>
            <a:cxnSpLocks/>
          </p:cNvCxnSpPr>
          <p:nvPr/>
        </p:nvCxnSpPr>
        <p:spPr>
          <a:xfrm>
            <a:off x="2479716" y="5517812"/>
            <a:ext cx="2743200" cy="0"/>
          </a:xfrm>
          <a:prstGeom prst="straightConnector1">
            <a:avLst/>
          </a:prstGeom>
          <a:ln w="28575">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02895005-7983-53D2-064C-7F4E53AD7412}"/>
              </a:ext>
            </a:extLst>
          </p:cNvPr>
          <p:cNvCxnSpPr/>
          <p:nvPr/>
        </p:nvCxnSpPr>
        <p:spPr>
          <a:xfrm>
            <a:off x="2479716" y="3655961"/>
            <a:ext cx="2093205" cy="161948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FDCCC59A-75C2-DCF6-CDC9-653A8EAB38F0}"/>
              </a:ext>
            </a:extLst>
          </p:cNvPr>
          <p:cNvCxnSpPr/>
          <p:nvPr/>
        </p:nvCxnSpPr>
        <p:spPr>
          <a:xfrm>
            <a:off x="2479716" y="3215287"/>
            <a:ext cx="2093205" cy="1619480"/>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D931ACD6-D11A-A79F-EFA4-C3C4F72C6892}"/>
              </a:ext>
            </a:extLst>
          </p:cNvPr>
          <p:cNvCxnSpPr>
            <a:cxnSpLocks/>
          </p:cNvCxnSpPr>
          <p:nvPr/>
        </p:nvCxnSpPr>
        <p:spPr>
          <a:xfrm flipV="1">
            <a:off x="2479715" y="3501725"/>
            <a:ext cx="2093206" cy="1751684"/>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15" name="Right Arrow 14">
            <a:extLst>
              <a:ext uri="{FF2B5EF4-FFF2-40B4-BE49-F238E27FC236}">
                <a16:creationId xmlns:a16="http://schemas.microsoft.com/office/drawing/2014/main" id="{9C8B4BFB-EB78-DE69-BD9A-1C98E13F8477}"/>
              </a:ext>
            </a:extLst>
          </p:cNvPr>
          <p:cNvSpPr/>
          <p:nvPr/>
        </p:nvSpPr>
        <p:spPr>
          <a:xfrm rot="18867866">
            <a:off x="3897510" y="4575305"/>
            <a:ext cx="264405" cy="13220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C1D84C8F-1F15-304E-0C62-F31068E86562}"/>
                  </a:ext>
                </a:extLst>
              </p:cNvPr>
              <p:cNvSpPr txBox="1"/>
              <p:nvPr/>
            </p:nvSpPr>
            <p:spPr>
              <a:xfrm>
                <a:off x="3082889" y="1754972"/>
                <a:ext cx="1126474" cy="62081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num>
                        <m:den>
                          <m:r>
                            <a:rPr lang="en-US" b="0" i="1" smtClean="0">
                              <a:latin typeface="Cambria Math" panose="02040503050406030204" pitchFamily="18" charset="0"/>
                            </a:rPr>
                            <m:t>𝜕</m:t>
                          </m:r>
                          <m:r>
                            <a:rPr lang="en-US" b="0" i="1" smtClean="0">
                              <a:latin typeface="Cambria Math" panose="02040503050406030204" pitchFamily="18" charset="0"/>
                            </a:rPr>
                            <m:t>𝑎</m:t>
                          </m:r>
                        </m:den>
                      </m:f>
                    </m:oMath>
                  </m:oMathPara>
                </a14:m>
                <a:endParaRPr lang="en-US" dirty="0"/>
              </a:p>
            </p:txBody>
          </p:sp>
        </mc:Choice>
        <mc:Fallback xmlns="">
          <p:sp>
            <p:nvSpPr>
              <p:cNvPr id="17" name="TextBox 16">
                <a:extLst>
                  <a:ext uri="{FF2B5EF4-FFF2-40B4-BE49-F238E27FC236}">
                    <a16:creationId xmlns:a16="http://schemas.microsoft.com/office/drawing/2014/main" id="{C1D84C8F-1F15-304E-0C62-F31068E86562}"/>
                  </a:ext>
                </a:extLst>
              </p:cNvPr>
              <p:cNvSpPr txBox="1">
                <a:spLocks noRot="1" noChangeAspect="1" noMove="1" noResize="1" noEditPoints="1" noAdjustHandles="1" noChangeArrowheads="1" noChangeShapeType="1" noTextEdit="1"/>
              </p:cNvSpPr>
              <p:nvPr/>
            </p:nvSpPr>
            <p:spPr>
              <a:xfrm>
                <a:off x="3082889" y="1754972"/>
                <a:ext cx="1126474" cy="620811"/>
              </a:xfrm>
              <a:prstGeom prst="rect">
                <a:avLst/>
              </a:prstGeom>
              <a:blipFill>
                <a:blip r:embed="rId2"/>
                <a:stretch>
                  <a:fillRect b="-4000"/>
                </a:stretch>
              </a:blipFill>
            </p:spPr>
            <p:txBody>
              <a:bodyPr/>
              <a:lstStyle/>
              <a:p>
                <a:r>
                  <a:rPr lang="en-US">
                    <a:noFill/>
                  </a:rPr>
                  <a:t> </a:t>
                </a:r>
              </a:p>
            </p:txBody>
          </p:sp>
        </mc:Fallback>
      </mc:AlternateContent>
      <p:cxnSp>
        <p:nvCxnSpPr>
          <p:cNvPr id="18" name="Straight Arrow Connector 17">
            <a:extLst>
              <a:ext uri="{FF2B5EF4-FFF2-40B4-BE49-F238E27FC236}">
                <a16:creationId xmlns:a16="http://schemas.microsoft.com/office/drawing/2014/main" id="{567262A7-3A06-A580-46D2-884CCB121EE0}"/>
              </a:ext>
            </a:extLst>
          </p:cNvPr>
          <p:cNvCxnSpPr/>
          <p:nvPr/>
        </p:nvCxnSpPr>
        <p:spPr>
          <a:xfrm flipV="1">
            <a:off x="5638154" y="2817556"/>
            <a:ext cx="0" cy="2721167"/>
          </a:xfrm>
          <a:prstGeom prst="straightConnector1">
            <a:avLst/>
          </a:prstGeom>
          <a:ln w="28575">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68797AD0-634E-A742-1EE5-61F488EBCD95}"/>
              </a:ext>
            </a:extLst>
          </p:cNvPr>
          <p:cNvCxnSpPr>
            <a:cxnSpLocks/>
          </p:cNvCxnSpPr>
          <p:nvPr/>
        </p:nvCxnSpPr>
        <p:spPr>
          <a:xfrm>
            <a:off x="5638154" y="5538723"/>
            <a:ext cx="2743200" cy="0"/>
          </a:xfrm>
          <a:prstGeom prst="straightConnector1">
            <a:avLst/>
          </a:prstGeom>
          <a:ln w="28575">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3F51132B-1608-826F-6964-4D18C7E3F57B}"/>
              </a:ext>
            </a:extLst>
          </p:cNvPr>
          <p:cNvCxnSpPr/>
          <p:nvPr/>
        </p:nvCxnSpPr>
        <p:spPr>
          <a:xfrm>
            <a:off x="5638154" y="3676872"/>
            <a:ext cx="2093205" cy="161948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7E81658F-C005-6F8C-936A-BE5AD505E62D}"/>
              </a:ext>
            </a:extLst>
          </p:cNvPr>
          <p:cNvCxnSpPr>
            <a:cxnSpLocks/>
          </p:cNvCxnSpPr>
          <p:nvPr/>
        </p:nvCxnSpPr>
        <p:spPr>
          <a:xfrm flipV="1">
            <a:off x="5960394" y="3873410"/>
            <a:ext cx="1940806" cy="1591936"/>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74D619C9-533E-54E3-44DA-B123F81178D4}"/>
              </a:ext>
            </a:extLst>
          </p:cNvPr>
          <p:cNvCxnSpPr>
            <a:cxnSpLocks/>
          </p:cNvCxnSpPr>
          <p:nvPr/>
        </p:nvCxnSpPr>
        <p:spPr>
          <a:xfrm flipV="1">
            <a:off x="5638153" y="3522636"/>
            <a:ext cx="2093206" cy="1751684"/>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23" name="Right Arrow 22">
            <a:extLst>
              <a:ext uri="{FF2B5EF4-FFF2-40B4-BE49-F238E27FC236}">
                <a16:creationId xmlns:a16="http://schemas.microsoft.com/office/drawing/2014/main" id="{ACE3B622-F4D8-2680-9572-7D293ADC6BEE}"/>
              </a:ext>
            </a:extLst>
          </p:cNvPr>
          <p:cNvSpPr/>
          <p:nvPr/>
        </p:nvSpPr>
        <p:spPr>
          <a:xfrm rot="2747983">
            <a:off x="7098268" y="4092485"/>
            <a:ext cx="264405" cy="13220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24" name="TextBox 23">
                <a:extLst>
                  <a:ext uri="{FF2B5EF4-FFF2-40B4-BE49-F238E27FC236}">
                    <a16:creationId xmlns:a16="http://schemas.microsoft.com/office/drawing/2014/main" id="{AC5E99B6-B163-2406-034C-B9696BEE5715}"/>
                  </a:ext>
                </a:extLst>
              </p:cNvPr>
              <p:cNvSpPr txBox="1"/>
              <p:nvPr/>
            </p:nvSpPr>
            <p:spPr>
              <a:xfrm>
                <a:off x="6241327" y="1775883"/>
                <a:ext cx="1126474" cy="62081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num>
                        <m:den>
                          <m:r>
                            <a:rPr lang="en-US" b="0" i="1" smtClean="0">
                              <a:latin typeface="Cambria Math" panose="02040503050406030204" pitchFamily="18" charset="0"/>
                            </a:rPr>
                            <m:t>𝜕</m:t>
                          </m:r>
                          <m:r>
                            <a:rPr lang="en-US" b="0" i="1" smtClean="0">
                              <a:latin typeface="Cambria Math" panose="02040503050406030204" pitchFamily="18" charset="0"/>
                            </a:rPr>
                            <m:t>𝑐</m:t>
                          </m:r>
                        </m:den>
                      </m:f>
                    </m:oMath>
                  </m:oMathPara>
                </a14:m>
                <a:endParaRPr lang="en-US" dirty="0"/>
              </a:p>
            </p:txBody>
          </p:sp>
        </mc:Choice>
        <mc:Fallback>
          <p:sp>
            <p:nvSpPr>
              <p:cNvPr id="24" name="TextBox 23">
                <a:extLst>
                  <a:ext uri="{FF2B5EF4-FFF2-40B4-BE49-F238E27FC236}">
                    <a16:creationId xmlns:a16="http://schemas.microsoft.com/office/drawing/2014/main" id="{AC5E99B6-B163-2406-034C-B9696BEE5715}"/>
                  </a:ext>
                </a:extLst>
              </p:cNvPr>
              <p:cNvSpPr txBox="1">
                <a:spLocks noRot="1" noChangeAspect="1" noMove="1" noResize="1" noEditPoints="1" noAdjustHandles="1" noChangeArrowheads="1" noChangeShapeType="1" noTextEdit="1"/>
              </p:cNvSpPr>
              <p:nvPr/>
            </p:nvSpPr>
            <p:spPr>
              <a:xfrm>
                <a:off x="6241327" y="1775883"/>
                <a:ext cx="1126474" cy="620811"/>
              </a:xfrm>
              <a:prstGeom prst="rect">
                <a:avLst/>
              </a:prstGeom>
              <a:blipFill>
                <a:blip r:embed="rId3"/>
                <a:stretch>
                  <a:fillRect b="-6000"/>
                </a:stretch>
              </a:blipFill>
            </p:spPr>
            <p:txBody>
              <a:bodyPr/>
              <a:lstStyle/>
              <a:p>
                <a:r>
                  <a:rPr lang="en-US">
                    <a:noFill/>
                  </a:rPr>
                  <a:t> </a:t>
                </a:r>
              </a:p>
            </p:txBody>
          </p:sp>
        </mc:Fallback>
      </mc:AlternateContent>
      <p:sp>
        <p:nvSpPr>
          <p:cNvPr id="27" name="TextBox 26">
            <a:extLst>
              <a:ext uri="{FF2B5EF4-FFF2-40B4-BE49-F238E27FC236}">
                <a16:creationId xmlns:a16="http://schemas.microsoft.com/office/drawing/2014/main" id="{EA04F019-4194-0D07-1F66-FBCF62CB7C99}"/>
              </a:ext>
            </a:extLst>
          </p:cNvPr>
          <p:cNvSpPr txBox="1"/>
          <p:nvPr/>
        </p:nvSpPr>
        <p:spPr>
          <a:xfrm>
            <a:off x="4538679" y="5189125"/>
            <a:ext cx="308098" cy="307777"/>
          </a:xfrm>
          <a:prstGeom prst="rect">
            <a:avLst/>
          </a:prstGeom>
          <a:noFill/>
        </p:spPr>
        <p:txBody>
          <a:bodyPr wrap="none" rtlCol="0">
            <a:spAutoFit/>
          </a:bodyPr>
          <a:lstStyle/>
          <a:p>
            <a:r>
              <a:rPr lang="en-US" sz="1400" dirty="0"/>
              <a:t>D</a:t>
            </a:r>
          </a:p>
        </p:txBody>
      </p:sp>
      <p:sp>
        <p:nvSpPr>
          <p:cNvPr id="29" name="TextBox 28">
            <a:extLst>
              <a:ext uri="{FF2B5EF4-FFF2-40B4-BE49-F238E27FC236}">
                <a16:creationId xmlns:a16="http://schemas.microsoft.com/office/drawing/2014/main" id="{EC818C6B-2AE8-8B45-BCDA-4ED902E6F85D}"/>
              </a:ext>
            </a:extLst>
          </p:cNvPr>
          <p:cNvSpPr txBox="1"/>
          <p:nvPr/>
        </p:nvSpPr>
        <p:spPr>
          <a:xfrm>
            <a:off x="4570684" y="4680878"/>
            <a:ext cx="1687685" cy="307777"/>
          </a:xfrm>
          <a:prstGeom prst="rect">
            <a:avLst/>
          </a:prstGeom>
          <a:noFill/>
        </p:spPr>
        <p:txBody>
          <a:bodyPr wrap="square" rtlCol="0">
            <a:spAutoFit/>
          </a:bodyPr>
          <a:lstStyle/>
          <a:p>
            <a:r>
              <a:rPr lang="en-US" sz="1400" dirty="0"/>
              <a:t>D’</a:t>
            </a:r>
          </a:p>
        </p:txBody>
      </p:sp>
      <p:sp>
        <p:nvSpPr>
          <p:cNvPr id="30" name="TextBox 29">
            <a:extLst>
              <a:ext uri="{FF2B5EF4-FFF2-40B4-BE49-F238E27FC236}">
                <a16:creationId xmlns:a16="http://schemas.microsoft.com/office/drawing/2014/main" id="{5965426C-F933-6E8D-8385-F5F2D9508175}"/>
              </a:ext>
            </a:extLst>
          </p:cNvPr>
          <p:cNvSpPr txBox="1"/>
          <p:nvPr/>
        </p:nvSpPr>
        <p:spPr>
          <a:xfrm>
            <a:off x="4570684" y="3347836"/>
            <a:ext cx="1687685" cy="307777"/>
          </a:xfrm>
          <a:prstGeom prst="rect">
            <a:avLst/>
          </a:prstGeom>
          <a:noFill/>
        </p:spPr>
        <p:txBody>
          <a:bodyPr wrap="square" rtlCol="0">
            <a:spAutoFit/>
          </a:bodyPr>
          <a:lstStyle/>
          <a:p>
            <a:r>
              <a:rPr lang="en-US" sz="1400" dirty="0"/>
              <a:t>S</a:t>
            </a:r>
          </a:p>
        </p:txBody>
      </p:sp>
      <p:sp>
        <p:nvSpPr>
          <p:cNvPr id="31" name="TextBox 30">
            <a:extLst>
              <a:ext uri="{FF2B5EF4-FFF2-40B4-BE49-F238E27FC236}">
                <a16:creationId xmlns:a16="http://schemas.microsoft.com/office/drawing/2014/main" id="{BF358EE2-7753-E1FD-B4EC-F8B356D3EFCB}"/>
              </a:ext>
            </a:extLst>
          </p:cNvPr>
          <p:cNvSpPr txBox="1"/>
          <p:nvPr/>
        </p:nvSpPr>
        <p:spPr>
          <a:xfrm>
            <a:off x="7732279" y="3300482"/>
            <a:ext cx="1687685" cy="307777"/>
          </a:xfrm>
          <a:prstGeom prst="rect">
            <a:avLst/>
          </a:prstGeom>
          <a:noFill/>
        </p:spPr>
        <p:txBody>
          <a:bodyPr wrap="square" rtlCol="0">
            <a:spAutoFit/>
          </a:bodyPr>
          <a:lstStyle/>
          <a:p>
            <a:r>
              <a:rPr lang="en-US" sz="1400" dirty="0"/>
              <a:t>S</a:t>
            </a:r>
          </a:p>
        </p:txBody>
      </p:sp>
      <p:sp>
        <p:nvSpPr>
          <p:cNvPr id="32" name="TextBox 31">
            <a:extLst>
              <a:ext uri="{FF2B5EF4-FFF2-40B4-BE49-F238E27FC236}">
                <a16:creationId xmlns:a16="http://schemas.microsoft.com/office/drawing/2014/main" id="{41100ED5-ACA1-7EC2-D399-38295C525E05}"/>
              </a:ext>
            </a:extLst>
          </p:cNvPr>
          <p:cNvSpPr txBox="1"/>
          <p:nvPr/>
        </p:nvSpPr>
        <p:spPr>
          <a:xfrm>
            <a:off x="7970972" y="3723686"/>
            <a:ext cx="1687685" cy="307777"/>
          </a:xfrm>
          <a:prstGeom prst="rect">
            <a:avLst/>
          </a:prstGeom>
          <a:noFill/>
        </p:spPr>
        <p:txBody>
          <a:bodyPr wrap="square" rtlCol="0">
            <a:spAutoFit/>
          </a:bodyPr>
          <a:lstStyle/>
          <a:p>
            <a:r>
              <a:rPr lang="en-US" sz="1400" dirty="0"/>
              <a:t>S’</a:t>
            </a:r>
          </a:p>
        </p:txBody>
      </p:sp>
      <p:sp>
        <p:nvSpPr>
          <p:cNvPr id="34" name="TextBox 33">
            <a:extLst>
              <a:ext uri="{FF2B5EF4-FFF2-40B4-BE49-F238E27FC236}">
                <a16:creationId xmlns:a16="http://schemas.microsoft.com/office/drawing/2014/main" id="{7A9E1614-FBA5-19FA-CBDF-07A855B83144}"/>
              </a:ext>
            </a:extLst>
          </p:cNvPr>
          <p:cNvSpPr txBox="1"/>
          <p:nvPr/>
        </p:nvSpPr>
        <p:spPr>
          <a:xfrm>
            <a:off x="7718505" y="5127215"/>
            <a:ext cx="6097836" cy="307777"/>
          </a:xfrm>
          <a:prstGeom prst="rect">
            <a:avLst/>
          </a:prstGeom>
          <a:noFill/>
        </p:spPr>
        <p:txBody>
          <a:bodyPr wrap="square">
            <a:spAutoFit/>
          </a:bodyPr>
          <a:lstStyle/>
          <a:p>
            <a:r>
              <a:rPr lang="en-US" sz="1400" dirty="0"/>
              <a:t>D</a:t>
            </a:r>
          </a:p>
        </p:txBody>
      </p:sp>
      <p:sp>
        <p:nvSpPr>
          <p:cNvPr id="3" name="TextBox 2">
            <a:extLst>
              <a:ext uri="{FF2B5EF4-FFF2-40B4-BE49-F238E27FC236}">
                <a16:creationId xmlns:a16="http://schemas.microsoft.com/office/drawing/2014/main" id="{EF12E421-6CFF-74F7-AE23-1C14588230BF}"/>
              </a:ext>
            </a:extLst>
          </p:cNvPr>
          <p:cNvSpPr txBox="1"/>
          <p:nvPr/>
        </p:nvSpPr>
        <p:spPr>
          <a:xfrm>
            <a:off x="5246142" y="2608058"/>
            <a:ext cx="305705" cy="369332"/>
          </a:xfrm>
          <a:prstGeom prst="rect">
            <a:avLst/>
          </a:prstGeom>
          <a:noFill/>
        </p:spPr>
        <p:txBody>
          <a:bodyPr wrap="square" rtlCol="0">
            <a:spAutoFit/>
          </a:bodyPr>
          <a:lstStyle/>
          <a:p>
            <a:r>
              <a:rPr lang="en-US" dirty="0"/>
              <a:t>Q</a:t>
            </a:r>
          </a:p>
        </p:txBody>
      </p:sp>
      <p:sp>
        <p:nvSpPr>
          <p:cNvPr id="7" name="TextBox 6">
            <a:extLst>
              <a:ext uri="{FF2B5EF4-FFF2-40B4-BE49-F238E27FC236}">
                <a16:creationId xmlns:a16="http://schemas.microsoft.com/office/drawing/2014/main" id="{F0C5253B-BEA6-E7EA-C635-E4B57E4C9626}"/>
              </a:ext>
            </a:extLst>
          </p:cNvPr>
          <p:cNvSpPr txBox="1"/>
          <p:nvPr/>
        </p:nvSpPr>
        <p:spPr>
          <a:xfrm>
            <a:off x="2082414" y="2774615"/>
            <a:ext cx="481286" cy="369332"/>
          </a:xfrm>
          <a:prstGeom prst="rect">
            <a:avLst/>
          </a:prstGeom>
          <a:noFill/>
        </p:spPr>
        <p:txBody>
          <a:bodyPr wrap="square" rtlCol="0">
            <a:spAutoFit/>
          </a:bodyPr>
          <a:lstStyle/>
          <a:p>
            <a:r>
              <a:rPr lang="en-US" dirty="0"/>
              <a:t>Q</a:t>
            </a:r>
          </a:p>
        </p:txBody>
      </p:sp>
      <p:sp>
        <p:nvSpPr>
          <p:cNvPr id="9" name="TextBox 8">
            <a:extLst>
              <a:ext uri="{FF2B5EF4-FFF2-40B4-BE49-F238E27FC236}">
                <a16:creationId xmlns:a16="http://schemas.microsoft.com/office/drawing/2014/main" id="{692B5769-C63F-AAA2-5AC1-99548845BE41}"/>
              </a:ext>
            </a:extLst>
          </p:cNvPr>
          <p:cNvSpPr txBox="1"/>
          <p:nvPr/>
        </p:nvSpPr>
        <p:spPr>
          <a:xfrm>
            <a:off x="4928426" y="5538723"/>
            <a:ext cx="317716" cy="369332"/>
          </a:xfrm>
          <a:prstGeom prst="rect">
            <a:avLst/>
          </a:prstGeom>
          <a:noFill/>
        </p:spPr>
        <p:txBody>
          <a:bodyPr wrap="none" rtlCol="0">
            <a:spAutoFit/>
          </a:bodyPr>
          <a:lstStyle/>
          <a:p>
            <a:r>
              <a:rPr lang="en-US" dirty="0"/>
              <a:t>P</a:t>
            </a:r>
          </a:p>
        </p:txBody>
      </p:sp>
      <p:sp>
        <p:nvSpPr>
          <p:cNvPr id="13" name="TextBox 12">
            <a:extLst>
              <a:ext uri="{FF2B5EF4-FFF2-40B4-BE49-F238E27FC236}">
                <a16:creationId xmlns:a16="http://schemas.microsoft.com/office/drawing/2014/main" id="{E09218C2-06AF-723B-C357-494005D0C51E}"/>
              </a:ext>
            </a:extLst>
          </p:cNvPr>
          <p:cNvSpPr txBox="1"/>
          <p:nvPr/>
        </p:nvSpPr>
        <p:spPr>
          <a:xfrm>
            <a:off x="8063634" y="5654150"/>
            <a:ext cx="317716" cy="369332"/>
          </a:xfrm>
          <a:prstGeom prst="rect">
            <a:avLst/>
          </a:prstGeom>
          <a:noFill/>
        </p:spPr>
        <p:txBody>
          <a:bodyPr wrap="square" rtlCol="0">
            <a:spAutoFit/>
          </a:bodyPr>
          <a:lstStyle/>
          <a:p>
            <a:r>
              <a:rPr lang="en-US" dirty="0"/>
              <a:t>P</a:t>
            </a:r>
          </a:p>
        </p:txBody>
      </p:sp>
      <p:sp>
        <p:nvSpPr>
          <p:cNvPr id="4" name="5-Point Star 3">
            <a:extLst>
              <a:ext uri="{FF2B5EF4-FFF2-40B4-BE49-F238E27FC236}">
                <a16:creationId xmlns:a16="http://schemas.microsoft.com/office/drawing/2014/main" id="{B279DB9D-8116-FF0E-81C8-2EC48677A41A}"/>
              </a:ext>
            </a:extLst>
          </p:cNvPr>
          <p:cNvSpPr/>
          <p:nvPr/>
        </p:nvSpPr>
        <p:spPr>
          <a:xfrm>
            <a:off x="11204154" y="203811"/>
            <a:ext cx="738130" cy="721603"/>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Nostalgia GIFs | Tenor">
            <a:extLst>
              <a:ext uri="{FF2B5EF4-FFF2-40B4-BE49-F238E27FC236}">
                <a16:creationId xmlns:a16="http://schemas.microsoft.com/office/drawing/2014/main" id="{B79A2FDE-E828-D814-2D79-8A399AE42BF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31721" y="2573798"/>
            <a:ext cx="2794000" cy="2019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05795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F0AE9-2129-55D6-F7CF-9A8FC248D7CB}"/>
              </a:ext>
            </a:extLst>
          </p:cNvPr>
          <p:cNvSpPr>
            <a:spLocks noGrp="1"/>
          </p:cNvSpPr>
          <p:nvPr>
            <p:ph type="title"/>
          </p:nvPr>
        </p:nvSpPr>
        <p:spPr/>
        <p:txBody>
          <a:bodyPr/>
          <a:lstStyle/>
          <a:p>
            <a:r>
              <a:rPr lang="en-US" dirty="0"/>
              <a:t>Why could we linearize demand before?</a:t>
            </a:r>
          </a:p>
        </p:txBody>
      </p:sp>
      <p:sp>
        <p:nvSpPr>
          <p:cNvPr id="3" name="Content Placeholder 2">
            <a:extLst>
              <a:ext uri="{FF2B5EF4-FFF2-40B4-BE49-F238E27FC236}">
                <a16:creationId xmlns:a16="http://schemas.microsoft.com/office/drawing/2014/main" id="{7A066C8A-DAA4-EF1B-EDA1-F0FA25ABD4F1}"/>
              </a:ext>
            </a:extLst>
          </p:cNvPr>
          <p:cNvSpPr>
            <a:spLocks noGrp="1"/>
          </p:cNvSpPr>
          <p:nvPr>
            <p:ph idx="1"/>
          </p:nvPr>
        </p:nvSpPr>
        <p:spPr>
          <a:xfrm>
            <a:off x="838200" y="1594884"/>
            <a:ext cx="10515600" cy="4897991"/>
          </a:xfrm>
        </p:spPr>
        <p:txBody>
          <a:bodyPr>
            <a:normAutofit fontScale="85000" lnSpcReduction="20000"/>
          </a:bodyPr>
          <a:lstStyle/>
          <a:p>
            <a:r>
              <a:rPr lang="en-US" dirty="0"/>
              <a:t>Biggest takeaway: we only had one variable that was providing value (cost) to in our model</a:t>
            </a:r>
          </a:p>
          <a:p>
            <a:endParaRPr lang="en-US" dirty="0"/>
          </a:p>
          <a:p>
            <a:r>
              <a:rPr lang="en-US" dirty="0"/>
              <a:t>That is, we were </a:t>
            </a:r>
            <a:r>
              <a:rPr lang="en-US" i="1" dirty="0"/>
              <a:t>only </a:t>
            </a:r>
            <a:r>
              <a:rPr lang="en-US" dirty="0"/>
              <a:t>consuming electricity, it was the only thing providing value/benefit to consumption, and it did not compete with other goods</a:t>
            </a:r>
          </a:p>
          <a:p>
            <a:endParaRPr lang="en-US" dirty="0"/>
          </a:p>
          <a:p>
            <a:r>
              <a:rPr lang="en-US" dirty="0"/>
              <a:t>No (easy) way to stay linear if two variables are interacting and providing value or cost to the model, examples:</a:t>
            </a:r>
          </a:p>
          <a:p>
            <a:pPr lvl="1"/>
            <a:r>
              <a:rPr lang="en-US" dirty="0"/>
              <a:t>Pizza and beer</a:t>
            </a:r>
          </a:p>
          <a:p>
            <a:pPr lvl="1"/>
            <a:r>
              <a:rPr lang="en-US" dirty="0" err="1"/>
              <a:t>Labubu</a:t>
            </a:r>
            <a:r>
              <a:rPr lang="en-US" dirty="0"/>
              <a:t> and </a:t>
            </a:r>
            <a:r>
              <a:rPr lang="en-US" dirty="0" err="1"/>
              <a:t>Pokemon</a:t>
            </a:r>
            <a:endParaRPr lang="en-US" dirty="0"/>
          </a:p>
          <a:p>
            <a:pPr lvl="1"/>
            <a:r>
              <a:rPr lang="en-US" dirty="0"/>
              <a:t>Capital and labor</a:t>
            </a:r>
          </a:p>
          <a:p>
            <a:pPr lvl="1"/>
            <a:r>
              <a:rPr lang="en-US" dirty="0"/>
              <a:t>Shifting of demand across time</a:t>
            </a:r>
          </a:p>
          <a:p>
            <a:endParaRPr lang="en-US" dirty="0"/>
          </a:p>
          <a:p>
            <a:r>
              <a:rPr lang="en-US" dirty="0"/>
              <a:t>When there are tradeoffs or benefits to the </a:t>
            </a:r>
            <a:r>
              <a:rPr lang="en-US" i="1" dirty="0"/>
              <a:t>interaction</a:t>
            </a:r>
            <a:r>
              <a:rPr lang="en-US" dirty="0"/>
              <a:t> of different variables in the model, cannot stay linear</a:t>
            </a:r>
          </a:p>
        </p:txBody>
      </p:sp>
    </p:spTree>
    <p:extLst>
      <p:ext uri="{BB962C8B-B14F-4D97-AF65-F5344CB8AC3E}">
        <p14:creationId xmlns:p14="http://schemas.microsoft.com/office/powerpoint/2010/main" val="35722210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166E5-3E64-43E5-D83C-A8B20E600568}"/>
              </a:ext>
            </a:extLst>
          </p:cNvPr>
          <p:cNvSpPr>
            <a:spLocks noGrp="1"/>
          </p:cNvSpPr>
          <p:nvPr>
            <p:ph type="title"/>
          </p:nvPr>
        </p:nvSpPr>
        <p:spPr/>
        <p:txBody>
          <a:bodyPr/>
          <a:lstStyle/>
          <a:p>
            <a:r>
              <a:rPr lang="en-US" dirty="0"/>
              <a:t>Easy enough… let’s expand</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EEE50B2-D222-F55C-A838-8599DA8BDE8F}"/>
                  </a:ext>
                </a:extLst>
              </p:cNvPr>
              <p:cNvSpPr>
                <a:spLocks noGrp="1"/>
              </p:cNvSpPr>
              <p:nvPr>
                <p:ph idx="1"/>
              </p:nvPr>
            </p:nvSpPr>
            <p:spPr/>
            <p:txBody>
              <a:bodyPr>
                <a:normAutofit lnSpcReduction="10000"/>
              </a:bodyPr>
              <a:lstStyle/>
              <a:p>
                <a:r>
                  <a:rPr lang="en-US" dirty="0"/>
                  <a:t>We could’ve done that in a linear model with binning!</a:t>
                </a:r>
              </a:p>
              <a:p>
                <a:endParaRPr lang="en-US" dirty="0"/>
              </a:p>
              <a:p>
                <a:r>
                  <a:rPr lang="en-US" dirty="0"/>
                  <a:t>Let’s add a level of complexity..</a:t>
                </a:r>
              </a:p>
              <a:p>
                <a:endParaRPr lang="en-US" dirty="0"/>
              </a:p>
              <a:p>
                <a:r>
                  <a:rPr lang="en-US" dirty="0"/>
                  <a:t>Now say there are two goods produced and consumed, indexed by </a:t>
                </a:r>
                <a14:m>
                  <m:oMath xmlns:m="http://schemas.openxmlformats.org/officeDocument/2006/math">
                    <m:r>
                      <a:rPr lang="en-US" b="0" i="1" smtClean="0">
                        <a:latin typeface="Cambria Math" panose="02040503050406030204" pitchFamily="18" charset="0"/>
                      </a:rPr>
                      <m:t>𝑖</m:t>
                    </m:r>
                  </m:oMath>
                </a14:m>
                <a:r>
                  <a:rPr lang="en-US" dirty="0"/>
                  <a:t>, </a:t>
                </a:r>
                <a14:m>
                  <m:oMath xmlns:m="http://schemas.openxmlformats.org/officeDocument/2006/math">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𝑝𝑖𝑧𝑧𝑎</m:t>
                    </m:r>
                    <m:r>
                      <a:rPr lang="en-US" b="0" i="1" smtClean="0">
                        <a:latin typeface="Cambria Math" panose="02040503050406030204" pitchFamily="18" charset="0"/>
                      </a:rPr>
                      <m:t>, </m:t>
                    </m:r>
                    <m:r>
                      <a:rPr lang="en-US" b="0" i="1" smtClean="0">
                        <a:latin typeface="Cambria Math" panose="02040503050406030204" pitchFamily="18" charset="0"/>
                      </a:rPr>
                      <m:t>𝑏𝑒𝑒𝑟</m:t>
                    </m:r>
                    <m:r>
                      <a:rPr lang="en-US" b="0" i="1" smtClean="0">
                        <a:latin typeface="Cambria Math" panose="02040503050406030204" pitchFamily="18" charset="0"/>
                      </a:rPr>
                      <m:t>} </m:t>
                    </m:r>
                  </m:oMath>
                </a14:m>
                <a:endParaRPr lang="en-US" dirty="0"/>
              </a:p>
              <a:p>
                <a:endParaRPr lang="en-US" dirty="0"/>
              </a:p>
              <a:p>
                <a:r>
                  <a:rPr lang="en-US" dirty="0"/>
                  <a:t>Additionally, our agent prefers these in some proportions, we’ll say 1 beer (@ $1 / gallon) for every 3 slices of pizza (@ $2 / slice).. But there is some flexibility</a:t>
                </a:r>
              </a:p>
            </p:txBody>
          </p:sp>
        </mc:Choice>
        <mc:Fallback>
          <p:sp>
            <p:nvSpPr>
              <p:cNvPr id="3" name="Content Placeholder 2">
                <a:extLst>
                  <a:ext uri="{FF2B5EF4-FFF2-40B4-BE49-F238E27FC236}">
                    <a16:creationId xmlns:a16="http://schemas.microsoft.com/office/drawing/2014/main" id="{8EEE50B2-D222-F55C-A838-8599DA8BDE8F}"/>
                  </a:ext>
                </a:extLst>
              </p:cNvPr>
              <p:cNvSpPr>
                <a:spLocks noGrp="1" noRot="1" noChangeAspect="1" noMove="1" noResize="1" noEditPoints="1" noAdjustHandles="1" noChangeArrowheads="1" noChangeShapeType="1" noTextEdit="1"/>
              </p:cNvSpPr>
              <p:nvPr>
                <p:ph idx="1"/>
              </p:nvPr>
            </p:nvSpPr>
            <p:spPr>
              <a:blipFill>
                <a:blip r:embed="rId2"/>
                <a:stretch>
                  <a:fillRect l="-1086" t="-3198" b="-2326"/>
                </a:stretch>
              </a:blipFill>
            </p:spPr>
            <p:txBody>
              <a:bodyPr/>
              <a:lstStyle/>
              <a:p>
                <a:r>
                  <a:rPr lang="en-US">
                    <a:noFill/>
                  </a:rPr>
                  <a:t> </a:t>
                </a:r>
              </a:p>
            </p:txBody>
          </p:sp>
        </mc:Fallback>
      </mc:AlternateContent>
    </p:spTree>
    <p:extLst>
      <p:ext uri="{BB962C8B-B14F-4D97-AF65-F5344CB8AC3E}">
        <p14:creationId xmlns:p14="http://schemas.microsoft.com/office/powerpoint/2010/main" val="24577987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34950-48EB-8CBA-A43D-6946C4CDD430}"/>
              </a:ext>
            </a:extLst>
          </p:cNvPr>
          <p:cNvSpPr>
            <a:spLocks noGrp="1"/>
          </p:cNvSpPr>
          <p:nvPr>
            <p:ph type="title"/>
          </p:nvPr>
        </p:nvSpPr>
        <p:spPr/>
        <p:txBody>
          <a:bodyPr/>
          <a:lstStyle/>
          <a:p>
            <a:r>
              <a:rPr lang="en-US" dirty="0"/>
              <a:t>New model…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E9C9BB4-D5FE-8727-A3DB-C80E627B1DCF}"/>
                  </a:ext>
                </a:extLst>
              </p:cNvPr>
              <p:cNvSpPr>
                <a:spLocks noGrp="1"/>
              </p:cNvSpPr>
              <p:nvPr>
                <p:ph idx="1"/>
              </p:nvPr>
            </p:nvSpPr>
            <p:spPr/>
            <p:txBody>
              <a:bodyPr/>
              <a:lstStyle/>
              <a:p>
                <a:pPr marL="0" indent="0">
                  <a:buNone/>
                </a:pPr>
                <a:r>
                  <a:rPr lang="en-US" dirty="0"/>
                  <a:t>Indices:</a:t>
                </a:r>
              </a:p>
              <a:p>
                <a:pPr marL="0" indent="0">
                  <a:buNone/>
                </a:pPr>
                <a14:m>
                  <m:oMath xmlns:m="http://schemas.openxmlformats.org/officeDocument/2006/math">
                    <m:r>
                      <a:rPr lang="en-US" b="0" i="1" smtClean="0">
                        <a:latin typeface="Cambria Math" panose="02040503050406030204" pitchFamily="18" charset="0"/>
                      </a:rPr>
                      <m:t>𝑖</m:t>
                    </m:r>
                  </m:oMath>
                </a14:m>
                <a:r>
                  <a:rPr lang="en-US" dirty="0"/>
                  <a:t>: goods consumed, </a:t>
                </a:r>
                <a14:m>
                  <m:oMath xmlns:m="http://schemas.openxmlformats.org/officeDocument/2006/math">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𝑝𝑖𝑧𝑧𝑎</m:t>
                    </m:r>
                    <m:r>
                      <a:rPr lang="en-US" b="0" i="1" smtClean="0">
                        <a:latin typeface="Cambria Math" panose="02040503050406030204" pitchFamily="18" charset="0"/>
                      </a:rPr>
                      <m:t>, </m:t>
                    </m:r>
                    <m:r>
                      <a:rPr lang="en-US" b="0" i="1" smtClean="0">
                        <a:latin typeface="Cambria Math" panose="02040503050406030204" pitchFamily="18" charset="0"/>
                      </a:rPr>
                      <m:t>𝑏𝑒𝑒𝑟</m:t>
                    </m:r>
                    <m:r>
                      <a:rPr lang="en-US" b="0" i="1" smtClean="0">
                        <a:latin typeface="Cambria Math" panose="02040503050406030204" pitchFamily="18" charset="0"/>
                      </a:rPr>
                      <m:t>}</m:t>
                    </m:r>
                  </m:oMath>
                </a14:m>
                <a:endParaRPr lang="en-US" dirty="0"/>
              </a:p>
              <a:p>
                <a:pPr marL="0" indent="0">
                  <a:buNone/>
                </a:pPr>
                <a:endParaRPr lang="en-US" dirty="0"/>
              </a:p>
              <a:p>
                <a:pPr marL="0" indent="0">
                  <a:buNone/>
                </a:pPr>
                <a:r>
                  <a:rPr lang="en-US" dirty="0"/>
                  <a:t>Parameters:</a:t>
                </a:r>
              </a:p>
              <a:p>
                <a:pPr marL="0" indent="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𝑖</m:t>
                        </m:r>
                      </m:sub>
                    </m:sSub>
                  </m:oMath>
                </a14:m>
                <a:r>
                  <a:rPr lang="en-US" dirty="0"/>
                  <a:t>: reference share of consumption for consumer </a:t>
                </a:r>
                <a14:m>
                  <m:oMath xmlns:m="http://schemas.openxmlformats.org/officeDocument/2006/math">
                    <m:r>
                      <a:rPr lang="en-US" b="0" i="1" smtClean="0">
                        <a:latin typeface="Cambria Math" panose="02040503050406030204" pitchFamily="18" charset="0"/>
                      </a:rPr>
                      <m:t>𝑖</m:t>
                    </m:r>
                  </m:oMath>
                </a14:m>
                <a:r>
                  <a:rPr lang="en-US" b="0" dirty="0"/>
                  <a:t>, </a:t>
                </a:r>
                <a14:m>
                  <m:oMath xmlns:m="http://schemas.openxmlformats.org/officeDocument/2006/math">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𝑖</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𝑖</m:t>
                            </m:r>
                          </m:sub>
                        </m:sSub>
                        <m:r>
                          <a:rPr lang="en-US" b="0" i="1" smtClean="0">
                            <a:latin typeface="Cambria Math" panose="02040503050406030204" pitchFamily="18" charset="0"/>
                          </a:rPr>
                          <m:t>=1</m:t>
                        </m:r>
                      </m:e>
                    </m:nary>
                  </m:oMath>
                </a14:m>
                <a:endParaRPr lang="en-US" b="0" dirty="0"/>
              </a:p>
              <a:p>
                <a:pPr marL="0" indent="0">
                  <a:buNone/>
                </a:pPr>
                <a14:m>
                  <m:oMath xmlns:m="http://schemas.openxmlformats.org/officeDocument/2006/math">
                    <m:r>
                      <a:rPr lang="en-US" b="0" i="1" smtClean="0">
                        <a:latin typeface="Cambria Math" panose="02040503050406030204" pitchFamily="18" charset="0"/>
                      </a:rPr>
                      <m:t>𝛽</m:t>
                    </m:r>
                  </m:oMath>
                </a14:m>
                <a:r>
                  <a:rPr lang="en-US" b="0" dirty="0"/>
                  <a:t>: scaling parameter for utility</a:t>
                </a:r>
              </a:p>
              <a:p>
                <a:pPr marL="0" indent="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𝑖</m:t>
                        </m:r>
                      </m:sub>
                    </m:sSub>
                  </m:oMath>
                </a14:m>
                <a:r>
                  <a:rPr lang="en-US" dirty="0"/>
                  <a:t>: parameters for supply curves for goods </a:t>
                </a:r>
                <a14:m>
                  <m:oMath xmlns:m="http://schemas.openxmlformats.org/officeDocument/2006/math">
                    <m:r>
                      <a:rPr lang="en-US" b="0" i="1" smtClean="0">
                        <a:latin typeface="Cambria Math" panose="02040503050406030204" pitchFamily="18" charset="0"/>
                      </a:rPr>
                      <m:t>𝑖</m:t>
                    </m:r>
                  </m:oMath>
                </a14:m>
                <a:endParaRPr lang="en-US" dirty="0"/>
              </a:p>
            </p:txBody>
          </p:sp>
        </mc:Choice>
        <mc:Fallback xmlns="">
          <p:sp>
            <p:nvSpPr>
              <p:cNvPr id="3" name="Content Placeholder 2">
                <a:extLst>
                  <a:ext uri="{FF2B5EF4-FFF2-40B4-BE49-F238E27FC236}">
                    <a16:creationId xmlns:a16="http://schemas.microsoft.com/office/drawing/2014/main" id="{8E9C9BB4-D5FE-8727-A3DB-C80E627B1DCF}"/>
                  </a:ext>
                </a:extLst>
              </p:cNvPr>
              <p:cNvSpPr>
                <a:spLocks noGrp="1" noRot="1" noChangeAspect="1" noMove="1" noResize="1" noEditPoints="1" noAdjustHandles="1" noChangeArrowheads="1" noChangeShapeType="1" noTextEdit="1"/>
              </p:cNvSpPr>
              <p:nvPr>
                <p:ph idx="1"/>
              </p:nvPr>
            </p:nvSpPr>
            <p:spPr>
              <a:blipFill>
                <a:blip r:embed="rId2"/>
                <a:stretch>
                  <a:fillRect l="-1206" t="-2326"/>
                </a:stretch>
              </a:blipFill>
            </p:spPr>
            <p:txBody>
              <a:bodyPr/>
              <a:lstStyle/>
              <a:p>
                <a:r>
                  <a:rPr lang="en-US">
                    <a:noFill/>
                  </a:rPr>
                  <a:t> </a:t>
                </a:r>
              </a:p>
            </p:txBody>
          </p:sp>
        </mc:Fallback>
      </mc:AlternateContent>
    </p:spTree>
    <p:extLst>
      <p:ext uri="{BB962C8B-B14F-4D97-AF65-F5344CB8AC3E}">
        <p14:creationId xmlns:p14="http://schemas.microsoft.com/office/powerpoint/2010/main" val="1365864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766F9-1673-C95A-BA25-899EAF4273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F67F27-340A-1DDE-4FAD-B33A18BD3CBE}"/>
              </a:ext>
            </a:extLst>
          </p:cNvPr>
          <p:cNvSpPr>
            <a:spLocks noGrp="1"/>
          </p:cNvSpPr>
          <p:nvPr>
            <p:ph type="title"/>
          </p:nvPr>
        </p:nvSpPr>
        <p:spPr/>
        <p:txBody>
          <a:bodyPr/>
          <a:lstStyle/>
          <a:p>
            <a:r>
              <a:rPr lang="en-US" dirty="0"/>
              <a:t>New model: Simple version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34B0B19-97F9-8BF9-03CE-70DF1547DF7C}"/>
                  </a:ext>
                </a:extLst>
              </p:cNvPr>
              <p:cNvSpPr>
                <a:spLocks noGrp="1"/>
              </p:cNvSpPr>
              <p:nvPr>
                <p:ph idx="1"/>
              </p:nvPr>
            </p:nvSpPr>
            <p:spPr/>
            <p:txBody>
              <a:bodyPr>
                <a:normAutofit fontScale="92500" lnSpcReduction="20000"/>
              </a:bodyPr>
              <a:lstStyle/>
              <a:p>
                <a:pPr marL="0" indent="0">
                  <a:buNone/>
                </a:pPr>
                <a:r>
                  <a:rPr lang="en-US" dirty="0"/>
                  <a:t>Variables:</a:t>
                </a:r>
              </a:p>
              <a:p>
                <a:pPr marL="0" indent="0">
                  <a:buNone/>
                </a:pP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𝑄</m:t>
                        </m:r>
                      </m:e>
                      <m:sub>
                        <m:r>
                          <a:rPr lang="en-US" b="0" i="1" smtClean="0">
                            <a:latin typeface="Cambria Math" panose="02040503050406030204" pitchFamily="18" charset="0"/>
                          </a:rPr>
                          <m:t>𝑖</m:t>
                        </m:r>
                      </m:sub>
                      <m:sup>
                        <m:r>
                          <a:rPr lang="en-US" b="0" i="1" smtClean="0">
                            <a:latin typeface="Cambria Math" panose="02040503050406030204" pitchFamily="18" charset="0"/>
                          </a:rPr>
                          <m:t>𝑑</m:t>
                        </m:r>
                      </m:sup>
                    </m:sSubSup>
                  </m:oMath>
                </a14:m>
                <a:r>
                  <a:rPr lang="en-US" dirty="0"/>
                  <a:t>: quantity of goods demanded</a:t>
                </a:r>
              </a:p>
              <a:p>
                <a:pPr marL="0" indent="0">
                  <a:buNone/>
                </a:pPr>
                <a:endParaRPr lang="en-US" dirty="0"/>
              </a:p>
              <a:p>
                <a:pPr marL="0" indent="0">
                  <a:buNone/>
                </a:pPr>
                <a:r>
                  <a:rPr lang="en-US" dirty="0"/>
                  <a:t>Objective is to maximize utility:</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𝑀</m:t>
                            </m:r>
                            <m:r>
                              <a:rPr lang="en-US" i="1">
                                <a:latin typeface="Cambria Math" panose="02040503050406030204" pitchFamily="18" charset="0"/>
                              </a:rPr>
                              <m:t>𝑎𝑥</m:t>
                            </m:r>
                          </m:e>
                        </m:mr>
                        <m:mr>
                          <m:e>
                            <m:r>
                              <a:rPr lang="en-US" i="1">
                                <a:latin typeface="Cambria Math" panose="02040503050406030204" pitchFamily="18" charset="0"/>
                              </a:rPr>
                              <m:t> </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𝑄</m:t>
                                </m:r>
                              </m:e>
                              <m:sub>
                                <m:r>
                                  <a:rPr lang="en-US" b="0" i="1" smtClean="0">
                                    <a:latin typeface="Cambria Math" panose="02040503050406030204" pitchFamily="18" charset="0"/>
                                  </a:rPr>
                                  <m:t>𝑖</m:t>
                                </m:r>
                              </m:sub>
                              <m:sup>
                                <m:r>
                                  <a:rPr lang="en-US" b="0" i="1" smtClean="0">
                                    <a:latin typeface="Cambria Math" panose="02040503050406030204" pitchFamily="18" charset="0"/>
                                  </a:rPr>
                                  <m:t>𝑑</m:t>
                                </m:r>
                              </m:sup>
                            </m:sSubSup>
                          </m:e>
                        </m:mr>
                      </m:m>
                      <m:r>
                        <a:rPr lang="en-US" b="0" i="1" smtClean="0">
                          <a:latin typeface="Cambria Math" panose="02040503050406030204" pitchFamily="18" charset="0"/>
                        </a:rPr>
                        <m:t>     </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𝑖</m:t>
                          </m:r>
                        </m:sub>
                        <m:sup/>
                        <m:e>
                          <m:sSup>
                            <m:sSupPr>
                              <m:ctrlPr>
                                <a:rPr lang="en-US" i="1">
                                  <a:latin typeface="Cambria Math" panose="02040503050406030204" pitchFamily="18" charset="0"/>
                                </a:rPr>
                              </m:ctrlPr>
                            </m:sSupPr>
                            <m:e>
                              <m:d>
                                <m:dPr>
                                  <m:ctrlPr>
                                    <a:rPr lang="en-US" i="1">
                                      <a:latin typeface="Cambria Math" panose="02040503050406030204" pitchFamily="18" charset="0"/>
                                    </a:rPr>
                                  </m:ctrlPr>
                                </m:dPr>
                                <m:e>
                                  <m:sSubSup>
                                    <m:sSubSupPr>
                                      <m:ctrlPr>
                                        <a:rPr lang="en-US" i="1">
                                          <a:latin typeface="Cambria Math" panose="02040503050406030204" pitchFamily="18" charset="0"/>
                                        </a:rPr>
                                      </m:ctrlPr>
                                    </m:sSubSupPr>
                                    <m:e>
                                      <m:r>
                                        <a:rPr lang="en-US" i="1">
                                          <a:latin typeface="Cambria Math" panose="02040503050406030204" pitchFamily="18" charset="0"/>
                                        </a:rPr>
                                        <m:t>𝑄</m:t>
                                      </m:r>
                                    </m:e>
                                    <m:sub>
                                      <m:r>
                                        <a:rPr lang="en-US" i="1">
                                          <a:latin typeface="Cambria Math" panose="02040503050406030204" pitchFamily="18" charset="0"/>
                                        </a:rPr>
                                        <m:t>𝑖</m:t>
                                      </m:r>
                                    </m:sub>
                                    <m:sup>
                                      <m:r>
                                        <a:rPr lang="en-US" i="1">
                                          <a:latin typeface="Cambria Math" panose="02040503050406030204" pitchFamily="18" charset="0"/>
                                        </a:rPr>
                                        <m:t>𝑑</m:t>
                                      </m:r>
                                    </m:sup>
                                  </m:sSubSup>
                                </m:e>
                              </m:d>
                            </m:e>
                            <m:sup>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𝑖</m:t>
                                  </m:r>
                                </m:sub>
                              </m:sSub>
                            </m:sup>
                          </m:sSup>
                        </m:e>
                      </m:nary>
                    </m:oMath>
                  </m:oMathPara>
                </a14:m>
                <a:endParaRPr lang="en-US" dirty="0"/>
              </a:p>
              <a:p>
                <a:pPr marL="0" indent="0">
                  <a:buNone/>
                </a:pPr>
                <a:r>
                  <a:rPr lang="en-US" dirty="0" err="1"/>
                  <a:t>s.t.</a:t>
                </a:r>
                <a:r>
                  <a:rPr lang="en-US" dirty="0"/>
                  <a:t> income constraint:</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𝐼</m:t>
                      </m:r>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𝑖</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𝑖</m:t>
                              </m:r>
                            </m:sub>
                          </m:sSub>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𝑄</m:t>
                              </m:r>
                            </m:e>
                            <m:sub>
                              <m:r>
                                <a:rPr lang="en-US" b="0" i="1" smtClean="0">
                                  <a:latin typeface="Cambria Math" panose="02040503050406030204" pitchFamily="18" charset="0"/>
                                </a:rPr>
                                <m:t>𝑖</m:t>
                              </m:r>
                            </m:sub>
                            <m:sup>
                              <m:r>
                                <a:rPr lang="en-US" b="0" i="1" smtClean="0">
                                  <a:latin typeface="Cambria Math" panose="02040503050406030204" pitchFamily="18" charset="0"/>
                                </a:rPr>
                                <m:t>𝑑</m:t>
                              </m:r>
                            </m:sup>
                          </m:sSubSup>
                        </m:e>
                      </m:nary>
                    </m:oMath>
                  </m:oMathPara>
                </a14:m>
                <a:endParaRPr lang="en-US" dirty="0"/>
              </a:p>
            </p:txBody>
          </p:sp>
        </mc:Choice>
        <mc:Fallback xmlns="">
          <p:sp>
            <p:nvSpPr>
              <p:cNvPr id="3" name="Content Placeholder 2">
                <a:extLst>
                  <a:ext uri="{FF2B5EF4-FFF2-40B4-BE49-F238E27FC236}">
                    <a16:creationId xmlns:a16="http://schemas.microsoft.com/office/drawing/2014/main" id="{134B0B19-97F9-8BF9-03CE-70DF1547DF7C}"/>
                  </a:ext>
                </a:extLst>
              </p:cNvPr>
              <p:cNvSpPr>
                <a:spLocks noGrp="1" noRot="1" noChangeAspect="1" noMove="1" noResize="1" noEditPoints="1" noAdjustHandles="1" noChangeArrowheads="1" noChangeShapeType="1" noTextEdit="1"/>
              </p:cNvSpPr>
              <p:nvPr>
                <p:ph idx="1"/>
              </p:nvPr>
            </p:nvSpPr>
            <p:spPr>
              <a:blipFill>
                <a:blip r:embed="rId2"/>
                <a:stretch>
                  <a:fillRect l="-1086" t="-3488" b="-41279"/>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F549FDE9-8B2D-3A20-70AC-E61458EDA35F}"/>
              </a:ext>
            </a:extLst>
          </p:cNvPr>
          <p:cNvSpPr txBox="1"/>
          <p:nvPr/>
        </p:nvSpPr>
        <p:spPr>
          <a:xfrm>
            <a:off x="7928811" y="5269881"/>
            <a:ext cx="3347391" cy="369332"/>
          </a:xfrm>
          <a:prstGeom prst="rect">
            <a:avLst/>
          </a:prstGeom>
          <a:noFill/>
        </p:spPr>
        <p:txBody>
          <a:bodyPr wrap="none" rtlCol="0">
            <a:spAutoFit/>
          </a:bodyPr>
          <a:lstStyle/>
          <a:p>
            <a:r>
              <a:rPr lang="en-US" dirty="0"/>
              <a:t>Can add simple taxes/subsidies</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A2E4D04-E2D6-85DB-635A-67DD37905213}"/>
                  </a:ext>
                </a:extLst>
              </p:cNvPr>
              <p:cNvSpPr txBox="1"/>
              <p:nvPr/>
            </p:nvSpPr>
            <p:spPr>
              <a:xfrm>
                <a:off x="8557518" y="3232488"/>
                <a:ext cx="2515432" cy="690638"/>
              </a:xfrm>
              <a:prstGeom prst="rect">
                <a:avLst/>
              </a:prstGeom>
              <a:noFill/>
            </p:spPr>
            <p:txBody>
              <a:bodyPr wrap="none" rtlCol="0">
                <a:spAutoFit/>
              </a:bodyPr>
              <a:lstStyle/>
              <a:p>
                <a:r>
                  <a:rPr lang="en-US" dirty="0"/>
                  <a:t>Think of Cobb-Douglas:</a:t>
                </a:r>
              </a:p>
              <a:p>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𝑞</m:t>
                          </m:r>
                        </m:e>
                        <m:sub>
                          <m:r>
                            <a:rPr lang="en-US" b="0" i="1" smtClean="0">
                              <a:latin typeface="Cambria Math" panose="02040503050406030204" pitchFamily="18" charset="0"/>
                            </a:rPr>
                            <m:t>𝑝𝑖𝑧𝑧𝑎</m:t>
                          </m:r>
                        </m:sub>
                        <m:sup>
                          <m:r>
                            <a:rPr lang="en-US" b="0" i="1" smtClean="0">
                              <a:latin typeface="Cambria Math" panose="02040503050406030204" pitchFamily="18" charset="0"/>
                            </a:rPr>
                            <m:t>𝛼</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𝑞</m:t>
                          </m:r>
                        </m:e>
                        <m:sub>
                          <m:r>
                            <a:rPr lang="en-US" b="0" i="1" smtClean="0">
                              <a:latin typeface="Cambria Math" panose="02040503050406030204" pitchFamily="18" charset="0"/>
                            </a:rPr>
                            <m:t>𝑏𝑒𝑒𝑟</m:t>
                          </m:r>
                        </m:sub>
                        <m:sup>
                          <m:r>
                            <a:rPr lang="en-US" b="0" i="1" smtClean="0">
                              <a:latin typeface="Cambria Math" panose="02040503050406030204" pitchFamily="18" charset="0"/>
                            </a:rPr>
                            <m:t>1−</m:t>
                          </m:r>
                          <m:r>
                            <a:rPr lang="en-US" b="0" i="1" smtClean="0">
                              <a:latin typeface="Cambria Math" panose="02040503050406030204" pitchFamily="18" charset="0"/>
                            </a:rPr>
                            <m:t>𝛼</m:t>
                          </m:r>
                        </m:sup>
                      </m:sSubSup>
                    </m:oMath>
                  </m:oMathPara>
                </a14:m>
                <a:endParaRPr lang="en-US" dirty="0"/>
              </a:p>
            </p:txBody>
          </p:sp>
        </mc:Choice>
        <mc:Fallback xmlns="">
          <p:sp>
            <p:nvSpPr>
              <p:cNvPr id="5" name="TextBox 4">
                <a:extLst>
                  <a:ext uri="{FF2B5EF4-FFF2-40B4-BE49-F238E27FC236}">
                    <a16:creationId xmlns:a16="http://schemas.microsoft.com/office/drawing/2014/main" id="{AA2E4D04-E2D6-85DB-635A-67DD37905213}"/>
                  </a:ext>
                </a:extLst>
              </p:cNvPr>
              <p:cNvSpPr txBox="1">
                <a:spLocks noRot="1" noChangeAspect="1" noMove="1" noResize="1" noEditPoints="1" noAdjustHandles="1" noChangeArrowheads="1" noChangeShapeType="1" noTextEdit="1"/>
              </p:cNvSpPr>
              <p:nvPr/>
            </p:nvSpPr>
            <p:spPr>
              <a:xfrm>
                <a:off x="8557518" y="3232488"/>
                <a:ext cx="2515432" cy="690638"/>
              </a:xfrm>
              <a:prstGeom prst="rect">
                <a:avLst/>
              </a:prstGeom>
              <a:blipFill>
                <a:blip r:embed="rId3"/>
                <a:stretch>
                  <a:fillRect l="-2010" t="-3571" r="-1508" b="-3571"/>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DB4E36B9-912E-E7BD-91A4-33C4BD31C491}"/>
              </a:ext>
            </a:extLst>
          </p:cNvPr>
          <p:cNvCxnSpPr>
            <a:stCxn id="5" idx="1"/>
          </p:cNvCxnSpPr>
          <p:nvPr/>
        </p:nvCxnSpPr>
        <p:spPr>
          <a:xfrm flipH="1">
            <a:off x="7603958" y="3577807"/>
            <a:ext cx="953560" cy="42348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072E01A2-6EDF-17A5-3C74-27413D750760}"/>
              </a:ext>
            </a:extLst>
          </p:cNvPr>
          <p:cNvCxnSpPr>
            <a:cxnSpLocks/>
            <a:stCxn id="4" idx="1"/>
          </p:cNvCxnSpPr>
          <p:nvPr/>
        </p:nvCxnSpPr>
        <p:spPr>
          <a:xfrm flipH="1">
            <a:off x="7002379" y="5454547"/>
            <a:ext cx="92643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334900BB-2E27-2266-AC9A-98D5BD845EE4}"/>
                  </a:ext>
                </a:extLst>
              </p:cNvPr>
              <p:cNvSpPr txBox="1"/>
              <p:nvPr/>
            </p:nvSpPr>
            <p:spPr>
              <a:xfrm>
                <a:off x="9003537" y="4001294"/>
                <a:ext cx="1623393" cy="677045"/>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𝛼</m:t>
                          </m:r>
                        </m:e>
                        <m:sub>
                          <m:r>
                            <a:rPr lang="en-US" b="0" i="1" smtClean="0">
                              <a:latin typeface="Cambria Math" panose="02040503050406030204" pitchFamily="18" charset="0"/>
                            </a:rPr>
                            <m:t>𝑖</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𝑞</m:t>
                                  </m:r>
                                </m:e>
                              </m:acc>
                            </m:e>
                            <m:sub>
                              <m:r>
                                <a:rPr lang="en-US" b="0" i="1" smtClean="0">
                                  <a:latin typeface="Cambria Math" panose="02040503050406030204" pitchFamily="18" charset="0"/>
                                </a:rPr>
                                <m:t>𝑖</m:t>
                              </m:r>
                            </m:sub>
                          </m:sSub>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𝑝</m:t>
                                  </m:r>
                                </m:e>
                              </m:acc>
                            </m:e>
                            <m:sub>
                              <m:r>
                                <a:rPr lang="en-US" b="0" i="1" smtClean="0">
                                  <a:latin typeface="Cambria Math" panose="02040503050406030204" pitchFamily="18" charset="0"/>
                                </a:rPr>
                                <m:t>𝑖</m:t>
                              </m:r>
                            </m:sub>
                          </m:sSub>
                        </m:num>
                        <m:den>
                          <m:nary>
                            <m:naryPr>
                              <m:chr m:val="∑"/>
                              <m:supHide m:val="on"/>
                              <m:ctrlPr>
                                <a:rPr lang="en-US" b="0" i="1" smtClean="0">
                                  <a:latin typeface="Cambria Math" panose="02040503050406030204" pitchFamily="18" charset="0"/>
                                </a:rPr>
                              </m:ctrlPr>
                            </m:naryPr>
                            <m:sub>
                              <m:sSup>
                                <m:sSupPr>
                                  <m:ctrlPr>
                                    <a:rPr lang="en-US" b="0" i="1" smtClean="0">
                                      <a:latin typeface="Cambria Math" panose="02040503050406030204" pitchFamily="18" charset="0"/>
                                    </a:rPr>
                                  </m:ctrlPr>
                                </m:sSupPr>
                                <m:e>
                                  <m:r>
                                    <a:rPr lang="en-US" b="0" i="1" smtClean="0">
                                      <a:latin typeface="Cambria Math" panose="02040503050406030204" pitchFamily="18" charset="0"/>
                                    </a:rPr>
                                    <m:t>𝑖</m:t>
                                  </m:r>
                                </m:e>
                                <m:sup>
                                  <m:r>
                                    <a:rPr lang="en-US" b="0" i="1" smtClean="0">
                                      <a:latin typeface="Cambria Math" panose="02040503050406030204" pitchFamily="18" charset="0"/>
                                    </a:rPr>
                                    <m:t>′</m:t>
                                  </m:r>
                                </m:sup>
                              </m:sSup>
                            </m:sub>
                            <m:sup/>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𝑞</m:t>
                                      </m:r>
                                    </m:e>
                                  </m:acc>
                                </m:e>
                                <m:sub>
                                  <m:sSup>
                                    <m:sSupPr>
                                      <m:ctrlPr>
                                        <a:rPr lang="en-US" b="0" i="1" smtClean="0">
                                          <a:latin typeface="Cambria Math" panose="02040503050406030204" pitchFamily="18" charset="0"/>
                                        </a:rPr>
                                      </m:ctrlPr>
                                    </m:sSupPr>
                                    <m:e>
                                      <m:r>
                                        <a:rPr lang="en-US" i="1">
                                          <a:latin typeface="Cambria Math" panose="02040503050406030204" pitchFamily="18" charset="0"/>
                                        </a:rPr>
                                        <m:t>𝑖</m:t>
                                      </m:r>
                                    </m:e>
                                    <m:sup>
                                      <m:r>
                                        <a:rPr lang="en-US" b="0" i="1" smtClean="0">
                                          <a:latin typeface="Cambria Math" panose="02040503050406030204" pitchFamily="18" charset="0"/>
                                        </a:rPr>
                                        <m:t>′</m:t>
                                      </m:r>
                                    </m:sup>
                                  </m:sSup>
                                </m:sub>
                              </m:sSub>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𝑝</m:t>
                                      </m:r>
                                    </m:e>
                                  </m:acc>
                                </m:e>
                                <m:sub>
                                  <m:sSup>
                                    <m:sSupPr>
                                      <m:ctrlPr>
                                        <a:rPr lang="en-US" b="0" i="1" smtClean="0">
                                          <a:latin typeface="Cambria Math" panose="02040503050406030204" pitchFamily="18" charset="0"/>
                                        </a:rPr>
                                      </m:ctrlPr>
                                    </m:sSupPr>
                                    <m:e>
                                      <m:r>
                                        <a:rPr lang="en-US" i="1">
                                          <a:latin typeface="Cambria Math" panose="02040503050406030204" pitchFamily="18" charset="0"/>
                                        </a:rPr>
                                        <m:t>𝑖</m:t>
                                      </m:r>
                                    </m:e>
                                    <m:sup>
                                      <m:r>
                                        <a:rPr lang="en-US" b="0" i="1" smtClean="0">
                                          <a:latin typeface="Cambria Math" panose="02040503050406030204" pitchFamily="18" charset="0"/>
                                        </a:rPr>
                                        <m:t>′</m:t>
                                      </m:r>
                                    </m:sup>
                                  </m:sSup>
                                </m:sub>
                              </m:sSub>
                            </m:e>
                          </m:nary>
                        </m:den>
                      </m:f>
                    </m:oMath>
                  </m:oMathPara>
                </a14:m>
                <a:endParaRPr lang="en-US" dirty="0"/>
              </a:p>
            </p:txBody>
          </p:sp>
        </mc:Choice>
        <mc:Fallback>
          <p:sp>
            <p:nvSpPr>
              <p:cNvPr id="6" name="TextBox 5">
                <a:extLst>
                  <a:ext uri="{FF2B5EF4-FFF2-40B4-BE49-F238E27FC236}">
                    <a16:creationId xmlns:a16="http://schemas.microsoft.com/office/drawing/2014/main" id="{334900BB-2E27-2266-AC9A-98D5BD845EE4}"/>
                  </a:ext>
                </a:extLst>
              </p:cNvPr>
              <p:cNvSpPr txBox="1">
                <a:spLocks noRot="1" noChangeAspect="1" noMove="1" noResize="1" noEditPoints="1" noAdjustHandles="1" noChangeArrowheads="1" noChangeShapeType="1" noTextEdit="1"/>
              </p:cNvSpPr>
              <p:nvPr/>
            </p:nvSpPr>
            <p:spPr>
              <a:xfrm>
                <a:off x="9003537" y="4001294"/>
                <a:ext cx="1623393" cy="677045"/>
              </a:xfrm>
              <a:prstGeom prst="rect">
                <a:avLst/>
              </a:prstGeom>
              <a:blipFill>
                <a:blip r:embed="rId4"/>
                <a:stretch>
                  <a:fillRect t="-18182" b="-89091"/>
                </a:stretch>
              </a:blipFill>
            </p:spPr>
            <p:txBody>
              <a:bodyPr/>
              <a:lstStyle/>
              <a:p>
                <a:r>
                  <a:rPr lang="en-US">
                    <a:noFill/>
                  </a:rPr>
                  <a:t> </a:t>
                </a:r>
              </a:p>
            </p:txBody>
          </p:sp>
        </mc:Fallback>
      </mc:AlternateContent>
    </p:spTree>
    <p:extLst>
      <p:ext uri="{BB962C8B-B14F-4D97-AF65-F5344CB8AC3E}">
        <p14:creationId xmlns:p14="http://schemas.microsoft.com/office/powerpoint/2010/main" val="13805284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7D973DD-CF49-C95E-12E1-1611D93F3547}"/>
              </a:ext>
            </a:extLst>
          </p:cNvPr>
          <p:cNvSpPr>
            <a:spLocks noGrp="1"/>
          </p:cNvSpPr>
          <p:nvPr>
            <p:ph type="title"/>
          </p:nvPr>
        </p:nvSpPr>
        <p:spPr>
          <a:xfrm>
            <a:off x="1043631" y="809898"/>
            <a:ext cx="10173010" cy="1554480"/>
          </a:xfrm>
        </p:spPr>
        <p:txBody>
          <a:bodyPr anchor="ctr">
            <a:normAutofit/>
          </a:bodyPr>
          <a:lstStyle/>
          <a:p>
            <a:r>
              <a:rPr lang="en-US" sz="4800"/>
              <a:t>Simple counterfactuals</a:t>
            </a: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B322E5EA-B37D-7B03-2BDE-762B5750D1C1}"/>
              </a:ext>
            </a:extLst>
          </p:cNvPr>
          <p:cNvGraphicFramePr>
            <a:graphicFrameLocks noGrp="1"/>
          </p:cNvGraphicFramePr>
          <p:nvPr>
            <p:ph idx="1"/>
            <p:extLst>
              <p:ext uri="{D42A27DB-BD31-4B8C-83A1-F6EECF244321}">
                <p14:modId xmlns:p14="http://schemas.microsoft.com/office/powerpoint/2010/main" val="783386256"/>
              </p:ext>
            </p:extLst>
          </p:nvPr>
        </p:nvGraphicFramePr>
        <p:xfrm>
          <a:off x="904602" y="3017519"/>
          <a:ext cx="10378440" cy="32099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77657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3DBB4-6F1D-4427-6AF8-3C6108636337}"/>
              </a:ext>
            </a:extLst>
          </p:cNvPr>
          <p:cNvSpPr>
            <a:spLocks noGrp="1"/>
          </p:cNvSpPr>
          <p:nvPr>
            <p:ph type="title"/>
          </p:nvPr>
        </p:nvSpPr>
        <p:spPr/>
        <p:txBody>
          <a:bodyPr/>
          <a:lstStyle/>
          <a:p>
            <a:r>
              <a:rPr lang="en-US" dirty="0"/>
              <a:t>New model: Variables, Objective, Constraints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DFB3AA9-648B-6318-FDB9-0E996557C0F6}"/>
                  </a:ext>
                </a:extLst>
              </p:cNvPr>
              <p:cNvSpPr>
                <a:spLocks noGrp="1"/>
              </p:cNvSpPr>
              <p:nvPr>
                <p:ph idx="1"/>
              </p:nvPr>
            </p:nvSpPr>
            <p:spPr/>
            <p:txBody>
              <a:bodyPr>
                <a:normAutofit lnSpcReduction="10000"/>
              </a:bodyPr>
              <a:lstStyle/>
              <a:p>
                <a:pPr marL="0" indent="0">
                  <a:buNone/>
                </a:pPr>
                <a:r>
                  <a:rPr lang="en-US" dirty="0"/>
                  <a:t>Variables:</a:t>
                </a:r>
              </a:p>
              <a:p>
                <a:pPr marL="0" indent="0">
                  <a:buNone/>
                </a:pP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𝑄</m:t>
                        </m:r>
                      </m:e>
                      <m:sub>
                        <m:r>
                          <a:rPr lang="en-US" b="0" i="1" smtClean="0">
                            <a:latin typeface="Cambria Math" panose="02040503050406030204" pitchFamily="18" charset="0"/>
                          </a:rPr>
                          <m:t>𝑖</m:t>
                        </m:r>
                      </m:sub>
                      <m:sup>
                        <m:r>
                          <a:rPr lang="en-US" b="0" i="1" smtClean="0">
                            <a:latin typeface="Cambria Math" panose="02040503050406030204" pitchFamily="18" charset="0"/>
                          </a:rPr>
                          <m:t>𝑠</m:t>
                        </m:r>
                      </m:sup>
                    </m:sSubSup>
                  </m:oMath>
                </a14:m>
                <a:r>
                  <a:rPr lang="en-US" dirty="0"/>
                  <a:t>: quantity of goods provided</a:t>
                </a:r>
              </a:p>
              <a:p>
                <a:pPr marL="0" indent="0">
                  <a:buNone/>
                </a:pP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𝑄</m:t>
                        </m:r>
                      </m:e>
                      <m:sub>
                        <m:r>
                          <a:rPr lang="en-US" b="0" i="1" smtClean="0">
                            <a:latin typeface="Cambria Math" panose="02040503050406030204" pitchFamily="18" charset="0"/>
                          </a:rPr>
                          <m:t>𝑖</m:t>
                        </m:r>
                      </m:sub>
                      <m:sup>
                        <m:r>
                          <a:rPr lang="en-US" b="0" i="1" smtClean="0">
                            <a:latin typeface="Cambria Math" panose="02040503050406030204" pitchFamily="18" charset="0"/>
                          </a:rPr>
                          <m:t>𝑑</m:t>
                        </m:r>
                      </m:sup>
                    </m:sSubSup>
                  </m:oMath>
                </a14:m>
                <a:r>
                  <a:rPr lang="en-US" dirty="0"/>
                  <a:t>: quantity of goods demanded</a:t>
                </a:r>
              </a:p>
              <a:p>
                <a:pPr marL="0" indent="0">
                  <a:buNone/>
                </a:pPr>
                <a:endParaRPr lang="en-US" dirty="0"/>
              </a:p>
              <a:p>
                <a:pPr marL="0" indent="0">
                  <a:buNone/>
                </a:pPr>
                <a:r>
                  <a:rPr lang="en-US" dirty="0"/>
                  <a:t>Now we’ll say the objective is to maximize utility less supply costs:</a:t>
                </a:r>
              </a:p>
              <a:p>
                <a:pPr marL="0" inden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𝑀</m:t>
                            </m:r>
                            <m:r>
                              <a:rPr lang="en-US" i="1">
                                <a:latin typeface="Cambria Math" panose="02040503050406030204" pitchFamily="18" charset="0"/>
                              </a:rPr>
                              <m:t>𝑎𝑥</m:t>
                            </m:r>
                          </m:e>
                        </m:mr>
                        <m:mr>
                          <m:e>
                            <m:r>
                              <a:rPr lang="en-US" i="1">
                                <a:latin typeface="Cambria Math" panose="02040503050406030204" pitchFamily="18" charset="0"/>
                              </a:rPr>
                              <m:t> </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𝑄</m:t>
                                </m:r>
                              </m:e>
                              <m:sub>
                                <m:r>
                                  <a:rPr lang="en-US" b="0" i="1" smtClean="0">
                                    <a:latin typeface="Cambria Math" panose="02040503050406030204" pitchFamily="18" charset="0"/>
                                  </a:rPr>
                                  <m:t>𝑖</m:t>
                                </m:r>
                              </m:sub>
                              <m:sup>
                                <m:r>
                                  <a:rPr lang="en-US" b="0" i="1" smtClean="0">
                                    <a:latin typeface="Cambria Math" panose="02040503050406030204" pitchFamily="18" charset="0"/>
                                  </a:rPr>
                                  <m:t>𝑠</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𝑄</m:t>
                                </m:r>
                              </m:e>
                              <m:sub>
                                <m:r>
                                  <a:rPr lang="en-US" b="0" i="1" smtClean="0">
                                    <a:latin typeface="Cambria Math" panose="02040503050406030204" pitchFamily="18" charset="0"/>
                                  </a:rPr>
                                  <m:t>𝑖</m:t>
                                </m:r>
                              </m:sub>
                              <m:sup>
                                <m:r>
                                  <a:rPr lang="en-US" b="0" i="1" smtClean="0">
                                    <a:latin typeface="Cambria Math" panose="02040503050406030204" pitchFamily="18" charset="0"/>
                                  </a:rPr>
                                  <m:t>𝑑</m:t>
                                </m:r>
                              </m:sup>
                            </m:sSubSup>
                          </m:e>
                        </m:mr>
                      </m:m>
                      <m:r>
                        <a:rPr lang="en-US" b="0" i="1" smtClean="0">
                          <a:latin typeface="Cambria Math" panose="02040503050406030204" pitchFamily="18" charset="0"/>
                        </a:rPr>
                        <m:t>     </m:t>
                      </m:r>
                      <m:r>
                        <a:rPr lang="en-US" b="0" i="1" smtClean="0">
                          <a:latin typeface="Cambria Math" panose="02040503050406030204" pitchFamily="18" charset="0"/>
                        </a:rPr>
                        <m:t>𝛽</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𝑖</m:t>
                          </m:r>
                        </m:sub>
                        <m:sup/>
                        <m:e>
                          <m:sSup>
                            <m:sSupPr>
                              <m:ctrlPr>
                                <a:rPr lang="en-US" i="1">
                                  <a:latin typeface="Cambria Math" panose="02040503050406030204" pitchFamily="18" charset="0"/>
                                </a:rPr>
                              </m:ctrlPr>
                            </m:sSupPr>
                            <m:e>
                              <m:d>
                                <m:dPr>
                                  <m:ctrlPr>
                                    <a:rPr lang="en-US" i="1">
                                      <a:latin typeface="Cambria Math" panose="02040503050406030204" pitchFamily="18" charset="0"/>
                                    </a:rPr>
                                  </m:ctrlPr>
                                </m:dPr>
                                <m:e>
                                  <m:sSubSup>
                                    <m:sSubSupPr>
                                      <m:ctrlPr>
                                        <a:rPr lang="en-US" i="1">
                                          <a:latin typeface="Cambria Math" panose="02040503050406030204" pitchFamily="18" charset="0"/>
                                        </a:rPr>
                                      </m:ctrlPr>
                                    </m:sSubSupPr>
                                    <m:e>
                                      <m:r>
                                        <a:rPr lang="en-US" i="1">
                                          <a:latin typeface="Cambria Math" panose="02040503050406030204" pitchFamily="18" charset="0"/>
                                        </a:rPr>
                                        <m:t>𝑄</m:t>
                                      </m:r>
                                    </m:e>
                                    <m:sub>
                                      <m:r>
                                        <a:rPr lang="en-US" i="1">
                                          <a:latin typeface="Cambria Math" panose="02040503050406030204" pitchFamily="18" charset="0"/>
                                        </a:rPr>
                                        <m:t>𝑖</m:t>
                                      </m:r>
                                    </m:sub>
                                    <m:sup>
                                      <m:r>
                                        <a:rPr lang="en-US" i="1">
                                          <a:latin typeface="Cambria Math" panose="02040503050406030204" pitchFamily="18" charset="0"/>
                                        </a:rPr>
                                        <m:t>𝑑</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𝑞</m:t>
                                          </m:r>
                                        </m:e>
                                      </m:acc>
                                    </m:e>
                                    <m:sub>
                                      <m:r>
                                        <a:rPr lang="en-US" b="0" i="1" smtClean="0">
                                          <a:latin typeface="Cambria Math" panose="02040503050406030204" pitchFamily="18" charset="0"/>
                                        </a:rPr>
                                        <m:t>𝑖</m:t>
                                      </m:r>
                                    </m:sub>
                                    <m:sup>
                                      <m:r>
                                        <a:rPr lang="en-US" b="0" i="1" smtClean="0">
                                          <a:latin typeface="Cambria Math" panose="02040503050406030204" pitchFamily="18" charset="0"/>
                                        </a:rPr>
                                        <m:t>𝑑</m:t>
                                      </m:r>
                                    </m:sup>
                                  </m:sSubSup>
                                </m:e>
                              </m:d>
                            </m:e>
                            <m:sup>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𝑖</m:t>
                                  </m:r>
                                </m:sub>
                              </m:sSub>
                            </m:sup>
                          </m:sSup>
                        </m:e>
                      </m:nary>
                      <m:r>
                        <a:rPr lang="en-US" i="1">
                          <a:latin typeface="Cambria Math" panose="02040503050406030204" pitchFamily="18" charset="0"/>
                        </a:rPr>
                        <m:t>−</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𝑖</m:t>
                          </m:r>
                        </m:sub>
                        <m:sup/>
                        <m:e>
                          <m:nary>
                            <m:naryPr>
                              <m:ctrlPr>
                                <a:rPr lang="en-US" i="1">
                                  <a:latin typeface="Cambria Math" panose="02040503050406030204" pitchFamily="18" charset="0"/>
                                </a:rPr>
                              </m:ctrlPr>
                            </m:naryPr>
                            <m:sub>
                              <m:r>
                                <a:rPr lang="en-US" i="1">
                                  <a:latin typeface="Cambria Math" panose="02040503050406030204" pitchFamily="18" charset="0"/>
                                </a:rPr>
                                <m:t>0</m:t>
                              </m:r>
                            </m:sub>
                            <m:sup>
                              <m:sSub>
                                <m:sSubPr>
                                  <m:ctrlPr>
                                    <a:rPr lang="en-US" i="1">
                                      <a:latin typeface="Cambria Math" panose="02040503050406030204" pitchFamily="18" charset="0"/>
                                    </a:rPr>
                                  </m:ctrlPr>
                                </m:sSubPr>
                                <m:e>
                                  <m:r>
                                    <a:rPr lang="en-US" i="1">
                                      <a:latin typeface="Cambria Math" panose="02040503050406030204" pitchFamily="18" charset="0"/>
                                    </a:rPr>
                                    <m:t>𝑄</m:t>
                                  </m:r>
                                </m:e>
                                <m:sub>
                                  <m:r>
                                    <a:rPr lang="en-US" i="1">
                                      <a:latin typeface="Cambria Math" panose="02040503050406030204" pitchFamily="18" charset="0"/>
                                    </a:rPr>
                                    <m:t>𝑠</m:t>
                                  </m:r>
                                </m:sub>
                              </m:sSub>
                            </m:sup>
                            <m:e>
                              <m:sSup>
                                <m:sSupPr>
                                  <m:ctrlPr>
                                    <a:rPr lang="en-US" i="1">
                                      <a:latin typeface="Cambria Math" panose="02040503050406030204" pitchFamily="18" charset="0"/>
                                    </a:rPr>
                                  </m:ctrlPr>
                                </m:sSupPr>
                                <m:e>
                                  <m:r>
                                    <a:rPr lang="en-US" i="1">
                                      <a:latin typeface="Cambria Math" panose="02040503050406030204" pitchFamily="18" charset="0"/>
                                    </a:rPr>
                                    <m:t>𝑐</m:t>
                                  </m:r>
                                </m:e>
                                <m:sup>
                                  <m:r>
                                    <a:rPr lang="en-US" i="1">
                                      <a:latin typeface="Cambria Math" panose="02040503050406030204" pitchFamily="18" charset="0"/>
                                    </a:rPr>
                                    <m:t>′</m:t>
                                  </m:r>
                                </m:sup>
                              </m:sSup>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𝑑</m:t>
                                  </m:r>
                                </m:e>
                                <m:sup>
                                  <m:r>
                                    <a:rPr lang="en-US" i="1">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𝑄</m:t>
                                  </m:r>
                                </m:e>
                                <m:sub>
                                  <m:r>
                                    <a:rPr lang="en-US" b="0" i="1" smtClean="0">
                                      <a:latin typeface="Cambria Math" panose="02040503050406030204" pitchFamily="18" charset="0"/>
                                    </a:rPr>
                                    <m:t>𝑖</m:t>
                                  </m:r>
                                </m:sub>
                                <m:sup>
                                  <m:r>
                                    <a:rPr lang="en-US" b="0" i="1" smtClean="0">
                                      <a:latin typeface="Cambria Math" panose="02040503050406030204" pitchFamily="18" charset="0"/>
                                    </a:rPr>
                                    <m:t>𝑠</m:t>
                                  </m:r>
                                </m:sup>
                              </m:sSubSup>
                            </m:e>
                          </m:nary>
                        </m:e>
                      </m:nary>
                    </m:oMath>
                  </m:oMathPara>
                </a14:m>
                <a:endParaRPr lang="en-US" dirty="0"/>
              </a:p>
              <a:p>
                <a:pPr marL="0" indent="0">
                  <a:buNone/>
                </a:pPr>
                <a:r>
                  <a:rPr lang="en-US" dirty="0" err="1"/>
                  <a:t>s.t.</a:t>
                </a:r>
                <a:r>
                  <a:rPr lang="en-US" dirty="0"/>
                  <a:t>:</a:t>
                </a:r>
              </a:p>
              <a:p>
                <a:pPr marL="0" indent="0">
                  <a:buNone/>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𝑄</m:t>
                          </m:r>
                        </m:e>
                        <m:sub>
                          <m:r>
                            <a:rPr lang="en-US" b="0" i="1" smtClean="0">
                              <a:latin typeface="Cambria Math" panose="02040503050406030204" pitchFamily="18" charset="0"/>
                            </a:rPr>
                            <m:t>𝑖</m:t>
                          </m:r>
                        </m:sub>
                        <m:sup>
                          <m:r>
                            <a:rPr lang="en-US" b="0" i="1" smtClean="0">
                              <a:latin typeface="Cambria Math" panose="02040503050406030204" pitchFamily="18" charset="0"/>
                            </a:rPr>
                            <m:t>𝑑</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𝑄</m:t>
                          </m:r>
                        </m:e>
                        <m:sub>
                          <m:r>
                            <a:rPr lang="en-US" b="0" i="1" smtClean="0">
                              <a:latin typeface="Cambria Math" panose="02040503050406030204" pitchFamily="18" charset="0"/>
                            </a:rPr>
                            <m:t>𝑖</m:t>
                          </m:r>
                        </m:sub>
                        <m:sup>
                          <m:r>
                            <a:rPr lang="en-US" b="0" i="1" smtClean="0">
                              <a:latin typeface="Cambria Math" panose="02040503050406030204" pitchFamily="18" charset="0"/>
                            </a:rPr>
                            <m:t>𝑠</m:t>
                          </m:r>
                        </m:sup>
                      </m:sSubSup>
                      <m:r>
                        <a:rPr lang="en-US" b="0" i="1" smtClean="0">
                          <a:latin typeface="Cambria Math" panose="02040503050406030204" pitchFamily="18" charset="0"/>
                        </a:rPr>
                        <m:t>   ∀ </m:t>
                      </m:r>
                      <m:r>
                        <a:rPr lang="en-US" b="0" i="1" smtClean="0">
                          <a:latin typeface="Cambria Math" panose="02040503050406030204" pitchFamily="18" charset="0"/>
                        </a:rPr>
                        <m:t>𝑖</m:t>
                      </m:r>
                    </m:oMath>
                  </m:oMathPara>
                </a14:m>
                <a:endParaRPr lang="en-US" dirty="0"/>
              </a:p>
            </p:txBody>
          </p:sp>
        </mc:Choice>
        <mc:Fallback xmlns="">
          <p:sp>
            <p:nvSpPr>
              <p:cNvPr id="3" name="Content Placeholder 2">
                <a:extLst>
                  <a:ext uri="{FF2B5EF4-FFF2-40B4-BE49-F238E27FC236}">
                    <a16:creationId xmlns:a16="http://schemas.microsoft.com/office/drawing/2014/main" id="{BDFB3AA9-648B-6318-FDB9-0E996557C0F6}"/>
                  </a:ext>
                </a:extLst>
              </p:cNvPr>
              <p:cNvSpPr>
                <a:spLocks noGrp="1" noRot="1" noChangeAspect="1" noMove="1" noResize="1" noEditPoints="1" noAdjustHandles="1" noChangeArrowheads="1" noChangeShapeType="1" noTextEdit="1"/>
              </p:cNvSpPr>
              <p:nvPr>
                <p:ph idx="1"/>
              </p:nvPr>
            </p:nvSpPr>
            <p:spPr>
              <a:blipFill>
                <a:blip r:embed="rId2"/>
                <a:stretch>
                  <a:fillRect l="-1206" t="-3198" b="-32558"/>
                </a:stretch>
              </a:blipFill>
            </p:spPr>
            <p:txBody>
              <a:bodyPr/>
              <a:lstStyle/>
              <a:p>
                <a:r>
                  <a:rPr lang="en-US">
                    <a:noFill/>
                  </a:rPr>
                  <a:t> </a:t>
                </a:r>
              </a:p>
            </p:txBody>
          </p:sp>
        </mc:Fallback>
      </mc:AlternateContent>
    </p:spTree>
    <p:extLst>
      <p:ext uri="{BB962C8B-B14F-4D97-AF65-F5344CB8AC3E}">
        <p14:creationId xmlns:p14="http://schemas.microsoft.com/office/powerpoint/2010/main" val="24299980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6B0D0D-B818-0E9A-C282-A24BCF2A34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85F365-9432-C716-FC44-AB99232592AD}"/>
              </a:ext>
            </a:extLst>
          </p:cNvPr>
          <p:cNvSpPr>
            <a:spLocks noGrp="1"/>
          </p:cNvSpPr>
          <p:nvPr>
            <p:ph type="title"/>
          </p:nvPr>
        </p:nvSpPr>
        <p:spPr/>
        <p:txBody>
          <a:bodyPr/>
          <a:lstStyle/>
          <a:p>
            <a:r>
              <a:rPr lang="en-US" dirty="0"/>
              <a:t>Another functional form.. Calibrated constant elasticity of substitution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47A1EAB-0E30-40E3-FF1A-6D37080F7389}"/>
                  </a:ext>
                </a:extLst>
              </p:cNvPr>
              <p:cNvSpPr>
                <a:spLocks noGrp="1"/>
              </p:cNvSpPr>
              <p:nvPr>
                <p:ph idx="1"/>
              </p:nvPr>
            </p:nvSpPr>
            <p:spPr>
              <a:xfrm>
                <a:off x="838200" y="1825625"/>
                <a:ext cx="5997498" cy="4351338"/>
              </a:xfrm>
            </p:spPr>
            <p:txBody>
              <a:bodyPr>
                <a:normAutofit fontScale="70000" lnSpcReduction="20000"/>
              </a:bodyPr>
              <a:lstStyle/>
              <a:p>
                <a:pPr marL="0" indent="0">
                  <a:buNone/>
                </a:pPr>
                <a:r>
                  <a:rPr lang="en-US" dirty="0"/>
                  <a:t>Variables:</a:t>
                </a:r>
              </a:p>
              <a:p>
                <a:pPr marL="0" indent="0">
                  <a:buNone/>
                </a:pP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𝑄</m:t>
                        </m:r>
                      </m:e>
                      <m:sub>
                        <m:r>
                          <a:rPr lang="en-US" b="0" i="1" smtClean="0">
                            <a:latin typeface="Cambria Math" panose="02040503050406030204" pitchFamily="18" charset="0"/>
                          </a:rPr>
                          <m:t>𝑖</m:t>
                        </m:r>
                      </m:sub>
                      <m:sup>
                        <m:r>
                          <a:rPr lang="en-US" b="0" i="1" smtClean="0">
                            <a:latin typeface="Cambria Math" panose="02040503050406030204" pitchFamily="18" charset="0"/>
                          </a:rPr>
                          <m:t>𝑠</m:t>
                        </m:r>
                      </m:sup>
                    </m:sSubSup>
                  </m:oMath>
                </a14:m>
                <a:r>
                  <a:rPr lang="en-US" dirty="0"/>
                  <a:t>: quantity of goods provided</a:t>
                </a:r>
              </a:p>
              <a:p>
                <a:pPr marL="0" indent="0">
                  <a:buNone/>
                </a:pP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𝑄</m:t>
                        </m:r>
                      </m:e>
                      <m:sub>
                        <m:r>
                          <a:rPr lang="en-US" b="0" i="1" smtClean="0">
                            <a:latin typeface="Cambria Math" panose="02040503050406030204" pitchFamily="18" charset="0"/>
                          </a:rPr>
                          <m:t>𝑖</m:t>
                        </m:r>
                      </m:sub>
                      <m:sup>
                        <m:r>
                          <a:rPr lang="en-US" b="0" i="1" smtClean="0">
                            <a:latin typeface="Cambria Math" panose="02040503050406030204" pitchFamily="18" charset="0"/>
                          </a:rPr>
                          <m:t>𝑑</m:t>
                        </m:r>
                      </m:sup>
                    </m:sSubSup>
                  </m:oMath>
                </a14:m>
                <a:r>
                  <a:rPr lang="en-US" dirty="0"/>
                  <a:t>: quantity of goods demanded</a:t>
                </a:r>
              </a:p>
              <a:p>
                <a:pPr marL="0" indent="0">
                  <a:buNone/>
                </a:pPr>
                <a:endParaRPr lang="en-US" dirty="0"/>
              </a:p>
              <a:p>
                <a:pPr marL="0" indent="0">
                  <a:buNone/>
                </a:pPr>
                <a:r>
                  <a:rPr lang="en-US" dirty="0"/>
                  <a:t>Now we’ll say the objective is to maximize utility, using a constant elasticity of substitution function:</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𝑀</m:t>
                            </m:r>
                            <m:r>
                              <a:rPr lang="en-US" i="1">
                                <a:latin typeface="Cambria Math" panose="02040503050406030204" pitchFamily="18" charset="0"/>
                              </a:rPr>
                              <m:t>𝑎𝑥</m:t>
                            </m:r>
                          </m:e>
                        </m:mr>
                        <m:mr>
                          <m:e>
                            <m:r>
                              <a:rPr lang="en-US" i="1">
                                <a:latin typeface="Cambria Math" panose="02040503050406030204" pitchFamily="18" charset="0"/>
                              </a:rPr>
                              <m:t> </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𝑄</m:t>
                                </m:r>
                              </m:e>
                              <m:sub>
                                <m:r>
                                  <a:rPr lang="en-US" b="0" i="1" smtClean="0">
                                    <a:latin typeface="Cambria Math" panose="02040503050406030204" pitchFamily="18" charset="0"/>
                                  </a:rPr>
                                  <m:t>𝑖</m:t>
                                </m:r>
                              </m:sub>
                              <m:sup>
                                <m:r>
                                  <a:rPr lang="en-US" b="0" i="1" smtClean="0">
                                    <a:latin typeface="Cambria Math" panose="02040503050406030204" pitchFamily="18" charset="0"/>
                                  </a:rPr>
                                  <m:t>𝑑</m:t>
                                </m:r>
                              </m:sup>
                            </m:sSubSup>
                          </m:e>
                        </m:mr>
                      </m:m>
                      <m:r>
                        <a:rPr lang="en-US" b="0" i="1" smtClean="0">
                          <a:latin typeface="Cambria Math" panose="02040503050406030204" pitchFamily="18" charset="0"/>
                        </a:rPr>
                        <m:t>𝑈</m:t>
                      </m:r>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𝑈</m:t>
                          </m:r>
                        </m:e>
                      </m:acc>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𝑖</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𝑖</m:t>
                                      </m:r>
                                    </m:sub>
                                  </m:sSub>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𝑄</m:t>
                                                  </m:r>
                                                </m:e>
                                                <m:sub>
                                                  <m:r>
                                                    <a:rPr lang="en-US" b="0" i="1" smtClean="0">
                                                      <a:latin typeface="Cambria Math" panose="02040503050406030204" pitchFamily="18" charset="0"/>
                                                    </a:rPr>
                                                    <m:t>𝑖</m:t>
                                                  </m:r>
                                                </m:sub>
                                                <m:sup>
                                                  <m:r>
                                                    <a:rPr lang="en-US" b="0" i="1" smtClean="0">
                                                      <a:latin typeface="Cambria Math" panose="02040503050406030204" pitchFamily="18" charset="0"/>
                                                    </a:rPr>
                                                    <m:t>𝑑</m:t>
                                                  </m:r>
                                                </m:sup>
                                              </m:sSubSup>
                                            </m:num>
                                            <m:den>
                                              <m:sSubSup>
                                                <m:sSubSupPr>
                                                  <m:ctrlPr>
                                                    <a:rPr lang="en-US" b="0" i="1" smtClean="0">
                                                      <a:latin typeface="Cambria Math" panose="02040503050406030204" pitchFamily="18" charset="0"/>
                                                    </a:rPr>
                                                  </m:ctrlPr>
                                                </m:sSubSup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𝑞</m:t>
                                                      </m:r>
                                                    </m:e>
                                                  </m:acc>
                                                </m:e>
                                                <m:sub>
                                                  <m:r>
                                                    <a:rPr lang="en-US" b="0" i="1" smtClean="0">
                                                      <a:latin typeface="Cambria Math" panose="02040503050406030204" pitchFamily="18" charset="0"/>
                                                    </a:rPr>
                                                    <m:t>𝑖</m:t>
                                                  </m:r>
                                                </m:sub>
                                                <m:sup>
                                                  <m:r>
                                                    <a:rPr lang="en-US" b="0" i="1" smtClean="0">
                                                      <a:latin typeface="Cambria Math" panose="02040503050406030204" pitchFamily="18" charset="0"/>
                                                    </a:rPr>
                                                    <m:t>𝑑</m:t>
                                                  </m:r>
                                                </m:sup>
                                              </m:sSubSup>
                                            </m:den>
                                          </m:f>
                                        </m:e>
                                      </m:d>
                                    </m:e>
                                    <m:sup>
                                      <m:r>
                                        <a:rPr lang="en-US" b="0" i="1" smtClean="0">
                                          <a:latin typeface="Cambria Math" panose="02040503050406030204" pitchFamily="18" charset="0"/>
                                        </a:rPr>
                                        <m:t>𝜌</m:t>
                                      </m:r>
                                    </m:sup>
                                  </m:sSup>
                                </m:e>
                              </m:nary>
                            </m:e>
                          </m:d>
                        </m:e>
                        <m:sup>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𝜌</m:t>
                              </m:r>
                            </m:den>
                          </m:f>
                        </m:sup>
                      </m:sSup>
                    </m:oMath>
                  </m:oMathPara>
                </a14:m>
                <a:endParaRPr lang="en-US" dirty="0"/>
              </a:p>
              <a:p>
                <a:pPr marL="0" indent="0">
                  <a:buNone/>
                </a:pPr>
                <a:r>
                  <a:rPr lang="en-US" dirty="0" err="1"/>
                  <a:t>s.t.</a:t>
                </a:r>
                <a:r>
                  <a:rPr lang="en-US" dirty="0"/>
                  <a:t> income constraint:</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𝐼</m:t>
                      </m:r>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𝑖</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𝑖</m:t>
                              </m:r>
                            </m:sub>
                          </m:sSub>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𝑄</m:t>
                              </m:r>
                            </m:e>
                            <m:sub>
                              <m:r>
                                <a:rPr lang="en-US" b="0" i="1" smtClean="0">
                                  <a:latin typeface="Cambria Math" panose="02040503050406030204" pitchFamily="18" charset="0"/>
                                </a:rPr>
                                <m:t>𝑖</m:t>
                              </m:r>
                            </m:sub>
                            <m:sup>
                              <m:r>
                                <a:rPr lang="en-US" b="0" i="1" smtClean="0">
                                  <a:latin typeface="Cambria Math" panose="02040503050406030204" pitchFamily="18" charset="0"/>
                                </a:rPr>
                                <m:t>𝑑</m:t>
                              </m:r>
                            </m:sup>
                          </m:sSubSup>
                        </m:e>
                      </m:nary>
                    </m:oMath>
                  </m:oMathPara>
                </a14:m>
                <a:endParaRPr lang="en-US" dirty="0"/>
              </a:p>
            </p:txBody>
          </p:sp>
        </mc:Choice>
        <mc:Fallback>
          <p:sp>
            <p:nvSpPr>
              <p:cNvPr id="3" name="Content Placeholder 2">
                <a:extLst>
                  <a:ext uri="{FF2B5EF4-FFF2-40B4-BE49-F238E27FC236}">
                    <a16:creationId xmlns:a16="http://schemas.microsoft.com/office/drawing/2014/main" id="{947A1EAB-0E30-40E3-FF1A-6D37080F7389}"/>
                  </a:ext>
                </a:extLst>
              </p:cNvPr>
              <p:cNvSpPr>
                <a:spLocks noGrp="1" noRot="1" noChangeAspect="1" noMove="1" noResize="1" noEditPoints="1" noAdjustHandles="1" noChangeArrowheads="1" noChangeShapeType="1" noTextEdit="1"/>
              </p:cNvSpPr>
              <p:nvPr>
                <p:ph idx="1"/>
              </p:nvPr>
            </p:nvSpPr>
            <p:spPr>
              <a:xfrm>
                <a:off x="838200" y="1825625"/>
                <a:ext cx="5997498" cy="4351338"/>
              </a:xfrm>
              <a:blipFill>
                <a:blip r:embed="rId2"/>
                <a:stretch>
                  <a:fillRect l="-1268" t="-2035" b="-2936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Content Placeholder 2">
                <a:extLst>
                  <a:ext uri="{FF2B5EF4-FFF2-40B4-BE49-F238E27FC236}">
                    <a16:creationId xmlns:a16="http://schemas.microsoft.com/office/drawing/2014/main" id="{805910C8-6935-B9B7-52E8-52FE0972998A}"/>
                  </a:ext>
                </a:extLst>
              </p:cNvPr>
              <p:cNvSpPr txBox="1">
                <a:spLocks/>
              </p:cNvSpPr>
              <p:nvPr/>
            </p:nvSpPr>
            <p:spPr>
              <a:xfrm>
                <a:off x="7641285" y="4092497"/>
                <a:ext cx="3579543" cy="2515646"/>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Need to only compute </a:t>
                </a: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rPr>
                          <m:t>𝜃</m:t>
                        </m:r>
                      </m:e>
                      <m:sub>
                        <m:r>
                          <a:rPr lang="en-US" i="1" smtClean="0">
                            <a:latin typeface="Cambria Math" panose="02040503050406030204" pitchFamily="18" charset="0"/>
                          </a:rPr>
                          <m:t>𝑖</m:t>
                        </m:r>
                      </m:sub>
                    </m:sSub>
                  </m:oMath>
                </a14:m>
                <a:r>
                  <a:rPr lang="en-US" dirty="0"/>
                  <a:t> </a:t>
                </a:r>
              </a:p>
              <a:p>
                <a:endParaRPr lang="en-US" dirty="0"/>
              </a:p>
              <a:p>
                <a:r>
                  <a:rPr lang="en-US" dirty="0"/>
                  <a:t>Can determine relative weighting such that:</a:t>
                </a:r>
              </a:p>
              <a:p>
                <a:pPr marL="0" indent="0">
                  <a:buFont typeface="Arial" panose="020B0604020202020204" pitchFamily="34" charset="0"/>
                  <a:buNone/>
                </a:pPr>
                <a:endParaRPr lang="en-US" dirty="0"/>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rPr>
                            <m:t>𝜃</m:t>
                          </m:r>
                        </m:e>
                        <m:sub>
                          <m:r>
                            <a:rPr lang="en-US" i="1" smtClean="0">
                              <a:latin typeface="Cambria Math" panose="02040503050406030204" pitchFamily="18" charset="0"/>
                            </a:rPr>
                            <m:t>𝑖</m:t>
                          </m:r>
                        </m:sub>
                      </m:sSub>
                      <m:r>
                        <a:rPr lang="en-US" i="1" smtClean="0">
                          <a:latin typeface="Cambria Math" panose="02040503050406030204" pitchFamily="18" charset="0"/>
                        </a:rPr>
                        <m:t>=</m:t>
                      </m:r>
                      <m:f>
                        <m:fPr>
                          <m:ctrlPr>
                            <a:rPr lang="en-US" i="1" smtClean="0">
                              <a:latin typeface="Cambria Math" panose="02040503050406030204" pitchFamily="18" charset="0"/>
                            </a:rPr>
                          </m:ctrlPr>
                        </m:fPr>
                        <m:num>
                          <m:sSub>
                            <m:sSubPr>
                              <m:ctrlPr>
                                <a:rPr lang="en-US" i="1" smtClean="0">
                                  <a:latin typeface="Cambria Math" panose="02040503050406030204" pitchFamily="18" charset="0"/>
                                </a:rPr>
                              </m:ctrlPr>
                            </m:sSubPr>
                            <m:e>
                              <m:acc>
                                <m:accPr>
                                  <m:chr m:val="̅"/>
                                  <m:ctrlPr>
                                    <a:rPr lang="en-US" i="1" smtClean="0">
                                      <a:latin typeface="Cambria Math" panose="02040503050406030204" pitchFamily="18" charset="0"/>
                                    </a:rPr>
                                  </m:ctrlPr>
                                </m:accPr>
                                <m:e>
                                  <m:r>
                                    <a:rPr lang="en-US" i="1" smtClean="0">
                                      <a:latin typeface="Cambria Math" panose="02040503050406030204" pitchFamily="18" charset="0"/>
                                    </a:rPr>
                                    <m:t>𝑞</m:t>
                                  </m:r>
                                </m:e>
                              </m:acc>
                            </m:e>
                            <m:sub>
                              <m:r>
                                <a:rPr lang="en-US" i="1" smtClean="0">
                                  <a:latin typeface="Cambria Math" panose="02040503050406030204" pitchFamily="18" charset="0"/>
                                </a:rPr>
                                <m:t>𝑖</m:t>
                              </m:r>
                            </m:sub>
                          </m:sSub>
                          <m:sSub>
                            <m:sSubPr>
                              <m:ctrlPr>
                                <a:rPr lang="en-US" i="1" smtClean="0">
                                  <a:latin typeface="Cambria Math" panose="02040503050406030204" pitchFamily="18" charset="0"/>
                                </a:rPr>
                              </m:ctrlPr>
                            </m:sSubPr>
                            <m:e>
                              <m:acc>
                                <m:accPr>
                                  <m:chr m:val="̅"/>
                                  <m:ctrlPr>
                                    <a:rPr lang="en-US" i="1" smtClean="0">
                                      <a:latin typeface="Cambria Math" panose="02040503050406030204" pitchFamily="18" charset="0"/>
                                    </a:rPr>
                                  </m:ctrlPr>
                                </m:accPr>
                                <m:e>
                                  <m:r>
                                    <a:rPr lang="en-US" i="1" smtClean="0">
                                      <a:latin typeface="Cambria Math" panose="02040503050406030204" pitchFamily="18" charset="0"/>
                                    </a:rPr>
                                    <m:t>𝑝</m:t>
                                  </m:r>
                                </m:e>
                              </m:acc>
                            </m:e>
                            <m:sub>
                              <m:r>
                                <a:rPr lang="en-US" i="1" smtClean="0">
                                  <a:latin typeface="Cambria Math" panose="02040503050406030204" pitchFamily="18" charset="0"/>
                                </a:rPr>
                                <m:t>𝑖</m:t>
                              </m:r>
                            </m:sub>
                          </m:sSub>
                        </m:num>
                        <m:den>
                          <m:nary>
                            <m:naryPr>
                              <m:chr m:val="∑"/>
                              <m:supHide m:val="on"/>
                              <m:ctrlPr>
                                <a:rPr lang="en-US" i="1" smtClean="0">
                                  <a:latin typeface="Cambria Math" panose="02040503050406030204" pitchFamily="18" charset="0"/>
                                </a:rPr>
                              </m:ctrlPr>
                            </m:naryPr>
                            <m:sub>
                              <m:r>
                                <a:rPr lang="en-US" i="1" smtClean="0">
                                  <a:latin typeface="Cambria Math" panose="02040503050406030204" pitchFamily="18" charset="0"/>
                                </a:rPr>
                                <m:t>𝑖</m:t>
                              </m:r>
                            </m:sub>
                            <m:sup/>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𝑞</m:t>
                                      </m:r>
                                    </m:e>
                                  </m:acc>
                                </m:e>
                                <m:sub>
                                  <m:r>
                                    <a:rPr lang="en-US" i="1">
                                      <a:latin typeface="Cambria Math" panose="02040503050406030204" pitchFamily="18" charset="0"/>
                                    </a:rPr>
                                    <m:t>𝑖</m:t>
                                  </m:r>
                                </m:sub>
                              </m:sSub>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𝑝</m:t>
                                      </m:r>
                                    </m:e>
                                  </m:acc>
                                </m:e>
                                <m:sub>
                                  <m:r>
                                    <a:rPr lang="en-US" i="1">
                                      <a:latin typeface="Cambria Math" panose="02040503050406030204" pitchFamily="18" charset="0"/>
                                    </a:rPr>
                                    <m:t>𝑖</m:t>
                                  </m:r>
                                </m:sub>
                              </m:sSub>
                              <m:r>
                                <m:rPr>
                                  <m:nor/>
                                </m:rPr>
                                <a:rPr lang="en-US" dirty="0"/>
                                <m:t> </m:t>
                              </m:r>
                            </m:e>
                          </m:nary>
                        </m:den>
                      </m:f>
                    </m:oMath>
                  </m:oMathPara>
                </a14:m>
                <a:endParaRPr lang="en-US" dirty="0"/>
              </a:p>
            </p:txBody>
          </p:sp>
        </mc:Choice>
        <mc:Fallback>
          <p:sp>
            <p:nvSpPr>
              <p:cNvPr id="4" name="Content Placeholder 2">
                <a:extLst>
                  <a:ext uri="{FF2B5EF4-FFF2-40B4-BE49-F238E27FC236}">
                    <a16:creationId xmlns:a16="http://schemas.microsoft.com/office/drawing/2014/main" id="{805910C8-6935-B9B7-52E8-52FE0972998A}"/>
                  </a:ext>
                </a:extLst>
              </p:cNvPr>
              <p:cNvSpPr txBox="1">
                <a:spLocks noRot="1" noChangeAspect="1" noMove="1" noResize="1" noEditPoints="1" noAdjustHandles="1" noChangeArrowheads="1" noChangeShapeType="1" noTextEdit="1"/>
              </p:cNvSpPr>
              <p:nvPr/>
            </p:nvSpPr>
            <p:spPr>
              <a:xfrm>
                <a:off x="7641285" y="4092497"/>
                <a:ext cx="3579543" cy="2515646"/>
              </a:xfrm>
              <a:prstGeom prst="rect">
                <a:avLst/>
              </a:prstGeom>
              <a:blipFill>
                <a:blip r:embed="rId3"/>
                <a:stretch>
                  <a:fillRect l="-1767" t="-5025" b="-23116"/>
                </a:stretch>
              </a:blipFill>
            </p:spPr>
            <p:txBody>
              <a:bodyPr/>
              <a:lstStyle/>
              <a:p>
                <a:r>
                  <a:rPr lang="en-US">
                    <a:noFill/>
                  </a:rPr>
                  <a:t> </a:t>
                </a:r>
              </a:p>
            </p:txBody>
          </p:sp>
        </mc:Fallback>
      </mc:AlternateContent>
      <p:pic>
        <p:nvPicPr>
          <p:cNvPr id="2050" name="Picture 2" descr="HET: Elasticity of Substitution">
            <a:extLst>
              <a:ext uri="{FF2B5EF4-FFF2-40B4-BE49-F238E27FC236}">
                <a16:creationId xmlns:a16="http://schemas.microsoft.com/office/drawing/2014/main" id="{9998A787-579B-FABB-19BD-3F3734E34E0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41285" y="1189638"/>
            <a:ext cx="3286909" cy="26240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52384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21D9F-8258-6343-CBD2-CC8840C783DA}"/>
              </a:ext>
            </a:extLst>
          </p:cNvPr>
          <p:cNvSpPr>
            <a:spLocks noGrp="1"/>
          </p:cNvSpPr>
          <p:nvPr>
            <p:ph type="title"/>
          </p:nvPr>
        </p:nvSpPr>
        <p:spPr/>
        <p:txBody>
          <a:bodyPr/>
          <a:lstStyle/>
          <a:p>
            <a:r>
              <a:rPr lang="en-US" dirty="0"/>
              <a:t>Another way to think about it…</a:t>
            </a:r>
          </a:p>
        </p:txBody>
      </p:sp>
      <p:sp>
        <p:nvSpPr>
          <p:cNvPr id="5" name="TextBox 4">
            <a:extLst>
              <a:ext uri="{FF2B5EF4-FFF2-40B4-BE49-F238E27FC236}">
                <a16:creationId xmlns:a16="http://schemas.microsoft.com/office/drawing/2014/main" id="{D3E17200-9AB9-F229-BFF3-37743BFDDCC1}"/>
              </a:ext>
            </a:extLst>
          </p:cNvPr>
          <p:cNvSpPr txBox="1"/>
          <p:nvPr/>
        </p:nvSpPr>
        <p:spPr>
          <a:xfrm>
            <a:off x="3049073" y="3247553"/>
            <a:ext cx="6098146" cy="369332"/>
          </a:xfrm>
          <a:prstGeom prst="rect">
            <a:avLst/>
          </a:prstGeom>
          <a:noFill/>
        </p:spPr>
        <p:txBody>
          <a:bodyPr wrap="square">
            <a:spAutoFit/>
          </a:bodyPr>
          <a:lstStyle/>
          <a:p>
            <a:r>
              <a:rPr lang="en-US" dirty="0">
                <a:hlinkClick r:id="rId2"/>
              </a:rPr>
              <a:t>https://jgea.org/ojs/index.php/jgea/article/view/178/225</a:t>
            </a:r>
            <a:r>
              <a:rPr lang="en-US" dirty="0"/>
              <a:t> </a:t>
            </a:r>
          </a:p>
        </p:txBody>
      </p:sp>
    </p:spTree>
    <p:extLst>
      <p:ext uri="{BB962C8B-B14F-4D97-AF65-F5344CB8AC3E}">
        <p14:creationId xmlns:p14="http://schemas.microsoft.com/office/powerpoint/2010/main" val="15529435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7B1AB9FE-36F5-4FD1-9850-DB5C5AD482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bandoned gas station and garage at sunset">
            <a:extLst>
              <a:ext uri="{FF2B5EF4-FFF2-40B4-BE49-F238E27FC236}">
                <a16:creationId xmlns:a16="http://schemas.microsoft.com/office/drawing/2014/main" id="{81C96C99-3844-6DE4-28C2-B7B2725D8015}"/>
              </a:ext>
            </a:extLst>
          </p:cNvPr>
          <p:cNvPicPr>
            <a:picLocks noChangeAspect="1"/>
          </p:cNvPicPr>
          <p:nvPr/>
        </p:nvPicPr>
        <p:blipFill>
          <a:blip r:embed="rId2"/>
          <a:srcRect t="6616" b="17113"/>
          <a:stretch>
            <a:fillRect/>
          </a:stretch>
        </p:blipFill>
        <p:spPr>
          <a:xfrm>
            <a:off x="20" y="10"/>
            <a:ext cx="12191979" cy="5486390"/>
          </a:xfrm>
          <a:prstGeom prst="rect">
            <a:avLst/>
          </a:prstGeom>
          <a:effectLst>
            <a:outerShdw blurRad="596900" dist="330200" dir="8820000" sx="87000" sy="87000" algn="ctr" rotWithShape="0">
              <a:srgbClr val="000000">
                <a:alpha val="29000"/>
              </a:srgbClr>
            </a:outerShdw>
          </a:effectLst>
        </p:spPr>
      </p:pic>
      <p:sp useBgFill="1">
        <p:nvSpPr>
          <p:cNvPr id="11" name="Rectangle 10">
            <a:extLst>
              <a:ext uri="{FF2B5EF4-FFF2-40B4-BE49-F238E27FC236}">
                <a16:creationId xmlns:a16="http://schemas.microsoft.com/office/drawing/2014/main" id="{F489C2E0-4895-4B72-85EA-7EE9FAFFDC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486402"/>
            <a:ext cx="12192000" cy="1371598"/>
          </a:xfrm>
          <a:prstGeom prst="rect">
            <a:avLst/>
          </a:prstGeom>
          <a:ln>
            <a:noFill/>
          </a:ln>
          <a:effectLst>
            <a:outerShdw blurRad="254000" dist="114300" dir="20340000" sx="89000" sy="89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FE759A-2F01-C6F3-63CB-3904DEF72671}"/>
              </a:ext>
            </a:extLst>
          </p:cNvPr>
          <p:cNvSpPr>
            <a:spLocks noGrp="1"/>
          </p:cNvSpPr>
          <p:nvPr>
            <p:ph type="title"/>
          </p:nvPr>
        </p:nvSpPr>
        <p:spPr>
          <a:xfrm>
            <a:off x="589556" y="5746071"/>
            <a:ext cx="7015499" cy="852260"/>
          </a:xfrm>
        </p:spPr>
        <p:txBody>
          <a:bodyPr vert="horz" lIns="91440" tIns="45720" rIns="91440" bIns="45720" rtlCol="0" anchor="ctr">
            <a:normAutofit/>
          </a:bodyPr>
          <a:lstStyle/>
          <a:p>
            <a:r>
              <a:rPr lang="en-US" sz="3600" dirty="0"/>
              <a:t>One more example: Gas and Oth</a:t>
            </a:r>
          </a:p>
        </p:txBody>
      </p:sp>
    </p:spTree>
    <p:extLst>
      <p:ext uri="{BB962C8B-B14F-4D97-AF65-F5344CB8AC3E}">
        <p14:creationId xmlns:p14="http://schemas.microsoft.com/office/powerpoint/2010/main" val="16316096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B4867-3795-93EC-DD32-F54ADB0BD6A4}"/>
              </a:ext>
            </a:extLst>
          </p:cNvPr>
          <p:cNvSpPr>
            <a:spLocks noGrp="1"/>
          </p:cNvSpPr>
          <p:nvPr>
            <p:ph type="title"/>
          </p:nvPr>
        </p:nvSpPr>
        <p:spPr/>
        <p:txBody>
          <a:bodyPr/>
          <a:lstStyle/>
          <a:p>
            <a:r>
              <a:rPr lang="en-US" dirty="0"/>
              <a:t>Prompt</a:t>
            </a:r>
          </a:p>
        </p:txBody>
      </p:sp>
      <p:sp>
        <p:nvSpPr>
          <p:cNvPr id="3" name="Content Placeholder 2">
            <a:extLst>
              <a:ext uri="{FF2B5EF4-FFF2-40B4-BE49-F238E27FC236}">
                <a16:creationId xmlns:a16="http://schemas.microsoft.com/office/drawing/2014/main" id="{2F0F0DA6-85EA-89F0-7440-78274C421BD0}"/>
              </a:ext>
            </a:extLst>
          </p:cNvPr>
          <p:cNvSpPr>
            <a:spLocks noGrp="1"/>
          </p:cNvSpPr>
          <p:nvPr>
            <p:ph idx="1"/>
          </p:nvPr>
        </p:nvSpPr>
        <p:spPr/>
        <p:txBody>
          <a:bodyPr/>
          <a:lstStyle/>
          <a:p>
            <a:r>
              <a:rPr lang="en-US" dirty="0"/>
              <a:t>Pretend the US operates in a global, perfectly-competitive natural gas market (everyone play nicely, </a:t>
            </a:r>
            <a:r>
              <a:rPr lang="en-US" dirty="0" err="1"/>
              <a:t>etc</a:t>
            </a:r>
            <a:r>
              <a:rPr lang="en-US" dirty="0"/>
              <a:t> </a:t>
            </a:r>
            <a:r>
              <a:rPr lang="en-US" dirty="0" err="1"/>
              <a:t>etc</a:t>
            </a:r>
            <a:r>
              <a:rPr lang="en-US" dirty="0"/>
              <a:t>)</a:t>
            </a:r>
          </a:p>
          <a:p>
            <a:r>
              <a:rPr lang="en-US" dirty="0"/>
              <a:t>It substitutes between gas and all other energy products (OTH)</a:t>
            </a:r>
          </a:p>
          <a:p>
            <a:r>
              <a:rPr lang="en-US" dirty="0"/>
              <a:t>Right now..</a:t>
            </a:r>
          </a:p>
          <a:p>
            <a:endParaRPr lang="en-US" dirty="0"/>
          </a:p>
          <a:p>
            <a:pPr lvl="1"/>
            <a:endParaRPr lang="en-US" dirty="0"/>
          </a:p>
        </p:txBody>
      </p:sp>
      <p:graphicFrame>
        <p:nvGraphicFramePr>
          <p:cNvPr id="4" name="Table 3">
            <a:extLst>
              <a:ext uri="{FF2B5EF4-FFF2-40B4-BE49-F238E27FC236}">
                <a16:creationId xmlns:a16="http://schemas.microsoft.com/office/drawing/2014/main" id="{8B83DD15-1E3A-C3CD-99F4-057CC4F5460C}"/>
              </a:ext>
            </a:extLst>
          </p:cNvPr>
          <p:cNvGraphicFramePr>
            <a:graphicFrameLocks noGrp="1"/>
          </p:cNvGraphicFramePr>
          <p:nvPr>
            <p:extLst>
              <p:ext uri="{D42A27DB-BD31-4B8C-83A1-F6EECF244321}">
                <p14:modId xmlns:p14="http://schemas.microsoft.com/office/powerpoint/2010/main" val="2341588046"/>
              </p:ext>
            </p:extLst>
          </p:nvPr>
        </p:nvGraphicFramePr>
        <p:xfrm>
          <a:off x="2032000" y="3819705"/>
          <a:ext cx="8128000" cy="185420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1444743967"/>
                    </a:ext>
                  </a:extLst>
                </a:gridCol>
                <a:gridCol w="2032000">
                  <a:extLst>
                    <a:ext uri="{9D8B030D-6E8A-4147-A177-3AD203B41FA5}">
                      <a16:colId xmlns:a16="http://schemas.microsoft.com/office/drawing/2014/main" val="1924834779"/>
                    </a:ext>
                  </a:extLst>
                </a:gridCol>
                <a:gridCol w="2032000">
                  <a:extLst>
                    <a:ext uri="{9D8B030D-6E8A-4147-A177-3AD203B41FA5}">
                      <a16:colId xmlns:a16="http://schemas.microsoft.com/office/drawing/2014/main" val="3686663235"/>
                    </a:ext>
                  </a:extLst>
                </a:gridCol>
                <a:gridCol w="2032000">
                  <a:extLst>
                    <a:ext uri="{9D8B030D-6E8A-4147-A177-3AD203B41FA5}">
                      <a16:colId xmlns:a16="http://schemas.microsoft.com/office/drawing/2014/main" val="2905285539"/>
                    </a:ext>
                  </a:extLst>
                </a:gridCol>
              </a:tblGrid>
              <a:tr h="370840">
                <a:tc>
                  <a:txBody>
                    <a:bodyPr/>
                    <a:lstStyle/>
                    <a:p>
                      <a:r>
                        <a:rPr lang="en-US" dirty="0"/>
                        <a:t>Region\Variable</a:t>
                      </a:r>
                    </a:p>
                  </a:txBody>
                  <a:tcPr/>
                </a:tc>
                <a:tc>
                  <a:txBody>
                    <a:bodyPr/>
                    <a:lstStyle/>
                    <a:p>
                      <a:r>
                        <a:rPr lang="en-US" dirty="0"/>
                        <a:t>Product</a:t>
                      </a:r>
                    </a:p>
                  </a:txBody>
                  <a:tcPr/>
                </a:tc>
                <a:tc>
                  <a:txBody>
                    <a:bodyPr/>
                    <a:lstStyle/>
                    <a:p>
                      <a:r>
                        <a:rPr lang="en-US" dirty="0"/>
                        <a:t>Consumption</a:t>
                      </a:r>
                    </a:p>
                  </a:txBody>
                  <a:tcPr/>
                </a:tc>
                <a:tc>
                  <a:txBody>
                    <a:bodyPr/>
                    <a:lstStyle/>
                    <a:p>
                      <a:r>
                        <a:rPr lang="en-US" dirty="0"/>
                        <a:t>Production</a:t>
                      </a:r>
                    </a:p>
                  </a:txBody>
                  <a:tcPr/>
                </a:tc>
                <a:extLst>
                  <a:ext uri="{0D108BD9-81ED-4DB2-BD59-A6C34878D82A}">
                    <a16:rowId xmlns:a16="http://schemas.microsoft.com/office/drawing/2014/main" val="3043636472"/>
                  </a:ext>
                </a:extLst>
              </a:tr>
              <a:tr h="370840">
                <a:tc>
                  <a:txBody>
                    <a:bodyPr/>
                    <a:lstStyle/>
                    <a:p>
                      <a:r>
                        <a:rPr lang="en-US" dirty="0"/>
                        <a:t>US </a:t>
                      </a:r>
                    </a:p>
                  </a:txBody>
                  <a:tcPr/>
                </a:tc>
                <a:tc>
                  <a:txBody>
                    <a:bodyPr/>
                    <a:lstStyle/>
                    <a:p>
                      <a:r>
                        <a:rPr lang="en-US" dirty="0"/>
                        <a:t>Gas</a:t>
                      </a:r>
                    </a:p>
                  </a:txBody>
                  <a:tcPr/>
                </a:tc>
                <a:tc>
                  <a:txBody>
                    <a:bodyPr/>
                    <a:lstStyle/>
                    <a:p>
                      <a:r>
                        <a:rPr lang="en-US" dirty="0"/>
                        <a:t>28</a:t>
                      </a:r>
                    </a:p>
                  </a:txBody>
                  <a:tcPr/>
                </a:tc>
                <a:tc>
                  <a:txBody>
                    <a:bodyPr/>
                    <a:lstStyle/>
                    <a:p>
                      <a:r>
                        <a:rPr lang="en-US" dirty="0"/>
                        <a:t>32</a:t>
                      </a:r>
                    </a:p>
                  </a:txBody>
                  <a:tcPr/>
                </a:tc>
                <a:extLst>
                  <a:ext uri="{0D108BD9-81ED-4DB2-BD59-A6C34878D82A}">
                    <a16:rowId xmlns:a16="http://schemas.microsoft.com/office/drawing/2014/main" val="3947287616"/>
                  </a:ext>
                </a:extLst>
              </a:tr>
              <a:tr h="370840">
                <a:tc>
                  <a:txBody>
                    <a:bodyPr/>
                    <a:lstStyle/>
                    <a:p>
                      <a:r>
                        <a:rPr lang="en-US" dirty="0"/>
                        <a:t>ROW </a:t>
                      </a:r>
                    </a:p>
                  </a:txBody>
                  <a:tcPr/>
                </a:tc>
                <a:tc>
                  <a:txBody>
                    <a:bodyPr/>
                    <a:lstStyle/>
                    <a:p>
                      <a:r>
                        <a:rPr lang="en-US" dirty="0"/>
                        <a:t>Gas</a:t>
                      </a:r>
                    </a:p>
                  </a:txBody>
                  <a:tcPr/>
                </a:tc>
                <a:tc>
                  <a:txBody>
                    <a:bodyPr/>
                    <a:lstStyle/>
                    <a:p>
                      <a:r>
                        <a:rPr lang="en-US" dirty="0"/>
                        <a:t>73</a:t>
                      </a:r>
                    </a:p>
                  </a:txBody>
                  <a:tcPr/>
                </a:tc>
                <a:tc>
                  <a:txBody>
                    <a:bodyPr/>
                    <a:lstStyle/>
                    <a:p>
                      <a:r>
                        <a:rPr lang="en-US" dirty="0"/>
                        <a:t>69</a:t>
                      </a:r>
                    </a:p>
                  </a:txBody>
                  <a:tcPr/>
                </a:tc>
                <a:extLst>
                  <a:ext uri="{0D108BD9-81ED-4DB2-BD59-A6C34878D82A}">
                    <a16:rowId xmlns:a16="http://schemas.microsoft.com/office/drawing/2014/main" val="3550107344"/>
                  </a:ext>
                </a:extLst>
              </a:tr>
              <a:tr h="370840">
                <a:tc>
                  <a:txBody>
                    <a:bodyPr/>
                    <a:lstStyle/>
                    <a:p>
                      <a:r>
                        <a:rPr lang="en-US" dirty="0"/>
                        <a:t>US</a:t>
                      </a:r>
                    </a:p>
                  </a:txBody>
                  <a:tcPr/>
                </a:tc>
                <a:tc>
                  <a:txBody>
                    <a:bodyPr/>
                    <a:lstStyle/>
                    <a:p>
                      <a:r>
                        <a:rPr lang="en-US" dirty="0"/>
                        <a:t>Oth</a:t>
                      </a:r>
                    </a:p>
                  </a:txBody>
                  <a:tcPr/>
                </a:tc>
                <a:tc>
                  <a:txBody>
                    <a:bodyPr/>
                    <a:lstStyle/>
                    <a:p>
                      <a:r>
                        <a:rPr lang="en-US" dirty="0"/>
                        <a:t>70</a:t>
                      </a:r>
                    </a:p>
                  </a:txBody>
                  <a:tcPr/>
                </a:tc>
                <a:tc>
                  <a:txBody>
                    <a:bodyPr/>
                    <a:lstStyle/>
                    <a:p>
                      <a:r>
                        <a:rPr lang="en-US" dirty="0"/>
                        <a:t>70</a:t>
                      </a:r>
                    </a:p>
                  </a:txBody>
                  <a:tcPr/>
                </a:tc>
                <a:extLst>
                  <a:ext uri="{0D108BD9-81ED-4DB2-BD59-A6C34878D82A}">
                    <a16:rowId xmlns:a16="http://schemas.microsoft.com/office/drawing/2014/main" val="2805212847"/>
                  </a:ext>
                </a:extLst>
              </a:tr>
              <a:tr h="370840">
                <a:tc>
                  <a:txBody>
                    <a:bodyPr/>
                    <a:lstStyle/>
                    <a:p>
                      <a:r>
                        <a:rPr lang="en-US" dirty="0"/>
                        <a:t>ROW </a:t>
                      </a:r>
                    </a:p>
                  </a:txBody>
                  <a:tcPr/>
                </a:tc>
                <a:tc>
                  <a:txBody>
                    <a:bodyPr/>
                    <a:lstStyle/>
                    <a:p>
                      <a:r>
                        <a:rPr lang="en-US" dirty="0"/>
                        <a:t>Oth</a:t>
                      </a:r>
                    </a:p>
                  </a:txBody>
                  <a:tcPr/>
                </a:tc>
                <a:tc>
                  <a:txBody>
                    <a:bodyPr/>
                    <a:lstStyle/>
                    <a:p>
                      <a:r>
                        <a:rPr lang="en-US" dirty="0"/>
                        <a:t>215</a:t>
                      </a:r>
                    </a:p>
                  </a:txBody>
                  <a:tcPr/>
                </a:tc>
                <a:tc>
                  <a:txBody>
                    <a:bodyPr/>
                    <a:lstStyle/>
                    <a:p>
                      <a:r>
                        <a:rPr lang="en-US" dirty="0"/>
                        <a:t>215</a:t>
                      </a:r>
                    </a:p>
                  </a:txBody>
                  <a:tcPr/>
                </a:tc>
                <a:extLst>
                  <a:ext uri="{0D108BD9-81ED-4DB2-BD59-A6C34878D82A}">
                    <a16:rowId xmlns:a16="http://schemas.microsoft.com/office/drawing/2014/main" val="1136231086"/>
                  </a:ext>
                </a:extLst>
              </a:tr>
            </a:tbl>
          </a:graphicData>
        </a:graphic>
      </p:graphicFrame>
    </p:spTree>
    <p:extLst>
      <p:ext uri="{BB962C8B-B14F-4D97-AF65-F5344CB8AC3E}">
        <p14:creationId xmlns:p14="http://schemas.microsoft.com/office/powerpoint/2010/main" val="15798768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15AE6-9534-89D1-7C2B-773FF6F020AE}"/>
              </a:ext>
            </a:extLst>
          </p:cNvPr>
          <p:cNvSpPr>
            <a:spLocks noGrp="1"/>
          </p:cNvSpPr>
          <p:nvPr>
            <p:ph type="title"/>
          </p:nvPr>
        </p:nvSpPr>
        <p:spPr/>
        <p:txBody>
          <a:bodyPr/>
          <a:lstStyle/>
          <a:p>
            <a:r>
              <a:rPr lang="en-US" dirty="0"/>
              <a:t>A global gas/energy model…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AEA5239-E1EA-96A6-E24A-44F558DC592B}"/>
                  </a:ext>
                </a:extLst>
              </p:cNvPr>
              <p:cNvSpPr>
                <a:spLocks noGrp="1"/>
              </p:cNvSpPr>
              <p:nvPr>
                <p:ph idx="1"/>
              </p:nvPr>
            </p:nvSpPr>
            <p:spPr>
              <a:xfrm>
                <a:off x="208808" y="1690688"/>
                <a:ext cx="10515600" cy="4351338"/>
              </a:xfrm>
            </p:spPr>
            <p:txBody>
              <a:bodyPr>
                <a:normAutofit fontScale="92500" lnSpcReduction="20000"/>
              </a:bodyPr>
              <a:lstStyle/>
              <a:p>
                <a:pPr marL="0" indent="0">
                  <a:buNone/>
                </a:pPr>
                <a:r>
                  <a:rPr lang="en-US" dirty="0"/>
                  <a:t>Indices:</a:t>
                </a:r>
              </a:p>
              <a:p>
                <a:pPr marL="0" indent="0">
                  <a:buNone/>
                </a:pPr>
                <a14:m>
                  <m:oMath xmlns:m="http://schemas.openxmlformats.org/officeDocument/2006/math">
                    <m:r>
                      <a:rPr lang="en-US" b="0" i="1" smtClean="0">
                        <a:latin typeface="Cambria Math" panose="02040503050406030204" pitchFamily="18" charset="0"/>
                      </a:rPr>
                      <m:t>𝑖</m:t>
                    </m:r>
                  </m:oMath>
                </a14:m>
                <a:r>
                  <a:rPr lang="en-US" dirty="0"/>
                  <a:t>: energy good, </a:t>
                </a:r>
                <a14:m>
                  <m:oMath xmlns:m="http://schemas.openxmlformats.org/officeDocument/2006/math">
                    <m:r>
                      <a:rPr lang="en-US" b="0" i="1" smtClean="0">
                        <a:latin typeface="Cambria Math" panose="02040503050406030204" pitchFamily="18" charset="0"/>
                      </a:rPr>
                      <m:t>𝑖</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𝑔𝑎𝑠</m:t>
                        </m:r>
                        <m:r>
                          <a:rPr lang="en-US" b="0" i="1" smtClean="0">
                            <a:latin typeface="Cambria Math" panose="02040503050406030204" pitchFamily="18" charset="0"/>
                          </a:rPr>
                          <m:t>,</m:t>
                        </m:r>
                        <m:r>
                          <a:rPr lang="en-US" b="0" i="1" smtClean="0">
                            <a:latin typeface="Cambria Math" panose="02040503050406030204" pitchFamily="18" charset="0"/>
                          </a:rPr>
                          <m:t>𝑜𝑡h𝑒𝑟</m:t>
                        </m:r>
                      </m:e>
                    </m:d>
                  </m:oMath>
                </a14:m>
                <a:endParaRPr lang="en-US" b="0" dirty="0"/>
              </a:p>
              <a:p>
                <a:pPr marL="0" indent="0">
                  <a:buNone/>
                </a:pPr>
                <a14:m>
                  <m:oMath xmlns:m="http://schemas.openxmlformats.org/officeDocument/2006/math">
                    <m:r>
                      <a:rPr lang="en-US" b="0" i="1" smtClean="0">
                        <a:latin typeface="Cambria Math" panose="02040503050406030204" pitchFamily="18" charset="0"/>
                      </a:rPr>
                      <m:t>𝑟</m:t>
                    </m:r>
                  </m:oMath>
                </a14:m>
                <a:r>
                  <a:rPr lang="en-US" dirty="0"/>
                  <a:t>: region, </a:t>
                </a:r>
                <a14:m>
                  <m:oMath xmlns:m="http://schemas.openxmlformats.org/officeDocument/2006/math">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𝑢𝑠</m:t>
                    </m:r>
                    <m:r>
                      <a:rPr lang="en-US" b="0" i="1" smtClean="0">
                        <a:latin typeface="Cambria Math" panose="02040503050406030204" pitchFamily="18" charset="0"/>
                      </a:rPr>
                      <m:t>, </m:t>
                    </m:r>
                    <m:r>
                      <a:rPr lang="en-US" b="0" i="1" smtClean="0">
                        <a:latin typeface="Cambria Math" panose="02040503050406030204" pitchFamily="18" charset="0"/>
                      </a:rPr>
                      <m:t>𝑟𝑜𝑤</m:t>
                    </m:r>
                    <m:r>
                      <a:rPr lang="en-US" b="0" i="1" smtClean="0">
                        <a:latin typeface="Cambria Math" panose="02040503050406030204" pitchFamily="18" charset="0"/>
                      </a:rPr>
                      <m:t>}</m:t>
                    </m:r>
                  </m:oMath>
                </a14:m>
                <a:endParaRPr lang="en-US" dirty="0"/>
              </a:p>
              <a:p>
                <a:pPr marL="0" indent="0">
                  <a:buNone/>
                </a:pPr>
                <a:endParaRPr lang="en-US" dirty="0"/>
              </a:p>
              <a:p>
                <a:pPr marL="0" indent="0">
                  <a:buNone/>
                </a:pPr>
                <a:r>
                  <a:rPr lang="en-US" dirty="0"/>
                  <a:t>Parameters:</a:t>
                </a:r>
              </a:p>
              <a:p>
                <a:pPr marL="0" indent="0">
                  <a:buNone/>
                </a:pPr>
                <a14:m>
                  <m:oMath xmlns:m="http://schemas.openxmlformats.org/officeDocument/2006/math">
                    <m:sSubSup>
                      <m:sSubSupPr>
                        <m:ctrlPr>
                          <a:rPr lang="en-US" b="0" i="1" dirty="0" smtClean="0">
                            <a:latin typeface="Cambria Math" panose="02040503050406030204" pitchFamily="18" charset="0"/>
                          </a:rPr>
                        </m:ctrlPr>
                      </m:sSubSup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𝑞</m:t>
                            </m:r>
                          </m:e>
                        </m:acc>
                      </m:e>
                      <m:sub>
                        <m:r>
                          <a:rPr lang="en-US" b="0" i="1" dirty="0" smtClean="0">
                            <a:latin typeface="Cambria Math" panose="02040503050406030204" pitchFamily="18" charset="0"/>
                          </a:rPr>
                          <m:t>𝑖</m:t>
                        </m:r>
                        <m:r>
                          <a:rPr lang="en-US" b="0" i="1" dirty="0" smtClean="0">
                            <a:latin typeface="Cambria Math" panose="02040503050406030204" pitchFamily="18" charset="0"/>
                          </a:rPr>
                          <m:t>,</m:t>
                        </m:r>
                        <m:r>
                          <a:rPr lang="en-US" b="0" i="1" dirty="0" smtClean="0">
                            <a:latin typeface="Cambria Math" panose="02040503050406030204" pitchFamily="18" charset="0"/>
                          </a:rPr>
                          <m:t>𝑟</m:t>
                        </m:r>
                      </m:sub>
                      <m:sup>
                        <m:r>
                          <a:rPr lang="en-US" b="0" i="1" dirty="0" smtClean="0">
                            <a:latin typeface="Cambria Math" panose="02040503050406030204" pitchFamily="18" charset="0"/>
                          </a:rPr>
                          <m:t>𝑐</m:t>
                        </m:r>
                      </m:sup>
                    </m:sSubSup>
                  </m:oMath>
                </a14:m>
                <a:r>
                  <a:rPr lang="en-US" dirty="0"/>
                  <a:t>: reference consumption (</a:t>
                </a:r>
                <a:r>
                  <a:rPr lang="en-US" dirty="0" err="1"/>
                  <a:t>mmbtu</a:t>
                </a:r>
                <a:r>
                  <a:rPr lang="en-US" dirty="0"/>
                  <a:t>)</a:t>
                </a:r>
              </a:p>
              <a:p>
                <a:pPr marL="0" indent="0">
                  <a:buNone/>
                </a:pPr>
                <a14:m>
                  <m:oMath xmlns:m="http://schemas.openxmlformats.org/officeDocument/2006/math">
                    <m:sSubSup>
                      <m:sSubSupPr>
                        <m:ctrlPr>
                          <a:rPr lang="en-US" b="0" i="1" dirty="0" smtClean="0">
                            <a:latin typeface="Cambria Math" panose="02040503050406030204" pitchFamily="18" charset="0"/>
                          </a:rPr>
                        </m:ctrlPr>
                      </m:sSubSup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𝑞</m:t>
                            </m:r>
                          </m:e>
                        </m:acc>
                      </m:e>
                      <m:sub>
                        <m:r>
                          <a:rPr lang="en-US" b="0" i="1" dirty="0" smtClean="0">
                            <a:latin typeface="Cambria Math" panose="02040503050406030204" pitchFamily="18" charset="0"/>
                          </a:rPr>
                          <m:t>𝑖</m:t>
                        </m:r>
                        <m:r>
                          <a:rPr lang="en-US" b="0" i="1" dirty="0" smtClean="0">
                            <a:latin typeface="Cambria Math" panose="02040503050406030204" pitchFamily="18" charset="0"/>
                          </a:rPr>
                          <m:t>,</m:t>
                        </m:r>
                        <m:r>
                          <a:rPr lang="en-US" b="0" i="1" dirty="0" smtClean="0">
                            <a:latin typeface="Cambria Math" panose="02040503050406030204" pitchFamily="18" charset="0"/>
                          </a:rPr>
                          <m:t>𝑟</m:t>
                        </m:r>
                      </m:sub>
                      <m:sup>
                        <m:r>
                          <a:rPr lang="en-US" b="0" i="1" dirty="0" smtClean="0">
                            <a:latin typeface="Cambria Math" panose="02040503050406030204" pitchFamily="18" charset="0"/>
                          </a:rPr>
                          <m:t>𝑝</m:t>
                        </m:r>
                      </m:sup>
                    </m:sSubSup>
                  </m:oMath>
                </a14:m>
                <a:r>
                  <a:rPr lang="en-US" dirty="0"/>
                  <a:t>: reference production (</a:t>
                </a:r>
                <a:r>
                  <a:rPr lang="en-US" dirty="0" err="1"/>
                  <a:t>mmbtu</a:t>
                </a:r>
                <a:r>
                  <a:rPr lang="en-US" dirty="0"/>
                  <a:t>)</a:t>
                </a:r>
              </a:p>
              <a:p>
                <a:pPr marL="0" indent="0">
                  <a:buNone/>
                </a:pPr>
                <a14:m>
                  <m:oMath xmlns:m="http://schemas.openxmlformats.org/officeDocument/2006/math">
                    <m:sSub>
                      <m:sSubPr>
                        <m:ctrlPr>
                          <a:rPr lang="en-US" b="0" i="1" dirty="0"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𝑝</m:t>
                            </m:r>
                          </m:e>
                        </m:acc>
                      </m:e>
                      <m:sub>
                        <m:r>
                          <a:rPr lang="en-US" b="0" i="1" dirty="0" smtClean="0">
                            <a:latin typeface="Cambria Math" panose="02040503050406030204" pitchFamily="18" charset="0"/>
                          </a:rPr>
                          <m:t>𝑖</m:t>
                        </m:r>
                        <m:r>
                          <a:rPr lang="en-US" b="0" i="1" dirty="0" smtClean="0">
                            <a:latin typeface="Cambria Math" panose="02040503050406030204" pitchFamily="18" charset="0"/>
                          </a:rPr>
                          <m:t>,</m:t>
                        </m:r>
                        <m:r>
                          <a:rPr lang="en-US" b="0" i="1" dirty="0" smtClean="0">
                            <a:latin typeface="Cambria Math" panose="02040503050406030204" pitchFamily="18" charset="0"/>
                          </a:rPr>
                          <m:t>𝑟</m:t>
                        </m:r>
                      </m:sub>
                    </m:sSub>
                  </m:oMath>
                </a14:m>
                <a:r>
                  <a:rPr lang="en-US" dirty="0"/>
                  <a:t>: reference price ($ / </a:t>
                </a:r>
                <a:r>
                  <a:rPr lang="en-US" dirty="0" err="1"/>
                  <a:t>mmbtu</a:t>
                </a:r>
                <a:r>
                  <a:rPr lang="en-US" dirty="0"/>
                  <a:t>)</a:t>
                </a:r>
              </a:p>
              <a:p>
                <a:pPr marL="0" indent="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𝛼</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𝑟</m:t>
                        </m:r>
                      </m:sub>
                    </m:sSub>
                  </m:oMath>
                </a14:m>
                <a:r>
                  <a:rPr lang="en-US" dirty="0"/>
                  <a:t>: supply curve intercept</a:t>
                </a:r>
              </a:p>
              <a:p>
                <a:pPr marL="0" indent="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𝑟</m:t>
                        </m:r>
                      </m:sub>
                    </m:sSub>
                  </m:oMath>
                </a14:m>
                <a:r>
                  <a:rPr lang="en-US" dirty="0"/>
                  <a:t>: supply curve slope </a:t>
                </a:r>
              </a:p>
            </p:txBody>
          </p:sp>
        </mc:Choice>
        <mc:Fallback xmlns="">
          <p:sp>
            <p:nvSpPr>
              <p:cNvPr id="3" name="Content Placeholder 2">
                <a:extLst>
                  <a:ext uri="{FF2B5EF4-FFF2-40B4-BE49-F238E27FC236}">
                    <a16:creationId xmlns:a16="http://schemas.microsoft.com/office/drawing/2014/main" id="{1AEA5239-E1EA-96A6-E24A-44F558DC592B}"/>
                  </a:ext>
                </a:extLst>
              </p:cNvPr>
              <p:cNvSpPr>
                <a:spLocks noGrp="1" noRot="1" noChangeAspect="1" noMove="1" noResize="1" noEditPoints="1" noAdjustHandles="1" noChangeArrowheads="1" noChangeShapeType="1" noTextEdit="1"/>
              </p:cNvSpPr>
              <p:nvPr>
                <p:ph idx="1"/>
              </p:nvPr>
            </p:nvSpPr>
            <p:spPr>
              <a:xfrm>
                <a:off x="208808" y="1690688"/>
                <a:ext cx="10515600" cy="4351338"/>
              </a:xfrm>
              <a:blipFill>
                <a:blip r:embed="rId2"/>
                <a:stretch>
                  <a:fillRect l="-1086" t="-348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82A9551-E51E-B3BB-63C5-9D496017E917}"/>
                  </a:ext>
                </a:extLst>
              </p:cNvPr>
              <p:cNvSpPr txBox="1"/>
              <p:nvPr/>
            </p:nvSpPr>
            <p:spPr>
              <a:xfrm>
                <a:off x="5649686" y="3551067"/>
                <a:ext cx="6542314" cy="2377767"/>
              </a:xfrm>
              <a:prstGeom prst="rect">
                <a:avLst/>
              </a:prstGeom>
              <a:noFill/>
            </p:spPr>
            <p:txBody>
              <a:bodyPr wrap="square">
                <a:spAutoFit/>
              </a:bodyPr>
              <a:lstStyle/>
              <a:p>
                <a:pPr marL="0" indent="0">
                  <a:buNone/>
                </a:pP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𝜃</m:t>
                        </m:r>
                      </m:e>
                      <m:sub>
                        <m:r>
                          <a:rPr lang="en-US" sz="2400" b="0" i="1" smtClean="0">
                            <a:latin typeface="Cambria Math" panose="02040503050406030204" pitchFamily="18" charset="0"/>
                          </a:rPr>
                          <m:t>𝑖</m:t>
                        </m:r>
                        <m:r>
                          <a:rPr lang="en-US" sz="2400" b="0" i="1" smtClean="0">
                            <a:latin typeface="Cambria Math" panose="02040503050406030204" pitchFamily="18" charset="0"/>
                          </a:rPr>
                          <m:t>,</m:t>
                        </m:r>
                        <m:r>
                          <a:rPr lang="en-US" sz="2400" b="0" i="1" smtClean="0">
                            <a:latin typeface="Cambria Math" panose="02040503050406030204" pitchFamily="18" charset="0"/>
                          </a:rPr>
                          <m:t>𝑟</m:t>
                        </m:r>
                      </m:sub>
                    </m:sSub>
                  </m:oMath>
                </a14:m>
                <a:r>
                  <a:rPr lang="en-US" sz="2400" dirty="0"/>
                  <a:t>: reference share spent on </a:t>
                </a:r>
                <a14:m>
                  <m:oMath xmlns:m="http://schemas.openxmlformats.org/officeDocument/2006/math">
                    <m:r>
                      <a:rPr lang="en-US" sz="2400" b="0" i="1" smtClean="0">
                        <a:latin typeface="Cambria Math" panose="02040503050406030204" pitchFamily="18" charset="0"/>
                      </a:rPr>
                      <m:t>𝑖</m:t>
                    </m:r>
                  </m:oMath>
                </a14:m>
                <a:r>
                  <a:rPr lang="en-US" sz="2400" dirty="0"/>
                  <a:t> in </a:t>
                </a:r>
                <a14:m>
                  <m:oMath xmlns:m="http://schemas.openxmlformats.org/officeDocument/2006/math">
                    <m:r>
                      <a:rPr lang="en-US" sz="2400" b="0" i="1" smtClean="0">
                        <a:latin typeface="Cambria Math" panose="02040503050406030204" pitchFamily="18" charset="0"/>
                      </a:rPr>
                      <m:t>𝑟</m:t>
                    </m:r>
                  </m:oMath>
                </a14:m>
                <a:r>
                  <a:rPr lang="en-US" sz="2400" b="0" dirty="0"/>
                  <a:t> (%)</a:t>
                </a:r>
              </a:p>
              <a:p>
                <a:pPr marL="0" indent="0">
                  <a:buNone/>
                </a:pPr>
                <a14:m>
                  <m:oMath xmlns:m="http://schemas.openxmlformats.org/officeDocument/2006/math">
                    <m:sSub>
                      <m:sSubPr>
                        <m:ctrlPr>
                          <a:rPr lang="en-US" sz="2400" b="0" i="1" dirty="0" smtClean="0">
                            <a:latin typeface="Cambria Math" panose="02040503050406030204" pitchFamily="18" charset="0"/>
                          </a:rPr>
                        </m:ctrlPr>
                      </m:sSubPr>
                      <m:e>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𝑏</m:t>
                            </m:r>
                          </m:e>
                        </m:acc>
                      </m:e>
                      <m:sub>
                        <m:r>
                          <a:rPr lang="en-US" sz="2400" b="0" i="1" smtClean="0">
                            <a:latin typeface="Cambria Math" panose="02040503050406030204" pitchFamily="18" charset="0"/>
                          </a:rPr>
                          <m:t>𝑟</m:t>
                        </m:r>
                      </m:sub>
                    </m:sSub>
                  </m:oMath>
                </a14:m>
                <a:r>
                  <a:rPr lang="en-US" sz="2400" dirty="0"/>
                  <a:t>: reference budget for energy goods ($’s)</a:t>
                </a:r>
              </a:p>
              <a:p>
                <a:pPr marL="0" indent="0">
                  <a:buNone/>
                </a:pPr>
                <a14:m>
                  <m:oMath xmlns:m="http://schemas.openxmlformats.org/officeDocument/2006/math">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𝐵</m:t>
                        </m:r>
                      </m:e>
                    </m:acc>
                  </m:oMath>
                </a14:m>
                <a:r>
                  <a:rPr lang="en-US" sz="2400" dirty="0"/>
                  <a:t>: reference global budget for energy goods ($’s)</a:t>
                </a:r>
              </a:p>
              <a:p>
                <a:pPr marL="0" indent="0">
                  <a:buNone/>
                </a:pPr>
                <a14:m>
                  <m:oMath xmlns:m="http://schemas.openxmlformats.org/officeDocument/2006/math">
                    <m:r>
                      <a:rPr lang="en-US" sz="2400" b="0" i="1" smtClean="0">
                        <a:latin typeface="Cambria Math" panose="02040503050406030204" pitchFamily="18" charset="0"/>
                      </a:rPr>
                      <m:t>𝜌</m:t>
                    </m:r>
                  </m:oMath>
                </a14:m>
                <a:r>
                  <a:rPr lang="en-US" sz="2400" dirty="0"/>
                  <a:t>: elasticity of substitution</a:t>
                </a:r>
              </a:p>
              <a:p>
                <a:pPr marL="0" indent="0">
                  <a:buNone/>
                </a:pP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𝛾</m:t>
                        </m:r>
                      </m:e>
                      <m:sub>
                        <m:r>
                          <a:rPr lang="en-US" sz="2400" b="0" i="1" smtClean="0">
                            <a:latin typeface="Cambria Math" panose="02040503050406030204" pitchFamily="18" charset="0"/>
                          </a:rPr>
                          <m:t>𝑟</m:t>
                        </m:r>
                      </m:sub>
                    </m:sSub>
                  </m:oMath>
                </a14:m>
                <a:r>
                  <a:rPr lang="en-US" sz="2400" dirty="0"/>
                  <a:t>: reference share of total budget (%)</a:t>
                </a:r>
              </a:p>
              <a:p>
                <a:pPr marL="0" indent="0">
                  <a:buNone/>
                </a:pPr>
                <a14:m>
                  <m:oMath xmlns:m="http://schemas.openxmlformats.org/officeDocument/2006/math">
                    <m:r>
                      <a:rPr lang="en-US" sz="2400" b="0" i="1" smtClean="0">
                        <a:latin typeface="Cambria Math" panose="02040503050406030204" pitchFamily="18" charset="0"/>
                      </a:rPr>
                      <m:t>𝜓</m:t>
                    </m:r>
                  </m:oMath>
                </a14:m>
                <a:r>
                  <a:rPr lang="en-US" sz="2400" dirty="0"/>
                  <a:t>: elasticity of inter-regional utility</a:t>
                </a:r>
              </a:p>
            </p:txBody>
          </p:sp>
        </mc:Choice>
        <mc:Fallback xmlns="">
          <p:sp>
            <p:nvSpPr>
              <p:cNvPr id="5" name="TextBox 4">
                <a:extLst>
                  <a:ext uri="{FF2B5EF4-FFF2-40B4-BE49-F238E27FC236}">
                    <a16:creationId xmlns:a16="http://schemas.microsoft.com/office/drawing/2014/main" id="{B82A9551-E51E-B3BB-63C5-9D496017E917}"/>
                  </a:ext>
                </a:extLst>
              </p:cNvPr>
              <p:cNvSpPr txBox="1">
                <a:spLocks noRot="1" noChangeAspect="1" noMove="1" noResize="1" noEditPoints="1" noAdjustHandles="1" noChangeArrowheads="1" noChangeShapeType="1" noTextEdit="1"/>
              </p:cNvSpPr>
              <p:nvPr/>
            </p:nvSpPr>
            <p:spPr>
              <a:xfrm>
                <a:off x="5649686" y="3551067"/>
                <a:ext cx="6542314" cy="2377767"/>
              </a:xfrm>
              <a:prstGeom prst="rect">
                <a:avLst/>
              </a:prstGeom>
              <a:blipFill>
                <a:blip r:embed="rId3"/>
                <a:stretch>
                  <a:fillRect l="-580" t="-1587" r="-193" b="-2646"/>
                </a:stretch>
              </a:blipFill>
            </p:spPr>
            <p:txBody>
              <a:bodyPr/>
              <a:lstStyle/>
              <a:p>
                <a:r>
                  <a:rPr lang="en-US">
                    <a:noFill/>
                  </a:rPr>
                  <a:t> </a:t>
                </a:r>
              </a:p>
            </p:txBody>
          </p:sp>
        </mc:Fallback>
      </mc:AlternateContent>
    </p:spTree>
    <p:extLst>
      <p:ext uri="{BB962C8B-B14F-4D97-AF65-F5344CB8AC3E}">
        <p14:creationId xmlns:p14="http://schemas.microsoft.com/office/powerpoint/2010/main" val="5422968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B9AB38-4A7D-3A66-E492-69773D139031}"/>
              </a:ext>
            </a:extLst>
          </p:cNvPr>
          <p:cNvSpPr>
            <a:spLocks noGrp="1"/>
          </p:cNvSpPr>
          <p:nvPr>
            <p:ph type="title"/>
          </p:nvPr>
        </p:nvSpPr>
        <p:spPr/>
        <p:txBody>
          <a:bodyPr/>
          <a:lstStyle/>
          <a:p>
            <a:r>
              <a:rPr lang="en-US" dirty="0"/>
              <a:t>Variables, objective, constraints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40A1E9E-6580-B9C0-7967-6F1D9426BC36}"/>
                  </a:ext>
                </a:extLst>
              </p:cNvPr>
              <p:cNvSpPr>
                <a:spLocks noGrp="1"/>
              </p:cNvSpPr>
              <p:nvPr>
                <p:ph idx="1"/>
              </p:nvPr>
            </p:nvSpPr>
            <p:spPr/>
            <p:txBody>
              <a:bodyPr>
                <a:normAutofit fontScale="70000" lnSpcReduction="20000"/>
              </a:bodyPr>
              <a:lstStyle/>
              <a:p>
                <a:pPr marL="0" indent="0">
                  <a:buNone/>
                </a:pPr>
                <a:r>
                  <a:rPr lang="en-US" dirty="0"/>
                  <a:t>Variables:</a:t>
                </a:r>
              </a:p>
              <a:p>
                <a:pPr marL="0" indent="0">
                  <a:buNone/>
                </a:pP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𝑄</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𝑟</m:t>
                        </m:r>
                      </m:sub>
                      <m:sup>
                        <m:r>
                          <a:rPr lang="en-US" b="0" i="1" smtClean="0">
                            <a:latin typeface="Cambria Math" panose="02040503050406030204" pitchFamily="18" charset="0"/>
                          </a:rPr>
                          <m:t>𝑐</m:t>
                        </m:r>
                      </m:sup>
                    </m:sSubSup>
                  </m:oMath>
                </a14:m>
                <a:r>
                  <a:rPr lang="en-US" dirty="0"/>
                  <a:t>: quantity consumed</a:t>
                </a:r>
              </a:p>
              <a:p>
                <a:pPr marL="0" indent="0">
                  <a:buNone/>
                </a:pP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𝑄</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𝑟</m:t>
                        </m:r>
                      </m:sub>
                      <m:sup>
                        <m:r>
                          <a:rPr lang="en-US" b="0" i="1" smtClean="0">
                            <a:latin typeface="Cambria Math" panose="02040503050406030204" pitchFamily="18" charset="0"/>
                          </a:rPr>
                          <m:t>𝑠</m:t>
                        </m:r>
                      </m:sup>
                    </m:sSubSup>
                  </m:oMath>
                </a14:m>
                <a:r>
                  <a:rPr lang="en-US" dirty="0"/>
                  <a:t>: quantity produced</a:t>
                </a:r>
              </a:p>
              <a:p>
                <a:pPr marL="0" indent="0">
                  <a:buNone/>
                </a:pPr>
                <a:endParaRPr lang="en-US" dirty="0"/>
              </a:p>
              <a:p>
                <a:pPr marL="0" indent="0">
                  <a:buNone/>
                </a:pPr>
                <a:r>
                  <a:rPr lang="en-US" dirty="0"/>
                  <a:t>Objective:</a:t>
                </a:r>
              </a:p>
              <a:p>
                <a:pPr marL="0" inden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𝑀</m:t>
                            </m:r>
                            <m:r>
                              <a:rPr lang="en-US" b="0" i="1" smtClean="0">
                                <a:latin typeface="Cambria Math" panose="02040503050406030204" pitchFamily="18" charset="0"/>
                              </a:rPr>
                              <m:t>𝑎𝑥</m:t>
                            </m:r>
                          </m:e>
                        </m:mr>
                        <m:mr>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𝑄</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𝑟</m:t>
                                </m:r>
                              </m:sub>
                              <m:sup>
                                <m:r>
                                  <a:rPr lang="en-US" b="0" i="1" smtClean="0">
                                    <a:latin typeface="Cambria Math" panose="02040503050406030204" pitchFamily="18" charset="0"/>
                                  </a:rPr>
                                  <m:t>𝑐</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𝑄</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𝑟</m:t>
                                </m:r>
                              </m:sub>
                              <m:sup>
                                <m:r>
                                  <a:rPr lang="en-US" b="0" i="1" smtClean="0">
                                    <a:latin typeface="Cambria Math" panose="02040503050406030204" pitchFamily="18" charset="0"/>
                                  </a:rPr>
                                  <m:t>𝑠</m:t>
                                </m:r>
                              </m:sup>
                            </m:sSubSup>
                          </m:e>
                        </m:mr>
                      </m:m>
                      <m:r>
                        <a:rPr lang="en-US" b="0" i="1" smtClean="0">
                          <a:latin typeface="Cambria Math" panose="02040503050406030204" pitchFamily="18" charset="0"/>
                        </a:rPr>
                        <m:t>  </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𝐵</m:t>
                          </m:r>
                        </m:e>
                      </m:acc>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𝑟</m:t>
                                      </m:r>
                                    </m:sub>
                                    <m:sup/>
                                    <m:e>
                                      <m:d>
                                        <m:dPr>
                                          <m:begChr m:val="["/>
                                          <m:endChr m:val="]"/>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𝛾</m:t>
                                              </m:r>
                                            </m:e>
                                            <m:sub>
                                              <m:r>
                                                <a:rPr lang="en-US" i="1">
                                                  <a:latin typeface="Cambria Math" panose="02040503050406030204" pitchFamily="18" charset="0"/>
                                                </a:rPr>
                                                <m:t>𝑟</m:t>
                                              </m:r>
                                            </m:sub>
                                          </m:sSub>
                                          <m:sSup>
                                            <m:sSupPr>
                                              <m:ctrlPr>
                                                <a:rPr lang="en-US" i="1">
                                                  <a:latin typeface="Cambria Math" panose="02040503050406030204" pitchFamily="18" charset="0"/>
                                                </a:rPr>
                                              </m:ctrlPr>
                                            </m:sSupPr>
                                            <m:e>
                                              <m:d>
                                                <m:dPr>
                                                  <m:ctrlPr>
                                                    <a:rPr lang="en-US" i="1">
                                                      <a:latin typeface="Cambria Math" panose="02040503050406030204" pitchFamily="18" charset="0"/>
                                                    </a:rPr>
                                                  </m:ctrlPr>
                                                </m:dPr>
                                                <m:e>
                                                  <m:nary>
                                                    <m:naryPr>
                                                      <m:chr m:val="∑"/>
                                                      <m:supHide m:val="on"/>
                                                      <m:ctrlPr>
                                                        <a:rPr lang="en-US" i="1">
                                                          <a:latin typeface="Cambria Math" panose="02040503050406030204" pitchFamily="18" charset="0"/>
                                                        </a:rPr>
                                                      </m:ctrlPr>
                                                    </m:naryPr>
                                                    <m:sub>
                                                      <m:r>
                                                        <a:rPr lang="en-US" i="1">
                                                          <a:latin typeface="Cambria Math" panose="02040503050406030204" pitchFamily="18" charset="0"/>
                                                        </a:rPr>
                                                        <m:t>𝑖</m:t>
                                                      </m:r>
                                                    </m:sub>
                                                    <m:sup/>
                                                    <m:e>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𝑟</m:t>
                                                          </m:r>
                                                        </m:sub>
                                                      </m:sSub>
                                                    </m:e>
                                                  </m:nary>
                                                  <m:sSup>
                                                    <m:sSupPr>
                                                      <m:ctrlPr>
                                                        <a:rPr lang="en-US" i="1">
                                                          <a:latin typeface="Cambria Math" panose="02040503050406030204" pitchFamily="18" charset="0"/>
                                                        </a:rPr>
                                                      </m:ctrlPr>
                                                    </m:sSupPr>
                                                    <m:e>
                                                      <m:d>
                                                        <m:dPr>
                                                          <m:ctrlPr>
                                                            <a:rPr lang="en-US" i="1">
                                                              <a:latin typeface="Cambria Math" panose="02040503050406030204" pitchFamily="18" charset="0"/>
                                                            </a:rPr>
                                                          </m:ctrlPr>
                                                        </m:dPr>
                                                        <m:e>
                                                          <m:f>
                                                            <m:fPr>
                                                              <m:ctrlPr>
                                                                <a:rPr lang="en-US" i="1">
                                                                  <a:latin typeface="Cambria Math" panose="02040503050406030204" pitchFamily="18" charset="0"/>
                                                                </a:rPr>
                                                              </m:ctrlPr>
                                                            </m:fPr>
                                                            <m:num>
                                                              <m:sSubSup>
                                                                <m:sSubSupPr>
                                                                  <m:ctrlPr>
                                                                    <a:rPr lang="en-US" i="1">
                                                                      <a:latin typeface="Cambria Math" panose="02040503050406030204" pitchFamily="18" charset="0"/>
                                                                    </a:rPr>
                                                                  </m:ctrlPr>
                                                                </m:sSubSupPr>
                                                                <m:e>
                                                                  <m:r>
                                                                    <a:rPr lang="en-US" i="1">
                                                                      <a:latin typeface="Cambria Math" panose="02040503050406030204" pitchFamily="18" charset="0"/>
                                                                    </a:rPr>
                                                                    <m:t>𝑄</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𝑟</m:t>
                                                                  </m:r>
                                                                </m:sub>
                                                                <m:sup>
                                                                  <m:r>
                                                                    <a:rPr lang="en-US" i="1">
                                                                      <a:latin typeface="Cambria Math" panose="02040503050406030204" pitchFamily="18" charset="0"/>
                                                                    </a:rPr>
                                                                    <m:t>𝑐</m:t>
                                                                  </m:r>
                                                                </m:sup>
                                                              </m:sSubSup>
                                                            </m:num>
                                                            <m:den>
                                                              <m:sSub>
                                                                <m:sSubPr>
                                                                  <m:ctrlPr>
                                                                    <a:rPr lang="en-US" i="1" dirty="0">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𝑞</m:t>
                                                                      </m:r>
                                                                    </m:e>
                                                                  </m:acc>
                                                                </m:e>
                                                                <m:sub>
                                                                  <m:r>
                                                                    <a:rPr lang="en-US" i="1" dirty="0">
                                                                      <a:latin typeface="Cambria Math" panose="02040503050406030204" pitchFamily="18" charset="0"/>
                                                                    </a:rPr>
                                                                    <m:t>𝑖</m:t>
                                                                  </m:r>
                                                                  <m:r>
                                                                    <a:rPr lang="en-US" i="1" dirty="0">
                                                                      <a:latin typeface="Cambria Math" panose="02040503050406030204" pitchFamily="18" charset="0"/>
                                                                    </a:rPr>
                                                                    <m:t>,</m:t>
                                                                  </m:r>
                                                                  <m:r>
                                                                    <a:rPr lang="en-US" i="1" dirty="0">
                                                                      <a:latin typeface="Cambria Math" panose="02040503050406030204" pitchFamily="18" charset="0"/>
                                                                    </a:rPr>
                                                                    <m:t>𝑟</m:t>
                                                                  </m:r>
                                                                </m:sub>
                                                              </m:sSub>
                                                            </m:den>
                                                          </m:f>
                                                        </m:e>
                                                      </m:d>
                                                    </m:e>
                                                    <m:sup>
                                                      <m:r>
                                                        <a:rPr lang="en-US" i="1">
                                                          <a:latin typeface="Cambria Math" panose="02040503050406030204" pitchFamily="18" charset="0"/>
                                                        </a:rPr>
                                                        <m:t>𝜌</m:t>
                                                      </m:r>
                                                    </m:sup>
                                                  </m:sSup>
                                                </m:e>
                                              </m:d>
                                            </m:e>
                                            <m:sup>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𝜌</m:t>
                                                  </m:r>
                                                </m:den>
                                              </m:f>
                                            </m:sup>
                                          </m:sSup>
                                        </m:e>
                                      </m:d>
                                    </m:e>
                                  </m:nary>
                                </m:e>
                                <m:sup>
                                  <m:r>
                                    <a:rPr lang="en-US" b="0" i="1" smtClean="0">
                                      <a:latin typeface="Cambria Math" panose="02040503050406030204" pitchFamily="18" charset="0"/>
                                    </a:rPr>
                                    <m:t>𝜓</m:t>
                                  </m:r>
                                </m:sup>
                              </m:sSup>
                            </m:e>
                          </m:d>
                        </m:e>
                        <m:sup>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𝜓</m:t>
                              </m:r>
                            </m:den>
                          </m:f>
                        </m:sup>
                      </m:sSup>
                      <m:r>
                        <a:rPr lang="en-US" b="0" i="1" smtClean="0">
                          <a:latin typeface="Cambria Math" panose="02040503050406030204" pitchFamily="18" charset="0"/>
                        </a:rPr>
                        <m:t>−</m:t>
                      </m:r>
                      <m:nary>
                        <m:naryPr>
                          <m:chr m:val="∑"/>
                          <m:supHide m:val="on"/>
                          <m:ctrlPr>
                            <a:rPr lang="en-US" i="1">
                              <a:latin typeface="Cambria Math" panose="02040503050406030204" pitchFamily="18" charset="0"/>
                            </a:rPr>
                          </m:ctrlPr>
                        </m:naryPr>
                        <m:sub>
                          <m:r>
                            <a:rPr lang="en-US" i="1">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𝑟</m:t>
                          </m:r>
                        </m:sub>
                        <m:sup/>
                        <m:e>
                          <m:nary>
                            <m:naryPr>
                              <m:ctrlPr>
                                <a:rPr lang="en-US" i="1">
                                  <a:latin typeface="Cambria Math" panose="02040503050406030204" pitchFamily="18" charset="0"/>
                                </a:rPr>
                              </m:ctrlPr>
                            </m:naryPr>
                            <m:sub>
                              <m:r>
                                <a:rPr lang="en-US" i="1">
                                  <a:latin typeface="Cambria Math" panose="02040503050406030204" pitchFamily="18" charset="0"/>
                                </a:rPr>
                                <m:t>0</m:t>
                              </m:r>
                            </m:sub>
                            <m:sup>
                              <m:sSub>
                                <m:sSubPr>
                                  <m:ctrlPr>
                                    <a:rPr lang="en-US" i="1">
                                      <a:latin typeface="Cambria Math" panose="02040503050406030204" pitchFamily="18" charset="0"/>
                                    </a:rPr>
                                  </m:ctrlPr>
                                </m:sSubPr>
                                <m:e>
                                  <m:r>
                                    <a:rPr lang="en-US" i="1">
                                      <a:latin typeface="Cambria Math" panose="02040503050406030204" pitchFamily="18" charset="0"/>
                                    </a:rPr>
                                    <m:t>𝑄</m:t>
                                  </m:r>
                                </m:e>
                                <m:sub>
                                  <m:r>
                                    <a:rPr lang="en-US" b="0" i="1" smtClean="0">
                                      <a:latin typeface="Cambria Math" panose="02040503050406030204" pitchFamily="18" charset="0"/>
                                    </a:rPr>
                                    <m:t>𝑝</m:t>
                                  </m:r>
                                </m:sub>
                              </m:s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𝑟</m:t>
                                  </m:r>
                                </m:sub>
                              </m:sSub>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𝑟</m:t>
                                  </m:r>
                                </m:sub>
                              </m:sSub>
                              <m:sSubSup>
                                <m:sSubSupPr>
                                  <m:ctrlPr>
                                    <a:rPr lang="en-US" i="1">
                                      <a:latin typeface="Cambria Math" panose="02040503050406030204" pitchFamily="18" charset="0"/>
                                    </a:rPr>
                                  </m:ctrlPr>
                                </m:sSubSupPr>
                                <m:e>
                                  <m:r>
                                    <a:rPr lang="en-US" i="1">
                                      <a:latin typeface="Cambria Math" panose="02040503050406030204" pitchFamily="18" charset="0"/>
                                    </a:rPr>
                                    <m:t>𝑄</m:t>
                                  </m:r>
                                </m:e>
                                <m:sub>
                                  <m:r>
                                    <a:rPr lang="en-US" i="1">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𝑟</m:t>
                                  </m:r>
                                </m:sub>
                                <m:sup>
                                  <m:r>
                                    <a:rPr lang="en-US" b="0" i="1" smtClean="0">
                                      <a:latin typeface="Cambria Math" panose="02040503050406030204" pitchFamily="18" charset="0"/>
                                    </a:rPr>
                                    <m:t>𝑠</m:t>
                                  </m:r>
                                </m:sup>
                              </m:sSubSup>
                            </m:e>
                          </m:nary>
                        </m:e>
                      </m:nary>
                    </m:oMath>
                  </m:oMathPara>
                </a14:m>
                <a:endParaRPr lang="en-US" dirty="0"/>
              </a:p>
              <a:p>
                <a:pPr marL="0" indent="0">
                  <a:buNone/>
                </a:pPr>
                <a:endParaRPr lang="en-US" dirty="0"/>
              </a:p>
              <a:p>
                <a:pPr marL="0" indent="0">
                  <a:buNone/>
                </a:pPr>
                <a:r>
                  <a:rPr lang="en-US" dirty="0"/>
                  <a:t>Subject to (global supply must equal global demand):</a:t>
                </a:r>
              </a:p>
              <a:p>
                <a:pPr marL="0" indent="0">
                  <a:buNone/>
                </a:pPr>
                <a14:m>
                  <m:oMathPara xmlns:m="http://schemas.openxmlformats.org/officeDocument/2006/math">
                    <m:oMathParaPr>
                      <m:jc m:val="centerGroup"/>
                    </m:oMathParaPr>
                    <m:oMath xmlns:m="http://schemas.openxmlformats.org/officeDocument/2006/math">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𝑟</m:t>
                          </m:r>
                        </m:sub>
                        <m:sup/>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𝑄</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𝑟</m:t>
                              </m:r>
                            </m:sub>
                            <m:sup>
                              <m:r>
                                <a:rPr lang="en-US" b="0" i="1" smtClean="0">
                                  <a:latin typeface="Cambria Math" panose="02040503050406030204" pitchFamily="18" charset="0"/>
                                </a:rPr>
                                <m:t>𝑠</m:t>
                              </m:r>
                            </m:sup>
                          </m:sSubSup>
                        </m:e>
                      </m:nary>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𝑟</m:t>
                          </m:r>
                        </m:sub>
                        <m:sup/>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𝑄</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𝑟</m:t>
                              </m:r>
                            </m:sub>
                            <m:sup>
                              <m:r>
                                <a:rPr lang="en-US" b="0" i="1" smtClean="0">
                                  <a:latin typeface="Cambria Math" panose="02040503050406030204" pitchFamily="18" charset="0"/>
                                </a:rPr>
                                <m:t>𝑐</m:t>
                              </m:r>
                            </m:sup>
                          </m:sSubSup>
                        </m:e>
                      </m:nary>
                      <m:r>
                        <a:rPr lang="en-US" b="0" i="1" smtClean="0">
                          <a:latin typeface="Cambria Math" panose="02040503050406030204" pitchFamily="18" charset="0"/>
                        </a:rPr>
                        <m:t>∀ </m:t>
                      </m:r>
                      <m:r>
                        <a:rPr lang="en-US" b="0" i="1" smtClean="0">
                          <a:latin typeface="Cambria Math" panose="02040503050406030204" pitchFamily="18" charset="0"/>
                        </a:rPr>
                        <m:t>𝑖</m:t>
                      </m:r>
                    </m:oMath>
                  </m:oMathPara>
                </a14:m>
                <a:endParaRPr lang="en-US" dirty="0"/>
              </a:p>
            </p:txBody>
          </p:sp>
        </mc:Choice>
        <mc:Fallback>
          <p:sp>
            <p:nvSpPr>
              <p:cNvPr id="3" name="Content Placeholder 2">
                <a:extLst>
                  <a:ext uri="{FF2B5EF4-FFF2-40B4-BE49-F238E27FC236}">
                    <a16:creationId xmlns:a16="http://schemas.microsoft.com/office/drawing/2014/main" id="{740A1E9E-6580-B9C0-7967-6F1D9426BC36}"/>
                  </a:ext>
                </a:extLst>
              </p:cNvPr>
              <p:cNvSpPr>
                <a:spLocks noGrp="1" noRot="1" noChangeAspect="1" noMove="1" noResize="1" noEditPoints="1" noAdjustHandles="1" noChangeArrowheads="1" noChangeShapeType="1" noTextEdit="1"/>
              </p:cNvSpPr>
              <p:nvPr>
                <p:ph idx="1"/>
              </p:nvPr>
            </p:nvSpPr>
            <p:spPr>
              <a:blipFill>
                <a:blip r:embed="rId2"/>
                <a:stretch>
                  <a:fillRect l="-724" t="-2035" b="-30233"/>
                </a:stretch>
              </a:blipFill>
            </p:spPr>
            <p:txBody>
              <a:bodyPr/>
              <a:lstStyle/>
              <a:p>
                <a:r>
                  <a:rPr lang="en-US">
                    <a:noFill/>
                  </a:rPr>
                  <a:t> </a:t>
                </a:r>
              </a:p>
            </p:txBody>
          </p:sp>
        </mc:Fallback>
      </mc:AlternateContent>
    </p:spTree>
    <p:extLst>
      <p:ext uri="{BB962C8B-B14F-4D97-AF65-F5344CB8AC3E}">
        <p14:creationId xmlns:p14="http://schemas.microsoft.com/office/powerpoint/2010/main" val="61464624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55437BDB-5A7D-A51D-576D-8B5923F0796F}"/>
              </a:ext>
            </a:extLst>
          </p:cNvPr>
          <p:cNvCxnSpPr/>
          <p:nvPr/>
        </p:nvCxnSpPr>
        <p:spPr>
          <a:xfrm flipH="1">
            <a:off x="6112042" y="3625515"/>
            <a:ext cx="1235242" cy="1716505"/>
          </a:xfrm>
          <a:prstGeom prst="line">
            <a:avLst/>
          </a:prstGeom>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4CEF4FE5-349B-F046-F923-558C0B12BF4D}"/>
              </a:ext>
            </a:extLst>
          </p:cNvPr>
          <p:cNvCxnSpPr>
            <a:cxnSpLocks/>
          </p:cNvCxnSpPr>
          <p:nvPr/>
        </p:nvCxnSpPr>
        <p:spPr>
          <a:xfrm>
            <a:off x="7347284" y="3625515"/>
            <a:ext cx="1363579" cy="1716505"/>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BD90791-1A16-4A40-994F-B8B504ABC579}"/>
                  </a:ext>
                </a:extLst>
              </p:cNvPr>
              <p:cNvSpPr txBox="1"/>
              <p:nvPr/>
            </p:nvSpPr>
            <p:spPr>
              <a:xfrm>
                <a:off x="8713345" y="5342020"/>
                <a:ext cx="45903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2</m:t>
                          </m:r>
                        </m:sub>
                      </m:sSub>
                    </m:oMath>
                  </m:oMathPara>
                </a14:m>
                <a:endParaRPr lang="en-US" dirty="0"/>
              </a:p>
            </p:txBody>
          </p:sp>
        </mc:Choice>
        <mc:Fallback xmlns="">
          <p:sp>
            <p:nvSpPr>
              <p:cNvPr id="6" name="TextBox 5">
                <a:extLst>
                  <a:ext uri="{FF2B5EF4-FFF2-40B4-BE49-F238E27FC236}">
                    <a16:creationId xmlns:a16="http://schemas.microsoft.com/office/drawing/2014/main" id="{7BD90791-1A16-4A40-994F-B8B504ABC579}"/>
                  </a:ext>
                </a:extLst>
              </p:cNvPr>
              <p:cNvSpPr txBox="1">
                <a:spLocks noRot="1" noChangeAspect="1" noMove="1" noResize="1" noEditPoints="1" noAdjustHandles="1" noChangeArrowheads="1" noChangeShapeType="1" noTextEdit="1"/>
              </p:cNvSpPr>
              <p:nvPr/>
            </p:nvSpPr>
            <p:spPr>
              <a:xfrm>
                <a:off x="8713345" y="5342020"/>
                <a:ext cx="459035" cy="369332"/>
              </a:xfrm>
              <a:prstGeom prst="rect">
                <a:avLst/>
              </a:prstGeom>
              <a:blipFill>
                <a:blip r:embed="rId2"/>
                <a:stretch>
                  <a:fillRect b="-1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113925A-DE25-C24B-301B-6CD58E90048A}"/>
                  </a:ext>
                </a:extLst>
              </p:cNvPr>
              <p:cNvSpPr txBox="1"/>
              <p:nvPr/>
            </p:nvSpPr>
            <p:spPr>
              <a:xfrm>
                <a:off x="5905977" y="5342020"/>
                <a:ext cx="45371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1</m:t>
                          </m:r>
                        </m:sub>
                      </m:sSub>
                    </m:oMath>
                  </m:oMathPara>
                </a14:m>
                <a:endParaRPr lang="en-US" dirty="0"/>
              </a:p>
            </p:txBody>
          </p:sp>
        </mc:Choice>
        <mc:Fallback xmlns="">
          <p:sp>
            <p:nvSpPr>
              <p:cNvPr id="7" name="TextBox 6">
                <a:extLst>
                  <a:ext uri="{FF2B5EF4-FFF2-40B4-BE49-F238E27FC236}">
                    <a16:creationId xmlns:a16="http://schemas.microsoft.com/office/drawing/2014/main" id="{1113925A-DE25-C24B-301B-6CD58E90048A}"/>
                  </a:ext>
                </a:extLst>
              </p:cNvPr>
              <p:cNvSpPr txBox="1">
                <a:spLocks noRot="1" noChangeAspect="1" noMove="1" noResize="1" noEditPoints="1" noAdjustHandles="1" noChangeArrowheads="1" noChangeShapeType="1" noTextEdit="1"/>
              </p:cNvSpPr>
              <p:nvPr/>
            </p:nvSpPr>
            <p:spPr>
              <a:xfrm>
                <a:off x="5905977" y="5342020"/>
                <a:ext cx="453714" cy="369332"/>
              </a:xfrm>
              <a:prstGeom prst="rect">
                <a:avLst/>
              </a:prstGeom>
              <a:blipFill>
                <a:blip r:embed="rId3"/>
                <a:stretch>
                  <a:fillRect b="-1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77BC8A3-D71F-D406-589A-CC6CE816095B}"/>
                  </a:ext>
                </a:extLst>
              </p:cNvPr>
              <p:cNvSpPr txBox="1"/>
              <p:nvPr/>
            </p:nvSpPr>
            <p:spPr>
              <a:xfrm>
                <a:off x="2469326" y="3680226"/>
                <a:ext cx="310720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𝜌</m:t>
                      </m:r>
                    </m:oMath>
                  </m:oMathPara>
                </a14:m>
                <a:endParaRPr lang="en-US" dirty="0"/>
              </a:p>
            </p:txBody>
          </p:sp>
        </mc:Choice>
        <mc:Fallback xmlns="">
          <p:sp>
            <p:nvSpPr>
              <p:cNvPr id="8" name="TextBox 7">
                <a:extLst>
                  <a:ext uri="{FF2B5EF4-FFF2-40B4-BE49-F238E27FC236}">
                    <a16:creationId xmlns:a16="http://schemas.microsoft.com/office/drawing/2014/main" id="{F77BC8A3-D71F-D406-589A-CC6CE816095B}"/>
                  </a:ext>
                </a:extLst>
              </p:cNvPr>
              <p:cNvSpPr txBox="1">
                <a:spLocks noRot="1" noChangeAspect="1" noMove="1" noResize="1" noEditPoints="1" noAdjustHandles="1" noChangeArrowheads="1" noChangeShapeType="1" noTextEdit="1"/>
              </p:cNvSpPr>
              <p:nvPr/>
            </p:nvSpPr>
            <p:spPr>
              <a:xfrm>
                <a:off x="2469326" y="3680226"/>
                <a:ext cx="3107203" cy="369332"/>
              </a:xfrm>
              <a:prstGeom prst="rect">
                <a:avLst/>
              </a:prstGeom>
              <a:blipFill>
                <a:blip r:embed="rId4"/>
                <a:stretch>
                  <a:fillRect b="-1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85CAB30-F1F8-CE0D-A3B4-CDD8A3507532}"/>
                  </a:ext>
                </a:extLst>
              </p:cNvPr>
              <p:cNvSpPr txBox="1"/>
              <p:nvPr/>
            </p:nvSpPr>
            <p:spPr>
              <a:xfrm>
                <a:off x="7147632" y="3271414"/>
                <a:ext cx="57284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𝑟</m:t>
                          </m:r>
                          <m:r>
                            <a:rPr lang="en-US" b="0" i="1" smtClean="0">
                              <a:latin typeface="Cambria Math" panose="02040503050406030204" pitchFamily="18" charset="0"/>
                            </a:rPr>
                            <m:t>2</m:t>
                          </m:r>
                        </m:sub>
                      </m:sSub>
                    </m:oMath>
                  </m:oMathPara>
                </a14:m>
                <a:endParaRPr lang="en-US" dirty="0"/>
              </a:p>
            </p:txBody>
          </p:sp>
        </mc:Choice>
        <mc:Fallback xmlns="">
          <p:sp>
            <p:nvSpPr>
              <p:cNvPr id="9" name="TextBox 8">
                <a:extLst>
                  <a:ext uri="{FF2B5EF4-FFF2-40B4-BE49-F238E27FC236}">
                    <a16:creationId xmlns:a16="http://schemas.microsoft.com/office/drawing/2014/main" id="{885CAB30-F1F8-CE0D-A3B4-CDD8A3507532}"/>
                  </a:ext>
                </a:extLst>
              </p:cNvPr>
              <p:cNvSpPr txBox="1">
                <a:spLocks noRot="1" noChangeAspect="1" noMove="1" noResize="1" noEditPoints="1" noAdjustHandles="1" noChangeArrowheads="1" noChangeShapeType="1" noTextEdit="1"/>
              </p:cNvSpPr>
              <p:nvPr/>
            </p:nvSpPr>
            <p:spPr>
              <a:xfrm>
                <a:off x="7147632" y="3271414"/>
                <a:ext cx="572849" cy="369332"/>
              </a:xfrm>
              <a:prstGeom prst="rect">
                <a:avLst/>
              </a:prstGeom>
              <a:blipFill>
                <a:blip r:embed="rId5"/>
                <a:stretch>
                  <a:fillRect/>
                </a:stretch>
              </a:blipFill>
            </p:spPr>
            <p:txBody>
              <a:bodyPr/>
              <a:lstStyle/>
              <a:p>
                <a:r>
                  <a:rPr lang="en-US">
                    <a:noFill/>
                  </a:rPr>
                  <a:t> </a:t>
                </a:r>
              </a:p>
            </p:txBody>
          </p:sp>
        </mc:Fallback>
      </mc:AlternateContent>
      <p:cxnSp>
        <p:nvCxnSpPr>
          <p:cNvPr id="10" name="Straight Connector 9">
            <a:extLst>
              <a:ext uri="{FF2B5EF4-FFF2-40B4-BE49-F238E27FC236}">
                <a16:creationId xmlns:a16="http://schemas.microsoft.com/office/drawing/2014/main" id="{5501076C-6F1C-8FE6-AF5C-7FBA28A6E9C4}"/>
              </a:ext>
            </a:extLst>
          </p:cNvPr>
          <p:cNvCxnSpPr/>
          <p:nvPr/>
        </p:nvCxnSpPr>
        <p:spPr>
          <a:xfrm flipH="1">
            <a:off x="1748476" y="3625515"/>
            <a:ext cx="1235242" cy="1716505"/>
          </a:xfrm>
          <a:prstGeom prst="line">
            <a:avLst/>
          </a:prstGeom>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E4DD273D-F1A3-EC8C-612F-BB83879BBEA5}"/>
              </a:ext>
            </a:extLst>
          </p:cNvPr>
          <p:cNvCxnSpPr>
            <a:cxnSpLocks/>
          </p:cNvCxnSpPr>
          <p:nvPr/>
        </p:nvCxnSpPr>
        <p:spPr>
          <a:xfrm>
            <a:off x="2983718" y="3625515"/>
            <a:ext cx="1363579" cy="1716505"/>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5542C2AB-1105-CA34-C030-2D6CC89DF3CA}"/>
                  </a:ext>
                </a:extLst>
              </p:cNvPr>
              <p:cNvSpPr txBox="1"/>
              <p:nvPr/>
            </p:nvSpPr>
            <p:spPr>
              <a:xfrm>
                <a:off x="4349779" y="5342020"/>
                <a:ext cx="45903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2</m:t>
                          </m:r>
                        </m:sub>
                      </m:sSub>
                    </m:oMath>
                  </m:oMathPara>
                </a14:m>
                <a:endParaRPr lang="en-US" dirty="0"/>
              </a:p>
            </p:txBody>
          </p:sp>
        </mc:Choice>
        <mc:Fallback xmlns="">
          <p:sp>
            <p:nvSpPr>
              <p:cNvPr id="12" name="TextBox 11">
                <a:extLst>
                  <a:ext uri="{FF2B5EF4-FFF2-40B4-BE49-F238E27FC236}">
                    <a16:creationId xmlns:a16="http://schemas.microsoft.com/office/drawing/2014/main" id="{5542C2AB-1105-CA34-C030-2D6CC89DF3CA}"/>
                  </a:ext>
                </a:extLst>
              </p:cNvPr>
              <p:cNvSpPr txBox="1">
                <a:spLocks noRot="1" noChangeAspect="1" noMove="1" noResize="1" noEditPoints="1" noAdjustHandles="1" noChangeArrowheads="1" noChangeShapeType="1" noTextEdit="1"/>
              </p:cNvSpPr>
              <p:nvPr/>
            </p:nvSpPr>
            <p:spPr>
              <a:xfrm>
                <a:off x="4349779" y="5342020"/>
                <a:ext cx="459035" cy="369332"/>
              </a:xfrm>
              <a:prstGeom prst="rect">
                <a:avLst/>
              </a:prstGeom>
              <a:blipFill>
                <a:blip r:embed="rId6"/>
                <a:stretch>
                  <a:fillRect b="-1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F76EDCE4-2E8C-1BE9-6946-73F92D91361D}"/>
                  </a:ext>
                </a:extLst>
              </p:cNvPr>
              <p:cNvSpPr txBox="1"/>
              <p:nvPr/>
            </p:nvSpPr>
            <p:spPr>
              <a:xfrm>
                <a:off x="1542411" y="5342020"/>
                <a:ext cx="45371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1</m:t>
                          </m:r>
                        </m:sub>
                      </m:sSub>
                    </m:oMath>
                  </m:oMathPara>
                </a14:m>
                <a:endParaRPr lang="en-US" dirty="0"/>
              </a:p>
            </p:txBody>
          </p:sp>
        </mc:Choice>
        <mc:Fallback xmlns="">
          <p:sp>
            <p:nvSpPr>
              <p:cNvPr id="13" name="TextBox 12">
                <a:extLst>
                  <a:ext uri="{FF2B5EF4-FFF2-40B4-BE49-F238E27FC236}">
                    <a16:creationId xmlns:a16="http://schemas.microsoft.com/office/drawing/2014/main" id="{F76EDCE4-2E8C-1BE9-6946-73F92D91361D}"/>
                  </a:ext>
                </a:extLst>
              </p:cNvPr>
              <p:cNvSpPr txBox="1">
                <a:spLocks noRot="1" noChangeAspect="1" noMove="1" noResize="1" noEditPoints="1" noAdjustHandles="1" noChangeArrowheads="1" noChangeShapeType="1" noTextEdit="1"/>
              </p:cNvSpPr>
              <p:nvPr/>
            </p:nvSpPr>
            <p:spPr>
              <a:xfrm>
                <a:off x="1542411" y="5342020"/>
                <a:ext cx="453714" cy="369332"/>
              </a:xfrm>
              <a:prstGeom prst="rect">
                <a:avLst/>
              </a:prstGeom>
              <a:blipFill>
                <a:blip r:embed="rId7"/>
                <a:stretch>
                  <a:fillRect b="-1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905D3FBF-D6C1-5CE6-5636-1D20A8BED1B5}"/>
                  </a:ext>
                </a:extLst>
              </p:cNvPr>
              <p:cNvSpPr txBox="1"/>
              <p:nvPr/>
            </p:nvSpPr>
            <p:spPr>
              <a:xfrm>
                <a:off x="2784066" y="3271414"/>
                <a:ext cx="57284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𝑟</m:t>
                          </m:r>
                          <m:r>
                            <a:rPr lang="en-US" b="0" i="1" smtClean="0">
                              <a:latin typeface="Cambria Math" panose="02040503050406030204" pitchFamily="18" charset="0"/>
                            </a:rPr>
                            <m:t>1</m:t>
                          </m:r>
                        </m:sub>
                      </m:sSub>
                    </m:oMath>
                  </m:oMathPara>
                </a14:m>
                <a:endParaRPr lang="en-US" dirty="0"/>
              </a:p>
            </p:txBody>
          </p:sp>
        </mc:Choice>
        <mc:Fallback xmlns="">
          <p:sp>
            <p:nvSpPr>
              <p:cNvPr id="14" name="TextBox 13">
                <a:extLst>
                  <a:ext uri="{FF2B5EF4-FFF2-40B4-BE49-F238E27FC236}">
                    <a16:creationId xmlns:a16="http://schemas.microsoft.com/office/drawing/2014/main" id="{905D3FBF-D6C1-5CE6-5636-1D20A8BED1B5}"/>
                  </a:ext>
                </a:extLst>
              </p:cNvPr>
              <p:cNvSpPr txBox="1">
                <a:spLocks noRot="1" noChangeAspect="1" noMove="1" noResize="1" noEditPoints="1" noAdjustHandles="1" noChangeArrowheads="1" noChangeShapeType="1" noTextEdit="1"/>
              </p:cNvSpPr>
              <p:nvPr/>
            </p:nvSpPr>
            <p:spPr>
              <a:xfrm>
                <a:off x="2784066" y="3271414"/>
                <a:ext cx="572849" cy="369332"/>
              </a:xfrm>
              <a:prstGeom prst="rect">
                <a:avLst/>
              </a:prstGeom>
              <a:blipFill>
                <a:blip r:embed="rId8"/>
                <a:stretch>
                  <a:fillRect/>
                </a:stretch>
              </a:blipFill>
            </p:spPr>
            <p:txBody>
              <a:bodyPr/>
              <a:lstStyle/>
              <a:p>
                <a:r>
                  <a:rPr lang="en-US">
                    <a:noFill/>
                  </a:rPr>
                  <a:t> </a:t>
                </a:r>
              </a:p>
            </p:txBody>
          </p:sp>
        </mc:Fallback>
      </mc:AlternateContent>
      <p:cxnSp>
        <p:nvCxnSpPr>
          <p:cNvPr id="15" name="Straight Connector 14">
            <a:extLst>
              <a:ext uri="{FF2B5EF4-FFF2-40B4-BE49-F238E27FC236}">
                <a16:creationId xmlns:a16="http://schemas.microsoft.com/office/drawing/2014/main" id="{5F89FA9E-2E30-9222-7DB9-A45A62AF7EB7}"/>
              </a:ext>
            </a:extLst>
          </p:cNvPr>
          <p:cNvCxnSpPr>
            <a:cxnSpLocks/>
          </p:cNvCxnSpPr>
          <p:nvPr/>
        </p:nvCxnSpPr>
        <p:spPr>
          <a:xfrm flipH="1">
            <a:off x="3192379" y="1146648"/>
            <a:ext cx="1772539" cy="2085837"/>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AA1DCF11-AF76-54BC-717C-521B4784F4A7}"/>
              </a:ext>
            </a:extLst>
          </p:cNvPr>
          <p:cNvCxnSpPr>
            <a:cxnSpLocks/>
          </p:cNvCxnSpPr>
          <p:nvPr/>
        </p:nvCxnSpPr>
        <p:spPr>
          <a:xfrm>
            <a:off x="4964918" y="1146648"/>
            <a:ext cx="2182714" cy="2085837"/>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CA6FC58-20F4-1EA5-D5A1-748205F77FCC}"/>
                  </a:ext>
                </a:extLst>
              </p:cNvPr>
              <p:cNvSpPr txBox="1"/>
              <p:nvPr/>
            </p:nvSpPr>
            <p:spPr>
              <a:xfrm>
                <a:off x="4765266" y="792547"/>
                <a:ext cx="39433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oMath>
                  </m:oMathPara>
                </a14:m>
                <a:endParaRPr lang="en-US" dirty="0"/>
              </a:p>
            </p:txBody>
          </p:sp>
        </mc:Choice>
        <mc:Fallback xmlns="">
          <p:sp>
            <p:nvSpPr>
              <p:cNvPr id="19" name="TextBox 18">
                <a:extLst>
                  <a:ext uri="{FF2B5EF4-FFF2-40B4-BE49-F238E27FC236}">
                    <a16:creationId xmlns:a16="http://schemas.microsoft.com/office/drawing/2014/main" id="{8CA6FC58-20F4-1EA5-D5A1-748205F77FCC}"/>
                  </a:ext>
                </a:extLst>
              </p:cNvPr>
              <p:cNvSpPr txBox="1">
                <a:spLocks noRot="1" noChangeAspect="1" noMove="1" noResize="1" noEditPoints="1" noAdjustHandles="1" noChangeArrowheads="1" noChangeShapeType="1" noTextEdit="1"/>
              </p:cNvSpPr>
              <p:nvPr/>
            </p:nvSpPr>
            <p:spPr>
              <a:xfrm>
                <a:off x="4765266" y="792547"/>
                <a:ext cx="394339" cy="369332"/>
              </a:xfrm>
              <a:prstGeom prst="rect">
                <a:avLst/>
              </a:prstGeom>
              <a:blipFill>
                <a:blip r:embed="rId9"/>
                <a:stretch>
                  <a:fillRect/>
                </a:stretch>
              </a:blipFill>
            </p:spPr>
            <p:txBody>
              <a:bodyPr/>
              <a:lstStyle/>
              <a:p>
                <a:r>
                  <a:rPr lang="en-US">
                    <a:noFill/>
                  </a:rPr>
                  <a:t> </a:t>
                </a:r>
              </a:p>
            </p:txBody>
          </p:sp>
        </mc:Fallback>
      </mc:AlternateContent>
      <p:sp>
        <p:nvSpPr>
          <p:cNvPr id="22" name="Arc 21">
            <a:extLst>
              <a:ext uri="{FF2B5EF4-FFF2-40B4-BE49-F238E27FC236}">
                <a16:creationId xmlns:a16="http://schemas.microsoft.com/office/drawing/2014/main" id="{B6FDA8CB-D79B-B13C-B31B-BC2C1D2C8A49}"/>
              </a:ext>
            </a:extLst>
          </p:cNvPr>
          <p:cNvSpPr/>
          <p:nvPr/>
        </p:nvSpPr>
        <p:spPr>
          <a:xfrm rot="8212058">
            <a:off x="6197771" y="2305265"/>
            <a:ext cx="2213810" cy="2181727"/>
          </a:xfrm>
          <a:prstGeom prst="arc">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3" name="Arc 22">
            <a:extLst>
              <a:ext uri="{FF2B5EF4-FFF2-40B4-BE49-F238E27FC236}">
                <a16:creationId xmlns:a16="http://schemas.microsoft.com/office/drawing/2014/main" id="{7EE2DE3F-B71A-CF33-1C04-D4F85164A35C}"/>
              </a:ext>
            </a:extLst>
          </p:cNvPr>
          <p:cNvSpPr/>
          <p:nvPr/>
        </p:nvSpPr>
        <p:spPr>
          <a:xfrm rot="8212058">
            <a:off x="1928429" y="2183976"/>
            <a:ext cx="2213810" cy="2181727"/>
          </a:xfrm>
          <a:prstGeom prst="arc">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4" name="Arc 23">
            <a:extLst>
              <a:ext uri="{FF2B5EF4-FFF2-40B4-BE49-F238E27FC236}">
                <a16:creationId xmlns:a16="http://schemas.microsoft.com/office/drawing/2014/main" id="{8DF7247B-511C-7B40-6341-D4323FF68550}"/>
              </a:ext>
            </a:extLst>
          </p:cNvPr>
          <p:cNvSpPr/>
          <p:nvPr/>
        </p:nvSpPr>
        <p:spPr>
          <a:xfrm rot="8212058">
            <a:off x="3933232" y="-231880"/>
            <a:ext cx="2213810" cy="2181727"/>
          </a:xfrm>
          <a:prstGeom prst="arc">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5098329A-C003-B80F-D40D-E8FCB4EEFFCA}"/>
                  </a:ext>
                </a:extLst>
              </p:cNvPr>
              <p:cNvSpPr txBox="1"/>
              <p:nvPr/>
            </p:nvSpPr>
            <p:spPr>
              <a:xfrm>
                <a:off x="6994358" y="3961188"/>
                <a:ext cx="310720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𝜌</m:t>
                      </m:r>
                    </m:oMath>
                  </m:oMathPara>
                </a14:m>
                <a:endParaRPr lang="en-US" dirty="0"/>
              </a:p>
            </p:txBody>
          </p:sp>
        </mc:Choice>
        <mc:Fallback xmlns="">
          <p:sp>
            <p:nvSpPr>
              <p:cNvPr id="25" name="TextBox 24">
                <a:extLst>
                  <a:ext uri="{FF2B5EF4-FFF2-40B4-BE49-F238E27FC236}">
                    <a16:creationId xmlns:a16="http://schemas.microsoft.com/office/drawing/2014/main" id="{5098329A-C003-B80F-D40D-E8FCB4EEFFCA}"/>
                  </a:ext>
                </a:extLst>
              </p:cNvPr>
              <p:cNvSpPr txBox="1">
                <a:spLocks noRot="1" noChangeAspect="1" noMove="1" noResize="1" noEditPoints="1" noAdjustHandles="1" noChangeArrowheads="1" noChangeShapeType="1" noTextEdit="1"/>
              </p:cNvSpPr>
              <p:nvPr/>
            </p:nvSpPr>
            <p:spPr>
              <a:xfrm>
                <a:off x="6994358" y="3961188"/>
                <a:ext cx="3107203" cy="369332"/>
              </a:xfrm>
              <a:prstGeom prst="rect">
                <a:avLst/>
              </a:prstGeom>
              <a:blipFill>
                <a:blip r:embed="rId10"/>
                <a:stretch>
                  <a:fillRect b="-1034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9E278B96-5405-FBF9-E7B9-29A727688BDB}"/>
                  </a:ext>
                </a:extLst>
              </p:cNvPr>
              <p:cNvSpPr txBox="1"/>
              <p:nvPr/>
            </p:nvSpPr>
            <p:spPr>
              <a:xfrm>
                <a:off x="4502673" y="1274236"/>
                <a:ext cx="310720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𝜓</m:t>
                      </m:r>
                    </m:oMath>
                  </m:oMathPara>
                </a14:m>
                <a:endParaRPr lang="en-US" dirty="0"/>
              </a:p>
            </p:txBody>
          </p:sp>
        </mc:Choice>
        <mc:Fallback xmlns="">
          <p:sp>
            <p:nvSpPr>
              <p:cNvPr id="26" name="TextBox 25">
                <a:extLst>
                  <a:ext uri="{FF2B5EF4-FFF2-40B4-BE49-F238E27FC236}">
                    <a16:creationId xmlns:a16="http://schemas.microsoft.com/office/drawing/2014/main" id="{9E278B96-5405-FBF9-E7B9-29A727688BDB}"/>
                  </a:ext>
                </a:extLst>
              </p:cNvPr>
              <p:cNvSpPr txBox="1">
                <a:spLocks noRot="1" noChangeAspect="1" noMove="1" noResize="1" noEditPoints="1" noAdjustHandles="1" noChangeArrowheads="1" noChangeShapeType="1" noTextEdit="1"/>
              </p:cNvSpPr>
              <p:nvPr/>
            </p:nvSpPr>
            <p:spPr>
              <a:xfrm>
                <a:off x="4502673" y="1274236"/>
                <a:ext cx="3107203" cy="369332"/>
              </a:xfrm>
              <a:prstGeom prst="rect">
                <a:avLst/>
              </a:prstGeom>
              <a:blipFill>
                <a:blip r:embed="rId11"/>
                <a:stretch>
                  <a:fillRect b="-10000"/>
                </a:stretch>
              </a:blipFill>
            </p:spPr>
            <p:txBody>
              <a:bodyPr/>
              <a:lstStyle/>
              <a:p>
                <a:r>
                  <a:rPr lang="en-US">
                    <a:noFill/>
                  </a:rPr>
                  <a:t> </a:t>
                </a:r>
              </a:p>
            </p:txBody>
          </p:sp>
        </mc:Fallback>
      </mc:AlternateContent>
    </p:spTree>
    <p:extLst>
      <p:ext uri="{BB962C8B-B14F-4D97-AF65-F5344CB8AC3E}">
        <p14:creationId xmlns:p14="http://schemas.microsoft.com/office/powerpoint/2010/main" val="2505111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24A49-0478-E41A-084E-6DB3D128A68F}"/>
              </a:ext>
            </a:extLst>
          </p:cNvPr>
          <p:cNvSpPr>
            <a:spLocks noGrp="1"/>
          </p:cNvSpPr>
          <p:nvPr>
            <p:ph type="title"/>
          </p:nvPr>
        </p:nvSpPr>
        <p:spPr/>
        <p:txBody>
          <a:bodyPr/>
          <a:lstStyle/>
          <a:p>
            <a:r>
              <a:rPr lang="en-US" dirty="0"/>
              <a:t>Points of these exercises..</a:t>
            </a:r>
          </a:p>
        </p:txBody>
      </p:sp>
      <p:sp>
        <p:nvSpPr>
          <p:cNvPr id="3" name="Content Placeholder 2">
            <a:extLst>
              <a:ext uri="{FF2B5EF4-FFF2-40B4-BE49-F238E27FC236}">
                <a16:creationId xmlns:a16="http://schemas.microsoft.com/office/drawing/2014/main" id="{5C285840-B294-C163-3B01-A48912D9EBB6}"/>
              </a:ext>
            </a:extLst>
          </p:cNvPr>
          <p:cNvSpPr>
            <a:spLocks noGrp="1"/>
          </p:cNvSpPr>
          <p:nvPr>
            <p:ph idx="1"/>
          </p:nvPr>
        </p:nvSpPr>
        <p:spPr>
          <a:xfrm>
            <a:off x="838200" y="1825625"/>
            <a:ext cx="10515600" cy="4117975"/>
          </a:xfrm>
        </p:spPr>
        <p:txBody>
          <a:bodyPr/>
          <a:lstStyle/>
          <a:p>
            <a:r>
              <a:rPr lang="en-US" dirty="0"/>
              <a:t>You can flexibly represent the consumption and production of goods in simplified setups</a:t>
            </a:r>
          </a:p>
          <a:p>
            <a:endParaRPr lang="en-US" dirty="0"/>
          </a:p>
          <a:p>
            <a:r>
              <a:rPr lang="en-US" dirty="0"/>
              <a:t>Ties it back to all our econ models – utility maximization, profit maximization, …</a:t>
            </a:r>
          </a:p>
          <a:p>
            <a:endParaRPr lang="en-US" dirty="0"/>
          </a:p>
          <a:p>
            <a:r>
              <a:rPr lang="en-US" dirty="0"/>
              <a:t>Presents a strong need for calibration and calibrated functional forms</a:t>
            </a:r>
          </a:p>
        </p:txBody>
      </p:sp>
    </p:spTree>
    <p:extLst>
      <p:ext uri="{BB962C8B-B14F-4D97-AF65-F5344CB8AC3E}">
        <p14:creationId xmlns:p14="http://schemas.microsoft.com/office/powerpoint/2010/main" val="45498661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B0BB6A-C2F9-8477-B2A5-A7AD47C75C36}"/>
              </a:ext>
            </a:extLst>
          </p:cNvPr>
          <p:cNvSpPr>
            <a:spLocks noGrp="1"/>
          </p:cNvSpPr>
          <p:nvPr>
            <p:ph type="title"/>
          </p:nvPr>
        </p:nvSpPr>
        <p:spPr>
          <a:xfrm>
            <a:off x="0" y="18255"/>
            <a:ext cx="10515600" cy="1325563"/>
          </a:xfrm>
        </p:spPr>
        <p:txBody>
          <a:bodyPr/>
          <a:lstStyle/>
          <a:p>
            <a:r>
              <a:rPr lang="en-US" dirty="0"/>
              <a:t>Choosing parameters and functional forms</a:t>
            </a:r>
          </a:p>
        </p:txBody>
      </p:sp>
      <p:sp>
        <p:nvSpPr>
          <p:cNvPr id="3" name="Content Placeholder 2">
            <a:extLst>
              <a:ext uri="{FF2B5EF4-FFF2-40B4-BE49-F238E27FC236}">
                <a16:creationId xmlns:a16="http://schemas.microsoft.com/office/drawing/2014/main" id="{F7A56098-00E9-5C6E-8549-2DF6592C000B}"/>
              </a:ext>
            </a:extLst>
          </p:cNvPr>
          <p:cNvSpPr>
            <a:spLocks noGrp="1"/>
          </p:cNvSpPr>
          <p:nvPr>
            <p:ph idx="1"/>
          </p:nvPr>
        </p:nvSpPr>
        <p:spPr>
          <a:xfrm>
            <a:off x="838200" y="1299411"/>
            <a:ext cx="10515600" cy="4877552"/>
          </a:xfrm>
        </p:spPr>
        <p:txBody>
          <a:bodyPr>
            <a:normAutofit lnSpcReduction="10000"/>
          </a:bodyPr>
          <a:lstStyle/>
          <a:p>
            <a:r>
              <a:rPr lang="en-US" dirty="0"/>
              <a:t>Easy to find P/Q pairs, search literature for elasticity values</a:t>
            </a:r>
          </a:p>
          <a:p>
            <a:r>
              <a:rPr lang="en-US" dirty="0"/>
              <a:t>Examples with TRACT, </a:t>
            </a:r>
            <a:r>
              <a:rPr lang="en-US" dirty="0" err="1"/>
              <a:t>BioTrans</a:t>
            </a:r>
            <a:r>
              <a:rPr lang="en-US" dirty="0"/>
              <a:t>, REE model, FINITO, …</a:t>
            </a:r>
          </a:p>
          <a:p>
            <a:r>
              <a:rPr lang="en-US" dirty="0"/>
              <a:t>Need for the final/calibrated P to match up to sum of costs</a:t>
            </a:r>
          </a:p>
          <a:p>
            <a:pPr lvl="1"/>
            <a:r>
              <a:rPr lang="en-US" dirty="0"/>
              <a:t>Especially true for supply chain and engineering models</a:t>
            </a:r>
          </a:p>
          <a:p>
            <a:pPr lvl="1"/>
            <a:r>
              <a:rPr lang="en-US" dirty="0"/>
              <a:t>Can solve with inelastic demand to disentangle price</a:t>
            </a:r>
          </a:p>
          <a:p>
            <a:r>
              <a:rPr lang="en-US" dirty="0"/>
              <a:t>Usually pulling values through a system</a:t>
            </a:r>
          </a:p>
          <a:p>
            <a:r>
              <a:rPr lang="en-US" dirty="0"/>
              <a:t>Note – we still do not have explicit and simultaneous price/quantity control </a:t>
            </a:r>
          </a:p>
          <a:p>
            <a:r>
              <a:rPr lang="en-US" dirty="0"/>
              <a:t>For econ proofs/theories – you will need to spend time justifying assumptions implied in form choice</a:t>
            </a:r>
          </a:p>
          <a:p>
            <a:pPr lvl="1"/>
            <a:r>
              <a:rPr lang="en-US" dirty="0"/>
              <a:t>E.g. homogeneity, homotheticity, substitutability, … </a:t>
            </a:r>
          </a:p>
        </p:txBody>
      </p:sp>
      <p:sp>
        <p:nvSpPr>
          <p:cNvPr id="5" name="TextBox 4">
            <a:extLst>
              <a:ext uri="{FF2B5EF4-FFF2-40B4-BE49-F238E27FC236}">
                <a16:creationId xmlns:a16="http://schemas.microsoft.com/office/drawing/2014/main" id="{3CDF7C15-6536-06EC-05DA-FE8125533A9A}"/>
              </a:ext>
            </a:extLst>
          </p:cNvPr>
          <p:cNvSpPr txBox="1"/>
          <p:nvPr/>
        </p:nvSpPr>
        <p:spPr>
          <a:xfrm>
            <a:off x="1340518" y="5934670"/>
            <a:ext cx="9510963" cy="923330"/>
          </a:xfrm>
          <a:prstGeom prst="rect">
            <a:avLst/>
          </a:prstGeom>
          <a:noFill/>
        </p:spPr>
        <p:txBody>
          <a:bodyPr wrap="square">
            <a:spAutoFit/>
          </a:bodyPr>
          <a:lstStyle/>
          <a:p>
            <a:r>
              <a:rPr lang="en-US" dirty="0">
                <a:hlinkClick r:id="rId2"/>
              </a:rPr>
              <a:t>https://windc.wisc.edu/downloads/summercourse_2021/thursday/ces.pdf</a:t>
            </a:r>
            <a:endParaRPr lang="en-US" dirty="0"/>
          </a:p>
          <a:p>
            <a:r>
              <a:rPr lang="en-US" dirty="0">
                <a:hlinkClick r:id="rId3"/>
              </a:rPr>
              <a:t>https://www2.econ.iastate.edu/classes/econ501/Hallam/documents/FunctionalForms.pdf</a:t>
            </a:r>
            <a:endParaRPr lang="en-US" dirty="0"/>
          </a:p>
          <a:p>
            <a:r>
              <a:rPr lang="en-US" dirty="0"/>
              <a:t> </a:t>
            </a:r>
          </a:p>
        </p:txBody>
      </p:sp>
    </p:spTree>
    <p:extLst>
      <p:ext uri="{BB962C8B-B14F-4D97-AF65-F5344CB8AC3E}">
        <p14:creationId xmlns:p14="http://schemas.microsoft.com/office/powerpoint/2010/main" val="30964193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94" name="Rectangle 3093">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997E2BC-6373-E2E3-2067-2FBA3C360A14}"/>
              </a:ext>
            </a:extLst>
          </p:cNvPr>
          <p:cNvSpPr>
            <a:spLocks noGrp="1"/>
          </p:cNvSpPr>
          <p:nvPr>
            <p:ph type="title"/>
          </p:nvPr>
        </p:nvSpPr>
        <p:spPr>
          <a:xfrm>
            <a:off x="645064" y="525982"/>
            <a:ext cx="4282983" cy="1200361"/>
          </a:xfrm>
        </p:spPr>
        <p:txBody>
          <a:bodyPr anchor="b">
            <a:normAutofit/>
          </a:bodyPr>
          <a:lstStyle/>
          <a:p>
            <a:r>
              <a:rPr lang="en-US" sz="3600"/>
              <a:t>Ramsey model – main points</a:t>
            </a:r>
          </a:p>
        </p:txBody>
      </p:sp>
      <p:sp>
        <p:nvSpPr>
          <p:cNvPr id="3096" name="Rectangle 3095">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D0CBF7C-688F-D01D-A986-33AF86AB4992}"/>
              </a:ext>
            </a:extLst>
          </p:cNvPr>
          <p:cNvSpPr>
            <a:spLocks noGrp="1"/>
          </p:cNvSpPr>
          <p:nvPr>
            <p:ph idx="1"/>
          </p:nvPr>
        </p:nvSpPr>
        <p:spPr>
          <a:xfrm>
            <a:off x="221551" y="2031101"/>
            <a:ext cx="5165009" cy="3511943"/>
          </a:xfrm>
        </p:spPr>
        <p:txBody>
          <a:bodyPr anchor="ctr">
            <a:normAutofit/>
          </a:bodyPr>
          <a:lstStyle/>
          <a:p>
            <a:r>
              <a:rPr lang="en-US" sz="1800" dirty="0"/>
              <a:t>(simple) economic growth model based on labor growth, capital accumulation, investment</a:t>
            </a:r>
          </a:p>
          <a:p>
            <a:r>
              <a:rPr lang="en-US" sz="1800" dirty="0"/>
              <a:t>Target of optimization is intertemporal utility</a:t>
            </a:r>
          </a:p>
          <a:p>
            <a:r>
              <a:rPr lang="en-US" sz="1800" dirty="0"/>
              <a:t>Two variables define output: capital and labor</a:t>
            </a:r>
          </a:p>
          <a:p>
            <a:r>
              <a:rPr lang="en-US" sz="1800" dirty="0"/>
              <a:t>Concept of the steady state</a:t>
            </a:r>
          </a:p>
          <a:p>
            <a:r>
              <a:rPr lang="en-US" sz="1800" dirty="0"/>
              <a:t>Barr-Manne terminal investment condition</a:t>
            </a:r>
          </a:p>
        </p:txBody>
      </p:sp>
      <p:sp>
        <p:nvSpPr>
          <p:cNvPr id="3098" name="Rectangle 3097">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0" name="Rectangle 3099">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2" name="Rectangle 3101">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60E6E1D-D982-1A69-4C20-B3C442BABB33}"/>
              </a:ext>
            </a:extLst>
          </p:cNvPr>
          <p:cNvPicPr>
            <a:picLocks noChangeAspect="1"/>
          </p:cNvPicPr>
          <p:nvPr/>
        </p:nvPicPr>
        <p:blipFill>
          <a:blip r:embed="rId2"/>
          <a:stretch>
            <a:fillRect/>
          </a:stretch>
        </p:blipFill>
        <p:spPr>
          <a:xfrm>
            <a:off x="5987738" y="709607"/>
            <a:ext cx="5628018" cy="5205916"/>
          </a:xfrm>
          <a:prstGeom prst="rect">
            <a:avLst/>
          </a:prstGeom>
        </p:spPr>
      </p:pic>
    </p:spTree>
    <p:extLst>
      <p:ext uri="{BB962C8B-B14F-4D97-AF65-F5344CB8AC3E}">
        <p14:creationId xmlns:p14="http://schemas.microsoft.com/office/powerpoint/2010/main" val="10112091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1E098-14E0-5DA5-F1DE-AC22D87636D1}"/>
              </a:ext>
            </a:extLst>
          </p:cNvPr>
          <p:cNvSpPr>
            <a:spLocks noGrp="1"/>
          </p:cNvSpPr>
          <p:nvPr>
            <p:ph type="title"/>
          </p:nvPr>
        </p:nvSpPr>
        <p:spPr/>
        <p:txBody>
          <a:bodyPr/>
          <a:lstStyle/>
          <a:p>
            <a:r>
              <a:rPr lang="en-US" dirty="0"/>
              <a:t>The Ramsey model – indices, parameters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B57024C-AC75-343E-4D26-B9FD26FD111C}"/>
                  </a:ext>
                </a:extLst>
              </p:cNvPr>
              <p:cNvSpPr>
                <a:spLocks noGrp="1"/>
              </p:cNvSpPr>
              <p:nvPr>
                <p:ph idx="1"/>
              </p:nvPr>
            </p:nvSpPr>
            <p:spPr/>
            <p:txBody>
              <a:bodyPr>
                <a:normAutofit fontScale="92500" lnSpcReduction="10000"/>
              </a:bodyPr>
              <a:lstStyle/>
              <a:p>
                <a:pPr marL="0" indent="0">
                  <a:buNone/>
                </a:pPr>
                <a:r>
                  <a:rPr lang="en-US" sz="1800" dirty="0"/>
                  <a:t>Indices</a:t>
                </a:r>
              </a:p>
              <a:p>
                <a:pPr marL="0" indent="0">
                  <a:buNone/>
                </a:pPr>
                <a14:m>
                  <m:oMath xmlns:m="http://schemas.openxmlformats.org/officeDocument/2006/math">
                    <m:r>
                      <a:rPr lang="en-US" sz="1800" b="0" i="1" smtClean="0">
                        <a:latin typeface="Cambria Math" panose="02040503050406030204" pitchFamily="18" charset="0"/>
                      </a:rPr>
                      <m:t>𝑡</m:t>
                    </m:r>
                  </m:oMath>
                </a14:m>
                <a:r>
                  <a:rPr lang="en-US" sz="1800" dirty="0"/>
                  <a:t>: time</a:t>
                </a:r>
              </a:p>
              <a:p>
                <a:pPr marL="0" indent="0">
                  <a:buNone/>
                </a:pP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𝑡</m:t>
                        </m:r>
                      </m:e>
                      <m:sub>
                        <m:r>
                          <a:rPr lang="en-US" sz="1800" b="0" i="1" smtClean="0">
                            <a:latin typeface="Cambria Math" panose="02040503050406030204" pitchFamily="18" charset="0"/>
                          </a:rPr>
                          <m:t>0</m:t>
                        </m:r>
                      </m:sub>
                    </m:sSub>
                  </m:oMath>
                </a14:m>
                <a:r>
                  <a:rPr lang="en-US" sz="1800" dirty="0"/>
                  <a:t>: initial period</a:t>
                </a:r>
              </a:p>
              <a:p>
                <a:pPr marL="0" indent="0">
                  <a:buNone/>
                </a:pP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𝑡</m:t>
                        </m:r>
                      </m:e>
                      <m:sub>
                        <m:r>
                          <a:rPr lang="en-US" sz="1800" b="0" i="1" smtClean="0">
                            <a:latin typeface="Cambria Math" panose="02040503050406030204" pitchFamily="18" charset="0"/>
                          </a:rPr>
                          <m:t>𝑇</m:t>
                        </m:r>
                      </m:sub>
                    </m:sSub>
                  </m:oMath>
                </a14:m>
                <a:r>
                  <a:rPr lang="en-US" sz="1800" dirty="0"/>
                  <a:t>: final period</a:t>
                </a:r>
              </a:p>
              <a:p>
                <a:pPr marL="0" indent="0">
                  <a:buNone/>
                </a:pPr>
                <a:endParaRPr lang="en-US" sz="1800" dirty="0"/>
              </a:p>
              <a:p>
                <a:pPr marL="0" indent="0">
                  <a:buNone/>
                </a:pPr>
                <a:r>
                  <a:rPr lang="en-US" sz="1800" dirty="0"/>
                  <a:t>Parameters:</a:t>
                </a:r>
              </a:p>
              <a:p>
                <a14:m>
                  <m:oMath xmlns:m="http://schemas.openxmlformats.org/officeDocument/2006/math">
                    <m:sSub>
                      <m:sSubPr>
                        <m:ctrlPr>
                          <a:rPr lang="en-US" sz="1800" b="0" i="1" smtClean="0">
                            <a:effectLst/>
                            <a:latin typeface="Cambria Math" panose="02040503050406030204" pitchFamily="18" charset="0"/>
                          </a:rPr>
                        </m:ctrlPr>
                      </m:sSubPr>
                      <m:e>
                        <m:r>
                          <a:rPr lang="en-US" sz="1800" b="0" i="1" smtClean="0">
                            <a:effectLst/>
                            <a:latin typeface="Cambria Math" panose="02040503050406030204" pitchFamily="18" charset="0"/>
                          </a:rPr>
                          <m:t>𝛽</m:t>
                        </m:r>
                      </m:e>
                      <m:sub>
                        <m:r>
                          <a:rPr lang="en-US" sz="1800" b="0" i="1" smtClean="0">
                            <a:effectLst/>
                            <a:latin typeface="Cambria Math" panose="02040503050406030204" pitchFamily="18" charset="0"/>
                          </a:rPr>
                          <m:t>𝑡</m:t>
                        </m:r>
                      </m:sub>
                    </m:sSub>
                  </m:oMath>
                </a14:m>
                <a:r>
                  <a:rPr lang="en-US" sz="1800" dirty="0">
                    <a:effectLst/>
                    <a:latin typeface="Cambria Math" panose="02040503050406030204" pitchFamily="18" charset="0"/>
                  </a:rPr>
                  <a:t>: utility discount parameter</a:t>
                </a:r>
              </a:p>
              <a:p>
                <a14:m>
                  <m:oMath xmlns:m="http://schemas.openxmlformats.org/officeDocument/2006/math">
                    <m:r>
                      <a:rPr lang="en-US" sz="1800" i="1" dirty="0" smtClean="0">
                        <a:effectLst/>
                        <a:latin typeface="Cambria Math" panose="02040503050406030204" pitchFamily="18" charset="0"/>
                      </a:rPr>
                      <m:t>𝑔</m:t>
                    </m:r>
                  </m:oMath>
                </a14:m>
                <a:r>
                  <a:rPr lang="en-US" sz="1800" dirty="0">
                    <a:effectLst/>
                  </a:rPr>
                  <a:t> Labor growth rate in efficiency units (% / </a:t>
                </a:r>
                <a:r>
                  <a:rPr lang="en-US" sz="1800" dirty="0" err="1">
                    <a:effectLst/>
                  </a:rPr>
                  <a:t>yr</a:t>
                </a:r>
                <a:r>
                  <a:rPr lang="en-US" sz="1800" dirty="0">
                    <a:effectLst/>
                  </a:rPr>
                  <a:t>) </a:t>
                </a:r>
                <a:endParaRPr lang="en-US" sz="1800" dirty="0"/>
              </a:p>
              <a:p>
                <a14:m>
                  <m:oMath xmlns:m="http://schemas.openxmlformats.org/officeDocument/2006/math">
                    <m:r>
                      <a:rPr lang="en-US" sz="1800" b="0" i="1" smtClean="0">
                        <a:effectLst/>
                        <a:latin typeface="Cambria Math" panose="02040503050406030204" pitchFamily="18" charset="0"/>
                      </a:rPr>
                      <m:t>𝛿</m:t>
                    </m:r>
                  </m:oMath>
                </a14:m>
                <a:r>
                  <a:rPr lang="en-US" sz="1800" dirty="0">
                    <a:effectLst/>
                  </a:rPr>
                  <a:t> Capital depreciation rate (% / </a:t>
                </a:r>
                <a:r>
                  <a:rPr lang="en-US" sz="1800" dirty="0" err="1">
                    <a:effectLst/>
                  </a:rPr>
                  <a:t>yr</a:t>
                </a:r>
                <a:r>
                  <a:rPr lang="en-US" sz="1800" dirty="0">
                    <a:effectLst/>
                  </a:rPr>
                  <a:t>)</a:t>
                </a:r>
              </a:p>
              <a:p>
                <a14:m>
                  <m:oMath xmlns:m="http://schemas.openxmlformats.org/officeDocument/2006/math">
                    <m:r>
                      <a:rPr lang="en-US" sz="1800" b="0" i="1" smtClean="0">
                        <a:effectLst/>
                        <a:latin typeface="Cambria Math" panose="02040503050406030204" pitchFamily="18" charset="0"/>
                      </a:rPr>
                      <m:t>𝛼</m:t>
                    </m:r>
                  </m:oMath>
                </a14:m>
                <a:r>
                  <a:rPr lang="en-US" sz="1800" dirty="0">
                    <a:effectLst/>
                  </a:rPr>
                  <a:t> Capital value share </a:t>
                </a:r>
              </a:p>
              <a:p>
                <a14:m>
                  <m:oMath xmlns:m="http://schemas.openxmlformats.org/officeDocument/2006/math">
                    <m:r>
                      <a:rPr lang="en-US" sz="1800" b="0" i="1" dirty="0" smtClean="0">
                        <a:effectLst/>
                        <a:latin typeface="Cambria Math" panose="02040503050406030204" pitchFamily="18" charset="0"/>
                      </a:rPr>
                      <m:t>𝜂</m:t>
                    </m:r>
                  </m:oMath>
                </a14:m>
                <a:r>
                  <a:rPr lang="en-US" sz="1800" dirty="0">
                    <a:effectLst/>
                  </a:rPr>
                  <a:t> Inverse intertemporal elasticity </a:t>
                </a:r>
              </a:p>
              <a:p>
                <a14:m>
                  <m:oMath xmlns:m="http://schemas.openxmlformats.org/officeDocument/2006/math">
                    <m:r>
                      <a:rPr lang="en-US" sz="1800" b="0" i="1" dirty="0" smtClean="0">
                        <a:effectLst/>
                        <a:latin typeface="Cambria Math" panose="02040503050406030204" pitchFamily="18" charset="0"/>
                      </a:rPr>
                      <m:t>𝜌</m:t>
                    </m:r>
                  </m:oMath>
                </a14:m>
                <a:r>
                  <a:rPr lang="en-US" sz="1800" dirty="0">
                    <a:effectLst/>
                  </a:rPr>
                  <a:t> Calibrated marginal product of capital </a:t>
                </a:r>
              </a:p>
              <a:p>
                <a14:m>
                  <m:oMath xmlns:m="http://schemas.openxmlformats.org/officeDocument/2006/math">
                    <m:r>
                      <a:rPr lang="en-US" sz="1800" b="0" i="1" smtClean="0">
                        <a:effectLst/>
                        <a:latin typeface="Cambria Math" panose="02040503050406030204" pitchFamily="18" charset="0"/>
                      </a:rPr>
                      <m:t>𝑎</m:t>
                    </m:r>
                  </m:oMath>
                </a14:m>
                <a:r>
                  <a:rPr lang="en-US" sz="1800" dirty="0">
                    <a:effectLst/>
                  </a:rPr>
                  <a:t> Cobb Douglas scale parameter; </a:t>
                </a:r>
                <a:endParaRPr lang="en-US" sz="1800" dirty="0"/>
              </a:p>
              <a:p>
                <a:pPr marL="0" indent="0">
                  <a:buNone/>
                </a:pPr>
                <a:endParaRPr lang="en-US" sz="1800" dirty="0"/>
              </a:p>
            </p:txBody>
          </p:sp>
        </mc:Choice>
        <mc:Fallback xmlns="">
          <p:sp>
            <p:nvSpPr>
              <p:cNvPr id="3" name="Content Placeholder 2">
                <a:extLst>
                  <a:ext uri="{FF2B5EF4-FFF2-40B4-BE49-F238E27FC236}">
                    <a16:creationId xmlns:a16="http://schemas.microsoft.com/office/drawing/2014/main" id="{EB57024C-AC75-343E-4D26-B9FD26FD111C}"/>
                  </a:ext>
                </a:extLst>
              </p:cNvPr>
              <p:cNvSpPr>
                <a:spLocks noGrp="1" noRot="1" noChangeAspect="1" noMove="1" noResize="1" noEditPoints="1" noAdjustHandles="1" noChangeArrowheads="1" noChangeShapeType="1" noTextEdit="1"/>
              </p:cNvSpPr>
              <p:nvPr>
                <p:ph idx="1"/>
              </p:nvPr>
            </p:nvSpPr>
            <p:spPr>
              <a:blipFill>
                <a:blip r:embed="rId2"/>
                <a:stretch>
                  <a:fillRect l="-483" t="-1453" b="-11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D5D05AA4-18EF-B750-D998-BBD17FC09CFE}"/>
                  </a:ext>
                </a:extLst>
              </p:cNvPr>
              <p:cNvSpPr txBox="1"/>
              <p:nvPr/>
            </p:nvSpPr>
            <p:spPr>
              <a:xfrm>
                <a:off x="6344979" y="3514061"/>
                <a:ext cx="6097772" cy="1477328"/>
              </a:xfrm>
              <a:prstGeom prst="rect">
                <a:avLst/>
              </a:prstGeom>
              <a:noFill/>
            </p:spPr>
            <p:txBody>
              <a:bodyPr wrap="square">
                <a:spAutoFit/>
              </a:bodyPr>
              <a:lstStyle/>
              <a:p>
                <a:r>
                  <a:rPr lang="en-US" sz="1800" b="0" dirty="0">
                    <a:effectLst/>
                  </a:rPr>
                  <a:t>Initial setup parameters</a:t>
                </a:r>
              </a:p>
              <a:p>
                <a14:m>
                  <m:oMath xmlns:m="http://schemas.openxmlformats.org/officeDocument/2006/math">
                    <m:sSub>
                      <m:sSubPr>
                        <m:ctrlPr>
                          <a:rPr lang="en-US" sz="1800" b="0" i="1" smtClean="0">
                            <a:effectLst/>
                            <a:latin typeface="Cambria Math" panose="02040503050406030204" pitchFamily="18" charset="0"/>
                          </a:rPr>
                        </m:ctrlPr>
                      </m:sSubPr>
                      <m:e>
                        <m:r>
                          <a:rPr lang="en-US" sz="1800" b="0" i="1" smtClean="0">
                            <a:effectLst/>
                            <a:latin typeface="Cambria Math" panose="02040503050406030204" pitchFamily="18" charset="0"/>
                          </a:rPr>
                          <m:t>𝑘</m:t>
                        </m:r>
                      </m:e>
                      <m:sub>
                        <m:r>
                          <a:rPr lang="en-US" sz="1800" b="0" i="1" smtClean="0">
                            <a:effectLst/>
                            <a:latin typeface="Cambria Math" panose="02040503050406030204" pitchFamily="18" charset="0"/>
                          </a:rPr>
                          <m:t>0</m:t>
                        </m:r>
                      </m:sub>
                    </m:sSub>
                  </m:oMath>
                </a14:m>
                <a:r>
                  <a:rPr lang="en-US" sz="1800" dirty="0">
                    <a:effectLst/>
                  </a:rPr>
                  <a:t> Initial capital </a:t>
                </a:r>
                <a:r>
                  <a:rPr lang="en-US" dirty="0"/>
                  <a:t>(units of capital)</a:t>
                </a:r>
                <a:endParaRPr lang="en-US" sz="1800" dirty="0">
                  <a:effectLst/>
                </a:endParaRPr>
              </a:p>
              <a:p>
                <a14:m>
                  <m:oMath xmlns:m="http://schemas.openxmlformats.org/officeDocument/2006/math">
                    <m:sSub>
                      <m:sSubPr>
                        <m:ctrlPr>
                          <a:rPr lang="en-US" sz="1800" b="0" i="1" smtClean="0">
                            <a:effectLst/>
                            <a:latin typeface="Cambria Math" panose="02040503050406030204" pitchFamily="18" charset="0"/>
                          </a:rPr>
                        </m:ctrlPr>
                      </m:sSubPr>
                      <m:e>
                        <m:r>
                          <a:rPr lang="en-US" sz="1800" b="0" i="1" smtClean="0">
                            <a:effectLst/>
                            <a:latin typeface="Cambria Math" panose="02040503050406030204" pitchFamily="18" charset="0"/>
                          </a:rPr>
                          <m:t>𝑙</m:t>
                        </m:r>
                      </m:e>
                      <m:sub>
                        <m:r>
                          <a:rPr lang="en-US" sz="1800" b="0" i="1" smtClean="0">
                            <a:effectLst/>
                            <a:latin typeface="Cambria Math" panose="02040503050406030204" pitchFamily="18" charset="0"/>
                          </a:rPr>
                          <m:t>0</m:t>
                        </m:r>
                      </m:sub>
                    </m:sSub>
                  </m:oMath>
                </a14:m>
                <a:r>
                  <a:rPr lang="en-US" sz="1800" dirty="0">
                    <a:effectLst/>
                  </a:rPr>
                  <a:t> Initial labor (units of labor)</a:t>
                </a:r>
              </a:p>
              <a:p>
                <a14:m>
                  <m:oMath xmlns:m="http://schemas.openxmlformats.org/officeDocument/2006/math">
                    <m:sSub>
                      <m:sSubPr>
                        <m:ctrlPr>
                          <a:rPr lang="en-US" sz="1800" b="0" i="1" dirty="0" smtClean="0">
                            <a:effectLst/>
                            <a:latin typeface="Cambria Math" panose="02040503050406030204" pitchFamily="18" charset="0"/>
                          </a:rPr>
                        </m:ctrlPr>
                      </m:sSubPr>
                      <m:e>
                        <m:r>
                          <a:rPr lang="en-US" sz="1800" i="1" dirty="0" smtClean="0">
                            <a:effectLst/>
                            <a:latin typeface="Cambria Math" panose="02040503050406030204" pitchFamily="18" charset="0"/>
                          </a:rPr>
                          <m:t>𝑐</m:t>
                        </m:r>
                      </m:e>
                      <m:sub>
                        <m:r>
                          <a:rPr lang="en-US" sz="1800" b="0" i="1" dirty="0" smtClean="0">
                            <a:effectLst/>
                            <a:latin typeface="Cambria Math" panose="02040503050406030204" pitchFamily="18" charset="0"/>
                          </a:rPr>
                          <m:t>0</m:t>
                        </m:r>
                      </m:sub>
                    </m:sSub>
                  </m:oMath>
                </a14:m>
                <a:r>
                  <a:rPr lang="en-US" sz="1800" dirty="0">
                    <a:effectLst/>
                  </a:rPr>
                  <a:t> Base year consumption (units)</a:t>
                </a:r>
              </a:p>
              <a:p>
                <a14:m>
                  <m:oMath xmlns:m="http://schemas.openxmlformats.org/officeDocument/2006/math">
                    <m:sSub>
                      <m:sSubPr>
                        <m:ctrlPr>
                          <a:rPr lang="en-US" sz="1800" b="0" i="1" dirty="0" smtClean="0">
                            <a:effectLst/>
                            <a:latin typeface="Cambria Math" panose="02040503050406030204" pitchFamily="18" charset="0"/>
                          </a:rPr>
                        </m:ctrlPr>
                      </m:sSubPr>
                      <m:e>
                        <m:r>
                          <a:rPr lang="en-US" sz="1800" b="0" i="1" dirty="0" smtClean="0">
                            <a:effectLst/>
                            <a:latin typeface="Cambria Math" panose="02040503050406030204" pitchFamily="18" charset="0"/>
                          </a:rPr>
                          <m:t>𝑖</m:t>
                        </m:r>
                      </m:e>
                      <m:sub>
                        <m:r>
                          <a:rPr lang="en-US" sz="1800" b="0" i="1" dirty="0" smtClean="0">
                            <a:effectLst/>
                            <a:latin typeface="Cambria Math" panose="02040503050406030204" pitchFamily="18" charset="0"/>
                          </a:rPr>
                          <m:t>0</m:t>
                        </m:r>
                      </m:sub>
                    </m:sSub>
                  </m:oMath>
                </a14:m>
                <a:r>
                  <a:rPr lang="en-US" sz="1800" dirty="0">
                    <a:effectLst/>
                  </a:rPr>
                  <a:t> Base year investment (units)</a:t>
                </a:r>
              </a:p>
            </p:txBody>
          </p:sp>
        </mc:Choice>
        <mc:Fallback xmlns="">
          <p:sp>
            <p:nvSpPr>
              <p:cNvPr id="5" name="TextBox 4">
                <a:extLst>
                  <a:ext uri="{FF2B5EF4-FFF2-40B4-BE49-F238E27FC236}">
                    <a16:creationId xmlns:a16="http://schemas.microsoft.com/office/drawing/2014/main" id="{D5D05AA4-18EF-B750-D998-BBD17FC09CFE}"/>
                  </a:ext>
                </a:extLst>
              </p:cNvPr>
              <p:cNvSpPr txBox="1">
                <a:spLocks noRot="1" noChangeAspect="1" noMove="1" noResize="1" noEditPoints="1" noAdjustHandles="1" noChangeArrowheads="1" noChangeShapeType="1" noTextEdit="1"/>
              </p:cNvSpPr>
              <p:nvPr/>
            </p:nvSpPr>
            <p:spPr>
              <a:xfrm>
                <a:off x="6344979" y="3514061"/>
                <a:ext cx="6097772" cy="1477328"/>
              </a:xfrm>
              <a:prstGeom prst="rect">
                <a:avLst/>
              </a:prstGeom>
              <a:blipFill>
                <a:blip r:embed="rId3"/>
                <a:stretch>
                  <a:fillRect l="-832" t="-1695" b="-5085"/>
                </a:stretch>
              </a:blipFill>
            </p:spPr>
            <p:txBody>
              <a:bodyPr/>
              <a:lstStyle/>
              <a:p>
                <a:r>
                  <a:rPr lang="en-US">
                    <a:noFill/>
                  </a:rPr>
                  <a:t> </a:t>
                </a:r>
              </a:p>
            </p:txBody>
          </p:sp>
        </mc:Fallback>
      </mc:AlternateContent>
    </p:spTree>
    <p:extLst>
      <p:ext uri="{BB962C8B-B14F-4D97-AF65-F5344CB8AC3E}">
        <p14:creationId xmlns:p14="http://schemas.microsoft.com/office/powerpoint/2010/main" val="193544772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A497E8-9C9D-F484-4ECE-AB018A7AB81C}"/>
              </a:ext>
            </a:extLst>
          </p:cNvPr>
          <p:cNvSpPr>
            <a:spLocks noGrp="1"/>
          </p:cNvSpPr>
          <p:nvPr>
            <p:ph type="title"/>
          </p:nvPr>
        </p:nvSpPr>
        <p:spPr/>
        <p:txBody>
          <a:bodyPr>
            <a:normAutofit/>
          </a:bodyPr>
          <a:lstStyle/>
          <a:p>
            <a:r>
              <a:rPr lang="en-US" sz="4000" dirty="0"/>
              <a:t>The Ramsey Model – Variables, Objective function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B1EAF28-9DA3-56BD-2A5A-ECF20749D3E0}"/>
                  </a:ext>
                </a:extLst>
              </p:cNvPr>
              <p:cNvSpPr>
                <a:spLocks noGrp="1"/>
              </p:cNvSpPr>
              <p:nvPr>
                <p:ph idx="1"/>
              </p:nvPr>
            </p:nvSpPr>
            <p:spPr/>
            <p:txBody>
              <a:bodyPr>
                <a:normAutofit fontScale="85000" lnSpcReduction="20000"/>
              </a:bodyPr>
              <a:lstStyle/>
              <a:p>
                <a:pPr marL="0" indent="0">
                  <a:buNone/>
                </a:pPr>
                <a:r>
                  <a:rPr lang="en-US" dirty="0"/>
                  <a:t>Variables:</a:t>
                </a:r>
              </a:p>
              <a:p>
                <a:pPr marL="0" indent="0">
                  <a:buNone/>
                </a:pPr>
                <a14:m>
                  <m:oMath xmlns:m="http://schemas.openxmlformats.org/officeDocument/2006/math">
                    <m:r>
                      <a:rPr lang="en-US" b="0" i="1" smtClean="0">
                        <a:latin typeface="Cambria Math" panose="02040503050406030204" pitchFamily="18" charset="0"/>
                      </a:rPr>
                      <m:t>𝑈</m:t>
                    </m:r>
                  </m:oMath>
                </a14:m>
                <a:r>
                  <a:rPr lang="en-US" b="0" dirty="0">
                    <a:latin typeface="Cambria Math" panose="02040503050406030204" pitchFamily="18" charset="0"/>
                  </a:rPr>
                  <a:t>:</a:t>
                </a:r>
                <a:r>
                  <a:rPr lang="en-US" b="0" i="1" dirty="0">
                    <a:latin typeface="Cambria Math" panose="02040503050406030204" pitchFamily="18" charset="0"/>
                  </a:rPr>
                  <a:t> </a:t>
                </a:r>
                <a:r>
                  <a:rPr lang="en-US" b="0" dirty="0">
                    <a:latin typeface="Cambria Math" panose="02040503050406030204" pitchFamily="18" charset="0"/>
                  </a:rPr>
                  <a:t>intertemporal utility</a:t>
                </a:r>
              </a:p>
              <a:p>
                <a:pPr marL="0" indent="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𝑡</m:t>
                        </m:r>
                      </m:sub>
                    </m:sSub>
                  </m:oMath>
                </a14:m>
                <a:r>
                  <a:rPr lang="en-US" dirty="0"/>
                  <a:t>: consumption</a:t>
                </a:r>
              </a:p>
              <a:p>
                <a:pPr marL="0" indent="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𝑡</m:t>
                        </m:r>
                      </m:sub>
                    </m:sSub>
                  </m:oMath>
                </a14:m>
                <a:r>
                  <a:rPr lang="en-US" dirty="0"/>
                  <a:t>: capital stock</a:t>
                </a:r>
              </a:p>
              <a:p>
                <a:pPr marL="0" indent="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𝑡</m:t>
                        </m:r>
                      </m:sub>
                    </m:sSub>
                  </m:oMath>
                </a14:m>
                <a:r>
                  <a:rPr lang="en-US" dirty="0"/>
                  <a:t>: production</a:t>
                </a:r>
              </a:p>
              <a:p>
                <a:pPr marL="0" indent="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𝑡</m:t>
                        </m:r>
                      </m:sub>
                    </m:sSub>
                  </m:oMath>
                </a14:m>
                <a:r>
                  <a:rPr lang="en-US" dirty="0"/>
                  <a:t>: investment</a:t>
                </a:r>
              </a:p>
              <a:p>
                <a:pPr marL="0" indent="0">
                  <a:buNone/>
                </a:pPr>
                <a:endParaRPr lang="en-US" dirty="0"/>
              </a:p>
              <a:p>
                <a:pPr marL="0" indent="0">
                  <a:buNone/>
                </a:pPr>
                <a:r>
                  <a:rPr lang="en-US" dirty="0"/>
                  <a:t>Objective is to maximize utility across an infinite time horizon:</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𝑀</m:t>
                            </m:r>
                            <m:r>
                              <a:rPr lang="en-US" b="0" i="1" smtClean="0">
                                <a:latin typeface="Cambria Math" panose="02040503050406030204" pitchFamily="18" charset="0"/>
                              </a:rPr>
                              <m:t>𝑎𝑥</m:t>
                            </m:r>
                          </m:e>
                        </m:mr>
                        <m:mr>
                          <m:e>
                            <m:r>
                              <a:rPr lang="en-US" b="0" i="1" smtClean="0">
                                <a:latin typeface="Cambria Math" panose="02040503050406030204" pitchFamily="18" charset="0"/>
                              </a:rPr>
                              <m:t>𝑋</m:t>
                            </m:r>
                          </m:e>
                        </m:mr>
                      </m:m>
                      <m:r>
                        <a:rPr lang="en-US" b="0" i="1" smtClean="0">
                          <a:latin typeface="Cambria Math" panose="02040503050406030204" pitchFamily="18" charset="0"/>
                        </a:rPr>
                        <m:t>  </m:t>
                      </m:r>
                      <m:r>
                        <a:rPr lang="en-US" b="0" i="1" smtClean="0">
                          <a:latin typeface="Cambria Math" panose="02040503050406030204" pitchFamily="18" charset="0"/>
                        </a:rPr>
                        <m:t>𝑈</m:t>
                      </m:r>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𝑡</m:t>
                          </m:r>
                          <m:r>
                            <a:rPr lang="en-US" b="0" i="1" smtClean="0">
                              <a:latin typeface="Cambria Math" panose="02040503050406030204" pitchFamily="18" charset="0"/>
                            </a:rPr>
                            <m:t>=0</m:t>
                          </m:r>
                        </m:sub>
                        <m:sup>
                          <m:r>
                            <a:rPr lang="en-US" b="0" i="1" smtClean="0">
                              <a:latin typeface="Cambria Math" panose="02040503050406030204" pitchFamily="18" charset="0"/>
                              <a:ea typeface="Cambria Math" panose="02040503050406030204" pitchFamily="18" charset="0"/>
                            </a:rPr>
                            <m:t>⋈</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𝑡</m:t>
                              </m:r>
                            </m:sub>
                          </m:sSub>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𝐶</m:t>
                              </m:r>
                            </m:e>
                            <m:sub>
                              <m:r>
                                <a:rPr lang="en-US" b="0" i="1" smtClean="0">
                                  <a:latin typeface="Cambria Math" panose="02040503050406030204" pitchFamily="18" charset="0"/>
                                </a:rPr>
                                <m:t>𝑡</m:t>
                              </m:r>
                            </m:sub>
                            <m:sup>
                              <m:r>
                                <a:rPr lang="en-US" b="0" i="1" smtClean="0">
                                  <a:latin typeface="Cambria Math" panose="02040503050406030204" pitchFamily="18" charset="0"/>
                                </a:rPr>
                                <m:t>1−</m:t>
                              </m:r>
                              <m:r>
                                <a:rPr lang="en-US" b="0" i="1" smtClean="0">
                                  <a:latin typeface="Cambria Math" panose="02040503050406030204" pitchFamily="18" charset="0"/>
                                </a:rPr>
                                <m:t>𝜂</m:t>
                              </m:r>
                            </m:sup>
                          </m:sSubSup>
                          <m:r>
                            <a:rPr lang="en-US" b="0" i="1" smtClean="0">
                              <a:latin typeface="Cambria Math" panose="02040503050406030204" pitchFamily="18" charset="0"/>
                            </a:rPr>
                            <m:t>/(1−</m:t>
                          </m:r>
                          <m:r>
                            <a:rPr lang="en-US" b="0" i="1" smtClean="0">
                              <a:latin typeface="Cambria Math" panose="02040503050406030204" pitchFamily="18" charset="0"/>
                            </a:rPr>
                            <m:t>𝜂</m:t>
                          </m:r>
                          <m:r>
                            <a:rPr lang="en-US" b="0" i="1" smtClean="0">
                              <a:latin typeface="Cambria Math" panose="02040503050406030204" pitchFamily="18" charset="0"/>
                            </a:rPr>
                            <m:t>)</m:t>
                          </m:r>
                        </m:e>
                      </m:nary>
                    </m:oMath>
                  </m:oMathPara>
                </a14:m>
                <a:endParaRPr lang="en-US" dirty="0"/>
              </a:p>
              <a:p>
                <a:pPr marL="0" indent="0">
                  <a:buNone/>
                </a:pPr>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4B1EAF28-9DA3-56BD-2A5A-ECF20749D3E0}"/>
                  </a:ext>
                </a:extLst>
              </p:cNvPr>
              <p:cNvSpPr>
                <a:spLocks noGrp="1" noRot="1" noChangeAspect="1" noMove="1" noResize="1" noEditPoints="1" noAdjustHandles="1" noChangeArrowheads="1" noChangeShapeType="1" noTextEdit="1"/>
              </p:cNvSpPr>
              <p:nvPr>
                <p:ph idx="1"/>
              </p:nvPr>
            </p:nvSpPr>
            <p:spPr>
              <a:blipFill>
                <a:blip r:embed="rId2"/>
                <a:stretch>
                  <a:fillRect l="-965" t="-3198" b="-41279"/>
                </a:stretch>
              </a:blipFill>
            </p:spPr>
            <p:txBody>
              <a:bodyPr/>
              <a:lstStyle/>
              <a:p>
                <a:r>
                  <a:rPr lang="en-US">
                    <a:noFill/>
                  </a:rPr>
                  <a:t> </a:t>
                </a:r>
              </a:p>
            </p:txBody>
          </p:sp>
        </mc:Fallback>
      </mc:AlternateContent>
    </p:spTree>
    <p:extLst>
      <p:ext uri="{BB962C8B-B14F-4D97-AF65-F5344CB8AC3E}">
        <p14:creationId xmlns:p14="http://schemas.microsoft.com/office/powerpoint/2010/main" val="7689788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90510-D166-5FB8-00ED-4C857F9327E3}"/>
              </a:ext>
            </a:extLst>
          </p:cNvPr>
          <p:cNvSpPr>
            <a:spLocks noGrp="1"/>
          </p:cNvSpPr>
          <p:nvPr>
            <p:ph type="title"/>
          </p:nvPr>
        </p:nvSpPr>
        <p:spPr/>
        <p:txBody>
          <a:bodyPr/>
          <a:lstStyle/>
          <a:p>
            <a:r>
              <a:rPr lang="en-US" dirty="0"/>
              <a:t>Setting the utility discount factor…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D78861E-3A1A-0F65-F94A-483FFA389332}"/>
                  </a:ext>
                </a:extLst>
              </p:cNvPr>
              <p:cNvSpPr>
                <a:spLocks noGrp="1"/>
              </p:cNvSpPr>
              <p:nvPr>
                <p:ph idx="1"/>
              </p:nvPr>
            </p:nvSpPr>
            <p:spPr/>
            <p:txBody>
              <a:bodyPr/>
              <a:lstStyle/>
              <a:p>
                <a:pPr marL="0" indent="0">
                  <a:buNone/>
                </a:pPr>
                <a:r>
                  <a:rPr lang="en-US" dirty="0"/>
                  <a:t>Need to weight utility to…</a:t>
                </a:r>
              </a:p>
              <a:p>
                <a:pPr marL="0" indent="0">
                  <a:buNone/>
                </a:pPr>
                <a:r>
                  <a:rPr lang="en-US" dirty="0"/>
                  <a:t>- Account for time preference</a:t>
                </a:r>
              </a:p>
              <a:p>
                <a:pPr marL="0" indent="0">
                  <a:buNone/>
                </a:pPr>
                <a:r>
                  <a:rPr lang="en-US" dirty="0"/>
                  <a:t>- Account for population growth</a:t>
                </a:r>
              </a:p>
              <a:p>
                <a:pPr>
                  <a:buFontTx/>
                  <a:buChar char="-"/>
                </a:pPr>
                <a:r>
                  <a:rPr lang="en-US" dirty="0"/>
                  <a:t>Account for productivity of capital</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𝑔</m:t>
                                          </m:r>
                                        </m:e>
                                      </m:d>
                                    </m:e>
                                    <m:sup>
                                      <m:r>
                                        <a:rPr lang="en-US" b="0" i="1" smtClean="0">
                                          <a:latin typeface="Cambria Math" panose="02040503050406030204" pitchFamily="18" charset="0"/>
                                        </a:rPr>
                                        <m:t>𝜂</m:t>
                                      </m:r>
                                    </m:sup>
                                  </m:sSup>
                                </m:num>
                                <m:den>
                                  <m:r>
                                    <a:rPr lang="en-US" b="0" i="1" smtClean="0">
                                      <a:latin typeface="Cambria Math" panose="02040503050406030204" pitchFamily="18" charset="0"/>
                                    </a:rPr>
                                    <m:t>1+</m:t>
                                  </m:r>
                                  <m:r>
                                    <a:rPr lang="en-US" b="0" i="1" smtClean="0">
                                      <a:latin typeface="Cambria Math" panose="02040503050406030204" pitchFamily="18" charset="0"/>
                                    </a:rPr>
                                    <m:t>𝜌</m:t>
                                  </m:r>
                                </m:den>
                              </m:f>
                            </m:e>
                          </m:d>
                        </m:e>
                        <m:sup>
                          <m:r>
                            <a:rPr lang="en-US" b="0" i="1" smtClean="0">
                              <a:latin typeface="Cambria Math" panose="02040503050406030204" pitchFamily="18" charset="0"/>
                            </a:rPr>
                            <m:t>𝑡</m:t>
                          </m:r>
                        </m:sup>
                      </m:sSup>
                    </m:oMath>
                  </m:oMathPara>
                </a14:m>
                <a:endParaRPr lang="en-US" dirty="0"/>
              </a:p>
            </p:txBody>
          </p:sp>
        </mc:Choice>
        <mc:Fallback xmlns="">
          <p:sp>
            <p:nvSpPr>
              <p:cNvPr id="3" name="Content Placeholder 2">
                <a:extLst>
                  <a:ext uri="{FF2B5EF4-FFF2-40B4-BE49-F238E27FC236}">
                    <a16:creationId xmlns:a16="http://schemas.microsoft.com/office/drawing/2014/main" id="{AD78861E-3A1A-0F65-F94A-483FFA389332}"/>
                  </a:ext>
                </a:extLst>
              </p:cNvPr>
              <p:cNvSpPr>
                <a:spLocks noGrp="1" noRot="1" noChangeAspect="1" noMove="1" noResize="1" noEditPoints="1" noAdjustHandles="1" noChangeArrowheads="1" noChangeShapeType="1" noTextEdit="1"/>
              </p:cNvSpPr>
              <p:nvPr>
                <p:ph idx="1"/>
              </p:nvPr>
            </p:nvSpPr>
            <p:spPr>
              <a:blipFill>
                <a:blip r:embed="rId2"/>
                <a:stretch>
                  <a:fillRect l="-1206" t="-2326"/>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7D6198BD-572F-FD79-B653-9DBAE2D18B58}"/>
              </a:ext>
            </a:extLst>
          </p:cNvPr>
          <p:cNvSpPr txBox="1"/>
          <p:nvPr/>
        </p:nvSpPr>
        <p:spPr>
          <a:xfrm>
            <a:off x="7361498" y="2850266"/>
            <a:ext cx="4662687" cy="646331"/>
          </a:xfrm>
          <a:prstGeom prst="rect">
            <a:avLst/>
          </a:prstGeom>
          <a:noFill/>
        </p:spPr>
        <p:txBody>
          <a:bodyPr wrap="none" rtlCol="0">
            <a:spAutoFit/>
          </a:bodyPr>
          <a:lstStyle/>
          <a:p>
            <a:r>
              <a:rPr lang="en-US" dirty="0"/>
              <a:t>Weighing future based on population growth, </a:t>
            </a:r>
          </a:p>
          <a:p>
            <a:r>
              <a:rPr lang="en-US" dirty="0"/>
              <a:t>future productivity of to capital</a:t>
            </a:r>
          </a:p>
        </p:txBody>
      </p:sp>
      <p:cxnSp>
        <p:nvCxnSpPr>
          <p:cNvPr id="6" name="Straight Arrow Connector 5">
            <a:extLst>
              <a:ext uri="{FF2B5EF4-FFF2-40B4-BE49-F238E27FC236}">
                <a16:creationId xmlns:a16="http://schemas.microsoft.com/office/drawing/2014/main" id="{AC66854E-6229-D956-23A6-DF77FFE1F31E}"/>
              </a:ext>
            </a:extLst>
          </p:cNvPr>
          <p:cNvCxnSpPr>
            <a:stCxn id="4" idx="2"/>
          </p:cNvCxnSpPr>
          <p:nvPr/>
        </p:nvCxnSpPr>
        <p:spPr>
          <a:xfrm flipH="1">
            <a:off x="6748041" y="3496597"/>
            <a:ext cx="2944801" cy="65871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2A6E5699-2CB5-61EB-C37A-93D7CCC101FB}"/>
              </a:ext>
            </a:extLst>
          </p:cNvPr>
          <p:cNvSpPr txBox="1"/>
          <p:nvPr/>
        </p:nvSpPr>
        <p:spPr>
          <a:xfrm>
            <a:off x="7168210" y="5807631"/>
            <a:ext cx="4550476" cy="369332"/>
          </a:xfrm>
          <a:prstGeom prst="rect">
            <a:avLst/>
          </a:prstGeom>
          <a:noFill/>
        </p:spPr>
        <p:txBody>
          <a:bodyPr wrap="square" rtlCol="0">
            <a:spAutoFit/>
          </a:bodyPr>
          <a:lstStyle/>
          <a:p>
            <a:r>
              <a:rPr lang="en-US" dirty="0"/>
              <a:t>Making JG Wentworth proud</a:t>
            </a:r>
          </a:p>
        </p:txBody>
      </p:sp>
      <p:cxnSp>
        <p:nvCxnSpPr>
          <p:cNvPr id="8" name="Straight Arrow Connector 7">
            <a:extLst>
              <a:ext uri="{FF2B5EF4-FFF2-40B4-BE49-F238E27FC236}">
                <a16:creationId xmlns:a16="http://schemas.microsoft.com/office/drawing/2014/main" id="{E8D1FAF4-3C04-DDCD-203E-D5691744354D}"/>
              </a:ext>
            </a:extLst>
          </p:cNvPr>
          <p:cNvCxnSpPr>
            <a:cxnSpLocks/>
          </p:cNvCxnSpPr>
          <p:nvPr/>
        </p:nvCxnSpPr>
        <p:spPr>
          <a:xfrm flipH="1" flipV="1">
            <a:off x="6748041" y="5341434"/>
            <a:ext cx="2663588" cy="47950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8354142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C7A56-BA38-F11D-C16D-9AC1AA960F9A}"/>
              </a:ext>
            </a:extLst>
          </p:cNvPr>
          <p:cNvSpPr>
            <a:spLocks noGrp="1"/>
          </p:cNvSpPr>
          <p:nvPr>
            <p:ph type="title"/>
          </p:nvPr>
        </p:nvSpPr>
        <p:spPr/>
        <p:txBody>
          <a:bodyPr/>
          <a:lstStyle/>
          <a:p>
            <a:r>
              <a:rPr lang="en-US" dirty="0"/>
              <a:t>Constraints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C9ABC0B-2389-28DE-9551-20AB08E217D2}"/>
                  </a:ext>
                </a:extLst>
              </p:cNvPr>
              <p:cNvSpPr>
                <a:spLocks noGrp="1"/>
              </p:cNvSpPr>
              <p:nvPr>
                <p:ph idx="1"/>
              </p:nvPr>
            </p:nvSpPr>
            <p:spPr/>
            <p:txBody>
              <a:bodyPr/>
              <a:lstStyle/>
              <a:p>
                <a:pPr marL="0" indent="0">
                  <a:buNone/>
                </a:pPr>
                <a:r>
                  <a:rPr lang="en-US" dirty="0"/>
                  <a:t>Cobb-Douglas production function:</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𝑎</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𝛼</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𝐿</m:t>
                          </m:r>
                        </m:e>
                        <m:sup>
                          <m:r>
                            <a:rPr lang="en-US" b="0" i="1" smtClean="0">
                              <a:latin typeface="Cambria Math" panose="02040503050406030204" pitchFamily="18" charset="0"/>
                            </a:rPr>
                            <m:t>1−</m:t>
                          </m:r>
                          <m:r>
                            <a:rPr lang="en-US" b="0" i="1" smtClean="0">
                              <a:latin typeface="Cambria Math" panose="02040503050406030204" pitchFamily="18" charset="0"/>
                            </a:rPr>
                            <m:t>𝛼</m:t>
                          </m:r>
                        </m:sup>
                      </m:sSup>
                    </m:oMath>
                  </m:oMathPara>
                </a14:m>
                <a:endParaRPr lang="en-US" dirty="0"/>
              </a:p>
              <a:p>
                <a:pPr marL="0" indent="0">
                  <a:buNone/>
                </a:pPr>
                <a:endParaRPr lang="en-US" dirty="0"/>
              </a:p>
              <a:p>
                <a:pPr marL="0" indent="0">
                  <a:buNone/>
                </a:pPr>
                <a:r>
                  <a:rPr lang="en-US" dirty="0"/>
                  <a:t>Production is split between consumption and investment:</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𝑡</m:t>
                          </m:r>
                        </m:sub>
                      </m:sSub>
                    </m:oMath>
                  </m:oMathPara>
                </a14:m>
                <a:endParaRPr lang="en-US" dirty="0"/>
              </a:p>
              <a:p>
                <a:pPr marL="0" indent="0">
                  <a:buNone/>
                </a:pPr>
                <a:endParaRPr lang="en-US" dirty="0"/>
              </a:p>
              <a:p>
                <a:pPr marL="0" indent="0">
                  <a:buNone/>
                </a:pPr>
                <a:r>
                  <a:rPr lang="en-US" dirty="0"/>
                  <a:t>Tracking of capital stock:</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𝛿</m:t>
                          </m:r>
                        </m:e>
                      </m:d>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𝑡</m:t>
                          </m:r>
                        </m:sub>
                      </m:sSub>
                    </m:oMath>
                  </m:oMathPara>
                </a14:m>
                <a:endParaRPr lang="en-US" dirty="0"/>
              </a:p>
              <a:p>
                <a:pPr marL="0" indent="0">
                  <a:buNone/>
                </a:pPr>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3C9ABC0B-2389-28DE-9551-20AB08E217D2}"/>
                  </a:ext>
                </a:extLst>
              </p:cNvPr>
              <p:cNvSpPr>
                <a:spLocks noGrp="1" noRot="1" noChangeAspect="1" noMove="1" noResize="1" noEditPoints="1" noAdjustHandles="1" noChangeArrowheads="1" noChangeShapeType="1" noTextEdit="1"/>
              </p:cNvSpPr>
              <p:nvPr>
                <p:ph idx="1"/>
              </p:nvPr>
            </p:nvSpPr>
            <p:spPr>
              <a:blipFill>
                <a:blip r:embed="rId2"/>
                <a:stretch>
                  <a:fillRect l="-1206" t="-2326"/>
                </a:stretch>
              </a:blipFill>
            </p:spPr>
            <p:txBody>
              <a:bodyPr/>
              <a:lstStyle/>
              <a:p>
                <a:r>
                  <a:rPr lang="en-US">
                    <a:noFill/>
                  </a:rPr>
                  <a:t> </a:t>
                </a:r>
              </a:p>
            </p:txBody>
          </p:sp>
        </mc:Fallback>
      </mc:AlternateContent>
    </p:spTree>
    <p:extLst>
      <p:ext uri="{BB962C8B-B14F-4D97-AF65-F5344CB8AC3E}">
        <p14:creationId xmlns:p14="http://schemas.microsoft.com/office/powerpoint/2010/main" val="195467457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6B2F1-1F97-F771-117D-D16955B24444}"/>
              </a:ext>
            </a:extLst>
          </p:cNvPr>
          <p:cNvSpPr>
            <a:spLocks noGrp="1"/>
          </p:cNvSpPr>
          <p:nvPr>
            <p:ph type="title"/>
          </p:nvPr>
        </p:nvSpPr>
        <p:spPr/>
        <p:txBody>
          <a:bodyPr/>
          <a:lstStyle/>
          <a:p>
            <a:r>
              <a:rPr lang="en-US" dirty="0"/>
              <a:t>Calibration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ACF2FAA-010D-F01F-B09A-6E1304DF85C8}"/>
                  </a:ext>
                </a:extLst>
              </p:cNvPr>
              <p:cNvSpPr>
                <a:spLocks noGrp="1"/>
              </p:cNvSpPr>
              <p:nvPr>
                <p:ph idx="1"/>
              </p:nvPr>
            </p:nvSpPr>
            <p:spPr/>
            <p:txBody>
              <a:bodyPr>
                <a:normAutofit lnSpcReduction="10000"/>
              </a:bodyPr>
              <a:lstStyle/>
              <a:p>
                <a:r>
                  <a:rPr lang="en-US" dirty="0"/>
                  <a:t>Here, we’re going to make several assumptions…</a:t>
                </a:r>
              </a:p>
              <a:p>
                <a:pPr marL="0" indent="0">
                  <a:buNone/>
                </a:pPr>
                <a:r>
                  <a:rPr lang="en-US" dirty="0"/>
                  <a:t>g= 0.023</a:t>
                </a:r>
              </a:p>
              <a:p>
                <a:pPr marL="0" indent="0">
                  <a:buNone/>
                </a:pPr>
                <a14:m>
                  <m:oMath xmlns:m="http://schemas.openxmlformats.org/officeDocument/2006/math">
                    <m:r>
                      <a:rPr lang="en-US" b="0" i="1" smtClean="0">
                        <a:latin typeface="Cambria Math" panose="02040503050406030204" pitchFamily="18" charset="0"/>
                      </a:rPr>
                      <m:t>𝛿</m:t>
                    </m:r>
                  </m:oMath>
                </a14:m>
                <a:r>
                  <a:rPr lang="en-US" dirty="0"/>
                  <a:t>=0.04</a:t>
                </a:r>
              </a:p>
              <a:p>
                <a:pPr marL="0" indent="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0</m:t>
                        </m:r>
                      </m:sub>
                    </m:sSub>
                  </m:oMath>
                </a14:m>
                <a:r>
                  <a:rPr lang="en-US" dirty="0"/>
                  <a:t>=0.3</a:t>
                </a:r>
              </a:p>
              <a:p>
                <a:pPr marL="0" indent="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0</m:t>
                        </m:r>
                      </m:sub>
                    </m:sSub>
                  </m:oMath>
                </a14:m>
                <a:r>
                  <a:rPr lang="en-US" dirty="0"/>
                  <a:t>=0.27</a:t>
                </a:r>
              </a:p>
              <a:p>
                <a:pPr marL="0" indent="0">
                  <a:buNone/>
                </a:pPr>
                <a14:m>
                  <m:oMath xmlns:m="http://schemas.openxmlformats.org/officeDocument/2006/math">
                    <m:r>
                      <a:rPr lang="en-US" b="0" i="1" smtClean="0">
                        <a:latin typeface="Cambria Math" panose="02040503050406030204" pitchFamily="18" charset="0"/>
                      </a:rPr>
                      <m:t>𝛽</m:t>
                    </m:r>
                  </m:oMath>
                </a14:m>
                <a:r>
                  <a:rPr lang="en-US" dirty="0"/>
                  <a:t>=0.65</a:t>
                </a:r>
              </a:p>
              <a:p>
                <a:pPr marL="0" indent="0">
                  <a:buNone/>
                </a:pPr>
                <a14:m>
                  <m:oMath xmlns:m="http://schemas.openxmlformats.org/officeDocument/2006/math">
                    <m:r>
                      <a:rPr lang="en-US" b="0" i="1" smtClean="0">
                        <a:latin typeface="Cambria Math" panose="02040503050406030204" pitchFamily="18" charset="0"/>
                      </a:rPr>
                      <m:t>𝜂</m:t>
                    </m:r>
                  </m:oMath>
                </a14:m>
                <a:r>
                  <a:rPr lang="en-US" dirty="0"/>
                  <a:t>=2</a:t>
                </a:r>
              </a:p>
              <a:p>
                <a:pPr marL="0" indent="0">
                  <a:buNone/>
                </a:pPr>
                <a:endParaRPr lang="en-US" dirty="0"/>
              </a:p>
              <a:p>
                <a:pPr marL="0" indent="0">
                  <a:buNone/>
                </a:pPr>
                <a:r>
                  <a:rPr lang="en-US" dirty="0"/>
                  <a:t>… but need to make sure we’re in equilibrium in the first period..</a:t>
                </a:r>
              </a:p>
            </p:txBody>
          </p:sp>
        </mc:Choice>
        <mc:Fallback xmlns="">
          <p:sp>
            <p:nvSpPr>
              <p:cNvPr id="3" name="Content Placeholder 2">
                <a:extLst>
                  <a:ext uri="{FF2B5EF4-FFF2-40B4-BE49-F238E27FC236}">
                    <a16:creationId xmlns:a16="http://schemas.microsoft.com/office/drawing/2014/main" id="{1ACF2FAA-010D-F01F-B09A-6E1304DF85C8}"/>
                  </a:ext>
                </a:extLst>
              </p:cNvPr>
              <p:cNvSpPr>
                <a:spLocks noGrp="1" noRot="1" noChangeAspect="1" noMove="1" noResize="1" noEditPoints="1" noAdjustHandles="1" noChangeArrowheads="1" noChangeShapeType="1" noTextEdit="1"/>
              </p:cNvSpPr>
              <p:nvPr>
                <p:ph idx="1"/>
              </p:nvPr>
            </p:nvSpPr>
            <p:spPr>
              <a:blipFill>
                <a:blip r:embed="rId2"/>
                <a:stretch>
                  <a:fillRect l="-1206" t="-3198" b="-291"/>
                </a:stretch>
              </a:blipFill>
            </p:spPr>
            <p:txBody>
              <a:bodyPr/>
              <a:lstStyle/>
              <a:p>
                <a:r>
                  <a:rPr lang="en-US">
                    <a:noFill/>
                  </a:rPr>
                  <a:t> </a:t>
                </a:r>
              </a:p>
            </p:txBody>
          </p:sp>
        </mc:Fallback>
      </mc:AlternateContent>
    </p:spTree>
    <p:extLst>
      <p:ext uri="{BB962C8B-B14F-4D97-AF65-F5344CB8AC3E}">
        <p14:creationId xmlns:p14="http://schemas.microsoft.com/office/powerpoint/2010/main" val="397115787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3BD80-3749-A6CB-7E32-9B22D4B1AA51}"/>
              </a:ext>
            </a:extLst>
          </p:cNvPr>
          <p:cNvSpPr>
            <a:spLocks noGrp="1"/>
          </p:cNvSpPr>
          <p:nvPr>
            <p:ph type="title"/>
          </p:nvPr>
        </p:nvSpPr>
        <p:spPr>
          <a:xfrm>
            <a:off x="838200" y="-41204"/>
            <a:ext cx="10515600" cy="1325563"/>
          </a:xfrm>
        </p:spPr>
        <p:txBody>
          <a:bodyPr/>
          <a:lstStyle/>
          <a:p>
            <a:r>
              <a:rPr lang="en-US" dirty="0"/>
              <a:t>Initial capital/labor calibration</a:t>
            </a:r>
          </a:p>
        </p:txBody>
      </p:sp>
      <p:sp>
        <p:nvSpPr>
          <p:cNvPr id="3" name="Content Placeholder 2">
            <a:extLst>
              <a:ext uri="{FF2B5EF4-FFF2-40B4-BE49-F238E27FC236}">
                <a16:creationId xmlns:a16="http://schemas.microsoft.com/office/drawing/2014/main" id="{0287F755-6E8F-F9DA-95AC-27D3559F9AA5}"/>
              </a:ext>
            </a:extLst>
          </p:cNvPr>
          <p:cNvSpPr>
            <a:spLocks noGrp="1"/>
          </p:cNvSpPr>
          <p:nvPr>
            <p:ph idx="1"/>
          </p:nvPr>
        </p:nvSpPr>
        <p:spPr/>
        <p:txBody>
          <a:bodyPr/>
          <a:lstStyle/>
          <a:p>
            <a:endParaRPr lang="en-US" sz="2800" dirty="0">
              <a:effectLst/>
            </a:endParaRPr>
          </a:p>
          <a:p>
            <a:endParaRPr lang="en-US" sz="2800" dirty="0">
              <a:effectLst/>
            </a:endParaRPr>
          </a:p>
          <a:p>
            <a:pPr marL="0" indent="0">
              <a:buNone/>
            </a:pPr>
            <a:endParaRPr lang="en-US"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469A65B-97D3-2F65-5B77-8D26982BD698}"/>
                  </a:ext>
                </a:extLst>
              </p:cNvPr>
              <p:cNvSpPr txBox="1"/>
              <p:nvPr/>
            </p:nvSpPr>
            <p:spPr>
              <a:xfrm>
                <a:off x="754912" y="1121475"/>
                <a:ext cx="10598888" cy="6016647"/>
              </a:xfrm>
              <a:prstGeom prst="rect">
                <a:avLst/>
              </a:prstGeom>
              <a:noFill/>
            </p:spPr>
            <p:txBody>
              <a:bodyPr wrap="square" rtlCol="0">
                <a:spAutoFit/>
              </a:bodyPr>
              <a:lstStyle/>
              <a:p>
                <a:r>
                  <a:rPr lang="en-US" sz="2400" dirty="0">
                    <a:effectLst/>
                    <a:latin typeface="SFBMR10"/>
                  </a:rPr>
                  <a:t>Investment must cover depreciation plus population growth. Given the investment rate, we can back out the initial capital stock level. Knowing investment must cover initial capital stock’s expected growth rate and depreciation in the first period: </a:t>
                </a:r>
                <a:endParaRPr lang="en-US" sz="2400" dirty="0"/>
              </a:p>
              <a:p>
                <a:endParaRPr lang="en-US" sz="2400" dirty="0"/>
              </a:p>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𝑘</m:t>
                          </m:r>
                        </m:e>
                        <m:sub>
                          <m:r>
                            <a:rPr lang="en-US" sz="2400" b="0" i="1" smtClean="0">
                              <a:latin typeface="Cambria Math" panose="02040503050406030204" pitchFamily="18" charset="0"/>
                            </a:rPr>
                            <m:t>0</m:t>
                          </m:r>
                        </m:sub>
                      </m:sSub>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𝑔</m:t>
                          </m:r>
                          <m:r>
                            <a:rPr lang="en-US" sz="2400" b="0" i="1" smtClean="0">
                              <a:latin typeface="Cambria Math" panose="02040503050406030204" pitchFamily="18" charset="0"/>
                            </a:rPr>
                            <m:t>+</m:t>
                          </m:r>
                          <m:r>
                            <a:rPr lang="en-US" sz="2400" b="0" i="1" smtClean="0">
                              <a:latin typeface="Cambria Math" panose="02040503050406030204" pitchFamily="18" charset="0"/>
                            </a:rPr>
                            <m:t>𝛿</m:t>
                          </m:r>
                        </m:e>
                      </m:d>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𝑖</m:t>
                          </m:r>
                        </m:e>
                        <m:sub>
                          <m:r>
                            <a:rPr lang="en-US" sz="2400" b="0" i="1" smtClean="0">
                              <a:latin typeface="Cambria Math" panose="02040503050406030204" pitchFamily="18" charset="0"/>
                            </a:rPr>
                            <m:t>0</m:t>
                          </m:r>
                        </m:sub>
                      </m:sSub>
                    </m:oMath>
                  </m:oMathPara>
                </a14:m>
                <a:endParaRPr lang="en-US" sz="2400" dirty="0"/>
              </a:p>
              <a:p>
                <a:endParaRPr lang="en-US" sz="2400" dirty="0"/>
              </a:p>
              <a:p>
                <a:r>
                  <a:rPr lang="en-US" sz="2400" dirty="0"/>
                  <a:t>Can thus back out calibrated initial capital level:</a:t>
                </a:r>
              </a:p>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𝑘</m:t>
                          </m:r>
                        </m:e>
                        <m:sub>
                          <m:r>
                            <a:rPr lang="en-US" sz="2400" b="0" i="1" smtClean="0">
                              <a:latin typeface="Cambria Math" panose="02040503050406030204" pitchFamily="18" charset="0"/>
                            </a:rPr>
                            <m:t>0</m:t>
                          </m:r>
                        </m:sub>
                      </m:sSub>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𝑖</m:t>
                              </m:r>
                            </m:e>
                            <m:sub>
                              <m:r>
                                <a:rPr lang="en-US" sz="2400" b="0" i="1" smtClean="0">
                                  <a:latin typeface="Cambria Math" panose="02040503050406030204" pitchFamily="18" charset="0"/>
                                </a:rPr>
                                <m:t>0</m:t>
                              </m:r>
                            </m:sub>
                          </m:sSub>
                        </m:num>
                        <m:den>
                          <m:r>
                            <a:rPr lang="en-US" sz="2400" b="0" i="1" smtClean="0">
                              <a:latin typeface="Cambria Math" panose="02040503050406030204" pitchFamily="18" charset="0"/>
                            </a:rPr>
                            <m:t>𝑔</m:t>
                          </m:r>
                          <m:r>
                            <a:rPr lang="en-US" sz="2400" b="0" i="1" smtClean="0">
                              <a:latin typeface="Cambria Math" panose="02040503050406030204" pitchFamily="18" charset="0"/>
                            </a:rPr>
                            <m:t>+</m:t>
                          </m:r>
                          <m:r>
                            <a:rPr lang="en-US" sz="2400" b="0" i="1" smtClean="0">
                              <a:latin typeface="Cambria Math" panose="02040503050406030204" pitchFamily="18" charset="0"/>
                            </a:rPr>
                            <m:t>𝛿</m:t>
                          </m:r>
                        </m:den>
                      </m:f>
                    </m:oMath>
                  </m:oMathPara>
                </a14:m>
                <a:endParaRPr lang="en-US" sz="2400" dirty="0"/>
              </a:p>
              <a:p>
                <a:endParaRPr lang="en-US" sz="2400" dirty="0"/>
              </a:p>
              <a:p>
                <a:pPr marL="0" indent="0">
                  <a:buNone/>
                </a:pPr>
                <a:r>
                  <a:rPr lang="en-US" sz="2400" dirty="0"/>
                  <a:t>Labor supply is it’s share in production [times] initial production:</a:t>
                </a:r>
              </a:p>
              <a:p>
                <a:pPr marL="0" indent="0">
                  <a:buNone/>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𝑙</m:t>
                          </m:r>
                        </m:e>
                        <m:sub>
                          <m:r>
                            <a:rPr lang="en-US" sz="2400" b="0" i="1" smtClean="0">
                              <a:latin typeface="Cambria Math" panose="02040503050406030204" pitchFamily="18" charset="0"/>
                            </a:rPr>
                            <m:t>0</m:t>
                          </m:r>
                        </m:sub>
                      </m:sSub>
                      <m:r>
                        <a:rPr lang="en-US" sz="2400" b="0" i="1" smtClean="0">
                          <a:latin typeface="Cambria Math" panose="02040503050406030204" pitchFamily="18" charset="0"/>
                        </a:rPr>
                        <m:t>=</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1−</m:t>
                          </m:r>
                          <m:r>
                            <a:rPr lang="en-US" sz="2400" b="0" i="1" smtClean="0">
                              <a:latin typeface="Cambria Math" panose="02040503050406030204" pitchFamily="18" charset="0"/>
                            </a:rPr>
                            <m:t>𝛼</m:t>
                          </m:r>
                        </m:e>
                      </m:d>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𝑐</m:t>
                          </m:r>
                        </m:e>
                        <m:sub>
                          <m:r>
                            <a:rPr lang="en-US" sz="2400" b="0" i="1" smtClean="0">
                              <a:latin typeface="Cambria Math" panose="02040503050406030204" pitchFamily="18" charset="0"/>
                            </a:rPr>
                            <m:t>0</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𝑖</m:t>
                          </m:r>
                        </m:e>
                        <m:sub>
                          <m:r>
                            <a:rPr lang="en-US" sz="2400" b="0" i="1" smtClean="0">
                              <a:latin typeface="Cambria Math" panose="02040503050406030204" pitchFamily="18" charset="0"/>
                            </a:rPr>
                            <m:t>0</m:t>
                          </m:r>
                        </m:sub>
                      </m:sSub>
                      <m:r>
                        <a:rPr lang="en-US" sz="2400" b="0" i="1" smtClean="0">
                          <a:latin typeface="Cambria Math" panose="02040503050406030204" pitchFamily="18" charset="0"/>
                        </a:rPr>
                        <m:t>)</m:t>
                      </m:r>
                    </m:oMath>
                  </m:oMathPara>
                </a14:m>
                <a:endParaRPr lang="en-US" sz="2400" dirty="0"/>
              </a:p>
              <a:p>
                <a:endParaRPr lang="en-US" sz="2400" dirty="0"/>
              </a:p>
              <a:p>
                <a:r>
                  <a:rPr lang="en-US" sz="2400" dirty="0"/>
                  <a:t>(exogenously-defined) labor grows at the labor growth rate:</a:t>
                </a:r>
              </a:p>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𝑙</m:t>
                          </m:r>
                        </m:e>
                        <m:sub>
                          <m:r>
                            <a:rPr lang="en-US" sz="2400" b="0" i="1" smtClean="0">
                              <a:latin typeface="Cambria Math" panose="02040503050406030204" pitchFamily="18" charset="0"/>
                            </a:rPr>
                            <m:t>𝑡</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𝑙</m:t>
                          </m:r>
                        </m:e>
                        <m:sub>
                          <m:r>
                            <a:rPr lang="en-US" sz="2400" b="0" i="1" smtClean="0">
                              <a:latin typeface="Cambria Math" panose="02040503050406030204" pitchFamily="18" charset="0"/>
                            </a:rPr>
                            <m:t>0</m:t>
                          </m:r>
                        </m:sub>
                      </m:sSub>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d>
                            <m:dPr>
                              <m:ctrlPr>
                                <a:rPr lang="en-US" sz="2400" b="0" i="1" smtClean="0">
                                  <a:latin typeface="Cambria Math" panose="02040503050406030204" pitchFamily="18" charset="0"/>
                                </a:rPr>
                              </m:ctrlPr>
                            </m:dPr>
                            <m:e>
                              <m:r>
                                <a:rPr lang="en-US" sz="2400" b="0" i="1" smtClean="0">
                                  <a:latin typeface="Cambria Math" panose="02040503050406030204" pitchFamily="18" charset="0"/>
                                </a:rPr>
                                <m:t>1+</m:t>
                              </m:r>
                              <m:r>
                                <a:rPr lang="en-US" sz="2400" b="0" i="1" smtClean="0">
                                  <a:latin typeface="Cambria Math" panose="02040503050406030204" pitchFamily="18" charset="0"/>
                                </a:rPr>
                                <m:t>𝑔</m:t>
                              </m:r>
                            </m:e>
                          </m:d>
                        </m:e>
                        <m:sup>
                          <m:r>
                            <a:rPr lang="en-US" sz="2400" b="0" i="1" smtClean="0">
                              <a:latin typeface="Cambria Math" panose="02040503050406030204" pitchFamily="18" charset="0"/>
                            </a:rPr>
                            <m:t>𝑡</m:t>
                          </m:r>
                        </m:sup>
                      </m:sSup>
                    </m:oMath>
                  </m:oMathPara>
                </a14:m>
                <a:endParaRPr lang="en-US" sz="2400" dirty="0"/>
              </a:p>
              <a:p>
                <a:endParaRPr lang="en-US" sz="2400" dirty="0"/>
              </a:p>
            </p:txBody>
          </p:sp>
        </mc:Choice>
        <mc:Fallback xmlns="">
          <p:sp>
            <p:nvSpPr>
              <p:cNvPr id="4" name="TextBox 3">
                <a:extLst>
                  <a:ext uri="{FF2B5EF4-FFF2-40B4-BE49-F238E27FC236}">
                    <a16:creationId xmlns:a16="http://schemas.microsoft.com/office/drawing/2014/main" id="{C469A65B-97D3-2F65-5B77-8D26982BD698}"/>
                  </a:ext>
                </a:extLst>
              </p:cNvPr>
              <p:cNvSpPr txBox="1">
                <a:spLocks noRot="1" noChangeAspect="1" noMove="1" noResize="1" noEditPoints="1" noAdjustHandles="1" noChangeArrowheads="1" noChangeShapeType="1" noTextEdit="1"/>
              </p:cNvSpPr>
              <p:nvPr/>
            </p:nvSpPr>
            <p:spPr>
              <a:xfrm>
                <a:off x="754912" y="1121475"/>
                <a:ext cx="10598888" cy="6016647"/>
              </a:xfrm>
              <a:prstGeom prst="rect">
                <a:avLst/>
              </a:prstGeom>
              <a:blipFill>
                <a:blip r:embed="rId2"/>
                <a:stretch>
                  <a:fillRect l="-957" t="-842"/>
                </a:stretch>
              </a:blipFill>
            </p:spPr>
            <p:txBody>
              <a:bodyPr/>
              <a:lstStyle/>
              <a:p>
                <a:r>
                  <a:rPr lang="en-US">
                    <a:noFill/>
                  </a:rPr>
                  <a:t> </a:t>
                </a:r>
              </a:p>
            </p:txBody>
          </p:sp>
        </mc:Fallback>
      </mc:AlternateContent>
    </p:spTree>
    <p:extLst>
      <p:ext uri="{BB962C8B-B14F-4D97-AF65-F5344CB8AC3E}">
        <p14:creationId xmlns:p14="http://schemas.microsoft.com/office/powerpoint/2010/main" val="3399317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8C55B-D386-A9BB-9C31-940F07A31D80}"/>
              </a:ext>
            </a:extLst>
          </p:cNvPr>
          <p:cNvSpPr>
            <a:spLocks noGrp="1"/>
          </p:cNvSpPr>
          <p:nvPr>
            <p:ph type="title"/>
          </p:nvPr>
        </p:nvSpPr>
        <p:spPr/>
        <p:txBody>
          <a:bodyPr/>
          <a:lstStyle/>
          <a:p>
            <a:r>
              <a:rPr lang="en-US" dirty="0"/>
              <a:t>Calibrating the production scale parameter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28EF755-1236-E840-59E6-32A46E62A2E3}"/>
                  </a:ext>
                </a:extLst>
              </p:cNvPr>
              <p:cNvSpPr>
                <a:spLocks noGrp="1"/>
              </p:cNvSpPr>
              <p:nvPr>
                <p:ph idx="1"/>
              </p:nvPr>
            </p:nvSpPr>
            <p:spPr/>
            <p:txBody>
              <a:bodyPr>
                <a:normAutofit/>
              </a:bodyPr>
              <a:lstStyle/>
              <a:p>
                <a:r>
                  <a:rPr lang="en-US" dirty="0"/>
                  <a:t>In the initial period – production is scaled to the reference output given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0</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0</m:t>
                        </m:r>
                      </m:sub>
                    </m:sSub>
                    <m:r>
                      <a:rPr lang="en-US" b="0" i="1" smtClean="0">
                        <a:latin typeface="Cambria Math" panose="02040503050406030204" pitchFamily="18" charset="0"/>
                      </a:rPr>
                      <m:t>, </m:t>
                    </m:r>
                    <m:r>
                      <a:rPr lang="en-US" b="0" i="1" smtClean="0">
                        <a:latin typeface="Cambria Math" panose="02040503050406030204" pitchFamily="18" charset="0"/>
                      </a:rPr>
                      <m:t>𝑎𝑛𝑑</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𝑙</m:t>
                        </m:r>
                      </m:e>
                      <m:sub>
                        <m:r>
                          <a:rPr lang="en-US" b="0" i="1" smtClean="0">
                            <a:latin typeface="Cambria Math" panose="02040503050406030204" pitchFamily="18" charset="0"/>
                          </a:rPr>
                          <m:t>0</m:t>
                        </m:r>
                      </m:sub>
                    </m:sSub>
                  </m:oMath>
                </a14:m>
                <a:r>
                  <a:rPr lang="en-US" dirty="0"/>
                  <a:t> (the last two we just calculated)</a:t>
                </a:r>
              </a:p>
              <a:p>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0</m:t>
                              </m:r>
                            </m:sub>
                          </m:sSub>
                        </m:num>
                        <m:den>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𝑘</m:t>
                              </m:r>
                            </m:e>
                            <m:sub>
                              <m:r>
                                <a:rPr lang="en-US" b="0" i="1" smtClean="0">
                                  <a:latin typeface="Cambria Math" panose="02040503050406030204" pitchFamily="18" charset="0"/>
                                </a:rPr>
                                <m:t>0</m:t>
                              </m:r>
                            </m:sub>
                            <m:sup>
                              <m:r>
                                <a:rPr lang="en-US" b="0" i="1" smtClean="0">
                                  <a:latin typeface="Cambria Math" panose="02040503050406030204" pitchFamily="18" charset="0"/>
                                </a:rPr>
                                <m:t>𝛼</m:t>
                              </m:r>
                            </m:sup>
                          </m:sSub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𝑙</m:t>
                              </m:r>
                            </m:e>
                            <m:sub>
                              <m:r>
                                <a:rPr lang="en-US" b="0" i="1" smtClean="0">
                                  <a:latin typeface="Cambria Math" panose="02040503050406030204" pitchFamily="18" charset="0"/>
                                </a:rPr>
                                <m:t>0</m:t>
                              </m:r>
                            </m:sub>
                            <m:sup>
                              <m:r>
                                <a:rPr lang="en-US" b="0" i="1" smtClean="0">
                                  <a:latin typeface="Cambria Math" panose="02040503050406030204" pitchFamily="18" charset="0"/>
                                </a:rPr>
                                <m:t>1−</m:t>
                              </m:r>
                              <m:r>
                                <a:rPr lang="en-US" b="0" i="1" smtClean="0">
                                  <a:latin typeface="Cambria Math" panose="02040503050406030204" pitchFamily="18" charset="0"/>
                                </a:rPr>
                                <m:t>𝛼</m:t>
                              </m:r>
                            </m:sup>
                          </m:sSubSup>
                        </m:den>
                      </m:f>
                    </m:oMath>
                  </m:oMathPara>
                </a14:m>
                <a:endParaRPr lang="en-US" dirty="0"/>
              </a:p>
              <a:p>
                <a:pPr marL="0" indent="0">
                  <a:buNone/>
                </a:pPr>
                <a:endParaRPr lang="en-US" dirty="0"/>
              </a:p>
              <a:p>
                <a:pPr marL="0" indent="0">
                  <a:buNone/>
                </a:pPr>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B28EF755-1236-E840-59E6-32A46E62A2E3}"/>
                  </a:ext>
                </a:extLst>
              </p:cNvPr>
              <p:cNvSpPr>
                <a:spLocks noGrp="1" noRot="1" noChangeAspect="1" noMove="1" noResize="1" noEditPoints="1" noAdjustHandles="1" noChangeArrowheads="1" noChangeShapeType="1" noTextEdit="1"/>
              </p:cNvSpPr>
              <p:nvPr>
                <p:ph idx="1"/>
              </p:nvPr>
            </p:nvSpPr>
            <p:spPr>
              <a:blipFill>
                <a:blip r:embed="rId2"/>
                <a:stretch>
                  <a:fillRect l="-1086" t="-2326"/>
                </a:stretch>
              </a:blipFill>
            </p:spPr>
            <p:txBody>
              <a:bodyPr/>
              <a:lstStyle/>
              <a:p>
                <a:r>
                  <a:rPr lang="en-US">
                    <a:noFill/>
                  </a:rPr>
                  <a:t> </a:t>
                </a:r>
              </a:p>
            </p:txBody>
          </p:sp>
        </mc:Fallback>
      </mc:AlternateContent>
    </p:spTree>
    <p:extLst>
      <p:ext uri="{BB962C8B-B14F-4D97-AF65-F5344CB8AC3E}">
        <p14:creationId xmlns:p14="http://schemas.microsoft.com/office/powerpoint/2010/main" val="30059736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059E1C-4416-D33A-48E6-612526D167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46AED2-7D49-470B-D029-B5782127604C}"/>
              </a:ext>
            </a:extLst>
          </p:cNvPr>
          <p:cNvSpPr>
            <a:spLocks noGrp="1"/>
          </p:cNvSpPr>
          <p:nvPr>
            <p:ph type="title"/>
          </p:nvPr>
        </p:nvSpPr>
        <p:spPr/>
        <p:txBody>
          <a:bodyPr/>
          <a:lstStyle/>
          <a:p>
            <a:r>
              <a:rPr lang="en-US" dirty="0"/>
              <a:t>Calibrating the capital productivity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CB8930C-C02D-3DA0-81BF-08BBC1140CE9}"/>
                  </a:ext>
                </a:extLst>
              </p:cNvPr>
              <p:cNvSpPr>
                <a:spLocks noGrp="1"/>
              </p:cNvSpPr>
              <p:nvPr>
                <p:ph idx="1"/>
              </p:nvPr>
            </p:nvSpPr>
            <p:spPr/>
            <p:txBody>
              <a:bodyPr>
                <a:normAutofit/>
              </a:bodyPr>
              <a:lstStyle/>
              <a:p>
                <a:r>
                  <a:rPr lang="en-US" dirty="0"/>
                  <a:t>Need to determine the reference marginal productivity of capital. </a:t>
                </a:r>
              </a:p>
              <a:p>
                <a:r>
                  <a:rPr lang="en-US" dirty="0"/>
                  <a:t>In equilibrium, the real interest rate is the marginal product of capital minus depreciation. </a:t>
                </a:r>
              </a:p>
              <a:p>
                <a:r>
                  <a:rPr lang="en-US" dirty="0"/>
                  <a:t>The interest rate must equal the pure rate of time preference, </a:t>
                </a:r>
                <a:r>
                  <a:rPr lang="el-GR" dirty="0"/>
                  <a:t>ρ. </a:t>
                </a:r>
                <a:endParaRPr lang="en-US" dirty="0"/>
              </a:p>
              <a:p>
                <a:r>
                  <a:rPr lang="en-US" dirty="0"/>
                  <a:t>Therefore, we can calibrate </a:t>
                </a:r>
                <a:r>
                  <a:rPr lang="el-GR" dirty="0"/>
                  <a:t>ρ </a:t>
                </a:r>
                <a:r>
                  <a:rPr lang="en-US" dirty="0"/>
                  <a:t>by taking the derivative of the production function with respect to k in the initial period and substituting in the expression for a: </a:t>
                </a:r>
              </a:p>
              <a:p>
                <a:endParaRPr lang="en-US" sz="1100"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𝜌</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𝑌</m:t>
                          </m:r>
                          <m:d>
                            <m:dPr>
                              <m:ctrlPr>
                                <a:rPr lang="en-US" b="0" i="1" smtClean="0">
                                  <a:latin typeface="Cambria Math" panose="02040503050406030204" pitchFamily="18" charset="0"/>
                                </a:rPr>
                              </m:ctrlPr>
                            </m:dPr>
                            <m:e>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𝐿</m:t>
                              </m:r>
                            </m:e>
                          </m:d>
                        </m:num>
                        <m:den>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0</m:t>
                              </m:r>
                            </m:sub>
                          </m:sSub>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𝛽</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0</m:t>
                                  </m:r>
                                </m:sub>
                              </m:sSub>
                            </m:e>
                          </m:d>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0</m:t>
                              </m:r>
                            </m:sub>
                          </m:sSub>
                        </m:den>
                      </m:f>
                      <m:r>
                        <a:rPr lang="en-US" b="0" i="1" smtClean="0">
                          <a:latin typeface="Cambria Math" panose="02040503050406030204" pitchFamily="18" charset="0"/>
                        </a:rPr>
                        <m:t>−</m:t>
                      </m:r>
                      <m:r>
                        <a:rPr lang="en-US" b="0" i="1" smtClean="0">
                          <a:latin typeface="Cambria Math" panose="02040503050406030204" pitchFamily="18" charset="0"/>
                        </a:rPr>
                        <m:t>𝛿</m:t>
                      </m:r>
                    </m:oMath>
                  </m:oMathPara>
                </a14:m>
                <a:endParaRPr lang="en-US" dirty="0"/>
              </a:p>
              <a:p>
                <a:pPr marL="0" indent="0">
                  <a:buNone/>
                </a:pPr>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DCB8930C-C02D-3DA0-81BF-08BBC1140CE9}"/>
                  </a:ext>
                </a:extLst>
              </p:cNvPr>
              <p:cNvSpPr>
                <a:spLocks noGrp="1" noRot="1" noChangeAspect="1" noMove="1" noResize="1" noEditPoints="1" noAdjustHandles="1" noChangeArrowheads="1" noChangeShapeType="1" noTextEdit="1"/>
              </p:cNvSpPr>
              <p:nvPr>
                <p:ph idx="1"/>
              </p:nvPr>
            </p:nvSpPr>
            <p:spPr>
              <a:blipFill>
                <a:blip r:embed="rId2"/>
                <a:stretch>
                  <a:fillRect l="-1086" t="-2326"/>
                </a:stretch>
              </a:blipFill>
            </p:spPr>
            <p:txBody>
              <a:bodyPr/>
              <a:lstStyle/>
              <a:p>
                <a:r>
                  <a:rPr lang="en-US">
                    <a:noFill/>
                  </a:rPr>
                  <a:t> </a:t>
                </a:r>
              </a:p>
            </p:txBody>
          </p:sp>
        </mc:Fallback>
      </mc:AlternateContent>
    </p:spTree>
    <p:extLst>
      <p:ext uri="{BB962C8B-B14F-4D97-AF65-F5344CB8AC3E}">
        <p14:creationId xmlns:p14="http://schemas.microsoft.com/office/powerpoint/2010/main" val="76447182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B5A33-6DEF-2CA3-FE24-A5F0CE4219F1}"/>
              </a:ext>
            </a:extLst>
          </p:cNvPr>
          <p:cNvSpPr>
            <a:spLocks noGrp="1"/>
          </p:cNvSpPr>
          <p:nvPr>
            <p:ph type="title"/>
          </p:nvPr>
        </p:nvSpPr>
        <p:spPr/>
        <p:txBody>
          <a:bodyPr/>
          <a:lstStyle/>
          <a:p>
            <a:r>
              <a:rPr lang="en-US" dirty="0"/>
              <a:t>Some more notes…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6D61365-948A-80BD-F742-FA8D1A8EFB02}"/>
                  </a:ext>
                </a:extLst>
              </p:cNvPr>
              <p:cNvSpPr>
                <a:spLocks noGrp="1"/>
              </p:cNvSpPr>
              <p:nvPr>
                <p:ph idx="1"/>
              </p:nvPr>
            </p:nvSpPr>
            <p:spPr/>
            <p:txBody>
              <a:bodyPr/>
              <a:lstStyle/>
              <a:p>
                <a:r>
                  <a:rPr lang="en-US" dirty="0"/>
                  <a:t>Starting values and variable bounds help </a:t>
                </a:r>
                <a:r>
                  <a:rPr lang="en-US" i="1" dirty="0"/>
                  <a:t>a lot</a:t>
                </a:r>
                <a:r>
                  <a:rPr lang="en-US" dirty="0"/>
                  <a:t> in NLPs</a:t>
                </a:r>
              </a:p>
              <a:p>
                <a:endParaRPr lang="en-US" dirty="0"/>
              </a:p>
              <a:p>
                <a:r>
                  <a:rPr lang="en-US" dirty="0"/>
                  <a:t>Can determine that consumption and capital will grow at the growth rate of the population:</a:t>
                </a:r>
              </a:p>
              <a:p>
                <a:pPr marL="0" indent="0">
                  <a:buNone/>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𝑔</m:t>
                              </m:r>
                            </m:e>
                          </m:d>
                        </m:e>
                        <m:sup>
                          <m:r>
                            <a:rPr lang="en-US" b="0" i="1" smtClean="0">
                              <a:latin typeface="Cambria Math" panose="02040503050406030204" pitchFamily="18" charset="0"/>
                            </a:rPr>
                            <m:t>𝑡</m:t>
                          </m:r>
                        </m:sup>
                      </m:sSup>
                    </m:oMath>
                  </m:oMathPara>
                </a14:m>
                <a:endParaRPr lang="en-US" b="0" dirty="0"/>
              </a:p>
              <a:p>
                <a:pPr marL="0" indent="0">
                  <a:buNone/>
                </a:pPr>
                <a:endParaRPr lang="en-US" dirty="0">
                  <a:effectLst/>
                  <a:latin typeface="SFBTL10"/>
                </a:endParaRPr>
              </a:p>
              <a:p>
                <a:pPr marL="0" indent="0">
                  <a:buNone/>
                </a:pPr>
                <a:r>
                  <a:rPr lang="en-US" dirty="0">
                    <a:effectLst/>
                    <a:latin typeface="SFBTL10"/>
                  </a:rPr>
                  <a:t>So we’ll set our starting values </a:t>
                </a:r>
                <a:r>
                  <a:rPr lang="en-US" dirty="0">
                    <a:latin typeface="SFBTL10"/>
                  </a:rPr>
                  <a:t>via</a:t>
                </a:r>
                <a:r>
                  <a:rPr lang="en-US" dirty="0">
                    <a:effectLst/>
                    <a:latin typeface="SFBTL10"/>
                  </a:rPr>
                  <a:t>:</a:t>
                </a:r>
              </a:p>
              <a:p>
                <a:pPr marL="0" indent="0">
                  <a:buNone/>
                </a:pPr>
                <a:r>
                  <a:rPr lang="en-US" dirty="0">
                    <a:effectLst/>
                    <a:latin typeface="SFBTL10"/>
                  </a:rPr>
                  <a:t>	</a:t>
                </a:r>
                <a:r>
                  <a:rPr lang="en-US" dirty="0" err="1">
                    <a:effectLst/>
                    <a:latin typeface="SFBTL10"/>
                  </a:rPr>
                  <a:t>C.l</a:t>
                </a:r>
                <a:r>
                  <a:rPr lang="en-US" dirty="0">
                    <a:effectLst/>
                    <a:latin typeface="SFBTL10"/>
                  </a:rPr>
                  <a:t>(t) = c0 * (1+g)**t ; </a:t>
                </a:r>
              </a:p>
              <a:p>
                <a:pPr marL="0" indent="0">
                  <a:buNone/>
                </a:pPr>
                <a:r>
                  <a:rPr lang="en-US" dirty="0">
                    <a:effectLst/>
                    <a:latin typeface="SFBTL10"/>
                  </a:rPr>
                  <a:t>	</a:t>
                </a:r>
                <a:r>
                  <a:rPr lang="en-US" dirty="0" err="1">
                    <a:effectLst/>
                    <a:latin typeface="SFBTL10"/>
                  </a:rPr>
                  <a:t>K.l</a:t>
                </a:r>
                <a:r>
                  <a:rPr lang="en-US" dirty="0">
                    <a:effectLst/>
                    <a:latin typeface="SFBTL10"/>
                  </a:rPr>
                  <a:t>(t) = k0 * (1+g)**t ; </a:t>
                </a:r>
                <a:endParaRPr lang="en-US" dirty="0"/>
              </a:p>
              <a:p>
                <a:pPr marL="0" indent="0">
                  <a:buNone/>
                </a:pPr>
                <a:endParaRPr lang="en-US" b="0" dirty="0"/>
              </a:p>
            </p:txBody>
          </p:sp>
        </mc:Choice>
        <mc:Fallback xmlns="">
          <p:sp>
            <p:nvSpPr>
              <p:cNvPr id="3" name="Content Placeholder 2">
                <a:extLst>
                  <a:ext uri="{FF2B5EF4-FFF2-40B4-BE49-F238E27FC236}">
                    <a16:creationId xmlns:a16="http://schemas.microsoft.com/office/drawing/2014/main" id="{56D61365-948A-80BD-F742-FA8D1A8EFB02}"/>
                  </a:ext>
                </a:extLst>
              </p:cNvPr>
              <p:cNvSpPr>
                <a:spLocks noGrp="1" noRot="1" noChangeAspect="1" noMove="1" noResize="1" noEditPoints="1" noAdjustHandles="1" noChangeArrowheads="1" noChangeShapeType="1" noTextEdit="1"/>
              </p:cNvSpPr>
              <p:nvPr>
                <p:ph idx="1"/>
              </p:nvPr>
            </p:nvSpPr>
            <p:spPr>
              <a:blipFill>
                <a:blip r:embed="rId2"/>
                <a:stretch>
                  <a:fillRect l="-1206" t="-2326" b="-2907"/>
                </a:stretch>
              </a:blipFill>
            </p:spPr>
            <p:txBody>
              <a:bodyPr/>
              <a:lstStyle/>
              <a:p>
                <a:r>
                  <a:rPr lang="en-US">
                    <a:noFill/>
                  </a:rPr>
                  <a:t> </a:t>
                </a:r>
              </a:p>
            </p:txBody>
          </p:sp>
        </mc:Fallback>
      </mc:AlternateContent>
    </p:spTree>
    <p:extLst>
      <p:ext uri="{BB962C8B-B14F-4D97-AF65-F5344CB8AC3E}">
        <p14:creationId xmlns:p14="http://schemas.microsoft.com/office/powerpoint/2010/main" val="261675144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F1485-176A-4B05-270A-32EE2D0EBE88}"/>
              </a:ext>
            </a:extLst>
          </p:cNvPr>
          <p:cNvSpPr>
            <a:spLocks noGrp="1"/>
          </p:cNvSpPr>
          <p:nvPr>
            <p:ph type="title"/>
          </p:nvPr>
        </p:nvSpPr>
        <p:spPr/>
        <p:txBody>
          <a:bodyPr/>
          <a:lstStyle/>
          <a:p>
            <a:r>
              <a:rPr lang="en-US" dirty="0"/>
              <a:t>Some more notes..</a:t>
            </a:r>
          </a:p>
        </p:txBody>
      </p:sp>
      <p:sp>
        <p:nvSpPr>
          <p:cNvPr id="3" name="Content Placeholder 2">
            <a:extLst>
              <a:ext uri="{FF2B5EF4-FFF2-40B4-BE49-F238E27FC236}">
                <a16:creationId xmlns:a16="http://schemas.microsoft.com/office/drawing/2014/main" id="{4252A58F-9326-AB49-28BC-89FC66DAB968}"/>
              </a:ext>
            </a:extLst>
          </p:cNvPr>
          <p:cNvSpPr>
            <a:spLocks noGrp="1"/>
          </p:cNvSpPr>
          <p:nvPr>
            <p:ph idx="1"/>
          </p:nvPr>
        </p:nvSpPr>
        <p:spPr/>
        <p:txBody>
          <a:bodyPr/>
          <a:lstStyle/>
          <a:p>
            <a:r>
              <a:rPr lang="en-US" dirty="0"/>
              <a:t>Bounds on variables are needed to avoid mathematical problems</a:t>
            </a:r>
          </a:p>
          <a:p>
            <a:r>
              <a:rPr lang="en-US" dirty="0"/>
              <a:t>e.g. We don’t want consumption to be zero</a:t>
            </a:r>
          </a:p>
          <a:p>
            <a:endParaRPr lang="en-US" dirty="0"/>
          </a:p>
          <a:p>
            <a:pPr marL="0" indent="0">
              <a:buNone/>
            </a:pPr>
            <a:r>
              <a:rPr lang="en-US" dirty="0" err="1"/>
              <a:t>C.lo</a:t>
            </a:r>
            <a:r>
              <a:rPr lang="en-US" dirty="0"/>
              <a:t>(t) = 0.01 * </a:t>
            </a:r>
            <a:r>
              <a:rPr lang="en-US" dirty="0" err="1"/>
              <a:t>C.l</a:t>
            </a:r>
            <a:r>
              <a:rPr lang="en-US" dirty="0"/>
              <a:t>(t) ; </a:t>
            </a:r>
          </a:p>
          <a:p>
            <a:pPr marL="0" indent="0">
              <a:buNone/>
            </a:pPr>
            <a:r>
              <a:rPr lang="en-US" dirty="0" err="1"/>
              <a:t>K.lo</a:t>
            </a:r>
            <a:r>
              <a:rPr lang="en-US" dirty="0"/>
              <a:t>(t) = 0.01 * </a:t>
            </a:r>
            <a:r>
              <a:rPr lang="en-US" dirty="0" err="1"/>
              <a:t>K.l</a:t>
            </a:r>
            <a:r>
              <a:rPr lang="en-US" dirty="0"/>
              <a:t>(t) ; </a:t>
            </a:r>
          </a:p>
          <a:p>
            <a:pPr marL="0" indent="0">
              <a:buNone/>
            </a:pPr>
            <a:endParaRPr lang="en-US" dirty="0"/>
          </a:p>
          <a:p>
            <a:r>
              <a:rPr lang="en-US" dirty="0"/>
              <a:t>Fix first period capital</a:t>
            </a:r>
          </a:p>
          <a:p>
            <a:pPr marL="0" indent="0">
              <a:buNone/>
            </a:pPr>
            <a:r>
              <a:rPr lang="en-US" dirty="0" err="1"/>
              <a:t>K.fx</a:t>
            </a:r>
            <a:r>
              <a:rPr lang="en-US" dirty="0"/>
              <a:t>(t)$</a:t>
            </a:r>
            <a:r>
              <a:rPr lang="en-US" dirty="0" err="1"/>
              <a:t>tfirst</a:t>
            </a:r>
            <a:r>
              <a:rPr lang="en-US" dirty="0"/>
              <a:t>(t) = k0 ; </a:t>
            </a:r>
          </a:p>
        </p:txBody>
      </p:sp>
    </p:spTree>
    <p:extLst>
      <p:ext uri="{BB962C8B-B14F-4D97-AF65-F5344CB8AC3E}">
        <p14:creationId xmlns:p14="http://schemas.microsoft.com/office/powerpoint/2010/main" val="84980045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C9DD7-1641-6E4F-0933-F1D1B966312A}"/>
              </a:ext>
            </a:extLst>
          </p:cNvPr>
          <p:cNvSpPr>
            <a:spLocks noGrp="1"/>
          </p:cNvSpPr>
          <p:nvPr>
            <p:ph type="title"/>
          </p:nvPr>
        </p:nvSpPr>
        <p:spPr/>
        <p:txBody>
          <a:bodyPr/>
          <a:lstStyle/>
          <a:p>
            <a:r>
              <a:rPr lang="en-US" dirty="0"/>
              <a:t>Let’s build the base model…</a:t>
            </a:r>
          </a:p>
        </p:txBody>
      </p:sp>
      <p:sp>
        <p:nvSpPr>
          <p:cNvPr id="3" name="Content Placeholder 2">
            <a:extLst>
              <a:ext uri="{FF2B5EF4-FFF2-40B4-BE49-F238E27FC236}">
                <a16:creationId xmlns:a16="http://schemas.microsoft.com/office/drawing/2014/main" id="{8F44A47D-F2E3-86A9-8A18-14335BE7FB1A}"/>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14961311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EF6F3-3E1C-5579-DE5F-CFD98E0F0942}"/>
              </a:ext>
            </a:extLst>
          </p:cNvPr>
          <p:cNvSpPr>
            <a:spLocks noGrp="1"/>
          </p:cNvSpPr>
          <p:nvPr>
            <p:ph type="title"/>
          </p:nvPr>
        </p:nvSpPr>
        <p:spPr/>
        <p:txBody>
          <a:bodyPr/>
          <a:lstStyle/>
          <a:p>
            <a:r>
              <a:rPr lang="en-US" dirty="0"/>
              <a:t>That’s weird…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277A167-D5D7-0E90-6AFD-F3108A5856EB}"/>
                  </a:ext>
                </a:extLst>
              </p:cNvPr>
              <p:cNvSpPr>
                <a:spLocks noGrp="1"/>
              </p:cNvSpPr>
              <p:nvPr>
                <p:ph idx="1"/>
              </p:nvPr>
            </p:nvSpPr>
            <p:spPr/>
            <p:txBody>
              <a:bodyPr/>
              <a:lstStyle/>
              <a:p>
                <a:r>
                  <a:rPr lang="en-US" dirty="0"/>
                  <a:t>Demonstrates importance of terminal conditions</a:t>
                </a:r>
              </a:p>
              <a:p>
                <a:endParaRPr lang="en-US" dirty="0"/>
              </a:p>
              <a:p>
                <a:r>
                  <a:rPr lang="en-US" dirty="0"/>
                  <a:t>Here: need to make sure there is some value to consumption, investment, and remaining capital in the final period</a:t>
                </a:r>
              </a:p>
              <a:p>
                <a:endParaRPr lang="en-US" dirty="0"/>
              </a:p>
              <a:p>
                <a:pPr marL="0" indent="0">
                  <a:buNone/>
                </a:pPr>
                <a:r>
                  <a:rPr lang="en-US" dirty="0"/>
                  <a:t>What if we just did something naïve and say investment in the last period must equal the decay and growth of last-period stock?</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𝑇</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𝑔</m:t>
                          </m:r>
                          <m:r>
                            <a:rPr lang="en-US" b="0" i="1" smtClean="0">
                              <a:latin typeface="Cambria Math" panose="02040503050406030204" pitchFamily="18" charset="0"/>
                            </a:rPr>
                            <m:t>+</m:t>
                          </m:r>
                          <m:r>
                            <a:rPr lang="en-US" b="0" i="1" smtClean="0">
                              <a:latin typeface="Cambria Math" panose="02040503050406030204" pitchFamily="18" charset="0"/>
                            </a:rPr>
                            <m:t>𝛿</m:t>
                          </m:r>
                        </m:e>
                      </m:d>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𝑇</m:t>
                          </m:r>
                        </m:sub>
                      </m:sSub>
                    </m:oMath>
                  </m:oMathPara>
                </a14:m>
                <a:endParaRPr lang="en-US" dirty="0"/>
              </a:p>
            </p:txBody>
          </p:sp>
        </mc:Choice>
        <mc:Fallback xmlns="">
          <p:sp>
            <p:nvSpPr>
              <p:cNvPr id="3" name="Content Placeholder 2">
                <a:extLst>
                  <a:ext uri="{FF2B5EF4-FFF2-40B4-BE49-F238E27FC236}">
                    <a16:creationId xmlns:a16="http://schemas.microsoft.com/office/drawing/2014/main" id="{1277A167-D5D7-0E90-6AFD-F3108A5856EB}"/>
                  </a:ext>
                </a:extLst>
              </p:cNvPr>
              <p:cNvSpPr>
                <a:spLocks noGrp="1" noRot="1" noChangeAspect="1" noMove="1" noResize="1" noEditPoints="1" noAdjustHandles="1" noChangeArrowheads="1" noChangeShapeType="1" noTextEdit="1"/>
              </p:cNvSpPr>
              <p:nvPr>
                <p:ph idx="1"/>
              </p:nvPr>
            </p:nvSpPr>
            <p:spPr>
              <a:blipFill>
                <a:blip r:embed="rId2"/>
                <a:stretch>
                  <a:fillRect l="-1206" t="-2326"/>
                </a:stretch>
              </a:blipFill>
            </p:spPr>
            <p:txBody>
              <a:bodyPr/>
              <a:lstStyle/>
              <a:p>
                <a:r>
                  <a:rPr lang="en-US">
                    <a:noFill/>
                  </a:rPr>
                  <a:t> </a:t>
                </a:r>
              </a:p>
            </p:txBody>
          </p:sp>
        </mc:Fallback>
      </mc:AlternateContent>
    </p:spTree>
    <p:extLst>
      <p:ext uri="{BB962C8B-B14F-4D97-AF65-F5344CB8AC3E}">
        <p14:creationId xmlns:p14="http://schemas.microsoft.com/office/powerpoint/2010/main" val="267082859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2DC18-559D-1260-4CBE-90A2F6BEFA94}"/>
              </a:ext>
            </a:extLst>
          </p:cNvPr>
          <p:cNvSpPr>
            <a:spLocks noGrp="1"/>
          </p:cNvSpPr>
          <p:nvPr>
            <p:ph type="title"/>
          </p:nvPr>
        </p:nvSpPr>
        <p:spPr/>
        <p:txBody>
          <a:bodyPr/>
          <a:lstStyle/>
          <a:p>
            <a:r>
              <a:rPr lang="en-US" dirty="0"/>
              <a:t>Plotting investment over time…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A2C17F6-8FD7-C700-37F3-2A6B4836441F}"/>
                  </a:ext>
                </a:extLst>
              </p:cNvPr>
              <p:cNvSpPr>
                <a:spLocks noGrp="1"/>
              </p:cNvSpPr>
              <p:nvPr>
                <p:ph idx="1"/>
              </p:nvPr>
            </p:nvSpPr>
            <p:spPr>
              <a:xfrm>
                <a:off x="0" y="2044825"/>
                <a:ext cx="5375275" cy="3562350"/>
              </a:xfrm>
            </p:spPr>
            <p:txBody>
              <a:bodyPr/>
              <a:lstStyle/>
              <a:p>
                <a:r>
                  <a:rPr lang="en-US" dirty="0"/>
                  <a:t>Demonstrates need for a terminal weighting</a:t>
                </a:r>
              </a:p>
              <a:p>
                <a:r>
                  <a:rPr lang="en-US" dirty="0"/>
                  <a:t>What about the consumption beyond period </a:t>
                </a:r>
                <a14:m>
                  <m:oMath xmlns:m="http://schemas.openxmlformats.org/officeDocument/2006/math">
                    <m:r>
                      <a:rPr lang="en-US" b="0" i="1" smtClean="0">
                        <a:latin typeface="Cambria Math" panose="02040503050406030204" pitchFamily="18" charset="0"/>
                      </a:rPr>
                      <m:t>𝑇</m:t>
                    </m:r>
                  </m:oMath>
                </a14:m>
                <a:r>
                  <a:rPr lang="en-US" dirty="0"/>
                  <a:t>? i.e.</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𝑔</m:t>
                              </m:r>
                            </m:e>
                          </m:d>
                        </m:e>
                        <m:sup>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𝑇</m:t>
                          </m:r>
                        </m:sup>
                      </m:sSup>
                    </m:oMath>
                  </m:oMathPara>
                </a14:m>
                <a:endParaRPr lang="en-US" dirty="0"/>
              </a:p>
              <a:p>
                <a:r>
                  <a:rPr lang="en-US" dirty="0"/>
                  <a:t>Now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𝑇</m:t>
                        </m:r>
                      </m:sub>
                    </m:sSub>
                  </m:oMath>
                </a14:m>
                <a:r>
                  <a:rPr lang="en-US" dirty="0"/>
                  <a:t> weights the final period based on discounted future value of infinite horizon</a:t>
                </a:r>
              </a:p>
              <a:p>
                <a:pPr marL="0" indent="0">
                  <a:buNone/>
                </a:pPr>
                <a:endParaRPr lang="en-US" dirty="0"/>
              </a:p>
              <a:p>
                <a:pPr marL="0" indent="0">
                  <a:buNone/>
                </a:pPr>
                <a:endParaRPr lang="en-US" dirty="0"/>
              </a:p>
              <a:p>
                <a:endParaRPr lang="en-US" dirty="0"/>
              </a:p>
            </p:txBody>
          </p:sp>
        </mc:Choice>
        <mc:Fallback xmlns="">
          <p:sp>
            <p:nvSpPr>
              <p:cNvPr id="3" name="Content Placeholder 2">
                <a:extLst>
                  <a:ext uri="{FF2B5EF4-FFF2-40B4-BE49-F238E27FC236}">
                    <a16:creationId xmlns:a16="http://schemas.microsoft.com/office/drawing/2014/main" id="{2A2C17F6-8FD7-C700-37F3-2A6B4836441F}"/>
                  </a:ext>
                </a:extLst>
              </p:cNvPr>
              <p:cNvSpPr>
                <a:spLocks noGrp="1" noRot="1" noChangeAspect="1" noMove="1" noResize="1" noEditPoints="1" noAdjustHandles="1" noChangeArrowheads="1" noChangeShapeType="1" noTextEdit="1"/>
              </p:cNvSpPr>
              <p:nvPr>
                <p:ph idx="1"/>
              </p:nvPr>
            </p:nvSpPr>
            <p:spPr>
              <a:xfrm>
                <a:off x="0" y="2044825"/>
                <a:ext cx="5375275" cy="3562350"/>
              </a:xfrm>
              <a:blipFill>
                <a:blip r:embed="rId2"/>
                <a:stretch>
                  <a:fillRect l="-2123" t="-2837" r="-236" b="-1064"/>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54C67A69-D226-505D-61C3-AC89326E4BE6}"/>
              </a:ext>
            </a:extLst>
          </p:cNvPr>
          <p:cNvPicPr>
            <a:picLocks noChangeAspect="1"/>
          </p:cNvPicPr>
          <p:nvPr/>
        </p:nvPicPr>
        <p:blipFill>
          <a:blip r:embed="rId3"/>
          <a:stretch>
            <a:fillRect/>
          </a:stretch>
        </p:blipFill>
        <p:spPr>
          <a:xfrm>
            <a:off x="5259942" y="1690688"/>
            <a:ext cx="6712355" cy="4665538"/>
          </a:xfrm>
          <a:prstGeom prst="rect">
            <a:avLst/>
          </a:prstGeom>
        </p:spPr>
      </p:pic>
    </p:spTree>
    <p:extLst>
      <p:ext uri="{BB962C8B-B14F-4D97-AF65-F5344CB8AC3E}">
        <p14:creationId xmlns:p14="http://schemas.microsoft.com/office/powerpoint/2010/main" val="238684932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8FFAE-7CF6-2E05-A146-FC98DB5AF9A5}"/>
              </a:ext>
            </a:extLst>
          </p:cNvPr>
          <p:cNvSpPr>
            <a:spLocks noGrp="1"/>
          </p:cNvSpPr>
          <p:nvPr>
            <p:ph type="title"/>
          </p:nvPr>
        </p:nvSpPr>
        <p:spPr/>
        <p:txBody>
          <a:bodyPr/>
          <a:lstStyle/>
          <a:p>
            <a:r>
              <a:rPr lang="en-US" dirty="0"/>
              <a:t>Duality introduction</a:t>
            </a:r>
          </a:p>
        </p:txBody>
      </p:sp>
      <p:sp>
        <p:nvSpPr>
          <p:cNvPr id="3" name="Content Placeholder 2">
            <a:extLst>
              <a:ext uri="{FF2B5EF4-FFF2-40B4-BE49-F238E27FC236}">
                <a16:creationId xmlns:a16="http://schemas.microsoft.com/office/drawing/2014/main" id="{E80054FF-F6DE-C71F-74FF-23A9710A2122}"/>
              </a:ext>
            </a:extLst>
          </p:cNvPr>
          <p:cNvSpPr>
            <a:spLocks noGrp="1"/>
          </p:cNvSpPr>
          <p:nvPr>
            <p:ph idx="1"/>
          </p:nvPr>
        </p:nvSpPr>
        <p:spPr/>
        <p:txBody>
          <a:bodyPr/>
          <a:lstStyle/>
          <a:p>
            <a:r>
              <a:rPr lang="en-US" dirty="0"/>
              <a:t>Always two types of problems:</a:t>
            </a:r>
          </a:p>
          <a:p>
            <a:pPr lvl="1"/>
            <a:r>
              <a:rPr lang="en-US" dirty="0"/>
              <a:t>Primal: your original optimization problem</a:t>
            </a:r>
          </a:p>
          <a:p>
            <a:pPr lvl="1"/>
            <a:r>
              <a:rPr lang="en-US" dirty="0"/>
              <a:t>Dual: an equivalent problem but of opposite direction</a:t>
            </a:r>
          </a:p>
          <a:p>
            <a:pPr lvl="1"/>
            <a:endParaRPr lang="en-US" dirty="0"/>
          </a:p>
          <a:p>
            <a:r>
              <a:rPr lang="en-US" dirty="0"/>
              <a:t>Why do we care? </a:t>
            </a:r>
          </a:p>
          <a:p>
            <a:pPr lvl="1"/>
            <a:r>
              <a:rPr lang="en-US" dirty="0"/>
              <a:t>Helpful for consumer utility problems</a:t>
            </a:r>
          </a:p>
          <a:p>
            <a:pPr lvl="1"/>
            <a:r>
              <a:rPr lang="en-US" dirty="0"/>
              <a:t>I like to think of this as simultaneously representing both the physical (primal) and market (dual) problems</a:t>
            </a:r>
          </a:p>
          <a:p>
            <a:pPr lvl="1"/>
            <a:r>
              <a:rPr lang="en-US" dirty="0"/>
              <a:t>Leads us into presentation of MCPs</a:t>
            </a:r>
          </a:p>
        </p:txBody>
      </p:sp>
    </p:spTree>
    <p:extLst>
      <p:ext uri="{BB962C8B-B14F-4D97-AF65-F5344CB8AC3E}">
        <p14:creationId xmlns:p14="http://schemas.microsoft.com/office/powerpoint/2010/main" val="197896782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97EEF-107A-E06A-31A4-8E6271CA83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DD17F4-2305-CEC7-B890-729809A9910E}"/>
              </a:ext>
            </a:extLst>
          </p:cNvPr>
          <p:cNvSpPr>
            <a:spLocks noGrp="1"/>
          </p:cNvSpPr>
          <p:nvPr>
            <p:ph type="title"/>
          </p:nvPr>
        </p:nvSpPr>
        <p:spPr/>
        <p:txBody>
          <a:bodyPr/>
          <a:lstStyle/>
          <a:p>
            <a:r>
              <a:rPr lang="en-US" dirty="0"/>
              <a:t>Duality – another perspective </a:t>
            </a:r>
          </a:p>
        </p:txBody>
      </p:sp>
      <p:sp>
        <p:nvSpPr>
          <p:cNvPr id="3" name="Content Placeholder 2">
            <a:extLst>
              <a:ext uri="{FF2B5EF4-FFF2-40B4-BE49-F238E27FC236}">
                <a16:creationId xmlns:a16="http://schemas.microsoft.com/office/drawing/2014/main" id="{AE3B23CD-C8BD-5ECF-DB98-F7726D177878}"/>
              </a:ext>
            </a:extLst>
          </p:cNvPr>
          <p:cNvSpPr>
            <a:spLocks noGrp="1"/>
          </p:cNvSpPr>
          <p:nvPr>
            <p:ph idx="1"/>
          </p:nvPr>
        </p:nvSpPr>
        <p:spPr>
          <a:xfrm>
            <a:off x="556751" y="1902542"/>
            <a:ext cx="11078497" cy="4259672"/>
          </a:xfrm>
        </p:spPr>
        <p:txBody>
          <a:bodyPr/>
          <a:lstStyle/>
          <a:p>
            <a:r>
              <a:rPr lang="en-US" dirty="0"/>
              <a:t>Can think of the primal problem as the way in which we allocate resources – then the dual problem is how to allocate costs and/or values to those resources</a:t>
            </a:r>
          </a:p>
          <a:p>
            <a:endParaRPr lang="en-US" dirty="0"/>
          </a:p>
          <a:p>
            <a:r>
              <a:rPr lang="en-US" dirty="0"/>
              <a:t>Thus – dual can be thought of as the ‘worth’ of the constraints</a:t>
            </a:r>
          </a:p>
          <a:p>
            <a:endParaRPr lang="en-US" dirty="0"/>
          </a:p>
          <a:p>
            <a:r>
              <a:rPr lang="en-US" dirty="0"/>
              <a:t>Often call the dual constraints "zero profit conditions”</a:t>
            </a:r>
          </a:p>
        </p:txBody>
      </p:sp>
    </p:spTree>
    <p:extLst>
      <p:ext uri="{BB962C8B-B14F-4D97-AF65-F5344CB8AC3E}">
        <p14:creationId xmlns:p14="http://schemas.microsoft.com/office/powerpoint/2010/main" val="266753202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AFAF0B-80F0-6CEF-F63C-57A13B3F1C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23A74B-B9C8-B341-B0CF-E3D1DEFC01C7}"/>
              </a:ext>
            </a:extLst>
          </p:cNvPr>
          <p:cNvSpPr>
            <a:spLocks noGrp="1"/>
          </p:cNvSpPr>
          <p:nvPr>
            <p:ph type="title"/>
          </p:nvPr>
        </p:nvSpPr>
        <p:spPr/>
        <p:txBody>
          <a:bodyPr/>
          <a:lstStyle/>
          <a:p>
            <a:r>
              <a:rPr lang="en-US" dirty="0"/>
              <a:t>Formulating the dual..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0716B7F-BEA5-2B3F-E9DB-BEE05D4A26F8}"/>
                  </a:ext>
                </a:extLst>
              </p:cNvPr>
              <p:cNvSpPr>
                <a:spLocks noGrp="1"/>
              </p:cNvSpPr>
              <p:nvPr>
                <p:ph idx="1"/>
              </p:nvPr>
            </p:nvSpPr>
            <p:spPr>
              <a:xfrm>
                <a:off x="838200" y="2282825"/>
                <a:ext cx="4796481" cy="4351338"/>
              </a:xfrm>
            </p:spPr>
            <p:txBody>
              <a:bodyPr>
                <a:normAutofit/>
              </a:bodyPr>
              <a:lstStyle/>
              <a:p>
                <a:pPr marL="0" indent="0">
                  <a:buNone/>
                </a:pPr>
                <a:r>
                  <a:rPr lang="en-US" dirty="0"/>
                  <a:t>Primal:</a:t>
                </a:r>
              </a:p>
              <a:p>
                <a:pPr marL="0" inden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𝑚</m:t>
                            </m:r>
                            <m:r>
                              <a:rPr lang="en-US" b="0" i="1" smtClean="0">
                                <a:latin typeface="Cambria Math" panose="02040503050406030204" pitchFamily="18" charset="0"/>
                              </a:rPr>
                              <m:t>𝑎𝑥</m:t>
                            </m:r>
                          </m:e>
                        </m:mr>
                        <m:m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𝑗</m:t>
                                </m:r>
                              </m:sub>
                            </m:sSub>
                          </m:e>
                        </m:mr>
                      </m:m>
                      <m:r>
                        <a:rPr lang="en-US" b="0" i="1" smtClean="0">
                          <a:latin typeface="Cambria Math" panose="02040503050406030204" pitchFamily="18" charset="0"/>
                        </a:rPr>
                        <m:t> </m:t>
                      </m:r>
                      <m:nary>
                        <m:naryPr>
                          <m:chr m:val="∑"/>
                          <m:supHide m:val="on"/>
                          <m:ctrlPr>
                            <a:rPr lang="en-US" b="0" i="1" smtClean="0">
                              <a:latin typeface="Cambria Math" panose="02040503050406030204" pitchFamily="18" charset="0"/>
                            </a:rPr>
                          </m:ctrlPr>
                        </m:naryPr>
                        <m:sub>
                          <m:r>
                            <m:rPr>
                              <m:brk m:alnAt="7"/>
                            </m:rPr>
                            <a:rPr lang="en-US" b="0" i="1" smtClean="0">
                              <a:latin typeface="Cambria Math" panose="02040503050406030204" pitchFamily="18" charset="0"/>
                            </a:rPr>
                            <m:t>𝑗</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𝑗</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𝑗</m:t>
                              </m:r>
                            </m:sub>
                          </m:sSub>
                        </m:e>
                      </m:nary>
                    </m:oMath>
                  </m:oMathPara>
                </a14:m>
                <a:endParaRPr lang="en-US" dirty="0"/>
              </a:p>
              <a:p>
                <a:pPr marL="0" indent="0">
                  <a:buNone/>
                </a:pPr>
                <a:r>
                  <a:rPr lang="en-US" dirty="0" err="1"/>
                  <a:t>s.t.</a:t>
                </a:r>
                <a:r>
                  <a:rPr lang="en-US" dirty="0"/>
                  <a:t> </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𝑖</m:t>
                          </m:r>
                        </m:sub>
                      </m:sSub>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m:rPr>
                              <m:brk m:alnAt="7"/>
                            </m:rPr>
                            <a:rPr lang="en-US" b="0" i="1" smtClean="0">
                              <a:latin typeface="Cambria Math" panose="02040503050406030204" pitchFamily="18" charset="0"/>
                            </a:rPr>
                            <m:t>𝑗</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𝑗</m:t>
                              </m:r>
                            </m:sub>
                          </m:sSub>
                        </m:e>
                      </m:nary>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𝑖</m:t>
                          </m:r>
                        </m:sub>
                      </m:sSub>
                      <m:r>
                        <a:rPr lang="en-US" b="0" i="1" smtClean="0">
                          <a:latin typeface="Cambria Math" panose="02040503050406030204" pitchFamily="18" charset="0"/>
                        </a:rPr>
                        <m:t> ∀ </m:t>
                      </m:r>
                      <m:r>
                        <a:rPr lang="en-US" b="0" i="1" smtClean="0">
                          <a:latin typeface="Cambria Math" panose="02040503050406030204" pitchFamily="18" charset="0"/>
                        </a:rPr>
                        <m:t>𝑖</m:t>
                      </m:r>
                    </m:oMath>
                  </m:oMathPara>
                </a14:m>
                <a:endParaRPr lang="en-US" dirty="0"/>
              </a:p>
            </p:txBody>
          </p:sp>
        </mc:Choice>
        <mc:Fallback xmlns="">
          <p:sp>
            <p:nvSpPr>
              <p:cNvPr id="3" name="Content Placeholder 2">
                <a:extLst>
                  <a:ext uri="{FF2B5EF4-FFF2-40B4-BE49-F238E27FC236}">
                    <a16:creationId xmlns:a16="http://schemas.microsoft.com/office/drawing/2014/main" id="{A0716B7F-BEA5-2B3F-E9DB-BEE05D4A26F8}"/>
                  </a:ext>
                </a:extLst>
              </p:cNvPr>
              <p:cNvSpPr>
                <a:spLocks noGrp="1" noRot="1" noChangeAspect="1" noMove="1" noResize="1" noEditPoints="1" noAdjustHandles="1" noChangeArrowheads="1" noChangeShapeType="1" noTextEdit="1"/>
              </p:cNvSpPr>
              <p:nvPr>
                <p:ph idx="1"/>
              </p:nvPr>
            </p:nvSpPr>
            <p:spPr>
              <a:xfrm>
                <a:off x="838200" y="2282825"/>
                <a:ext cx="4796481" cy="4351338"/>
              </a:xfrm>
              <a:blipFill>
                <a:blip r:embed="rId2"/>
                <a:stretch>
                  <a:fillRect l="-2646" t="-27326" b="-151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8987B73-1916-053C-DBE1-9ABD50BFFE45}"/>
                  </a:ext>
                </a:extLst>
              </p:cNvPr>
              <p:cNvSpPr txBox="1"/>
              <p:nvPr/>
            </p:nvSpPr>
            <p:spPr>
              <a:xfrm>
                <a:off x="6756057" y="553884"/>
                <a:ext cx="6098058" cy="646331"/>
              </a:xfrm>
              <a:prstGeom prst="rect">
                <a:avLst/>
              </a:prstGeom>
              <a:noFill/>
            </p:spPr>
            <p:txBody>
              <a:bodyPr wrap="square">
                <a:spAutoFit/>
              </a:bodyPr>
              <a:lstStyle/>
              <a:p>
                <a:pPr marL="0" indent="0">
                  <a:buNone/>
                </a:pPr>
                <a14:m>
                  <m:oMath xmlns:m="http://schemas.openxmlformats.org/officeDocument/2006/math">
                    <m:r>
                      <a:rPr lang="en-US" b="0" i="1" smtClean="0">
                        <a:latin typeface="Cambria Math" panose="02040503050406030204" pitchFamily="18" charset="0"/>
                      </a:rPr>
                      <m:t>𝑖</m:t>
                    </m:r>
                  </m:oMath>
                </a14:m>
                <a:r>
                  <a:rPr lang="en-US" dirty="0"/>
                  <a:t>: # constraints</a:t>
                </a:r>
              </a:p>
              <a:p>
                <a:pPr marL="0" indent="0">
                  <a:buNone/>
                </a:pPr>
                <a14:m>
                  <m:oMath xmlns:m="http://schemas.openxmlformats.org/officeDocument/2006/math">
                    <m:r>
                      <a:rPr lang="en-US" b="0" i="1" smtClean="0">
                        <a:latin typeface="Cambria Math" panose="02040503050406030204" pitchFamily="18" charset="0"/>
                      </a:rPr>
                      <m:t>𝑗</m:t>
                    </m:r>
                  </m:oMath>
                </a14:m>
                <a:r>
                  <a:rPr lang="en-US" dirty="0"/>
                  <a:t>: # variables</a:t>
                </a:r>
              </a:p>
            </p:txBody>
          </p:sp>
        </mc:Choice>
        <mc:Fallback xmlns="">
          <p:sp>
            <p:nvSpPr>
              <p:cNvPr id="5" name="TextBox 4">
                <a:extLst>
                  <a:ext uri="{FF2B5EF4-FFF2-40B4-BE49-F238E27FC236}">
                    <a16:creationId xmlns:a16="http://schemas.microsoft.com/office/drawing/2014/main" id="{C8987B73-1916-053C-DBE1-9ABD50BFFE45}"/>
                  </a:ext>
                </a:extLst>
              </p:cNvPr>
              <p:cNvSpPr txBox="1">
                <a:spLocks noRot="1" noChangeAspect="1" noMove="1" noResize="1" noEditPoints="1" noAdjustHandles="1" noChangeArrowheads="1" noChangeShapeType="1" noTextEdit="1"/>
              </p:cNvSpPr>
              <p:nvPr/>
            </p:nvSpPr>
            <p:spPr>
              <a:xfrm>
                <a:off x="6756057" y="553884"/>
                <a:ext cx="6098058" cy="646331"/>
              </a:xfrm>
              <a:prstGeom prst="rect">
                <a:avLst/>
              </a:prstGeom>
              <a:blipFill>
                <a:blip r:embed="rId3"/>
                <a:stretch>
                  <a:fillRect l="-207" t="-3846" b="-1346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1AEBF7D1-8BDD-4A2D-88DF-0128C9BD9236}"/>
                  </a:ext>
                </a:extLst>
              </p:cNvPr>
              <p:cNvSpPr txBox="1">
                <a:spLocks/>
              </p:cNvSpPr>
              <p:nvPr/>
            </p:nvSpPr>
            <p:spPr>
              <a:xfrm>
                <a:off x="6093940" y="2282825"/>
                <a:ext cx="6098059"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Dual:</a:t>
                </a: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𝑚</m:t>
                            </m:r>
                            <m:r>
                              <a:rPr lang="en-US" b="0" i="1" smtClean="0">
                                <a:latin typeface="Cambria Math" panose="02040503050406030204" pitchFamily="18" charset="0"/>
                              </a:rPr>
                              <m:t>𝑖𝑛</m:t>
                            </m:r>
                          </m:e>
                        </m:mr>
                        <m:mr>
                          <m:e>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𝑖</m:t>
                                </m:r>
                              </m:sub>
                            </m:sSub>
                          </m:e>
                        </m:mr>
                      </m:m>
                      <m:r>
                        <a:rPr lang="en-US" i="1" smtClean="0">
                          <a:latin typeface="Cambria Math" panose="02040503050406030204" pitchFamily="18" charset="0"/>
                        </a:rPr>
                        <m:t> </m:t>
                      </m:r>
                      <m:nary>
                        <m:naryPr>
                          <m:chr m:val="∑"/>
                          <m:supHide m:val="on"/>
                          <m:ctrlPr>
                            <a:rPr lang="en-US" i="1" smtClean="0">
                              <a:latin typeface="Cambria Math" panose="02040503050406030204" pitchFamily="18" charset="0"/>
                            </a:rPr>
                          </m:ctrlPr>
                        </m:naryPr>
                        <m:sub>
                          <m:r>
                            <m:rPr>
                              <m:brk m:alnAt="7"/>
                            </m:rPr>
                            <a:rPr lang="en-US" b="0" i="1" smtClean="0">
                              <a:latin typeface="Cambria Math" panose="02040503050406030204" pitchFamily="18" charset="0"/>
                            </a:rPr>
                            <m:t>𝑖</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𝑖</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𝑖</m:t>
                              </m:r>
                            </m:sub>
                          </m:sSub>
                        </m:e>
                      </m:nary>
                    </m:oMath>
                  </m:oMathPara>
                </a14:m>
                <a:endParaRPr lang="en-US" dirty="0"/>
              </a:p>
              <a:p>
                <a:pPr marL="0" indent="0">
                  <a:buFont typeface="Arial" panose="020B0604020202020204" pitchFamily="34" charset="0"/>
                  <a:buNone/>
                </a:pPr>
                <a:r>
                  <a:rPr lang="en-US" dirty="0" err="1"/>
                  <a:t>s.t.</a:t>
                </a:r>
                <a:r>
                  <a:rPr lang="en-US" dirty="0"/>
                  <a:t> </a:t>
                </a: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𝑖</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𝑖</m:t>
                              </m:r>
                            </m:sub>
                          </m:sSub>
                        </m:e>
                      </m:nary>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𝑗</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𝑗</m:t>
                          </m:r>
                        </m:sub>
                      </m:sSub>
                      <m:r>
                        <a:rPr lang="en-US" b="0" i="1" smtClean="0">
                          <a:latin typeface="Cambria Math" panose="02040503050406030204" pitchFamily="18" charset="0"/>
                        </a:rPr>
                        <m:t>  ∀ </m:t>
                      </m:r>
                      <m:r>
                        <a:rPr lang="en-US" b="0" i="1" smtClean="0">
                          <a:latin typeface="Cambria Math" panose="02040503050406030204" pitchFamily="18" charset="0"/>
                        </a:rPr>
                        <m:t>𝑗</m:t>
                      </m:r>
                    </m:oMath>
                  </m:oMathPara>
                </a14:m>
                <a:endParaRPr lang="en-US" dirty="0"/>
              </a:p>
            </p:txBody>
          </p:sp>
        </mc:Choice>
        <mc:Fallback xmlns="">
          <p:sp>
            <p:nvSpPr>
              <p:cNvPr id="6" name="Content Placeholder 2">
                <a:extLst>
                  <a:ext uri="{FF2B5EF4-FFF2-40B4-BE49-F238E27FC236}">
                    <a16:creationId xmlns:a16="http://schemas.microsoft.com/office/drawing/2014/main" id="{1AEBF7D1-8BDD-4A2D-88DF-0128C9BD9236}"/>
                  </a:ext>
                </a:extLst>
              </p:cNvPr>
              <p:cNvSpPr txBox="1">
                <a:spLocks noRot="1" noChangeAspect="1" noMove="1" noResize="1" noEditPoints="1" noAdjustHandles="1" noChangeArrowheads="1" noChangeShapeType="1" noTextEdit="1"/>
              </p:cNvSpPr>
              <p:nvPr/>
            </p:nvSpPr>
            <p:spPr>
              <a:xfrm>
                <a:off x="6093940" y="2282825"/>
                <a:ext cx="6098059" cy="4351338"/>
              </a:xfrm>
              <a:prstGeom prst="rect">
                <a:avLst/>
              </a:prstGeom>
              <a:blipFill>
                <a:blip r:embed="rId4"/>
                <a:stretch>
                  <a:fillRect l="-2287" t="-27326" b="-13953"/>
                </a:stretch>
              </a:blipFill>
            </p:spPr>
            <p:txBody>
              <a:bodyPr/>
              <a:lstStyle/>
              <a:p>
                <a:r>
                  <a:rPr lang="en-US">
                    <a:noFill/>
                  </a:rPr>
                  <a:t> </a:t>
                </a:r>
              </a:p>
            </p:txBody>
          </p:sp>
        </mc:Fallback>
      </mc:AlternateContent>
    </p:spTree>
    <p:extLst>
      <p:ext uri="{BB962C8B-B14F-4D97-AF65-F5344CB8AC3E}">
        <p14:creationId xmlns:p14="http://schemas.microsoft.com/office/powerpoint/2010/main" val="86905490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3014EA-371D-6CFD-8A41-663DFA1E26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39EB5F-B2F7-12C4-B4BE-F24357668307}"/>
              </a:ext>
            </a:extLst>
          </p:cNvPr>
          <p:cNvSpPr>
            <a:spLocks noGrp="1"/>
          </p:cNvSpPr>
          <p:nvPr>
            <p:ph type="title"/>
          </p:nvPr>
        </p:nvSpPr>
        <p:spPr/>
        <p:txBody>
          <a:bodyPr/>
          <a:lstStyle/>
          <a:p>
            <a:r>
              <a:rPr lang="en-US" dirty="0"/>
              <a:t>Formulating the dual..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7C578F7-4BEF-42FB-6422-2E72A29A6903}"/>
                  </a:ext>
                </a:extLst>
              </p:cNvPr>
              <p:cNvSpPr>
                <a:spLocks noGrp="1"/>
              </p:cNvSpPr>
              <p:nvPr>
                <p:ph idx="1"/>
              </p:nvPr>
            </p:nvSpPr>
            <p:spPr>
              <a:xfrm>
                <a:off x="838200" y="2223831"/>
                <a:ext cx="4796481" cy="4351338"/>
              </a:xfrm>
            </p:spPr>
            <p:txBody>
              <a:bodyPr>
                <a:normAutofit/>
              </a:bodyPr>
              <a:lstStyle/>
              <a:p>
                <a:pPr marL="0" indent="0">
                  <a:buNone/>
                </a:pPr>
                <a:r>
                  <a:rPr lang="en-US" dirty="0"/>
                  <a:t>Primal:</a:t>
                </a:r>
              </a:p>
              <a:p>
                <a:pPr marL="0" inden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b="0" i="1" smtClean="0">
                              <a:latin typeface="Cambria Math" panose="02040503050406030204" pitchFamily="18" charset="0"/>
                            </a:rPr>
                          </m:ctrlPr>
                        </m:mPr>
                        <m:mr>
                          <m:e>
                            <m:r>
                              <m:rPr>
                                <m:brk m:alnAt="7"/>
                              </m:rPr>
                              <a:rPr lang="en-US" b="0" i="1" smtClean="0">
                                <a:highlight>
                                  <a:srgbClr val="00FFFF"/>
                                </a:highlight>
                                <a:latin typeface="Cambria Math" panose="02040503050406030204" pitchFamily="18" charset="0"/>
                              </a:rPr>
                              <m:t>𝑚</m:t>
                            </m:r>
                            <m:r>
                              <a:rPr lang="en-US" b="0" i="1" smtClean="0">
                                <a:highlight>
                                  <a:srgbClr val="00FFFF"/>
                                </a:highlight>
                                <a:latin typeface="Cambria Math" panose="02040503050406030204" pitchFamily="18" charset="0"/>
                              </a:rPr>
                              <m:t>𝑎𝑥</m:t>
                            </m:r>
                          </m:e>
                        </m:mr>
                        <m:mr>
                          <m:e>
                            <m:sSub>
                              <m:sSubPr>
                                <m:ctrlPr>
                                  <a:rPr lang="en-US" b="0" i="1" smtClean="0">
                                    <a:latin typeface="Cambria Math" panose="02040503050406030204" pitchFamily="18" charset="0"/>
                                  </a:rPr>
                                </m:ctrlPr>
                              </m:sSubPr>
                              <m:e>
                                <m:r>
                                  <a:rPr lang="en-US" b="0" i="1" smtClean="0">
                                    <a:highlight>
                                      <a:srgbClr val="FFFF00"/>
                                    </a:highlight>
                                    <a:latin typeface="Cambria Math" panose="02040503050406030204" pitchFamily="18" charset="0"/>
                                  </a:rPr>
                                  <m:t>𝑥</m:t>
                                </m:r>
                              </m:e>
                              <m:sub>
                                <m:r>
                                  <a:rPr lang="en-US" b="0" i="1" smtClean="0">
                                    <a:highlight>
                                      <a:srgbClr val="FFFF00"/>
                                    </a:highlight>
                                    <a:latin typeface="Cambria Math" panose="02040503050406030204" pitchFamily="18" charset="0"/>
                                  </a:rPr>
                                  <m:t>𝑗</m:t>
                                </m:r>
                              </m:sub>
                            </m:sSub>
                          </m:e>
                        </m:mr>
                      </m:m>
                      <m:r>
                        <a:rPr lang="en-US" b="0" i="1" smtClean="0">
                          <a:latin typeface="Cambria Math" panose="02040503050406030204" pitchFamily="18" charset="0"/>
                        </a:rPr>
                        <m:t> </m:t>
                      </m:r>
                      <m:nary>
                        <m:naryPr>
                          <m:chr m:val="∑"/>
                          <m:supHide m:val="on"/>
                          <m:ctrlPr>
                            <a:rPr lang="en-US" b="0" i="1" smtClean="0">
                              <a:latin typeface="Cambria Math" panose="02040503050406030204" pitchFamily="18" charset="0"/>
                            </a:rPr>
                          </m:ctrlPr>
                        </m:naryPr>
                        <m:sub>
                          <m:r>
                            <m:rPr>
                              <m:brk m:alnAt="7"/>
                            </m:rPr>
                            <a:rPr lang="en-US" b="0" i="1" smtClean="0">
                              <a:highlight>
                                <a:srgbClr val="FFFF00"/>
                              </a:highlight>
                              <a:latin typeface="Cambria Math" panose="02040503050406030204" pitchFamily="18" charset="0"/>
                            </a:rPr>
                            <m:t>𝑗</m:t>
                          </m:r>
                        </m:sub>
                        <m:sup/>
                        <m:e>
                          <m:sSub>
                            <m:sSubPr>
                              <m:ctrlPr>
                                <a:rPr lang="en-US" b="0" i="1" smtClean="0">
                                  <a:highlight>
                                    <a:srgbClr val="FFFF00"/>
                                  </a:highlight>
                                  <a:latin typeface="Cambria Math" panose="02040503050406030204" pitchFamily="18" charset="0"/>
                                </a:rPr>
                              </m:ctrlPr>
                            </m:sSubPr>
                            <m:e>
                              <m:r>
                                <a:rPr lang="en-US" b="0" i="1" smtClean="0">
                                  <a:highlight>
                                    <a:srgbClr val="FFFF00"/>
                                  </a:highlight>
                                  <a:latin typeface="Cambria Math" panose="02040503050406030204" pitchFamily="18" charset="0"/>
                                </a:rPr>
                                <m:t>𝑐</m:t>
                              </m:r>
                            </m:e>
                            <m:sub>
                              <m:r>
                                <a:rPr lang="en-US" b="0" i="1" smtClean="0">
                                  <a:highlight>
                                    <a:srgbClr val="FFFF00"/>
                                  </a:highlight>
                                  <a:latin typeface="Cambria Math" panose="02040503050406030204" pitchFamily="18" charset="0"/>
                                </a:rPr>
                                <m:t>𝑗</m:t>
                              </m:r>
                            </m:sub>
                          </m:sSub>
                          <m:sSub>
                            <m:sSubPr>
                              <m:ctrlPr>
                                <a:rPr lang="en-US" b="0" i="1" smtClean="0">
                                  <a:highlight>
                                    <a:srgbClr val="FFFF00"/>
                                  </a:highlight>
                                  <a:latin typeface="Cambria Math" panose="02040503050406030204" pitchFamily="18" charset="0"/>
                                </a:rPr>
                              </m:ctrlPr>
                            </m:sSubPr>
                            <m:e>
                              <m:r>
                                <a:rPr lang="en-US" b="0" i="1" smtClean="0">
                                  <a:highlight>
                                    <a:srgbClr val="FFFF00"/>
                                  </a:highlight>
                                  <a:latin typeface="Cambria Math" panose="02040503050406030204" pitchFamily="18" charset="0"/>
                                </a:rPr>
                                <m:t>𝑥</m:t>
                              </m:r>
                            </m:e>
                            <m:sub>
                              <m:r>
                                <a:rPr lang="en-US" b="0" i="1" smtClean="0">
                                  <a:highlight>
                                    <a:srgbClr val="FFFF00"/>
                                  </a:highlight>
                                  <a:latin typeface="Cambria Math" panose="02040503050406030204" pitchFamily="18" charset="0"/>
                                </a:rPr>
                                <m:t>𝑗</m:t>
                              </m:r>
                            </m:sub>
                          </m:sSub>
                        </m:e>
                      </m:nary>
                    </m:oMath>
                  </m:oMathPara>
                </a14:m>
                <a:endParaRPr lang="en-US" dirty="0"/>
              </a:p>
              <a:p>
                <a:pPr marL="0" indent="0">
                  <a:buNone/>
                </a:pPr>
                <a:r>
                  <a:rPr lang="en-US" dirty="0" err="1"/>
                  <a:t>s.t.</a:t>
                </a:r>
                <a:r>
                  <a:rPr lang="en-US" dirty="0"/>
                  <a:t> </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highlight>
                                <a:srgbClr val="00FF00"/>
                              </a:highlight>
                              <a:latin typeface="Cambria Math" panose="02040503050406030204" pitchFamily="18" charset="0"/>
                            </a:rPr>
                          </m:ctrlPr>
                        </m:sSubPr>
                        <m:e>
                          <m:r>
                            <a:rPr lang="en-US" b="0" i="1" smtClean="0">
                              <a:highlight>
                                <a:srgbClr val="00FF00"/>
                              </a:highlight>
                              <a:latin typeface="Cambria Math" panose="02040503050406030204" pitchFamily="18" charset="0"/>
                            </a:rPr>
                            <m:t>𝑏</m:t>
                          </m:r>
                        </m:e>
                        <m:sub>
                          <m:r>
                            <a:rPr lang="en-US" b="0" i="1" smtClean="0">
                              <a:highlight>
                                <a:srgbClr val="00FF00"/>
                              </a:highlight>
                              <a:latin typeface="Cambria Math" panose="02040503050406030204" pitchFamily="18" charset="0"/>
                            </a:rPr>
                            <m:t>𝑖</m:t>
                          </m:r>
                        </m:sub>
                      </m:sSub>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m:rPr>
                              <m:brk m:alnAt="7"/>
                            </m:rPr>
                            <a:rPr lang="en-US" b="0" i="1" smtClean="0">
                              <a:latin typeface="Cambria Math" panose="02040503050406030204" pitchFamily="18" charset="0"/>
                            </a:rPr>
                            <m:t>𝑗</m:t>
                          </m:r>
                        </m:sub>
                        <m:sup/>
                        <m:e>
                          <m:sSub>
                            <m:sSubPr>
                              <m:ctrlPr>
                                <a:rPr lang="en-US" b="0" i="1" smtClean="0">
                                  <a:highlight>
                                    <a:srgbClr val="FFFF00"/>
                                  </a:highlight>
                                  <a:latin typeface="Cambria Math" panose="02040503050406030204" pitchFamily="18" charset="0"/>
                                </a:rPr>
                              </m:ctrlPr>
                            </m:sSubPr>
                            <m:e>
                              <m:r>
                                <a:rPr lang="en-US" b="0" i="1" smtClean="0">
                                  <a:highlight>
                                    <a:srgbClr val="FFFF00"/>
                                  </a:highlight>
                                  <a:latin typeface="Cambria Math" panose="02040503050406030204" pitchFamily="18" charset="0"/>
                                </a:rPr>
                                <m:t>𝑎</m:t>
                              </m:r>
                            </m:e>
                            <m:sub>
                              <m:r>
                                <a:rPr lang="en-US" b="0" i="1" smtClean="0">
                                  <a:highlight>
                                    <a:srgbClr val="FFFF00"/>
                                  </a:highlight>
                                  <a:latin typeface="Cambria Math" panose="02040503050406030204" pitchFamily="18" charset="0"/>
                                </a:rPr>
                                <m:t>𝑖</m:t>
                              </m:r>
                              <m:r>
                                <a:rPr lang="en-US" b="0" i="1" smtClean="0">
                                  <a:highlight>
                                    <a:srgbClr val="FFFF00"/>
                                  </a:highlight>
                                  <a:latin typeface="Cambria Math" panose="02040503050406030204" pitchFamily="18" charset="0"/>
                                </a:rPr>
                                <m:t>,</m:t>
                              </m:r>
                              <m:r>
                                <a:rPr lang="en-US" b="0" i="1" smtClean="0">
                                  <a:highlight>
                                    <a:srgbClr val="FFFF00"/>
                                  </a:highlight>
                                  <a:latin typeface="Cambria Math" panose="02040503050406030204" pitchFamily="18" charset="0"/>
                                </a:rPr>
                                <m:t>𝑗</m:t>
                              </m:r>
                            </m:sub>
                          </m:sSub>
                          <m:sSub>
                            <m:sSubPr>
                              <m:ctrlPr>
                                <a:rPr lang="en-US" b="0" i="1" smtClean="0">
                                  <a:highlight>
                                    <a:srgbClr val="FFFF00"/>
                                  </a:highlight>
                                  <a:latin typeface="Cambria Math" panose="02040503050406030204" pitchFamily="18" charset="0"/>
                                </a:rPr>
                              </m:ctrlPr>
                            </m:sSubPr>
                            <m:e>
                              <m:r>
                                <a:rPr lang="en-US" b="0" i="1" smtClean="0">
                                  <a:highlight>
                                    <a:srgbClr val="FFFF00"/>
                                  </a:highlight>
                                  <a:latin typeface="Cambria Math" panose="02040503050406030204" pitchFamily="18" charset="0"/>
                                </a:rPr>
                                <m:t>𝑥</m:t>
                              </m:r>
                            </m:e>
                            <m:sub>
                              <m:r>
                                <a:rPr lang="en-US" b="0" i="1" smtClean="0">
                                  <a:highlight>
                                    <a:srgbClr val="FFFF00"/>
                                  </a:highlight>
                                  <a:latin typeface="Cambria Math" panose="02040503050406030204" pitchFamily="18" charset="0"/>
                                </a:rPr>
                                <m:t>𝑗</m:t>
                              </m:r>
                            </m:sub>
                          </m:sSub>
                        </m:e>
                      </m:nary>
                      <m:r>
                        <a:rPr lang="en-US" b="0" i="1" smtClean="0">
                          <a:latin typeface="Cambria Math" panose="02040503050406030204" pitchFamily="18" charset="0"/>
                        </a:rPr>
                        <m:t>⊥</m:t>
                      </m:r>
                      <m:sSub>
                        <m:sSubPr>
                          <m:ctrlPr>
                            <a:rPr lang="en-US" b="0" i="1" smtClean="0">
                              <a:highlight>
                                <a:srgbClr val="FF0000"/>
                              </a:highlight>
                              <a:latin typeface="Cambria Math" panose="02040503050406030204" pitchFamily="18" charset="0"/>
                            </a:rPr>
                          </m:ctrlPr>
                        </m:sSubPr>
                        <m:e>
                          <m:r>
                            <a:rPr lang="en-US" b="0" i="1" smtClean="0">
                              <a:highlight>
                                <a:srgbClr val="FF0000"/>
                              </a:highlight>
                              <a:latin typeface="Cambria Math" panose="02040503050406030204" pitchFamily="18" charset="0"/>
                            </a:rPr>
                            <m:t>𝜆</m:t>
                          </m:r>
                        </m:e>
                        <m:sub>
                          <m:r>
                            <a:rPr lang="en-US" b="0" i="1" smtClean="0">
                              <a:highlight>
                                <a:srgbClr val="FF0000"/>
                              </a:highlight>
                              <a:latin typeface="Cambria Math" panose="02040503050406030204" pitchFamily="18" charset="0"/>
                            </a:rPr>
                            <m:t>𝑖</m:t>
                          </m:r>
                        </m:sub>
                      </m:sSub>
                      <m:r>
                        <a:rPr lang="en-US" b="0" i="1" smtClean="0">
                          <a:latin typeface="Cambria Math" panose="02040503050406030204" pitchFamily="18" charset="0"/>
                        </a:rPr>
                        <m:t> ∀ </m:t>
                      </m:r>
                      <m:r>
                        <a:rPr lang="en-US" b="0" i="1" smtClean="0">
                          <a:latin typeface="Cambria Math" panose="02040503050406030204" pitchFamily="18" charset="0"/>
                        </a:rPr>
                        <m:t>𝑖</m:t>
                      </m:r>
                    </m:oMath>
                  </m:oMathPara>
                </a14:m>
                <a:endParaRPr lang="en-US" dirty="0"/>
              </a:p>
            </p:txBody>
          </p:sp>
        </mc:Choice>
        <mc:Fallback xmlns="">
          <p:sp>
            <p:nvSpPr>
              <p:cNvPr id="3" name="Content Placeholder 2">
                <a:extLst>
                  <a:ext uri="{FF2B5EF4-FFF2-40B4-BE49-F238E27FC236}">
                    <a16:creationId xmlns:a16="http://schemas.microsoft.com/office/drawing/2014/main" id="{D7C578F7-4BEF-42FB-6422-2E72A29A6903}"/>
                  </a:ext>
                </a:extLst>
              </p:cNvPr>
              <p:cNvSpPr>
                <a:spLocks noGrp="1" noRot="1" noChangeAspect="1" noMove="1" noResize="1" noEditPoints="1" noAdjustHandles="1" noChangeArrowheads="1" noChangeShapeType="1" noTextEdit="1"/>
              </p:cNvSpPr>
              <p:nvPr>
                <p:ph idx="1"/>
              </p:nvPr>
            </p:nvSpPr>
            <p:spPr>
              <a:xfrm>
                <a:off x="838200" y="2223831"/>
                <a:ext cx="4796481" cy="4351338"/>
              </a:xfrm>
              <a:blipFill>
                <a:blip r:embed="rId2"/>
                <a:stretch>
                  <a:fillRect l="-2646" t="-27405" b="-1516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A24FC76-EC86-C649-01AA-EC2E61CD6963}"/>
                  </a:ext>
                </a:extLst>
              </p:cNvPr>
              <p:cNvSpPr txBox="1"/>
              <p:nvPr/>
            </p:nvSpPr>
            <p:spPr>
              <a:xfrm>
                <a:off x="6756057" y="553884"/>
                <a:ext cx="6098058" cy="646331"/>
              </a:xfrm>
              <a:prstGeom prst="rect">
                <a:avLst/>
              </a:prstGeom>
              <a:noFill/>
            </p:spPr>
            <p:txBody>
              <a:bodyPr wrap="square">
                <a:spAutoFit/>
              </a:bodyPr>
              <a:lstStyle/>
              <a:p>
                <a:pPr marL="0" indent="0">
                  <a:buNone/>
                </a:pPr>
                <a14:m>
                  <m:oMath xmlns:m="http://schemas.openxmlformats.org/officeDocument/2006/math">
                    <m:r>
                      <a:rPr lang="en-US" b="0" i="1" smtClean="0">
                        <a:latin typeface="Cambria Math" panose="02040503050406030204" pitchFamily="18" charset="0"/>
                      </a:rPr>
                      <m:t>𝑖</m:t>
                    </m:r>
                  </m:oMath>
                </a14:m>
                <a:r>
                  <a:rPr lang="en-US" dirty="0"/>
                  <a:t>: # constraints</a:t>
                </a:r>
              </a:p>
              <a:p>
                <a:pPr marL="0" indent="0">
                  <a:buNone/>
                </a:pPr>
                <a14:m>
                  <m:oMath xmlns:m="http://schemas.openxmlformats.org/officeDocument/2006/math">
                    <m:r>
                      <a:rPr lang="en-US" b="0" i="1" smtClean="0">
                        <a:latin typeface="Cambria Math" panose="02040503050406030204" pitchFamily="18" charset="0"/>
                      </a:rPr>
                      <m:t>𝑗</m:t>
                    </m:r>
                  </m:oMath>
                </a14:m>
                <a:r>
                  <a:rPr lang="en-US" dirty="0"/>
                  <a:t>: # variables</a:t>
                </a:r>
              </a:p>
            </p:txBody>
          </p:sp>
        </mc:Choice>
        <mc:Fallback xmlns="">
          <p:sp>
            <p:nvSpPr>
              <p:cNvPr id="5" name="TextBox 4">
                <a:extLst>
                  <a:ext uri="{FF2B5EF4-FFF2-40B4-BE49-F238E27FC236}">
                    <a16:creationId xmlns:a16="http://schemas.microsoft.com/office/drawing/2014/main" id="{4A24FC76-EC86-C649-01AA-EC2E61CD6963}"/>
                  </a:ext>
                </a:extLst>
              </p:cNvPr>
              <p:cNvSpPr txBox="1">
                <a:spLocks noRot="1" noChangeAspect="1" noMove="1" noResize="1" noEditPoints="1" noAdjustHandles="1" noChangeArrowheads="1" noChangeShapeType="1" noTextEdit="1"/>
              </p:cNvSpPr>
              <p:nvPr/>
            </p:nvSpPr>
            <p:spPr>
              <a:xfrm>
                <a:off x="6756057" y="553884"/>
                <a:ext cx="6098058" cy="646331"/>
              </a:xfrm>
              <a:prstGeom prst="rect">
                <a:avLst/>
              </a:prstGeom>
              <a:blipFill>
                <a:blip r:embed="rId3"/>
                <a:stretch>
                  <a:fillRect l="-207" t="-3846" b="-1346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A03A0BE0-0A7B-3B1D-8B7E-800E6B929238}"/>
                  </a:ext>
                </a:extLst>
              </p:cNvPr>
              <p:cNvSpPr txBox="1">
                <a:spLocks/>
              </p:cNvSpPr>
              <p:nvPr/>
            </p:nvSpPr>
            <p:spPr>
              <a:xfrm>
                <a:off x="6093940" y="2223831"/>
                <a:ext cx="6098059"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Dual:</a:t>
                </a: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i="1" smtClean="0">
                              <a:latin typeface="Cambria Math" panose="02040503050406030204" pitchFamily="18" charset="0"/>
                            </a:rPr>
                          </m:ctrlPr>
                        </m:mPr>
                        <m:mr>
                          <m:e>
                            <m:r>
                              <m:rPr>
                                <m:brk m:alnAt="7"/>
                              </m:rPr>
                              <a:rPr lang="en-US" b="0" i="1" smtClean="0">
                                <a:highlight>
                                  <a:srgbClr val="00FFFF"/>
                                </a:highlight>
                                <a:latin typeface="Cambria Math" panose="02040503050406030204" pitchFamily="18" charset="0"/>
                              </a:rPr>
                              <m:t>𝑚</m:t>
                            </m:r>
                            <m:r>
                              <a:rPr lang="en-US" b="0" i="1" smtClean="0">
                                <a:highlight>
                                  <a:srgbClr val="00FFFF"/>
                                </a:highlight>
                                <a:latin typeface="Cambria Math" panose="02040503050406030204" pitchFamily="18" charset="0"/>
                              </a:rPr>
                              <m:t>𝑖𝑛</m:t>
                            </m:r>
                          </m:e>
                        </m:mr>
                        <m:mr>
                          <m:e>
                            <m:sSub>
                              <m:sSubPr>
                                <m:ctrlPr>
                                  <a:rPr lang="en-US" b="0" i="1" smtClean="0">
                                    <a:highlight>
                                      <a:srgbClr val="FF0000"/>
                                    </a:highlight>
                                    <a:latin typeface="Cambria Math" panose="02040503050406030204" pitchFamily="18" charset="0"/>
                                  </a:rPr>
                                </m:ctrlPr>
                              </m:sSubPr>
                              <m:e>
                                <m:r>
                                  <a:rPr lang="en-US" b="0" i="1" smtClean="0">
                                    <a:highlight>
                                      <a:srgbClr val="FF0000"/>
                                    </a:highlight>
                                    <a:latin typeface="Cambria Math" panose="02040503050406030204" pitchFamily="18" charset="0"/>
                                  </a:rPr>
                                  <m:t>𝜆</m:t>
                                </m:r>
                              </m:e>
                              <m:sub>
                                <m:r>
                                  <a:rPr lang="en-US" b="0" i="1" smtClean="0">
                                    <a:highlight>
                                      <a:srgbClr val="FF0000"/>
                                    </a:highlight>
                                    <a:latin typeface="Cambria Math" panose="02040503050406030204" pitchFamily="18" charset="0"/>
                                  </a:rPr>
                                  <m:t>𝑖</m:t>
                                </m:r>
                              </m:sub>
                            </m:sSub>
                          </m:e>
                        </m:mr>
                      </m:m>
                      <m:r>
                        <a:rPr lang="en-US" i="1" smtClean="0">
                          <a:latin typeface="Cambria Math" panose="02040503050406030204" pitchFamily="18" charset="0"/>
                        </a:rPr>
                        <m:t> </m:t>
                      </m:r>
                      <m:nary>
                        <m:naryPr>
                          <m:chr m:val="∑"/>
                          <m:supHide m:val="on"/>
                          <m:ctrlPr>
                            <a:rPr lang="en-US" i="1" smtClean="0">
                              <a:latin typeface="Cambria Math" panose="02040503050406030204" pitchFamily="18" charset="0"/>
                            </a:rPr>
                          </m:ctrlPr>
                        </m:naryPr>
                        <m:sub>
                          <m:r>
                            <m:rPr>
                              <m:brk m:alnAt="7"/>
                            </m:rPr>
                            <a:rPr lang="en-US" b="0" i="1" smtClean="0">
                              <a:latin typeface="Cambria Math" panose="02040503050406030204" pitchFamily="18" charset="0"/>
                            </a:rPr>
                            <m:t>𝑖</m:t>
                          </m:r>
                        </m:sub>
                        <m:sup/>
                        <m:e>
                          <m:sSub>
                            <m:sSubPr>
                              <m:ctrlPr>
                                <a:rPr lang="en-US" b="0" i="1" smtClean="0">
                                  <a:highlight>
                                    <a:srgbClr val="00FF00"/>
                                  </a:highlight>
                                  <a:latin typeface="Cambria Math" panose="02040503050406030204" pitchFamily="18" charset="0"/>
                                </a:rPr>
                              </m:ctrlPr>
                            </m:sSubPr>
                            <m:e>
                              <m:r>
                                <a:rPr lang="en-US" b="0" i="1" smtClean="0">
                                  <a:highlight>
                                    <a:srgbClr val="00FF00"/>
                                  </a:highlight>
                                  <a:latin typeface="Cambria Math" panose="02040503050406030204" pitchFamily="18" charset="0"/>
                                </a:rPr>
                                <m:t>𝑏</m:t>
                              </m:r>
                            </m:e>
                            <m:sub>
                              <m:r>
                                <a:rPr lang="en-US" b="0" i="1" smtClean="0">
                                  <a:highlight>
                                    <a:srgbClr val="00FF00"/>
                                  </a:highlight>
                                  <a:latin typeface="Cambria Math" panose="02040503050406030204" pitchFamily="18" charset="0"/>
                                </a:rPr>
                                <m:t>𝑖</m:t>
                              </m:r>
                            </m:sub>
                          </m:sSub>
                          <m:sSub>
                            <m:sSubPr>
                              <m:ctrlPr>
                                <a:rPr lang="en-US" b="0" i="1" smtClean="0">
                                  <a:highlight>
                                    <a:srgbClr val="FF0000"/>
                                  </a:highlight>
                                  <a:latin typeface="Cambria Math" panose="02040503050406030204" pitchFamily="18" charset="0"/>
                                </a:rPr>
                              </m:ctrlPr>
                            </m:sSubPr>
                            <m:e>
                              <m:r>
                                <a:rPr lang="en-US" b="0" i="1" smtClean="0">
                                  <a:highlight>
                                    <a:srgbClr val="FF0000"/>
                                  </a:highlight>
                                  <a:latin typeface="Cambria Math" panose="02040503050406030204" pitchFamily="18" charset="0"/>
                                </a:rPr>
                                <m:t>𝜆</m:t>
                              </m:r>
                            </m:e>
                            <m:sub>
                              <m:r>
                                <a:rPr lang="en-US" b="0" i="1" smtClean="0">
                                  <a:highlight>
                                    <a:srgbClr val="FF0000"/>
                                  </a:highlight>
                                  <a:latin typeface="Cambria Math" panose="02040503050406030204" pitchFamily="18" charset="0"/>
                                </a:rPr>
                                <m:t>𝑖</m:t>
                              </m:r>
                            </m:sub>
                          </m:sSub>
                        </m:e>
                      </m:nary>
                    </m:oMath>
                  </m:oMathPara>
                </a14:m>
                <a:endParaRPr lang="en-US" dirty="0"/>
              </a:p>
              <a:p>
                <a:pPr marL="0" indent="0">
                  <a:buFont typeface="Arial" panose="020B0604020202020204" pitchFamily="34" charset="0"/>
                  <a:buNone/>
                </a:pPr>
                <a:r>
                  <a:rPr lang="en-US" dirty="0" err="1"/>
                  <a:t>s.t.</a:t>
                </a:r>
                <a:r>
                  <a:rPr lang="en-US" dirty="0"/>
                  <a:t> </a:t>
                </a: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𝑖</m:t>
                          </m:r>
                        </m:sub>
                        <m:sup/>
                        <m:e>
                          <m:sSub>
                            <m:sSubPr>
                              <m:ctrlPr>
                                <a:rPr lang="en-US" b="0" i="1" smtClean="0">
                                  <a:highlight>
                                    <a:srgbClr val="FFFF00"/>
                                  </a:highlight>
                                  <a:latin typeface="Cambria Math" panose="02040503050406030204" pitchFamily="18" charset="0"/>
                                </a:rPr>
                              </m:ctrlPr>
                            </m:sSubPr>
                            <m:e>
                              <m:r>
                                <a:rPr lang="en-US" b="0" i="1" smtClean="0">
                                  <a:highlight>
                                    <a:srgbClr val="FFFF00"/>
                                  </a:highlight>
                                  <a:latin typeface="Cambria Math" panose="02040503050406030204" pitchFamily="18" charset="0"/>
                                </a:rPr>
                                <m:t>𝑎</m:t>
                              </m:r>
                            </m:e>
                            <m:sub>
                              <m:r>
                                <a:rPr lang="en-US" b="0" i="1" smtClean="0">
                                  <a:highlight>
                                    <a:srgbClr val="FFFF00"/>
                                  </a:highlight>
                                  <a:latin typeface="Cambria Math" panose="02040503050406030204" pitchFamily="18" charset="0"/>
                                </a:rPr>
                                <m:t>𝑖</m:t>
                              </m:r>
                              <m:r>
                                <a:rPr lang="en-US" b="0" i="1" smtClean="0">
                                  <a:highlight>
                                    <a:srgbClr val="FFFF00"/>
                                  </a:highlight>
                                  <a:latin typeface="Cambria Math" panose="02040503050406030204" pitchFamily="18" charset="0"/>
                                </a:rPr>
                                <m:t>,</m:t>
                              </m:r>
                              <m:r>
                                <a:rPr lang="en-US" b="0" i="1" smtClean="0">
                                  <a:highlight>
                                    <a:srgbClr val="FFFF00"/>
                                  </a:highlight>
                                  <a:latin typeface="Cambria Math" panose="02040503050406030204" pitchFamily="18" charset="0"/>
                                </a:rPr>
                                <m:t>𝑗</m:t>
                              </m:r>
                            </m:sub>
                          </m:sSub>
                          <m:sSub>
                            <m:sSubPr>
                              <m:ctrlPr>
                                <a:rPr lang="en-US" b="0" i="1" smtClean="0">
                                  <a:highlight>
                                    <a:srgbClr val="FF0000"/>
                                  </a:highlight>
                                  <a:latin typeface="Cambria Math" panose="02040503050406030204" pitchFamily="18" charset="0"/>
                                </a:rPr>
                              </m:ctrlPr>
                            </m:sSubPr>
                            <m:e>
                              <m:r>
                                <a:rPr lang="en-US" b="0" i="1" smtClean="0">
                                  <a:highlight>
                                    <a:srgbClr val="FF0000"/>
                                  </a:highlight>
                                  <a:latin typeface="Cambria Math" panose="02040503050406030204" pitchFamily="18" charset="0"/>
                                </a:rPr>
                                <m:t>𝜆</m:t>
                              </m:r>
                            </m:e>
                            <m:sub>
                              <m:r>
                                <a:rPr lang="en-US" b="0" i="1" smtClean="0">
                                  <a:highlight>
                                    <a:srgbClr val="FF0000"/>
                                  </a:highlight>
                                  <a:latin typeface="Cambria Math" panose="02040503050406030204" pitchFamily="18" charset="0"/>
                                </a:rPr>
                                <m:t>𝑖</m:t>
                              </m:r>
                            </m:sub>
                          </m:sSub>
                        </m:e>
                      </m:nary>
                      <m:r>
                        <a:rPr lang="en-US" b="0" i="1" smtClean="0">
                          <a:latin typeface="Cambria Math" panose="02040503050406030204" pitchFamily="18" charset="0"/>
                        </a:rPr>
                        <m:t>≥</m:t>
                      </m:r>
                      <m:sSub>
                        <m:sSubPr>
                          <m:ctrlPr>
                            <a:rPr lang="en-US" b="0" i="1" smtClean="0">
                              <a:highlight>
                                <a:srgbClr val="FFFF00"/>
                              </a:highlight>
                              <a:latin typeface="Cambria Math" panose="02040503050406030204" pitchFamily="18" charset="0"/>
                            </a:rPr>
                          </m:ctrlPr>
                        </m:sSubPr>
                        <m:e>
                          <m:r>
                            <a:rPr lang="en-US" b="0" i="1" smtClean="0">
                              <a:highlight>
                                <a:srgbClr val="FFFF00"/>
                              </a:highlight>
                              <a:latin typeface="Cambria Math" panose="02040503050406030204" pitchFamily="18" charset="0"/>
                            </a:rPr>
                            <m:t>𝑐</m:t>
                          </m:r>
                        </m:e>
                        <m:sub>
                          <m:r>
                            <a:rPr lang="en-US" b="0" i="1" smtClean="0">
                              <a:highlight>
                                <a:srgbClr val="FFFF00"/>
                              </a:highlight>
                              <a:latin typeface="Cambria Math" panose="02040503050406030204" pitchFamily="18" charset="0"/>
                            </a:rPr>
                            <m:t>𝑗</m:t>
                          </m:r>
                        </m:sub>
                      </m:sSub>
                      <m:r>
                        <a:rPr lang="en-US" b="0" i="1" smtClean="0">
                          <a:latin typeface="Cambria Math" panose="02040503050406030204" pitchFamily="18" charset="0"/>
                        </a:rPr>
                        <m:t>⊥</m:t>
                      </m:r>
                      <m:sSub>
                        <m:sSubPr>
                          <m:ctrlPr>
                            <a:rPr lang="en-US" b="0" i="1" smtClean="0">
                              <a:highlight>
                                <a:srgbClr val="FFFF00"/>
                              </a:highlight>
                              <a:latin typeface="Cambria Math" panose="02040503050406030204" pitchFamily="18" charset="0"/>
                            </a:rPr>
                          </m:ctrlPr>
                        </m:sSubPr>
                        <m:e>
                          <m:r>
                            <a:rPr lang="en-US" b="0" i="1" smtClean="0">
                              <a:highlight>
                                <a:srgbClr val="FFFF00"/>
                              </a:highlight>
                              <a:latin typeface="Cambria Math" panose="02040503050406030204" pitchFamily="18" charset="0"/>
                            </a:rPr>
                            <m:t>𝑥</m:t>
                          </m:r>
                        </m:e>
                        <m:sub>
                          <m:r>
                            <a:rPr lang="en-US" b="0" i="1" smtClean="0">
                              <a:highlight>
                                <a:srgbClr val="FFFF00"/>
                              </a:highlight>
                              <a:latin typeface="Cambria Math" panose="02040503050406030204" pitchFamily="18" charset="0"/>
                            </a:rPr>
                            <m:t>𝑗</m:t>
                          </m:r>
                        </m:sub>
                      </m:sSub>
                      <m:r>
                        <a:rPr lang="en-US" b="0" i="1" smtClean="0">
                          <a:highlight>
                            <a:srgbClr val="FFFF00"/>
                          </a:highlight>
                          <a:latin typeface="Cambria Math" panose="02040503050406030204" pitchFamily="18" charset="0"/>
                        </a:rPr>
                        <m:t>  ∀ </m:t>
                      </m:r>
                      <m:r>
                        <a:rPr lang="en-US" b="0" i="1" smtClean="0">
                          <a:highlight>
                            <a:srgbClr val="FFFF00"/>
                          </a:highlight>
                          <a:latin typeface="Cambria Math" panose="02040503050406030204" pitchFamily="18" charset="0"/>
                        </a:rPr>
                        <m:t>𝑗</m:t>
                      </m:r>
                    </m:oMath>
                  </m:oMathPara>
                </a14:m>
                <a:endParaRPr lang="en-US" dirty="0">
                  <a:highlight>
                    <a:srgbClr val="FFFF00"/>
                  </a:highlight>
                </a:endParaRPr>
              </a:p>
            </p:txBody>
          </p:sp>
        </mc:Choice>
        <mc:Fallback xmlns="">
          <p:sp>
            <p:nvSpPr>
              <p:cNvPr id="6" name="Content Placeholder 2">
                <a:extLst>
                  <a:ext uri="{FF2B5EF4-FFF2-40B4-BE49-F238E27FC236}">
                    <a16:creationId xmlns:a16="http://schemas.microsoft.com/office/drawing/2014/main" id="{A03A0BE0-0A7B-3B1D-8B7E-800E6B929238}"/>
                  </a:ext>
                </a:extLst>
              </p:cNvPr>
              <p:cNvSpPr txBox="1">
                <a:spLocks noRot="1" noChangeAspect="1" noMove="1" noResize="1" noEditPoints="1" noAdjustHandles="1" noChangeArrowheads="1" noChangeShapeType="1" noTextEdit="1"/>
              </p:cNvSpPr>
              <p:nvPr/>
            </p:nvSpPr>
            <p:spPr>
              <a:xfrm>
                <a:off x="6093940" y="2223831"/>
                <a:ext cx="6098059" cy="4351338"/>
              </a:xfrm>
              <a:prstGeom prst="rect">
                <a:avLst/>
              </a:prstGeom>
              <a:blipFill>
                <a:blip r:embed="rId4"/>
                <a:stretch>
                  <a:fillRect l="-2287" t="-27405" b="-13994"/>
                </a:stretch>
              </a:blipFill>
            </p:spPr>
            <p:txBody>
              <a:bodyPr/>
              <a:lstStyle/>
              <a:p>
                <a:r>
                  <a:rPr lang="en-US">
                    <a:noFill/>
                  </a:rPr>
                  <a:t> </a:t>
                </a:r>
              </a:p>
            </p:txBody>
          </p:sp>
        </mc:Fallback>
      </mc:AlternateContent>
    </p:spTree>
    <p:extLst>
      <p:ext uri="{BB962C8B-B14F-4D97-AF65-F5344CB8AC3E}">
        <p14:creationId xmlns:p14="http://schemas.microsoft.com/office/powerpoint/2010/main" val="23754542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1E4CB-9C11-58CF-09FF-748BD2EA3B47}"/>
              </a:ext>
            </a:extLst>
          </p:cNvPr>
          <p:cNvSpPr>
            <a:spLocks noGrp="1"/>
          </p:cNvSpPr>
          <p:nvPr>
            <p:ph type="title"/>
          </p:nvPr>
        </p:nvSpPr>
        <p:spPr/>
        <p:txBody>
          <a:bodyPr/>
          <a:lstStyle/>
          <a:p>
            <a:r>
              <a:rPr lang="en-US" dirty="0"/>
              <a:t>Summary of KKT conditions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BEC4BC7-5DC6-51F6-0DBD-F424D40A223F}"/>
                  </a:ext>
                </a:extLst>
              </p:cNvPr>
              <p:cNvSpPr>
                <a:spLocks noGrp="1"/>
              </p:cNvSpPr>
              <p:nvPr>
                <p:ph idx="1"/>
              </p:nvPr>
            </p:nvSpPr>
            <p:spPr>
              <a:xfrm>
                <a:off x="838200" y="1484489"/>
                <a:ext cx="10515600" cy="4692474"/>
              </a:xfrm>
            </p:spPr>
            <p:txBody>
              <a:bodyPr>
                <a:normAutofit fontScale="92500"/>
              </a:bodyPr>
              <a:lstStyle/>
              <a:p>
                <a:r>
                  <a:rPr lang="en-US" dirty="0"/>
                  <a:t>Karusch Kuhn Tucker conditions:</a:t>
                </a:r>
              </a:p>
              <a:p>
                <a:pPr marL="457200" lvl="1" indent="0">
                  <a:buNone/>
                </a:pPr>
                <a:r>
                  <a:rPr lang="en-US" dirty="0"/>
                  <a:t>1. Primal feasibility –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oMath>
                </a14:m>
                <a:r>
                  <a:rPr lang="en-US" dirty="0"/>
                  <a:t> must satisfy all constraints</a:t>
                </a:r>
              </a:p>
              <a:p>
                <a:pPr marL="457200" lvl="1" indent="0">
                  <a:buNone/>
                </a:pPr>
                <a:r>
                  <a:rPr lang="en-US" dirty="0"/>
                  <a:t>2. Dual feasibility -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𝑖</m:t>
                        </m:r>
                      </m:sub>
                    </m:sSub>
                  </m:oMath>
                </a14:m>
                <a:r>
                  <a:rPr lang="en-US" dirty="0"/>
                  <a:t> are non-negative</a:t>
                </a:r>
              </a:p>
              <a:p>
                <a:pPr marL="457200" lvl="1" indent="0">
                  <a:buNone/>
                </a:pPr>
                <a:r>
                  <a:rPr lang="en-US" dirty="0"/>
                  <a:t>3. Stationarity:</a:t>
                </a:r>
              </a:p>
              <a:p>
                <a:pPr marL="457200" lvl="1" indent="0">
                  <a:buNone/>
                </a:pPr>
                <a14:m>
                  <m:oMathPara xmlns:m="http://schemas.openxmlformats.org/officeDocument/2006/math">
                    <m:oMathParaPr>
                      <m:jc m:val="centerGroup"/>
                    </m:oMathParaPr>
                    <m:oMath xmlns:m="http://schemas.openxmlformats.org/officeDocument/2006/math">
                      <m:r>
                        <m:rPr>
                          <m:sty m:val="p"/>
                        </m:rPr>
                        <a:rPr lang="en-US" b="0" i="0" smtClean="0">
                          <a:latin typeface="Cambria Math" panose="02040503050406030204" pitchFamily="18" charset="0"/>
                        </a:rPr>
                        <m:t>Δ</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m:t>
                              </m:r>
                            </m:sup>
                          </m:sSup>
                        </m:e>
                      </m:d>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𝑖</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𝑖</m:t>
                              </m:r>
                            </m:sub>
                          </m:sSub>
                          <m:r>
                            <m:rPr>
                              <m:sty m:val="p"/>
                            </m:rPr>
                            <a:rPr lang="en-US" b="0" i="0" smtClean="0">
                              <a:latin typeface="Cambria Math" panose="02040503050406030204" pitchFamily="18" charset="0"/>
                            </a:rPr>
                            <m:t>Δ</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m:t>
                              </m:r>
                            </m:sup>
                          </m:sSup>
                          <m:r>
                            <a:rPr lang="en-US" b="0" i="1" smtClean="0">
                              <a:latin typeface="Cambria Math" panose="02040503050406030204" pitchFamily="18" charset="0"/>
                            </a:rPr>
                            <m:t>)</m:t>
                          </m:r>
                        </m:e>
                      </m:nary>
                      <m:r>
                        <a:rPr lang="en-US" b="0" i="1" smtClean="0">
                          <a:latin typeface="Cambria Math" panose="02040503050406030204" pitchFamily="18" charset="0"/>
                        </a:rPr>
                        <m:t>=0</m:t>
                      </m:r>
                    </m:oMath>
                  </m:oMathPara>
                </a14:m>
                <a:endParaRPr lang="en-US" dirty="0"/>
              </a:p>
              <a:p>
                <a:pPr marL="457200" lvl="1" indent="0">
                  <a:buNone/>
                </a:pPr>
                <a:r>
                  <a:rPr lang="en-US" dirty="0"/>
                  <a:t>4. </a:t>
                </a:r>
                <a:r>
                  <a:rPr lang="en-US" b="1" i="1" dirty="0"/>
                  <a:t>Complementary </a:t>
                </a:r>
                <a:r>
                  <a:rPr lang="en-US" dirty="0"/>
                  <a:t>slackness:</a:t>
                </a:r>
              </a:p>
              <a:p>
                <a:pPr marL="457200" lvl="1" indent="0">
                  <a:buNone/>
                </a:pPr>
                <a:endParaRPr lang="en-US" dirty="0"/>
              </a:p>
              <a:p>
                <a:pPr marL="457200" lvl="1"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𝑖</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𝑖</m:t>
                          </m:r>
                        </m:sub>
                      </m:sSub>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m:t>
                              </m:r>
                            </m:sup>
                          </m:sSup>
                        </m:e>
                      </m:d>
                      <m:r>
                        <a:rPr lang="en-US" b="0" i="1" smtClean="0">
                          <a:latin typeface="Cambria Math" panose="02040503050406030204" pitchFamily="18" charset="0"/>
                        </a:rPr>
                        <m:t>=0</m:t>
                      </m:r>
                    </m:oMath>
                  </m:oMathPara>
                </a14:m>
                <a:endParaRPr lang="en-US" dirty="0"/>
              </a:p>
              <a:p>
                <a:pPr marL="457200" lvl="1" indent="0">
                  <a:buNone/>
                </a:pPr>
                <a:endParaRPr lang="en-US" dirty="0"/>
              </a:p>
              <a:p>
                <a:pPr marL="457200" lvl="1" indent="0" algn="ctr">
                  <a:buNone/>
                </a:pPr>
                <a:r>
                  <a:rPr lang="en-US" sz="3500" i="1" dirty="0"/>
                  <a:t>Necessary conditions for a solution to be optimal</a:t>
                </a:r>
              </a:p>
              <a:p>
                <a:pPr marL="457200" lvl="1" indent="0" algn="ctr">
                  <a:buNone/>
                </a:pPr>
                <a:r>
                  <a:rPr lang="en-US" sz="3500" i="1" dirty="0"/>
                  <a:t>Often used interchangeably with First Order Conditions</a:t>
                </a:r>
                <a:endParaRPr lang="en-US" sz="2200" i="1" dirty="0"/>
              </a:p>
            </p:txBody>
          </p:sp>
        </mc:Choice>
        <mc:Fallback xmlns="">
          <p:sp>
            <p:nvSpPr>
              <p:cNvPr id="3" name="Content Placeholder 2">
                <a:extLst>
                  <a:ext uri="{FF2B5EF4-FFF2-40B4-BE49-F238E27FC236}">
                    <a16:creationId xmlns:a16="http://schemas.microsoft.com/office/drawing/2014/main" id="{7BEC4BC7-5DC6-51F6-0DBD-F424D40A223F}"/>
                  </a:ext>
                </a:extLst>
              </p:cNvPr>
              <p:cNvSpPr>
                <a:spLocks noGrp="1" noRot="1" noChangeAspect="1" noMove="1" noResize="1" noEditPoints="1" noAdjustHandles="1" noChangeArrowheads="1" noChangeShapeType="1" noTextEdit="1"/>
              </p:cNvSpPr>
              <p:nvPr>
                <p:ph idx="1"/>
              </p:nvPr>
            </p:nvSpPr>
            <p:spPr>
              <a:xfrm>
                <a:off x="838200" y="1484489"/>
                <a:ext cx="10515600" cy="4692474"/>
              </a:xfrm>
              <a:blipFill>
                <a:blip r:embed="rId2"/>
                <a:stretch>
                  <a:fillRect l="-965" t="-2162" b="-4054"/>
                </a:stretch>
              </a:blipFill>
            </p:spPr>
            <p:txBody>
              <a:bodyPr/>
              <a:lstStyle/>
              <a:p>
                <a:r>
                  <a:rPr lang="en-US">
                    <a:noFill/>
                  </a:rPr>
                  <a:t> </a:t>
                </a:r>
              </a:p>
            </p:txBody>
          </p:sp>
        </mc:Fallback>
      </mc:AlternateContent>
    </p:spTree>
    <p:extLst>
      <p:ext uri="{BB962C8B-B14F-4D97-AF65-F5344CB8AC3E}">
        <p14:creationId xmlns:p14="http://schemas.microsoft.com/office/powerpoint/2010/main" val="268242626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43258-53EF-7415-C23E-B633CC3F9526}"/>
              </a:ext>
            </a:extLst>
          </p:cNvPr>
          <p:cNvSpPr>
            <a:spLocks noGrp="1"/>
          </p:cNvSpPr>
          <p:nvPr>
            <p:ph type="title"/>
          </p:nvPr>
        </p:nvSpPr>
        <p:spPr/>
        <p:txBody>
          <a:bodyPr/>
          <a:lstStyle/>
          <a:p>
            <a:r>
              <a:rPr lang="en-US" dirty="0"/>
              <a:t>A very simple 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B1C3B09-5204-F4B4-99A0-D0CD970C137F}"/>
                  </a:ext>
                </a:extLst>
              </p:cNvPr>
              <p:cNvSpPr>
                <a:spLocks noGrp="1"/>
              </p:cNvSpPr>
              <p:nvPr>
                <p:ph idx="1"/>
              </p:nvPr>
            </p:nvSpPr>
            <p:spPr>
              <a:xfrm>
                <a:off x="838200" y="1542415"/>
                <a:ext cx="3758514" cy="4351338"/>
              </a:xfrm>
            </p:spPr>
            <p:txBody>
              <a:bodyPr/>
              <a:lstStyle/>
              <a:p>
                <a:pPr marL="0" indent="0">
                  <a:buNone/>
                </a:pPr>
                <a:r>
                  <a:rPr lang="en-US" b="0" dirty="0">
                    <a:latin typeface="Cambria Math" panose="02040503050406030204" pitchFamily="18" charset="0"/>
                  </a:rPr>
                  <a:t>P</a:t>
                </a:r>
                <a:r>
                  <a:rPr lang="en-US" dirty="0">
                    <a:latin typeface="Cambria Math" panose="02040503050406030204" pitchFamily="18" charset="0"/>
                  </a:rPr>
                  <a:t>rimal</a:t>
                </a:r>
              </a:p>
              <a:p>
                <a:pPr marL="0" indent="0">
                  <a:buNone/>
                </a:pPr>
                <a:endParaRPr lang="en-US" b="0"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𝑚</m:t>
                            </m:r>
                            <m:r>
                              <a:rPr lang="en-US" b="0" i="1" smtClean="0">
                                <a:latin typeface="Cambria Math" panose="02040503050406030204" pitchFamily="18" charset="0"/>
                              </a:rPr>
                              <m:t>𝑎𝑥</m:t>
                            </m:r>
                          </m:e>
                        </m:mr>
                        <m:m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e>
                        </m:mr>
                      </m:m>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2</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oMath>
                  </m:oMathPara>
                </a14:m>
                <a:endParaRPr lang="en-US" dirty="0"/>
              </a:p>
              <a:p>
                <a:pPr marL="0" indent="0">
                  <a:buNone/>
                </a:pPr>
                <a:endParaRPr lang="en-US" dirty="0"/>
              </a:p>
              <a:p>
                <a:pPr marL="0" indent="0">
                  <a:buNone/>
                </a:pPr>
                <a:r>
                  <a:rPr lang="en-US" dirty="0" err="1"/>
                  <a:t>s.t.</a:t>
                </a:r>
                <a:r>
                  <a:rPr lang="en-US" dirty="0"/>
                  <a:t> </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1</m:t>
                          </m:r>
                        </m:sub>
                      </m:sSub>
                    </m:oMath>
                  </m:oMathPara>
                </a14:m>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2</m:t>
                          </m:r>
                        </m:sub>
                      </m:sSub>
                    </m:oMath>
                  </m:oMathPara>
                </a14:m>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3</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3</m:t>
                          </m:r>
                        </m:sub>
                      </m:sSub>
                    </m:oMath>
                  </m:oMathPara>
                </a14:m>
                <a:endParaRPr lang="en-US" dirty="0"/>
              </a:p>
            </p:txBody>
          </p:sp>
        </mc:Choice>
        <mc:Fallback xmlns="">
          <p:sp>
            <p:nvSpPr>
              <p:cNvPr id="3" name="Content Placeholder 2">
                <a:extLst>
                  <a:ext uri="{FF2B5EF4-FFF2-40B4-BE49-F238E27FC236}">
                    <a16:creationId xmlns:a16="http://schemas.microsoft.com/office/drawing/2014/main" id="{CB1C3B09-5204-F4B4-99A0-D0CD970C137F}"/>
                  </a:ext>
                </a:extLst>
              </p:cNvPr>
              <p:cNvSpPr>
                <a:spLocks noGrp="1" noRot="1" noChangeAspect="1" noMove="1" noResize="1" noEditPoints="1" noAdjustHandles="1" noChangeArrowheads="1" noChangeShapeType="1" noTextEdit="1"/>
              </p:cNvSpPr>
              <p:nvPr>
                <p:ph idx="1"/>
              </p:nvPr>
            </p:nvSpPr>
            <p:spPr>
              <a:xfrm>
                <a:off x="838200" y="1542415"/>
                <a:ext cx="3758514" cy="4351338"/>
              </a:xfrm>
              <a:blipFill>
                <a:blip r:embed="rId3"/>
                <a:stretch>
                  <a:fillRect l="-3378" t="-23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093B8B46-0974-7968-6AE7-3D5B96077253}"/>
                  </a:ext>
                </a:extLst>
              </p:cNvPr>
              <p:cNvSpPr txBox="1">
                <a:spLocks/>
              </p:cNvSpPr>
              <p:nvPr/>
            </p:nvSpPr>
            <p:spPr>
              <a:xfrm>
                <a:off x="6096000" y="1542415"/>
                <a:ext cx="491593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latin typeface="Cambria Math" panose="02040503050406030204" pitchFamily="18" charset="0"/>
                  </a:rPr>
                  <a:t>Dual</a:t>
                </a:r>
              </a:p>
              <a:p>
                <a:pPr marL="0" indent="0">
                  <a:buFont typeface="Arial" panose="020B0604020202020204" pitchFamily="34" charset="0"/>
                  <a:buNone/>
                </a:pPr>
                <a:endParaRPr lang="en-US" dirty="0">
                  <a:latin typeface="Cambria Math" panose="02040503050406030204" pitchFamily="18" charset="0"/>
                </a:endParaRP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𝑚</m:t>
                            </m:r>
                            <m:r>
                              <a:rPr lang="en-US" b="0" i="1" smtClean="0">
                                <a:latin typeface="Cambria Math" panose="02040503050406030204" pitchFamily="18" charset="0"/>
                              </a:rPr>
                              <m:t>𝑖𝑛</m:t>
                            </m:r>
                          </m:e>
                        </m:mr>
                        <m:mr>
                          <m:e>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3</m:t>
                                </m:r>
                              </m:sub>
                            </m:sSub>
                            <m:r>
                              <a:rPr lang="en-US" i="1" smtClean="0">
                                <a:latin typeface="Cambria Math" panose="02040503050406030204" pitchFamily="18" charset="0"/>
                              </a:rPr>
                              <m:t> </m:t>
                            </m:r>
                          </m:e>
                        </m:mr>
                      </m:m>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2</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3</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3</m:t>
                          </m:r>
                        </m:sub>
                      </m:sSub>
                    </m:oMath>
                  </m:oMathPara>
                </a14:m>
                <a:endParaRPr lang="en-US" dirty="0"/>
              </a:p>
              <a:p>
                <a:pPr marL="0" indent="0">
                  <a:buFont typeface="Arial" panose="020B0604020202020204" pitchFamily="34" charset="0"/>
                  <a:buNone/>
                </a:pPr>
                <a:endParaRPr lang="en-US" dirty="0"/>
              </a:p>
              <a:p>
                <a:pPr marL="0" indent="0">
                  <a:buFont typeface="Arial" panose="020B0604020202020204" pitchFamily="34" charset="0"/>
                  <a:buNone/>
                </a:pPr>
                <a:r>
                  <a:rPr lang="en-US" dirty="0" err="1"/>
                  <a:t>s.t.</a:t>
                </a:r>
                <a:r>
                  <a:rPr lang="en-US" dirty="0"/>
                  <a:t> </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sSub>
                            <m:sSubPr>
                              <m:ctrlPr>
                                <a:rPr lang="en-US" i="1">
                                  <a:latin typeface="Cambria Math" panose="02040503050406030204" pitchFamily="18" charset="0"/>
                                </a:rPr>
                              </m:ctrlPr>
                            </m:sSubPr>
                            <m:e>
                              <m:r>
                                <a:rPr lang="en-US" i="1">
                                  <a:latin typeface="Cambria Math" panose="02040503050406030204" pitchFamily="18" charset="0"/>
                                </a:rPr>
                                <m:t>𝜆</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𝜆</m:t>
                              </m:r>
                            </m:e>
                            <m:sub>
                              <m:r>
                                <a:rPr lang="en-US" i="1">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𝜆</m:t>
                              </m:r>
                            </m:e>
                            <m:sub>
                              <m:r>
                                <a:rPr lang="en-US" i="1">
                                  <a:latin typeface="Cambria Math" panose="02040503050406030204" pitchFamily="18" charset="0"/>
                                </a:rPr>
                                <m:t>3</m:t>
                              </m:r>
                            </m:sub>
                          </m:sSub>
                          <m:r>
                            <a:rPr lang="en-US" b="0" i="1" smtClean="0">
                              <a:latin typeface="Cambria Math" panose="02040503050406030204" pitchFamily="18" charset="0"/>
                            </a:rPr>
                            <m:t>≥</m:t>
                          </m:r>
                          <m:r>
                            <a:rPr lang="en-US" b="0" i="1" smtClean="0">
                              <a:latin typeface="Cambria Math" panose="02040503050406030204" pitchFamily="18" charset="0"/>
                            </a:rPr>
                            <m:t>𝑐</m:t>
                          </m:r>
                        </m:e>
                        <m:sub>
                          <m:r>
                            <a:rPr lang="en-US" b="0" i="1" smtClean="0">
                              <a:latin typeface="Cambria Math" panose="02040503050406030204" pitchFamily="18" charset="0"/>
                            </a:rPr>
                            <m:t>1</m:t>
                          </m:r>
                        </m:sub>
                      </m:sSub>
                      <m:r>
                        <a:rPr lang="en-US"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oMath>
                  </m:oMathPara>
                </a14:m>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𝜆</m:t>
                          </m:r>
                        </m:e>
                        <m:sub>
                          <m:r>
                            <a:rPr lang="en-US" i="1">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𝜆</m:t>
                          </m:r>
                        </m:e>
                        <m:sub>
                          <m:r>
                            <a:rPr lang="en-US" i="1">
                              <a:latin typeface="Cambria Math" panose="02040503050406030204" pitchFamily="18" charset="0"/>
                            </a:rPr>
                            <m:t>3</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2</m:t>
                          </m:r>
                        </m:sub>
                      </m:sSub>
                      <m:r>
                        <a:rPr lang="en-US"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i="1" smtClean="0">
                              <a:latin typeface="Cambria Math" panose="02040503050406030204" pitchFamily="18" charset="0"/>
                            </a:rPr>
                            <m:t>2</m:t>
                          </m:r>
                        </m:sub>
                      </m:sSub>
                    </m:oMath>
                  </m:oMathPara>
                </a14:m>
                <a:endParaRPr lang="en-US" dirty="0"/>
              </a:p>
            </p:txBody>
          </p:sp>
        </mc:Choice>
        <mc:Fallback xmlns="">
          <p:sp>
            <p:nvSpPr>
              <p:cNvPr id="4" name="Content Placeholder 2">
                <a:extLst>
                  <a:ext uri="{FF2B5EF4-FFF2-40B4-BE49-F238E27FC236}">
                    <a16:creationId xmlns:a16="http://schemas.microsoft.com/office/drawing/2014/main" id="{093B8B46-0974-7968-6AE7-3D5B96077253}"/>
                  </a:ext>
                </a:extLst>
              </p:cNvPr>
              <p:cNvSpPr txBox="1">
                <a:spLocks noRot="1" noChangeAspect="1" noMove="1" noResize="1" noEditPoints="1" noAdjustHandles="1" noChangeArrowheads="1" noChangeShapeType="1" noTextEdit="1"/>
              </p:cNvSpPr>
              <p:nvPr/>
            </p:nvSpPr>
            <p:spPr>
              <a:xfrm>
                <a:off x="6096000" y="1542415"/>
                <a:ext cx="4915930" cy="4351338"/>
              </a:xfrm>
              <a:prstGeom prst="rect">
                <a:avLst/>
              </a:prstGeom>
              <a:blipFill>
                <a:blip r:embed="rId4"/>
                <a:stretch>
                  <a:fillRect l="-2842" t="-2326"/>
                </a:stretch>
              </a:blipFill>
            </p:spPr>
            <p:txBody>
              <a:bodyPr/>
              <a:lstStyle/>
              <a:p>
                <a:r>
                  <a:rPr lang="en-US">
                    <a:noFill/>
                  </a:rPr>
                  <a:t> </a:t>
                </a:r>
              </a:p>
            </p:txBody>
          </p:sp>
        </mc:Fallback>
      </mc:AlternateContent>
      <p:graphicFrame>
        <p:nvGraphicFramePr>
          <p:cNvPr id="5" name="Table 4">
            <a:extLst>
              <a:ext uri="{FF2B5EF4-FFF2-40B4-BE49-F238E27FC236}">
                <a16:creationId xmlns:a16="http://schemas.microsoft.com/office/drawing/2014/main" id="{5411DC6E-5F56-21B9-0A08-FB64E1FBD676}"/>
              </a:ext>
            </a:extLst>
          </p:cNvPr>
          <p:cNvGraphicFramePr>
            <a:graphicFrameLocks noGrp="1"/>
          </p:cNvGraphicFramePr>
          <p:nvPr/>
        </p:nvGraphicFramePr>
        <p:xfrm>
          <a:off x="2183371" y="5745480"/>
          <a:ext cx="1474230" cy="1112520"/>
        </p:xfrm>
        <a:graphic>
          <a:graphicData uri="http://schemas.openxmlformats.org/drawingml/2006/table">
            <a:tbl>
              <a:tblPr firstRow="1" bandRow="1">
                <a:tableStyleId>{5C22544A-7EE6-4342-B048-85BDC9FD1C3A}</a:tableStyleId>
              </a:tblPr>
              <a:tblGrid>
                <a:gridCol w="737115">
                  <a:extLst>
                    <a:ext uri="{9D8B030D-6E8A-4147-A177-3AD203B41FA5}">
                      <a16:colId xmlns:a16="http://schemas.microsoft.com/office/drawing/2014/main" val="729311464"/>
                    </a:ext>
                  </a:extLst>
                </a:gridCol>
                <a:gridCol w="737115">
                  <a:extLst>
                    <a:ext uri="{9D8B030D-6E8A-4147-A177-3AD203B41FA5}">
                      <a16:colId xmlns:a16="http://schemas.microsoft.com/office/drawing/2014/main" val="3589189236"/>
                    </a:ext>
                  </a:extLst>
                </a:gridCol>
              </a:tblGrid>
              <a:tr h="370840">
                <a:tc>
                  <a:txBody>
                    <a:bodyPr/>
                    <a:lstStyle/>
                    <a:p>
                      <a:pPr algn="ctr"/>
                      <a:r>
                        <a:rPr lang="en-US" b="1" dirty="0">
                          <a:solidFill>
                            <a:schemeClr val="tx1"/>
                          </a:solidFill>
                        </a:rPr>
                        <a:t>1</a:t>
                      </a:r>
                    </a:p>
                  </a:txBody>
                  <a:tcPr>
                    <a:noFill/>
                  </a:tcPr>
                </a:tc>
                <a:tc>
                  <a:txBody>
                    <a:bodyPr/>
                    <a:lstStyle/>
                    <a:p>
                      <a:pPr algn="ctr"/>
                      <a:r>
                        <a:rPr lang="en-US" b="1" dirty="0">
                          <a:solidFill>
                            <a:schemeClr val="tx1"/>
                          </a:solidFill>
                        </a:rPr>
                        <a:t>0</a:t>
                      </a:r>
                    </a:p>
                  </a:txBody>
                  <a:tcPr>
                    <a:noFill/>
                  </a:tcPr>
                </a:tc>
                <a:extLst>
                  <a:ext uri="{0D108BD9-81ED-4DB2-BD59-A6C34878D82A}">
                    <a16:rowId xmlns:a16="http://schemas.microsoft.com/office/drawing/2014/main" val="2921569770"/>
                  </a:ext>
                </a:extLst>
              </a:tr>
              <a:tr h="370840">
                <a:tc>
                  <a:txBody>
                    <a:bodyPr/>
                    <a:lstStyle/>
                    <a:p>
                      <a:pPr algn="ctr"/>
                      <a:r>
                        <a:rPr lang="en-US" b="1" dirty="0">
                          <a:solidFill>
                            <a:schemeClr val="tx1"/>
                          </a:solidFill>
                        </a:rPr>
                        <a:t>1</a:t>
                      </a:r>
                    </a:p>
                  </a:txBody>
                  <a:tcPr>
                    <a:noFill/>
                  </a:tcPr>
                </a:tc>
                <a:tc>
                  <a:txBody>
                    <a:bodyPr/>
                    <a:lstStyle/>
                    <a:p>
                      <a:pPr algn="ctr"/>
                      <a:r>
                        <a:rPr lang="en-US" b="1" dirty="0">
                          <a:solidFill>
                            <a:schemeClr val="tx1"/>
                          </a:solidFill>
                        </a:rPr>
                        <a:t>1</a:t>
                      </a:r>
                    </a:p>
                  </a:txBody>
                  <a:tcPr>
                    <a:noFill/>
                  </a:tcPr>
                </a:tc>
                <a:extLst>
                  <a:ext uri="{0D108BD9-81ED-4DB2-BD59-A6C34878D82A}">
                    <a16:rowId xmlns:a16="http://schemas.microsoft.com/office/drawing/2014/main" val="41949357"/>
                  </a:ext>
                </a:extLst>
              </a:tr>
              <a:tr h="370840">
                <a:tc>
                  <a:txBody>
                    <a:bodyPr/>
                    <a:lstStyle/>
                    <a:p>
                      <a:pPr algn="ctr"/>
                      <a:r>
                        <a:rPr lang="en-US" b="1" dirty="0">
                          <a:solidFill>
                            <a:schemeClr val="tx1"/>
                          </a:solidFill>
                        </a:rPr>
                        <a:t>1</a:t>
                      </a:r>
                    </a:p>
                  </a:txBody>
                  <a:tcPr>
                    <a:noFill/>
                  </a:tcPr>
                </a:tc>
                <a:tc>
                  <a:txBody>
                    <a:bodyPr/>
                    <a:lstStyle/>
                    <a:p>
                      <a:pPr algn="ctr"/>
                      <a:r>
                        <a:rPr lang="en-US" b="1" dirty="0">
                          <a:solidFill>
                            <a:schemeClr val="tx1"/>
                          </a:solidFill>
                        </a:rPr>
                        <a:t>-1</a:t>
                      </a:r>
                    </a:p>
                  </a:txBody>
                  <a:tcPr>
                    <a:noFill/>
                  </a:tcPr>
                </a:tc>
                <a:extLst>
                  <a:ext uri="{0D108BD9-81ED-4DB2-BD59-A6C34878D82A}">
                    <a16:rowId xmlns:a16="http://schemas.microsoft.com/office/drawing/2014/main" val="3141798752"/>
                  </a:ext>
                </a:extLst>
              </a:tr>
            </a:tbl>
          </a:graphicData>
        </a:graphic>
      </p:graphicFrame>
      <p:graphicFrame>
        <p:nvGraphicFramePr>
          <p:cNvPr id="6" name="Table 5">
            <a:extLst>
              <a:ext uri="{FF2B5EF4-FFF2-40B4-BE49-F238E27FC236}">
                <a16:creationId xmlns:a16="http://schemas.microsoft.com/office/drawing/2014/main" id="{652FE2B2-9905-640E-BA50-D76A70D475A3}"/>
              </a:ext>
            </a:extLst>
          </p:cNvPr>
          <p:cNvGraphicFramePr>
            <a:graphicFrameLocks noGrp="1"/>
          </p:cNvGraphicFramePr>
          <p:nvPr/>
        </p:nvGraphicFramePr>
        <p:xfrm>
          <a:off x="6096000" y="5522913"/>
          <a:ext cx="3073401" cy="741680"/>
        </p:xfrm>
        <a:graphic>
          <a:graphicData uri="http://schemas.openxmlformats.org/drawingml/2006/table">
            <a:tbl>
              <a:tblPr firstRow="1" bandRow="1">
                <a:tableStyleId>{5C22544A-7EE6-4342-B048-85BDC9FD1C3A}</a:tableStyleId>
              </a:tblPr>
              <a:tblGrid>
                <a:gridCol w="1024467">
                  <a:extLst>
                    <a:ext uri="{9D8B030D-6E8A-4147-A177-3AD203B41FA5}">
                      <a16:colId xmlns:a16="http://schemas.microsoft.com/office/drawing/2014/main" val="964455172"/>
                    </a:ext>
                  </a:extLst>
                </a:gridCol>
                <a:gridCol w="1024467">
                  <a:extLst>
                    <a:ext uri="{9D8B030D-6E8A-4147-A177-3AD203B41FA5}">
                      <a16:colId xmlns:a16="http://schemas.microsoft.com/office/drawing/2014/main" val="3740743041"/>
                    </a:ext>
                  </a:extLst>
                </a:gridCol>
                <a:gridCol w="1024467">
                  <a:extLst>
                    <a:ext uri="{9D8B030D-6E8A-4147-A177-3AD203B41FA5}">
                      <a16:colId xmlns:a16="http://schemas.microsoft.com/office/drawing/2014/main" val="1197566502"/>
                    </a:ext>
                  </a:extLst>
                </a:gridCol>
              </a:tblGrid>
              <a:tr h="370840">
                <a:tc>
                  <a:txBody>
                    <a:bodyPr/>
                    <a:lstStyle/>
                    <a:p>
                      <a:pPr algn="ctr"/>
                      <a:r>
                        <a:rPr lang="en-US" b="1" dirty="0">
                          <a:solidFill>
                            <a:schemeClr val="tx1"/>
                          </a:solidFill>
                        </a:rPr>
                        <a:t>1</a:t>
                      </a:r>
                    </a:p>
                  </a:txBody>
                  <a:tcPr>
                    <a:solidFill>
                      <a:schemeClr val="bg1"/>
                    </a:solidFill>
                  </a:tcPr>
                </a:tc>
                <a:tc>
                  <a:txBody>
                    <a:bodyPr/>
                    <a:lstStyle/>
                    <a:p>
                      <a:pPr algn="ctr"/>
                      <a:r>
                        <a:rPr lang="en-US" b="1" dirty="0">
                          <a:solidFill>
                            <a:schemeClr val="tx1"/>
                          </a:solidFill>
                        </a:rPr>
                        <a:t>1</a:t>
                      </a:r>
                    </a:p>
                  </a:txBody>
                  <a:tcPr>
                    <a:solidFill>
                      <a:schemeClr val="bg1"/>
                    </a:solidFill>
                  </a:tcPr>
                </a:tc>
                <a:tc>
                  <a:txBody>
                    <a:bodyPr/>
                    <a:lstStyle/>
                    <a:p>
                      <a:pPr algn="ctr"/>
                      <a:r>
                        <a:rPr lang="en-US" b="1" dirty="0">
                          <a:solidFill>
                            <a:schemeClr val="tx1"/>
                          </a:solidFill>
                        </a:rPr>
                        <a:t>1</a:t>
                      </a:r>
                    </a:p>
                  </a:txBody>
                  <a:tcPr>
                    <a:solidFill>
                      <a:schemeClr val="bg1"/>
                    </a:solidFill>
                  </a:tcPr>
                </a:tc>
                <a:extLst>
                  <a:ext uri="{0D108BD9-81ED-4DB2-BD59-A6C34878D82A}">
                    <a16:rowId xmlns:a16="http://schemas.microsoft.com/office/drawing/2014/main" val="2674873236"/>
                  </a:ext>
                </a:extLst>
              </a:tr>
              <a:tr h="370840">
                <a:tc>
                  <a:txBody>
                    <a:bodyPr/>
                    <a:lstStyle/>
                    <a:p>
                      <a:pPr algn="ctr"/>
                      <a:r>
                        <a:rPr lang="en-US" b="1" dirty="0">
                          <a:solidFill>
                            <a:schemeClr val="tx1"/>
                          </a:solidFill>
                        </a:rPr>
                        <a:t>0</a:t>
                      </a:r>
                    </a:p>
                  </a:txBody>
                  <a:tcPr>
                    <a:solidFill>
                      <a:schemeClr val="bg1"/>
                    </a:solidFill>
                  </a:tcPr>
                </a:tc>
                <a:tc>
                  <a:txBody>
                    <a:bodyPr/>
                    <a:lstStyle/>
                    <a:p>
                      <a:pPr algn="ctr"/>
                      <a:r>
                        <a:rPr lang="en-US" b="1" dirty="0">
                          <a:solidFill>
                            <a:schemeClr val="tx1"/>
                          </a:solidFill>
                        </a:rPr>
                        <a:t>1</a:t>
                      </a:r>
                    </a:p>
                  </a:txBody>
                  <a:tcPr>
                    <a:solidFill>
                      <a:schemeClr val="bg1"/>
                    </a:solidFill>
                  </a:tcPr>
                </a:tc>
                <a:tc>
                  <a:txBody>
                    <a:bodyPr/>
                    <a:lstStyle/>
                    <a:p>
                      <a:pPr algn="ctr"/>
                      <a:r>
                        <a:rPr lang="en-US" b="1" dirty="0">
                          <a:solidFill>
                            <a:schemeClr val="tx1"/>
                          </a:solidFill>
                        </a:rPr>
                        <a:t>-1</a:t>
                      </a:r>
                    </a:p>
                  </a:txBody>
                  <a:tcPr>
                    <a:solidFill>
                      <a:schemeClr val="bg1"/>
                    </a:solidFill>
                  </a:tcPr>
                </a:tc>
                <a:extLst>
                  <a:ext uri="{0D108BD9-81ED-4DB2-BD59-A6C34878D82A}">
                    <a16:rowId xmlns:a16="http://schemas.microsoft.com/office/drawing/2014/main" val="1707377509"/>
                  </a:ext>
                </a:extLst>
              </a:tr>
            </a:tbl>
          </a:graphicData>
        </a:graphic>
      </p:graphicFrame>
    </p:spTree>
    <p:extLst>
      <p:ext uri="{BB962C8B-B14F-4D97-AF65-F5344CB8AC3E}">
        <p14:creationId xmlns:p14="http://schemas.microsoft.com/office/powerpoint/2010/main" val="51297577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FE8C3-F0D3-20E6-71B4-A5D3A2AEF9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88DCCA-84A6-14F3-D879-4E9501084CFC}"/>
              </a:ext>
            </a:extLst>
          </p:cNvPr>
          <p:cNvSpPr>
            <a:spLocks noGrp="1"/>
          </p:cNvSpPr>
          <p:nvPr>
            <p:ph type="title"/>
          </p:nvPr>
        </p:nvSpPr>
        <p:spPr/>
        <p:txBody>
          <a:bodyPr/>
          <a:lstStyle/>
          <a:p>
            <a:r>
              <a:rPr lang="en-US" dirty="0"/>
              <a:t>Application of Duality to Consumer Theory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DFF6A0F-2EB9-02D9-D5B6-C575EC3A67F4}"/>
                  </a:ext>
                </a:extLst>
              </p:cNvPr>
              <p:cNvSpPr>
                <a:spLocks noGrp="1"/>
              </p:cNvSpPr>
              <p:nvPr>
                <p:ph idx="1"/>
              </p:nvPr>
            </p:nvSpPr>
            <p:spPr/>
            <p:txBody>
              <a:bodyPr/>
              <a:lstStyle/>
              <a:p>
                <a:pPr marL="0" indent="0">
                  <a:buNone/>
                </a:pPr>
                <a:r>
                  <a:rPr lang="en-US" dirty="0"/>
                  <a:t>Original problem:</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𝑀𝑎𝑥</m:t>
                      </m:r>
                      <m:r>
                        <a:rPr lang="en-US" b="0" i="1" smtClean="0">
                          <a:latin typeface="Cambria Math" panose="02040503050406030204" pitchFamily="18" charset="0"/>
                        </a:rPr>
                        <m:t> </m:t>
                      </m:r>
                      <m:r>
                        <a:rPr lang="en-US" b="0" i="1" smtClean="0">
                          <a:latin typeface="Cambria Math" panose="02040503050406030204" pitchFamily="18" charset="0"/>
                        </a:rPr>
                        <m:t>𝑈</m:t>
                      </m:r>
                      <m:r>
                        <a:rPr lang="en-US" b="0" i="1" smtClean="0">
                          <a:latin typeface="Cambria Math" panose="02040503050406030204" pitchFamily="18" charset="0"/>
                        </a:rPr>
                        <m:t>=</m:t>
                      </m:r>
                      <m:r>
                        <a:rPr lang="en-US" b="0" i="1" smtClean="0">
                          <a:latin typeface="Cambria Math" panose="02040503050406030204" pitchFamily="18" charset="0"/>
                        </a:rPr>
                        <m:t>𝑈</m:t>
                      </m:r>
                      <m:r>
                        <a:rPr lang="en-US" b="0" i="1" smtClean="0">
                          <a:latin typeface="Cambria Math" panose="02040503050406030204" pitchFamily="18" charset="0"/>
                        </a:rPr>
                        <m:t>(</m:t>
                      </m:r>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𝑌</m:t>
                      </m:r>
                      <m:r>
                        <a:rPr lang="en-US" b="0" i="1" smtClean="0">
                          <a:latin typeface="Cambria Math" panose="02040503050406030204" pitchFamily="18" charset="0"/>
                        </a:rPr>
                        <m:t>)</m:t>
                      </m:r>
                    </m:oMath>
                  </m:oMathPara>
                </a14:m>
                <a:endParaRPr lang="en-US" dirty="0"/>
              </a:p>
              <a:p>
                <a:pPr marL="0" indent="0">
                  <a:buNone/>
                </a:pPr>
                <a:r>
                  <a:rPr lang="en-US" dirty="0"/>
                  <a:t>s.t. </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𝑥</m:t>
                          </m:r>
                        </m:sub>
                      </m:sSub>
                      <m:r>
                        <a:rPr lang="en-US" b="0" i="1" smtClean="0">
                          <a:latin typeface="Cambria Math" panose="02040503050406030204" pitchFamily="18" charset="0"/>
                        </a:rPr>
                        <m:t>𝑋</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𝑦</m:t>
                          </m:r>
                        </m:sub>
                      </m:sSub>
                      <m:r>
                        <a:rPr lang="en-US" b="0" i="1" smtClean="0">
                          <a:latin typeface="Cambria Math" panose="02040503050406030204" pitchFamily="18" charset="0"/>
                        </a:rPr>
                        <m:t>𝑌</m:t>
                      </m:r>
                    </m:oMath>
                  </m:oMathPara>
                </a14:m>
                <a:endParaRPr lang="en-US" dirty="0"/>
              </a:p>
              <a:p>
                <a:pPr marL="0" indent="0">
                  <a:buNone/>
                </a:pPr>
                <a:endParaRPr lang="en-US" dirty="0"/>
              </a:p>
              <a:p>
                <a:pPr marL="0" indent="0">
                  <a:buNone/>
                </a:pPr>
                <a:r>
                  <a:rPr lang="en-US" dirty="0"/>
                  <a:t>Dual problem:</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𝑀𝑖𝑛</m:t>
                      </m:r>
                      <m:r>
                        <a:rPr lang="en-US" b="0" i="1" smtClean="0">
                          <a:latin typeface="Cambria Math" panose="02040503050406030204" pitchFamily="18" charset="0"/>
                        </a:rPr>
                        <m:t> </m:t>
                      </m:r>
                      <m:r>
                        <a:rPr lang="en-US" b="0" i="1" smtClean="0">
                          <a:latin typeface="Cambria Math" panose="02040503050406030204" pitchFamily="18" charset="0"/>
                        </a:rPr>
                        <m:t>𝐸</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𝑥</m:t>
                          </m:r>
                        </m:sub>
                      </m:sSub>
                      <m:r>
                        <a:rPr lang="en-US" b="0" i="1" smtClean="0">
                          <a:latin typeface="Cambria Math" panose="02040503050406030204" pitchFamily="18" charset="0"/>
                        </a:rPr>
                        <m:t>𝑋</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𝑦</m:t>
                          </m:r>
                        </m:sub>
                      </m:sSub>
                      <m:r>
                        <a:rPr lang="en-US" b="0" i="1" smtClean="0">
                          <a:latin typeface="Cambria Math" panose="02040503050406030204" pitchFamily="18" charset="0"/>
                        </a:rPr>
                        <m:t>𝑌</m:t>
                      </m:r>
                    </m:oMath>
                  </m:oMathPara>
                </a14:m>
                <a:endParaRPr lang="en-US" dirty="0"/>
              </a:p>
              <a:p>
                <a:pPr marL="0" indent="0">
                  <a:buNone/>
                </a:pPr>
                <a:r>
                  <a:rPr lang="en-US" dirty="0"/>
                  <a:t>s.t.</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𝑈</m:t>
                          </m:r>
                        </m:e>
                        <m:sup>
                          <m:r>
                            <a:rPr lang="en-US" b="0" i="1" smtClean="0">
                              <a:latin typeface="Cambria Math" panose="02040503050406030204" pitchFamily="18" charset="0"/>
                            </a:rPr>
                            <m:t>∗</m:t>
                          </m:r>
                        </m:sup>
                      </m:sSup>
                    </m:oMath>
                  </m:oMathPara>
                </a14:m>
                <a:endParaRPr lang="en-US" dirty="0"/>
              </a:p>
            </p:txBody>
          </p:sp>
        </mc:Choice>
        <mc:Fallback xmlns="">
          <p:sp>
            <p:nvSpPr>
              <p:cNvPr id="3" name="Content Placeholder 2">
                <a:extLst>
                  <a:ext uri="{FF2B5EF4-FFF2-40B4-BE49-F238E27FC236}">
                    <a16:creationId xmlns:a16="http://schemas.microsoft.com/office/drawing/2014/main" id="{5DFF6A0F-2EB9-02D9-D5B6-C575EC3A67F4}"/>
                  </a:ext>
                </a:extLst>
              </p:cNvPr>
              <p:cNvSpPr>
                <a:spLocks noGrp="1" noRot="1" noChangeAspect="1" noMove="1" noResize="1" noEditPoints="1" noAdjustHandles="1" noChangeArrowheads="1" noChangeShapeType="1" noTextEdit="1"/>
              </p:cNvSpPr>
              <p:nvPr>
                <p:ph idx="1"/>
              </p:nvPr>
            </p:nvSpPr>
            <p:spPr>
              <a:blipFill>
                <a:blip r:embed="rId2"/>
                <a:stretch>
                  <a:fillRect l="-1206" t="-2326"/>
                </a:stretch>
              </a:blipFill>
            </p:spPr>
            <p:txBody>
              <a:bodyPr/>
              <a:lstStyle/>
              <a:p>
                <a:r>
                  <a:rPr lang="en-US">
                    <a:noFill/>
                  </a:rPr>
                  <a:t> </a:t>
                </a:r>
              </a:p>
            </p:txBody>
          </p:sp>
        </mc:Fallback>
      </mc:AlternateContent>
    </p:spTree>
    <p:extLst>
      <p:ext uri="{BB962C8B-B14F-4D97-AF65-F5344CB8AC3E}">
        <p14:creationId xmlns:p14="http://schemas.microsoft.com/office/powerpoint/2010/main" val="16736822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2369</TotalTime>
  <Words>3304</Words>
  <Application>Microsoft Macintosh PowerPoint</Application>
  <PresentationFormat>Widescreen</PresentationFormat>
  <Paragraphs>572</Paragraphs>
  <Slides>61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61</vt:i4>
      </vt:variant>
    </vt:vector>
  </HeadingPairs>
  <TitlesOfParts>
    <vt:vector size="69" baseType="lpstr">
      <vt:lpstr>Aptos</vt:lpstr>
      <vt:lpstr>Aptos Display</vt:lpstr>
      <vt:lpstr>Arial</vt:lpstr>
      <vt:lpstr>Calibri</vt:lpstr>
      <vt:lpstr>Cambria Math</vt:lpstr>
      <vt:lpstr>SFBMR10</vt:lpstr>
      <vt:lpstr>SFBTL10</vt:lpstr>
      <vt:lpstr>Office Theme</vt:lpstr>
      <vt:lpstr>EBGN645   Market models Ramsey model </vt:lpstr>
      <vt:lpstr>Notes</vt:lpstr>
      <vt:lpstr>Something I’m playing with..</vt:lpstr>
      <vt:lpstr>Today’s examples</vt:lpstr>
      <vt:lpstr>Agenda – next few classes (aka this slide deck)</vt:lpstr>
      <vt:lpstr>Investment – overview/ramblings</vt:lpstr>
      <vt:lpstr>Investment – terminal conditions</vt:lpstr>
      <vt:lpstr>General investment model </vt:lpstr>
      <vt:lpstr>General investment concept</vt:lpstr>
      <vt:lpstr>General investment concept</vt:lpstr>
      <vt:lpstr>Setting δ_t^k and δ_t^v</vt:lpstr>
      <vt:lpstr>Ramblings on endogenous retirements</vt:lpstr>
      <vt:lpstr>Ramblings on investment</vt:lpstr>
      <vt:lpstr>Agenda - NLPs</vt:lpstr>
      <vt:lpstr>Market models</vt:lpstr>
      <vt:lpstr>Process of creating a market model</vt:lpstr>
      <vt:lpstr>Partial equilibrium - social surplus maximization</vt:lpstr>
      <vt:lpstr>Market models</vt:lpstr>
      <vt:lpstr>Market models</vt:lpstr>
      <vt:lpstr>Calibrated market models</vt:lpstr>
      <vt:lpstr>Calibrated market models</vt:lpstr>
      <vt:lpstr>Model – indices (none), parameters, variables</vt:lpstr>
      <vt:lpstr>Model – objective function</vt:lpstr>
      <vt:lpstr>Let’s put this simple model in GAMS…</vt:lpstr>
      <vt:lpstr>Remember these?</vt:lpstr>
      <vt:lpstr>Why could we linearize demand before?</vt:lpstr>
      <vt:lpstr>Easy enough… let’s expand</vt:lpstr>
      <vt:lpstr>New model…</vt:lpstr>
      <vt:lpstr>New model: Simple version</vt:lpstr>
      <vt:lpstr>Simple counterfactuals</vt:lpstr>
      <vt:lpstr>New model: Variables, Objective, Constraints</vt:lpstr>
      <vt:lpstr>Another functional form.. Calibrated constant elasticity of substitution</vt:lpstr>
      <vt:lpstr>Another way to think about it…</vt:lpstr>
      <vt:lpstr>One more example: Gas and Oth</vt:lpstr>
      <vt:lpstr>Prompt</vt:lpstr>
      <vt:lpstr>A global gas/energy model…</vt:lpstr>
      <vt:lpstr>Variables, objective, constraints</vt:lpstr>
      <vt:lpstr>PowerPoint Presentation</vt:lpstr>
      <vt:lpstr>Points of these exercises..</vt:lpstr>
      <vt:lpstr>Choosing parameters and functional forms</vt:lpstr>
      <vt:lpstr>Ramsey model – main points</vt:lpstr>
      <vt:lpstr>The Ramsey model – indices, parameters</vt:lpstr>
      <vt:lpstr>The Ramsey Model – Variables, Objective function</vt:lpstr>
      <vt:lpstr>Setting the utility discount factor…</vt:lpstr>
      <vt:lpstr>Constraints</vt:lpstr>
      <vt:lpstr>Calibration</vt:lpstr>
      <vt:lpstr>Initial capital/labor calibration</vt:lpstr>
      <vt:lpstr>Calibrating the production scale parameter</vt:lpstr>
      <vt:lpstr>Calibrating the capital productivity</vt:lpstr>
      <vt:lpstr>Some more notes…</vt:lpstr>
      <vt:lpstr>Some more notes..</vt:lpstr>
      <vt:lpstr>Let’s build the base model…</vt:lpstr>
      <vt:lpstr>That’s weird… </vt:lpstr>
      <vt:lpstr>Plotting investment over time…</vt:lpstr>
      <vt:lpstr>Duality introduction</vt:lpstr>
      <vt:lpstr>Duality – another perspective </vt:lpstr>
      <vt:lpstr>Formulating the dual.. </vt:lpstr>
      <vt:lpstr>Formulating the dual.. </vt:lpstr>
      <vt:lpstr>Summary of KKT conditions</vt:lpstr>
      <vt:lpstr>A very simple example</vt:lpstr>
      <vt:lpstr>Application of Duality to Consumer Theory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Maxwell Brown</dc:creator>
  <cp:lastModifiedBy>Maxwell Brown</cp:lastModifiedBy>
  <cp:revision>80</cp:revision>
  <dcterms:created xsi:type="dcterms:W3CDTF">2024-08-23T18:45:09Z</dcterms:created>
  <dcterms:modified xsi:type="dcterms:W3CDTF">2025-11-05T17:38:10Z</dcterms:modified>
</cp:coreProperties>
</file>