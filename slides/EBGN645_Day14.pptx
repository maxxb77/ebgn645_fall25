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2"/>
    <p:sldId id="2147378245" r:id="rId3"/>
    <p:sldId id="2147378259" r:id="rId4"/>
    <p:sldId id="257" r:id="rId5"/>
    <p:sldId id="2147378246" r:id="rId6"/>
    <p:sldId id="2147377670" r:id="rId7"/>
    <p:sldId id="2147378247" r:id="rId8"/>
    <p:sldId id="277" r:id="rId9"/>
    <p:sldId id="278" r:id="rId10"/>
    <p:sldId id="281" r:id="rId11"/>
    <p:sldId id="285" r:id="rId12"/>
    <p:sldId id="286" r:id="rId13"/>
    <p:sldId id="287" r:id="rId14"/>
    <p:sldId id="288" r:id="rId15"/>
    <p:sldId id="289" r:id="rId16"/>
    <p:sldId id="293" r:id="rId17"/>
    <p:sldId id="2147378256" r:id="rId18"/>
    <p:sldId id="2147377671" r:id="rId19"/>
    <p:sldId id="2147378255" r:id="rId20"/>
    <p:sldId id="2147377673" r:id="rId21"/>
    <p:sldId id="2147377674" r:id="rId22"/>
    <p:sldId id="2147377672" r:id="rId23"/>
    <p:sldId id="2147377681" r:id="rId24"/>
    <p:sldId id="2147377675" r:id="rId25"/>
    <p:sldId id="2147377680" r:id="rId26"/>
    <p:sldId id="2147377678" r:id="rId27"/>
    <p:sldId id="258" r:id="rId28"/>
    <p:sldId id="297" r:id="rId29"/>
    <p:sldId id="2147378248" r:id="rId30"/>
    <p:sldId id="2147378249" r:id="rId31"/>
    <p:sldId id="2147378258" r:id="rId32"/>
    <p:sldId id="2147378257" r:id="rId33"/>
    <p:sldId id="284" r:id="rId34"/>
    <p:sldId id="282" r:id="rId35"/>
    <p:sldId id="283" r:id="rId36"/>
    <p:sldId id="2147378250" r:id="rId37"/>
    <p:sldId id="263" r:id="rId38"/>
    <p:sldId id="2147378251" r:id="rId39"/>
    <p:sldId id="2147378252" r:id="rId40"/>
    <p:sldId id="291" r:id="rId41"/>
    <p:sldId id="298" r:id="rId42"/>
    <p:sldId id="290" r:id="rId43"/>
    <p:sldId id="294" r:id="rId44"/>
    <p:sldId id="292" r:id="rId45"/>
    <p:sldId id="2147378254" r:id="rId46"/>
    <p:sldId id="2147378253" r:id="rId47"/>
    <p:sldId id="296" r:id="rId48"/>
    <p:sldId id="259" r:id="rId49"/>
    <p:sldId id="260" r:id="rId50"/>
    <p:sldId id="265" r:id="rId51"/>
    <p:sldId id="270" r:id="rId52"/>
    <p:sldId id="262" r:id="rId53"/>
    <p:sldId id="267" r:id="rId54"/>
    <p:sldId id="261" r:id="rId55"/>
    <p:sldId id="268" r:id="rId56"/>
    <p:sldId id="269" r:id="rId57"/>
    <p:sldId id="271" r:id="rId58"/>
    <p:sldId id="272" r:id="rId59"/>
    <p:sldId id="273" r:id="rId60"/>
    <p:sldId id="276" r:id="rId61"/>
    <p:sldId id="27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57"/>
    <p:restoredTop sz="94668"/>
  </p:normalViewPr>
  <p:slideViewPr>
    <p:cSldViewPr snapToGrid="0">
      <p:cViewPr varScale="1">
        <p:scale>
          <a:sx n="122" d="100"/>
          <a:sy n="122" d="100"/>
        </p:scale>
        <p:origin x="73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7AEF6-7701-A448-8306-967C4ED74540}"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181CC-B7D7-204E-8212-B1D5B8EC04A4}" type="slidenum">
              <a:rPr lang="en-US" smtClean="0"/>
              <a:t>‹#›</a:t>
            </a:fld>
            <a:endParaRPr lang="en-US"/>
          </a:p>
        </p:txBody>
      </p:sp>
    </p:spTree>
    <p:extLst>
      <p:ext uri="{BB962C8B-B14F-4D97-AF65-F5344CB8AC3E}">
        <p14:creationId xmlns:p14="http://schemas.microsoft.com/office/powerpoint/2010/main" val="236504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8685-BF39-1495-CF24-4F1B0307D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570D9A-C5D2-FF7C-3644-A4DF8E89E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B66580-4BD6-903B-24E8-248EE1848F4C}"/>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A28C833E-E817-74EA-AF0F-7BE77F457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CE881-D5F7-4DFC-EDD7-5B4CB70566F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94885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DADB-B80F-4DBE-2089-E463BF701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949650-58FD-6F35-5CFE-A6132BD1F6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09DA3-C902-45CF-1E5A-AF70F6242221}"/>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2148F805-C836-5139-139D-9E094B8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5012B-7603-ED21-D784-A0D7ED1D78CB}"/>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83190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3600-9272-D9D7-798D-8D73A0BB2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6C3236-7D2D-CF0A-7AD8-975A408D2A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AA09E9-C946-D66F-DB27-46E004F6076A}"/>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9FB57067-F01C-1BFC-D433-5910030F7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5947D-1648-B7E2-CD4F-9458A0EE9F5C}"/>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79616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5E61-F812-1423-34EE-6FEC7757EF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AA3AAA-69FB-12A5-6737-C7F5373CA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847A6-5FEF-46A4-12D6-EF4C61A7E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FC1ED-BF91-EA9D-6BFC-EDCD4CBC6857}"/>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6" name="Footer Placeholder 5">
            <a:extLst>
              <a:ext uri="{FF2B5EF4-FFF2-40B4-BE49-F238E27FC236}">
                <a16:creationId xmlns:a16="http://schemas.microsoft.com/office/drawing/2014/main" id="{C4B997AC-3D60-39F1-8974-DD22A393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0B4E5-D22A-4CA8-6CA7-84AB229ADF25}"/>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0608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BA90-0A1F-DA9D-19F2-88E1DED180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334331-C7A8-1A51-2C79-AE089269D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31F30-3CF7-A0AC-BBD8-5E10E34EC9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F5D109-61E9-D8F1-E494-6BF5ADD75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BE70D-79AB-B43B-DB6D-C147C0901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49B1AB-0C7E-450B-370C-332C3CEF0DB3}"/>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8" name="Footer Placeholder 7">
            <a:extLst>
              <a:ext uri="{FF2B5EF4-FFF2-40B4-BE49-F238E27FC236}">
                <a16:creationId xmlns:a16="http://schemas.microsoft.com/office/drawing/2014/main" id="{B975CFB9-9629-CD38-647F-DEC7E3315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98033-3117-7EB5-AF93-43DD7EA74C99}"/>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13405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FBD4-AECC-E8C5-699F-0C0903C7ED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49BC2-4D8F-48F9-AD49-909ED7E228D2}"/>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4" name="Footer Placeholder 3">
            <a:extLst>
              <a:ext uri="{FF2B5EF4-FFF2-40B4-BE49-F238E27FC236}">
                <a16:creationId xmlns:a16="http://schemas.microsoft.com/office/drawing/2014/main" id="{6352770D-597A-F527-A555-5F513FBD16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FCECB0-C3A8-A297-ED7D-3A216E473DD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0574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18144-F63D-4592-FB39-3F0FC0B0D014}"/>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3" name="Footer Placeholder 2">
            <a:extLst>
              <a:ext uri="{FF2B5EF4-FFF2-40B4-BE49-F238E27FC236}">
                <a16:creationId xmlns:a16="http://schemas.microsoft.com/office/drawing/2014/main" id="{9619F033-E09A-ED79-82B5-84084274DD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5CD2E4-7CFD-80DD-AC76-B4678D1BF18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1502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EC68-9E8A-1C4E-3870-837460FB0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0A7183-3209-1E66-2BF7-1E1A4929C8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6AE320-2885-02E9-B408-B65255068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DE966-F088-C19B-82CC-03B3041D3012}"/>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6" name="Footer Placeholder 5">
            <a:extLst>
              <a:ext uri="{FF2B5EF4-FFF2-40B4-BE49-F238E27FC236}">
                <a16:creationId xmlns:a16="http://schemas.microsoft.com/office/drawing/2014/main" id="{7A208DAD-768A-4C0A-F45B-F3FB43354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0889F-7F15-E862-45CC-BE877A533D3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8259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0D12-6DAD-171E-5C44-1C933DBAA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F5210E-6C87-CE34-5144-9869CA0A8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210B58-298A-786B-6B20-C8620C51A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12C1E-0CC0-0198-4AAC-338809C6ECD8}"/>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6" name="Footer Placeholder 5">
            <a:extLst>
              <a:ext uri="{FF2B5EF4-FFF2-40B4-BE49-F238E27FC236}">
                <a16:creationId xmlns:a16="http://schemas.microsoft.com/office/drawing/2014/main" id="{A0083992-6824-C0C3-BD44-70007CBE3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427E1-DE32-B61D-721C-F6029E9A492E}"/>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38215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A54F-0914-1D5E-53DA-546EE30E90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5933A5-10B3-8922-AFE2-FA3A0D231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A5B6B-E662-D7EE-403C-422DA0DF943F}"/>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89C06DC3-D311-881F-12C0-2FE33C0AE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012770-8D29-70D7-240E-A5D28D8B162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585295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264A2C-5C3D-7618-54D9-236EE375EC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2CC421-D912-2B56-4407-EB582E3C3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2B872-E8F9-D888-62B2-24851297FEF9}"/>
              </a:ext>
            </a:extLst>
          </p:cNvPr>
          <p:cNvSpPr>
            <a:spLocks noGrp="1"/>
          </p:cNvSpPr>
          <p:nvPr>
            <p:ph type="dt" sz="half" idx="10"/>
          </p:nvPr>
        </p:nvSpPr>
        <p:spPr/>
        <p:txBody>
          <a:body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BF6F562E-3003-3833-0DFA-C3E2ED5A9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5A6C1-A554-A489-BF47-674D944FAC4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25679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6F00F-E4B5-6449-3F27-7F7400DF6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B53526-985E-710C-A6C0-ABF1E758F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CAF5F-ECEE-FE4F-325D-5A7DE3A86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0BA02-0F25-D340-918E-D8EE852131BC}" type="datetimeFigureOut">
              <a:rPr lang="en-US" smtClean="0"/>
              <a:t>10/22/25</a:t>
            </a:fld>
            <a:endParaRPr lang="en-US"/>
          </a:p>
        </p:txBody>
      </p:sp>
      <p:sp>
        <p:nvSpPr>
          <p:cNvPr id="5" name="Footer Placeholder 4">
            <a:extLst>
              <a:ext uri="{FF2B5EF4-FFF2-40B4-BE49-F238E27FC236}">
                <a16:creationId xmlns:a16="http://schemas.microsoft.com/office/drawing/2014/main" id="{B8BACCA8-3B4C-02C5-3971-C6C37AC0E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537C8-E258-F0CF-E7E9-564B96C59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E529D2-2E2C-C047-A7F6-02E756C41443}" type="slidenum">
              <a:rPr lang="en-US" smtClean="0"/>
              <a:t>‹#›</a:t>
            </a:fld>
            <a:endParaRPr lang="en-US"/>
          </a:p>
        </p:txBody>
      </p:sp>
    </p:spTree>
    <p:extLst>
      <p:ext uri="{BB962C8B-B14F-4D97-AF65-F5344CB8AC3E}">
        <p14:creationId xmlns:p14="http://schemas.microsoft.com/office/powerpoint/2010/main" val="164342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2.econ.iastate.edu/classes/econ501/Hallam/documents/FunctionalForms.pdf" TargetMode="External"/><Relationship Id="rId2" Type="http://schemas.openxmlformats.org/officeDocument/2006/relationships/hyperlink" Target="https://windc.wisc.edu/downloads/summercourse_2021/thursday/ces.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360B5F-040E-C296-9511-14682DFA96C2}"/>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r>
              <a:rPr lang="en-US" sz="5400">
                <a:solidFill>
                  <a:schemeClr val="bg1">
                    <a:lumMod val="95000"/>
                    <a:lumOff val="5000"/>
                  </a:schemeClr>
                </a:solidFill>
              </a:rPr>
              <a:t>EBGN645: Day 14</a:t>
            </a:r>
          </a:p>
        </p:txBody>
      </p:sp>
    </p:spTree>
    <p:extLst>
      <p:ext uri="{BB962C8B-B14F-4D97-AF65-F5344CB8AC3E}">
        <p14:creationId xmlns:p14="http://schemas.microsoft.com/office/powerpoint/2010/main" val="253600638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097A-DED3-3CD6-B544-E79915CFAB90}"/>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D9F5D46A-FD99-3951-10ED-20F71F0F4DBA}"/>
              </a:ext>
            </a:extLst>
          </p:cNvPr>
          <p:cNvSpPr>
            <a:spLocks noGrp="1"/>
          </p:cNvSpPr>
          <p:nvPr>
            <p:ph idx="1"/>
          </p:nvPr>
        </p:nvSpPr>
        <p:spPr/>
        <p:txBody>
          <a:bodyPr>
            <a:normAutofit/>
          </a:bodyPr>
          <a:lstStyle/>
          <a:p>
            <a:r>
              <a:rPr lang="en-US" dirty="0"/>
              <a:t>No class 10/27-29</a:t>
            </a:r>
          </a:p>
          <a:p>
            <a:pPr lvl="1"/>
            <a:r>
              <a:rPr lang="en-US" dirty="0"/>
              <a:t>Will record (at least) one lecture</a:t>
            </a:r>
          </a:p>
          <a:p>
            <a:pPr marL="457200" lvl="1" indent="0">
              <a:buNone/>
            </a:pPr>
            <a:endParaRPr lang="en-US" dirty="0"/>
          </a:p>
          <a:p>
            <a:r>
              <a:rPr lang="en-US" dirty="0"/>
              <a:t>Potentially cancelled: 11/10-12 (will email Sunday PM)</a:t>
            </a:r>
          </a:p>
          <a:p>
            <a:endParaRPr lang="en-US" dirty="0"/>
          </a:p>
          <a:p>
            <a:r>
              <a:rPr lang="en-US" dirty="0"/>
              <a:t>HW1b due today (now)</a:t>
            </a:r>
          </a:p>
          <a:p>
            <a:endParaRPr lang="en-US" dirty="0"/>
          </a:p>
          <a:p>
            <a:endParaRPr lang="en-US" dirty="0"/>
          </a:p>
        </p:txBody>
      </p:sp>
    </p:spTree>
    <p:extLst>
      <p:ext uri="{BB962C8B-B14F-4D97-AF65-F5344CB8AC3E}">
        <p14:creationId xmlns:p14="http://schemas.microsoft.com/office/powerpoint/2010/main" val="276692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CAA6EE-672D-852B-1E29-38AB536110B9}"/>
              </a:ext>
            </a:extLst>
          </p:cNvPr>
          <p:cNvSpPr>
            <a:spLocks noGrp="1"/>
          </p:cNvSpPr>
          <p:nvPr>
            <p:ph type="title"/>
          </p:nvPr>
        </p:nvSpPr>
        <p:spPr>
          <a:xfrm>
            <a:off x="589560" y="856180"/>
            <a:ext cx="4560584" cy="1128068"/>
          </a:xfrm>
        </p:spPr>
        <p:txBody>
          <a:bodyPr anchor="ctr">
            <a:normAutofit/>
          </a:bodyPr>
          <a:lstStyle/>
          <a:p>
            <a:r>
              <a:rPr lang="en-US" sz="4000"/>
              <a:t>Discussion time</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91A38D-D723-3D4E-EDC4-99B119F87B4F}"/>
              </a:ext>
            </a:extLst>
          </p:cNvPr>
          <p:cNvSpPr>
            <a:spLocks noGrp="1"/>
          </p:cNvSpPr>
          <p:nvPr>
            <p:ph idx="1"/>
          </p:nvPr>
        </p:nvSpPr>
        <p:spPr>
          <a:xfrm>
            <a:off x="590719" y="2330505"/>
            <a:ext cx="4559425" cy="3979585"/>
          </a:xfrm>
        </p:spPr>
        <p:txBody>
          <a:bodyPr anchor="ctr">
            <a:normAutofit/>
          </a:bodyPr>
          <a:lstStyle/>
          <a:p>
            <a:r>
              <a:rPr lang="en-US" sz="2000"/>
              <a:t>Can tell many of you are struggling.. I don’t want that</a:t>
            </a:r>
          </a:p>
          <a:p>
            <a:pPr marL="0" indent="0">
              <a:buNone/>
            </a:pPr>
            <a:endParaRPr lang="en-US" sz="2000"/>
          </a:p>
          <a:p>
            <a:r>
              <a:rPr lang="en-US" sz="2000"/>
              <a:t>How can I help? </a:t>
            </a:r>
          </a:p>
          <a:p>
            <a:r>
              <a:rPr lang="en-US" sz="2000"/>
              <a:t>What would be most useful?</a:t>
            </a:r>
          </a:p>
          <a:p>
            <a:r>
              <a:rPr lang="en-US" sz="2000"/>
              <a:t>What questions can I answer now? … in future classes?</a:t>
            </a:r>
          </a:p>
          <a:p>
            <a:r>
              <a:rPr lang="en-US" sz="2000"/>
              <a:t>Any useful examples?</a:t>
            </a:r>
          </a:p>
          <a:p>
            <a:r>
              <a:rPr lang="en-US" sz="2000"/>
              <a:t>What would you like to get out of the rest of this course?</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0AF1E50-7C5B-C3D0-3824-4C880C002407}"/>
              </a:ext>
            </a:extLst>
          </p:cNvPr>
          <p:cNvPicPr>
            <a:picLocks noChangeAspect="1"/>
          </p:cNvPicPr>
          <p:nvPr/>
        </p:nvPicPr>
        <p:blipFill>
          <a:blip r:embed="rId2"/>
          <a:srcRect l="101" r="350"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452737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B31195-D227-5636-C8D7-5F31DCAD5A92}"/>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Bigger picture</a:t>
            </a:r>
          </a:p>
        </p:txBody>
      </p:sp>
      <p:sp>
        <p:nvSpPr>
          <p:cNvPr id="3" name="Content Placeholder 2">
            <a:extLst>
              <a:ext uri="{FF2B5EF4-FFF2-40B4-BE49-F238E27FC236}">
                <a16:creationId xmlns:a16="http://schemas.microsoft.com/office/drawing/2014/main" id="{2A22AEFF-1D30-A839-FCF7-0BA8016D4124}"/>
              </a:ext>
            </a:extLst>
          </p:cNvPr>
          <p:cNvSpPr>
            <a:spLocks noGrp="1"/>
          </p:cNvSpPr>
          <p:nvPr>
            <p:ph idx="1"/>
          </p:nvPr>
        </p:nvSpPr>
        <p:spPr>
          <a:xfrm>
            <a:off x="6007232" y="329784"/>
            <a:ext cx="5358373" cy="6325849"/>
          </a:xfrm>
        </p:spPr>
        <p:txBody>
          <a:bodyPr anchor="ctr">
            <a:normAutofit/>
          </a:bodyPr>
          <a:lstStyle/>
          <a:p>
            <a:r>
              <a:rPr lang="en-US" sz="2400" strike="sngStrike" dirty="0"/>
              <a:t>Homework 1 together</a:t>
            </a:r>
          </a:p>
          <a:p>
            <a:r>
              <a:rPr lang="en-US" sz="2400" strike="sngStrike" dirty="0"/>
              <a:t>Resource models</a:t>
            </a:r>
          </a:p>
          <a:p>
            <a:pPr lvl="1"/>
            <a:r>
              <a:rPr lang="en-US" sz="1800" strike="sngStrike" dirty="0"/>
              <a:t>Hotelling (review)</a:t>
            </a:r>
          </a:p>
          <a:p>
            <a:pPr lvl="1"/>
            <a:r>
              <a:rPr lang="en-US" sz="1800" strike="sngStrike" dirty="0"/>
              <a:t>Fisheries management (Gordon-Schaeffer)</a:t>
            </a:r>
          </a:p>
          <a:p>
            <a:pPr lvl="1"/>
            <a:r>
              <a:rPr lang="en-US" sz="1800" strike="sngStrike" dirty="0"/>
              <a:t>Forestry management (Faustmann)</a:t>
            </a:r>
          </a:p>
          <a:p>
            <a:r>
              <a:rPr lang="en-US" sz="2200" dirty="0"/>
              <a:t>CO-WY electricity ‘dispatch’</a:t>
            </a:r>
          </a:p>
          <a:p>
            <a:r>
              <a:rPr lang="en-US" sz="2200" dirty="0"/>
              <a:t>Non-linear, calibrated market models</a:t>
            </a:r>
          </a:p>
          <a:p>
            <a:pPr lvl="1"/>
            <a:r>
              <a:rPr lang="en-US" sz="1800" dirty="0"/>
              <a:t>US petroleum, backstop techs</a:t>
            </a:r>
          </a:p>
          <a:p>
            <a:r>
              <a:rPr lang="en-US" sz="2200" dirty="0"/>
              <a:t>Review of duality -&gt; MCP models</a:t>
            </a:r>
          </a:p>
          <a:p>
            <a:r>
              <a:rPr lang="en-US" sz="2200" dirty="0"/>
              <a:t>Game theory models</a:t>
            </a:r>
          </a:p>
          <a:p>
            <a:pPr lvl="1"/>
            <a:r>
              <a:rPr lang="en-US" sz="1800" dirty="0"/>
              <a:t>Stackelberg</a:t>
            </a:r>
          </a:p>
          <a:p>
            <a:pPr lvl="1"/>
            <a:r>
              <a:rPr lang="en-US" sz="1800" dirty="0"/>
              <a:t>Cournot</a:t>
            </a:r>
          </a:p>
          <a:p>
            <a:r>
              <a:rPr lang="en-US" sz="2200" dirty="0"/>
              <a:t>Ramsey model</a:t>
            </a:r>
          </a:p>
          <a:p>
            <a:r>
              <a:rPr lang="en-US" sz="2200" dirty="0"/>
              <a:t>CGE models</a:t>
            </a:r>
          </a:p>
          <a:p>
            <a:r>
              <a:rPr lang="en-US" sz="2200" dirty="0"/>
              <a:t>MPECs/EPECs</a:t>
            </a:r>
          </a:p>
          <a:p>
            <a:r>
              <a:rPr lang="en-US" sz="2200" dirty="0"/>
              <a:t>Presentations</a:t>
            </a:r>
          </a:p>
          <a:p>
            <a:pPr lvl="1"/>
            <a:endParaRPr lang="en-US" sz="1800" dirty="0"/>
          </a:p>
        </p:txBody>
      </p:sp>
    </p:spTree>
    <p:extLst>
      <p:ext uri="{BB962C8B-B14F-4D97-AF65-F5344CB8AC3E}">
        <p14:creationId xmlns:p14="http://schemas.microsoft.com/office/powerpoint/2010/main" val="3557090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D830-5544-D7D8-8467-1688BA05CE29}"/>
              </a:ext>
            </a:extLst>
          </p:cNvPr>
          <p:cNvSpPr>
            <a:spLocks noGrp="1"/>
          </p:cNvSpPr>
          <p:nvPr>
            <p:ph type="title"/>
          </p:nvPr>
        </p:nvSpPr>
        <p:spPr>
          <a:xfrm>
            <a:off x="553212" y="365125"/>
            <a:ext cx="10800588" cy="1325563"/>
          </a:xfrm>
        </p:spPr>
        <p:txBody>
          <a:bodyPr/>
          <a:lstStyle/>
          <a:p>
            <a:r>
              <a:rPr lang="en-US" dirty="0"/>
              <a:t>Agenda – next few classes (aka this slide deck)</a:t>
            </a:r>
          </a:p>
        </p:txBody>
      </p:sp>
      <p:sp>
        <p:nvSpPr>
          <p:cNvPr id="3" name="Content Placeholder 2">
            <a:extLst>
              <a:ext uri="{FF2B5EF4-FFF2-40B4-BE49-F238E27FC236}">
                <a16:creationId xmlns:a16="http://schemas.microsoft.com/office/drawing/2014/main" id="{0009427B-EA54-88B6-ED71-B3F03115B8CA}"/>
              </a:ext>
            </a:extLst>
          </p:cNvPr>
          <p:cNvSpPr>
            <a:spLocks noGrp="1"/>
          </p:cNvSpPr>
          <p:nvPr>
            <p:ph idx="1"/>
          </p:nvPr>
        </p:nvSpPr>
        <p:spPr>
          <a:xfrm>
            <a:off x="553212" y="2048255"/>
            <a:ext cx="11085576" cy="3982403"/>
          </a:xfrm>
        </p:spPr>
        <p:txBody>
          <a:bodyPr>
            <a:normAutofit lnSpcReduction="10000"/>
          </a:bodyPr>
          <a:lstStyle/>
          <a:p>
            <a:r>
              <a:rPr lang="en-US" dirty="0"/>
              <a:t>Brief review of electricity dispatch Lagrangian and interpretation</a:t>
            </a:r>
          </a:p>
          <a:p>
            <a:r>
              <a:rPr lang="en-US" dirty="0"/>
              <a:t>Coding up that model</a:t>
            </a:r>
          </a:p>
          <a:p>
            <a:r>
              <a:rPr lang="en-US" dirty="0"/>
              <a:t>Rambling on investment and terminal conditions</a:t>
            </a:r>
          </a:p>
          <a:p>
            <a:r>
              <a:rPr lang="en-US" dirty="0"/>
              <a:t>Moving into discussion on NLP market models</a:t>
            </a:r>
          </a:p>
          <a:p>
            <a:pPr lvl="1"/>
            <a:r>
              <a:rPr lang="en-US" dirty="0"/>
              <a:t>Basics</a:t>
            </a:r>
          </a:p>
          <a:p>
            <a:pPr lvl="1"/>
            <a:r>
              <a:rPr lang="en-US" dirty="0"/>
              <a:t>Utility maximization (pizza/beer)</a:t>
            </a:r>
          </a:p>
          <a:p>
            <a:pPr lvl="1"/>
            <a:r>
              <a:rPr lang="en-US" dirty="0"/>
              <a:t>Actual example using US data </a:t>
            </a:r>
          </a:p>
          <a:p>
            <a:pPr lvl="2"/>
            <a:r>
              <a:rPr lang="en-US" dirty="0"/>
              <a:t>Competition between EVs and petroleum</a:t>
            </a:r>
          </a:p>
          <a:p>
            <a:pPr lvl="2"/>
            <a:r>
              <a:rPr lang="en-US" dirty="0"/>
              <a:t>Imports/exports</a:t>
            </a:r>
          </a:p>
          <a:p>
            <a:pPr lvl="1"/>
            <a:r>
              <a:rPr lang="en-US" dirty="0"/>
              <a:t>Ramsey model</a:t>
            </a:r>
          </a:p>
        </p:txBody>
      </p:sp>
    </p:spTree>
    <p:extLst>
      <p:ext uri="{BB962C8B-B14F-4D97-AF65-F5344CB8AC3E}">
        <p14:creationId xmlns:p14="http://schemas.microsoft.com/office/powerpoint/2010/main" val="76600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7AAED-0617-CFD7-EE7A-3A35F595374A}"/>
              </a:ext>
            </a:extLst>
          </p:cNvPr>
          <p:cNvSpPr>
            <a:spLocks noGrp="1"/>
          </p:cNvSpPr>
          <p:nvPr>
            <p:ph type="title"/>
          </p:nvPr>
        </p:nvSpPr>
        <p:spPr/>
        <p:txBody>
          <a:bodyPr/>
          <a:lstStyle/>
          <a:p>
            <a:r>
              <a:rPr lang="en-US" dirty="0"/>
              <a:t>Meme [I]</a:t>
            </a:r>
          </a:p>
        </p:txBody>
      </p:sp>
      <p:pic>
        <p:nvPicPr>
          <p:cNvPr id="1026" name="Picture 2" descr="Funny programming memes explained | Python in Plain English">
            <a:extLst>
              <a:ext uri="{FF2B5EF4-FFF2-40B4-BE49-F238E27FC236}">
                <a16:creationId xmlns:a16="http://schemas.microsoft.com/office/drawing/2014/main" id="{C9E41210-4DBC-A66F-AF1E-4BBB82706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0" y="0"/>
            <a:ext cx="6921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393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7B367-B8BE-8D2F-DC2F-DCECD017A922}"/>
              </a:ext>
            </a:extLst>
          </p:cNvPr>
          <p:cNvSpPr>
            <a:spLocks noGrp="1"/>
          </p:cNvSpPr>
          <p:nvPr>
            <p:ph type="title"/>
          </p:nvPr>
        </p:nvSpPr>
        <p:spPr/>
        <p:txBody>
          <a:bodyPr/>
          <a:lstStyle/>
          <a:p>
            <a:r>
              <a:rPr lang="en-US" dirty="0"/>
              <a:t>Now: Electricity ’dispatch’</a:t>
            </a:r>
          </a:p>
        </p:txBody>
      </p:sp>
      <p:sp>
        <p:nvSpPr>
          <p:cNvPr id="3" name="Content Placeholder 2">
            <a:extLst>
              <a:ext uri="{FF2B5EF4-FFF2-40B4-BE49-F238E27FC236}">
                <a16:creationId xmlns:a16="http://schemas.microsoft.com/office/drawing/2014/main" id="{A232E32C-1D1D-2C8D-EB5B-E0CC20C0ED09}"/>
              </a:ext>
            </a:extLst>
          </p:cNvPr>
          <p:cNvSpPr>
            <a:spLocks noGrp="1"/>
          </p:cNvSpPr>
          <p:nvPr>
            <p:ph idx="1"/>
          </p:nvPr>
        </p:nvSpPr>
        <p:spPr/>
        <p:txBody>
          <a:bodyPr>
            <a:normAutofit fontScale="92500" lnSpcReduction="20000"/>
          </a:bodyPr>
          <a:lstStyle/>
          <a:p>
            <a:r>
              <a:rPr lang="en-US" dirty="0"/>
              <a:t>Not so much a ‘dispatch’ model – ignoring </a:t>
            </a:r>
            <a:r>
              <a:rPr lang="en-US" i="1" dirty="0"/>
              <a:t>a lot</a:t>
            </a:r>
            <a:r>
              <a:rPr lang="en-US" dirty="0"/>
              <a:t> of electricity-related considerations</a:t>
            </a:r>
          </a:p>
          <a:p>
            <a:pPr lvl="1"/>
            <a:r>
              <a:rPr lang="en-US" dirty="0"/>
              <a:t>Transmission</a:t>
            </a:r>
          </a:p>
          <a:p>
            <a:pPr lvl="1"/>
            <a:r>
              <a:rPr lang="en-US" dirty="0"/>
              <a:t>Basic physics</a:t>
            </a:r>
          </a:p>
          <a:p>
            <a:pPr lvl="1"/>
            <a:r>
              <a:rPr lang="en-US" dirty="0"/>
              <a:t>Unit commitment</a:t>
            </a:r>
          </a:p>
          <a:p>
            <a:pPr lvl="1"/>
            <a:r>
              <a:rPr lang="en-US" dirty="0"/>
              <a:t>… so many other things</a:t>
            </a:r>
          </a:p>
          <a:p>
            <a:pPr lvl="1"/>
            <a:endParaRPr lang="en-US" dirty="0"/>
          </a:p>
          <a:p>
            <a:r>
              <a:rPr lang="en-US" dirty="0"/>
              <a:t>Purpose is to:</a:t>
            </a:r>
          </a:p>
          <a:p>
            <a:pPr lvl="1"/>
            <a:r>
              <a:rPr lang="en-US" dirty="0"/>
              <a:t>Reinforce sparse matrix construction</a:t>
            </a:r>
          </a:p>
          <a:p>
            <a:pPr lvl="1"/>
            <a:r>
              <a:rPr lang="en-US" dirty="0"/>
              <a:t>Evaluate policy design</a:t>
            </a:r>
          </a:p>
          <a:p>
            <a:pPr lvl="1"/>
            <a:r>
              <a:rPr lang="en-US" dirty="0"/>
              <a:t>Interpretation of shadow values</a:t>
            </a:r>
          </a:p>
          <a:p>
            <a:pPr lvl="1"/>
            <a:r>
              <a:rPr lang="en-US" dirty="0"/>
              <a:t>Provide a foundation for converting an LP into an MCP</a:t>
            </a:r>
          </a:p>
          <a:p>
            <a:pPr lvl="1"/>
            <a:r>
              <a:rPr lang="en-US" dirty="0"/>
              <a:t>Incorporate demand elasticity via both piecewise linear and MCP methods</a:t>
            </a:r>
          </a:p>
        </p:txBody>
      </p:sp>
    </p:spTree>
    <p:extLst>
      <p:ext uri="{BB962C8B-B14F-4D97-AF65-F5344CB8AC3E}">
        <p14:creationId xmlns:p14="http://schemas.microsoft.com/office/powerpoint/2010/main" val="723055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40DF6-C6D4-AB1B-8C29-BC8FD29D4B8A}"/>
              </a:ext>
            </a:extLst>
          </p:cNvPr>
          <p:cNvSpPr>
            <a:spLocks noGrp="1"/>
          </p:cNvSpPr>
          <p:nvPr>
            <p:ph type="title"/>
          </p:nvPr>
        </p:nvSpPr>
        <p:spPr/>
        <p:txBody>
          <a:bodyPr/>
          <a:lstStyle/>
          <a:p>
            <a:r>
              <a:rPr lang="en-US" dirty="0"/>
              <a:t>Why conditionals?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E81777-3857-04D1-E268-A89D30891908}"/>
                  </a:ext>
                </a:extLst>
              </p:cNvPr>
              <p:cNvSpPr>
                <a:spLocks noGrp="1"/>
              </p:cNvSpPr>
              <p:nvPr>
                <p:ph idx="1"/>
              </p:nvPr>
            </p:nvSpPr>
            <p:spPr>
              <a:xfrm>
                <a:off x="838200" y="1341912"/>
                <a:ext cx="10515600" cy="5150963"/>
              </a:xfrm>
            </p:spPr>
            <p:txBody>
              <a:bodyPr>
                <a:normAutofit fontScale="85000" lnSpcReduction="20000"/>
              </a:bodyPr>
              <a:lstStyle/>
              <a:p>
                <a:r>
                  <a:rPr lang="en-US" dirty="0"/>
                  <a:t>Example, in ReEDS we have indices:</a:t>
                </a:r>
              </a:p>
              <a:p>
                <a:pPr marL="0" indent="0">
                  <a:buNone/>
                </a:pPr>
                <a:r>
                  <a:rPr lang="en-US" b="0" dirty="0"/>
                  <a:t>	</a:t>
                </a:r>
                <a14:m>
                  <m:oMath xmlns:m="http://schemas.openxmlformats.org/officeDocument/2006/math">
                    <m:r>
                      <a:rPr lang="en-US" b="0" i="1" smtClean="0">
                        <a:latin typeface="Cambria Math" panose="02040503050406030204" pitchFamily="18" charset="0"/>
                      </a:rPr>
                      <m:t>𝑖</m:t>
                    </m:r>
                  </m:oMath>
                </a14:m>
                <a:r>
                  <a:rPr lang="en-US" dirty="0"/>
                  <a:t>: technology (~200)</a:t>
                </a:r>
              </a:p>
              <a:p>
                <a:pPr marL="0" indent="0">
                  <a:buNone/>
                </a:pPr>
                <a:r>
                  <a:rPr lang="en-US" b="0" dirty="0"/>
                  <a:t>	</a:t>
                </a:r>
                <a14:m>
                  <m:oMath xmlns:m="http://schemas.openxmlformats.org/officeDocument/2006/math">
                    <m:r>
                      <a:rPr lang="en-US" b="0" i="1" smtClean="0">
                        <a:latin typeface="Cambria Math" panose="02040503050406030204" pitchFamily="18" charset="0"/>
                      </a:rPr>
                      <m:t>𝑣</m:t>
                    </m:r>
                  </m:oMath>
                </a14:m>
                <a:r>
                  <a:rPr lang="en-US" dirty="0"/>
                  <a:t>: vintage (~100-400)</a:t>
                </a:r>
              </a:p>
              <a:p>
                <a:pPr marL="0" indent="0">
                  <a:buNone/>
                </a:pPr>
                <a:r>
                  <a:rPr lang="en-US" b="0" dirty="0"/>
                  <a:t>	</a:t>
                </a:r>
                <a14:m>
                  <m:oMath xmlns:m="http://schemas.openxmlformats.org/officeDocument/2006/math">
                    <m:r>
                      <a:rPr lang="en-US" b="0" i="1" smtClean="0">
                        <a:latin typeface="Cambria Math" panose="02040503050406030204" pitchFamily="18" charset="0"/>
                      </a:rPr>
                      <m:t>𝑟</m:t>
                    </m:r>
                  </m:oMath>
                </a14:m>
                <a:r>
                  <a:rPr lang="en-US" dirty="0"/>
                  <a:t>: region (50 or 134 or 1000s)</a:t>
                </a:r>
              </a:p>
              <a:p>
                <a:pPr marL="0" indent="0">
                  <a:buNone/>
                </a:pPr>
                <a:r>
                  <a:rPr lang="en-US" b="0" dirty="0"/>
                  <a:t>	</a:t>
                </a:r>
                <a14:m>
                  <m:oMath xmlns:m="http://schemas.openxmlformats.org/officeDocument/2006/math">
                    <m:r>
                      <a:rPr lang="en-US" b="0" i="1" smtClean="0">
                        <a:latin typeface="Cambria Math" panose="02040503050406030204" pitchFamily="18" charset="0"/>
                      </a:rPr>
                      <m:t>h</m:t>
                    </m:r>
                  </m:oMath>
                </a14:m>
                <a:r>
                  <a:rPr lang="en-US" dirty="0"/>
                  <a:t>: </a:t>
                </a:r>
                <a:r>
                  <a:rPr lang="en-US" dirty="0" err="1"/>
                  <a:t>timeslice</a:t>
                </a:r>
                <a:r>
                  <a:rPr lang="en-US" dirty="0"/>
                  <a:t> (330)</a:t>
                </a:r>
              </a:p>
              <a:p>
                <a:pPr marL="0" indent="0">
                  <a:buNone/>
                </a:pPr>
                <a:r>
                  <a:rPr lang="en-US" b="0" dirty="0"/>
                  <a:t>	</a:t>
                </a:r>
                <a14:m>
                  <m:oMath xmlns:m="http://schemas.openxmlformats.org/officeDocument/2006/math">
                    <m:r>
                      <a:rPr lang="en-US" b="0" i="1" smtClean="0">
                        <a:latin typeface="Cambria Math" panose="02040503050406030204" pitchFamily="18" charset="0"/>
                      </a:rPr>
                      <m:t>𝑡</m:t>
                    </m:r>
                  </m:oMath>
                </a14:m>
                <a:r>
                  <a:rPr lang="en-US" dirty="0"/>
                  <a:t>: year/time (20-40)</a:t>
                </a:r>
              </a:p>
              <a:p>
                <a:pPr marL="0" indent="0">
                  <a:buNone/>
                </a:pPr>
                <a:endParaRPr lang="en-US" dirty="0"/>
              </a:p>
              <a:p>
                <a:pPr marL="0" indent="0">
                  <a:buNone/>
                </a:pPr>
                <a:r>
                  <a:rPr lang="en-US" dirty="0"/>
                  <a:t>Variable for generation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endParaRPr lang="en-US" dirty="0"/>
              </a:p>
              <a:p>
                <a:pPr marL="0" indent="0">
                  <a:buNone/>
                </a:pPr>
                <a:endParaRPr lang="en-US" dirty="0"/>
              </a:p>
              <a:p>
                <a:pPr marL="0" indent="0">
                  <a:buNone/>
                </a:pPr>
                <a:r>
                  <a:rPr lang="en-US" dirty="0"/>
                  <a:t>Max dimensions = 200*400*134*330*40 = 141,504,000,000</a:t>
                </a:r>
              </a:p>
              <a:p>
                <a:pPr marL="0" indent="0">
                  <a:buNone/>
                </a:pPr>
                <a:r>
                  <a:rPr lang="en-US" dirty="0"/>
                  <a:t>				                    	  ... of which &lt;1% are relevant</a:t>
                </a:r>
              </a:p>
              <a:p>
                <a:pPr marL="0" indent="0">
                  <a:buNone/>
                </a:pPr>
                <a:endParaRPr lang="en-US" dirty="0"/>
              </a:p>
              <a:p>
                <a:pPr marL="0" indent="0">
                  <a:buNone/>
                </a:pPr>
                <a:r>
                  <a:rPr lang="en-US" b="1" i="1" dirty="0"/>
                  <a:t>For big models, do not trust CPLEX/GUROBI to do the job for you…</a:t>
                </a:r>
              </a:p>
            </p:txBody>
          </p:sp>
        </mc:Choice>
        <mc:Fallback xmlns="">
          <p:sp>
            <p:nvSpPr>
              <p:cNvPr id="3" name="Content Placeholder 2">
                <a:extLst>
                  <a:ext uri="{FF2B5EF4-FFF2-40B4-BE49-F238E27FC236}">
                    <a16:creationId xmlns:a16="http://schemas.microsoft.com/office/drawing/2014/main" id="{1BE81777-3857-04D1-E268-A89D30891908}"/>
                  </a:ext>
                </a:extLst>
              </p:cNvPr>
              <p:cNvSpPr>
                <a:spLocks noGrp="1" noRot="1" noChangeAspect="1" noMove="1" noResize="1" noEditPoints="1" noAdjustHandles="1" noChangeArrowheads="1" noChangeShapeType="1" noTextEdit="1"/>
              </p:cNvSpPr>
              <p:nvPr>
                <p:ph idx="1"/>
              </p:nvPr>
            </p:nvSpPr>
            <p:spPr>
              <a:xfrm>
                <a:off x="838200" y="1341912"/>
                <a:ext cx="10515600" cy="5150963"/>
              </a:xfrm>
              <a:blipFill>
                <a:blip r:embed="rId2"/>
                <a:stretch>
                  <a:fillRect l="-965" t="-2703"/>
                </a:stretch>
              </a:blipFill>
            </p:spPr>
            <p:txBody>
              <a:bodyPr/>
              <a:lstStyle/>
              <a:p>
                <a:r>
                  <a:rPr lang="en-US">
                    <a:noFill/>
                  </a:rPr>
                  <a:t> </a:t>
                </a:r>
              </a:p>
            </p:txBody>
          </p:sp>
        </mc:Fallback>
      </mc:AlternateContent>
    </p:spTree>
    <p:extLst>
      <p:ext uri="{BB962C8B-B14F-4D97-AF65-F5344CB8AC3E}">
        <p14:creationId xmlns:p14="http://schemas.microsoft.com/office/powerpoint/2010/main" val="644990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3F94D-B9EE-0835-6248-A0E39D124B42}"/>
              </a:ext>
            </a:extLst>
          </p:cNvPr>
          <p:cNvSpPr>
            <a:spLocks noGrp="1"/>
          </p:cNvSpPr>
          <p:nvPr>
            <p:ph type="title"/>
          </p:nvPr>
        </p:nvSpPr>
        <p:spPr/>
        <p:txBody>
          <a:bodyPr/>
          <a:lstStyle/>
          <a:p>
            <a:r>
              <a:rPr lang="en-US" dirty="0"/>
              <a:t>More specifically: sparse matrix construction</a:t>
            </a:r>
          </a:p>
        </p:txBody>
      </p:sp>
      <p:sp>
        <p:nvSpPr>
          <p:cNvPr id="3" name="Content Placeholder 2">
            <a:extLst>
              <a:ext uri="{FF2B5EF4-FFF2-40B4-BE49-F238E27FC236}">
                <a16:creationId xmlns:a16="http://schemas.microsoft.com/office/drawing/2014/main" id="{F6BA9A79-8563-2C7A-501F-353234AFB8A8}"/>
              </a:ext>
            </a:extLst>
          </p:cNvPr>
          <p:cNvSpPr>
            <a:spLocks noGrp="1"/>
          </p:cNvSpPr>
          <p:nvPr>
            <p:ph idx="1"/>
          </p:nvPr>
        </p:nvSpPr>
        <p:spPr>
          <a:xfrm>
            <a:off x="3363685" y="1605047"/>
            <a:ext cx="5464629" cy="4351338"/>
          </a:xfrm>
        </p:spPr>
        <p:txBody>
          <a:bodyPr/>
          <a:lstStyle/>
          <a:p>
            <a:pPr marL="0" indent="0" algn="ctr">
              <a:buNone/>
            </a:pPr>
            <a:r>
              <a:rPr lang="en-US" b="1" i="1" dirty="0"/>
              <a:t>Put simply: We do not want to burden the model with irrelevant constraints or decision variables</a:t>
            </a:r>
          </a:p>
        </p:txBody>
      </p:sp>
      <p:sp>
        <p:nvSpPr>
          <p:cNvPr id="5" name="Content Placeholder 2">
            <a:extLst>
              <a:ext uri="{FF2B5EF4-FFF2-40B4-BE49-F238E27FC236}">
                <a16:creationId xmlns:a16="http://schemas.microsoft.com/office/drawing/2014/main" id="{1A57FA32-D4BE-CBA1-100D-EF772EC22BCD}"/>
              </a:ext>
            </a:extLst>
          </p:cNvPr>
          <p:cNvSpPr txBox="1">
            <a:spLocks/>
          </p:cNvSpPr>
          <p:nvPr/>
        </p:nvSpPr>
        <p:spPr>
          <a:xfrm>
            <a:off x="838199" y="342900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 GAMS, reducing equation population via…</a:t>
            </a:r>
          </a:p>
          <a:p>
            <a:pPr marL="0" indent="0" algn="ctr">
              <a:buNone/>
            </a:pPr>
            <a:r>
              <a:rPr lang="en-US" i="1" dirty="0" err="1"/>
              <a:t>eq_caplim</a:t>
            </a:r>
            <a:r>
              <a:rPr lang="en-US" i="1" dirty="0"/>
              <a:t>(</a:t>
            </a:r>
            <a:r>
              <a:rPr lang="en-US" i="1" dirty="0" err="1"/>
              <a:t>i,v,r,h,t</a:t>
            </a:r>
            <a:r>
              <a:rPr lang="en-US" i="1" dirty="0"/>
              <a:t>)$</a:t>
            </a:r>
            <a:r>
              <a:rPr lang="en-US" i="1" dirty="0" err="1"/>
              <a:t>valid_generation</a:t>
            </a:r>
            <a:r>
              <a:rPr lang="en-US" i="1" dirty="0"/>
              <a:t>(</a:t>
            </a:r>
            <a:r>
              <a:rPr lang="en-US" i="1" dirty="0" err="1"/>
              <a:t>i,v,r,h,t</a:t>
            </a:r>
            <a:r>
              <a:rPr lang="en-US" i="1" dirty="0"/>
              <a:t>)..</a:t>
            </a:r>
          </a:p>
          <a:p>
            <a:pPr marL="0" indent="0">
              <a:buNone/>
            </a:pPr>
            <a:endParaRPr lang="en-US" dirty="0"/>
          </a:p>
          <a:p>
            <a:pPr marL="0" indent="0">
              <a:buNone/>
            </a:pPr>
            <a:r>
              <a:rPr lang="en-US" dirty="0"/>
              <a:t>and reducing variable consideration via:</a:t>
            </a:r>
          </a:p>
          <a:p>
            <a:pPr marL="0" indent="0" algn="ctr">
              <a:buFont typeface="Arial" panose="020B0604020202020204" pitchFamily="34" charset="0"/>
              <a:buNone/>
            </a:pPr>
            <a:r>
              <a:rPr lang="en-US" i="1" dirty="0"/>
              <a:t>… + sum{(</a:t>
            </a:r>
            <a:r>
              <a:rPr lang="en-US" i="1" dirty="0" err="1"/>
              <a:t>i,v,r,h,t</a:t>
            </a:r>
            <a:r>
              <a:rPr lang="en-US" i="1" dirty="0"/>
              <a:t>)$</a:t>
            </a:r>
            <a:r>
              <a:rPr lang="en-US" i="1" dirty="0" err="1"/>
              <a:t>valid_generation</a:t>
            </a:r>
            <a:r>
              <a:rPr lang="en-US" i="1" dirty="0"/>
              <a:t>(</a:t>
            </a:r>
            <a:r>
              <a:rPr lang="en-US" i="1" dirty="0" err="1"/>
              <a:t>i,v,r,h,t</a:t>
            </a:r>
            <a:r>
              <a:rPr lang="en-US" i="1" dirty="0"/>
              <a:t>), GEN(</a:t>
            </a:r>
            <a:r>
              <a:rPr lang="en-US" i="1" dirty="0" err="1"/>
              <a:t>i,v,r,h,t</a:t>
            </a:r>
            <a:r>
              <a:rPr lang="en-US" i="1" dirty="0"/>
              <a:t>) }</a:t>
            </a:r>
          </a:p>
        </p:txBody>
      </p:sp>
    </p:spTree>
    <p:extLst>
      <p:ext uri="{BB962C8B-B14F-4D97-AF65-F5344CB8AC3E}">
        <p14:creationId xmlns:p14="http://schemas.microsoft.com/office/powerpoint/2010/main" val="2238401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125CF-6601-60BE-7A32-B55F2048F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52892-D170-8341-0BAB-21B6415F07C4}"/>
              </a:ext>
            </a:extLst>
          </p:cNvPr>
          <p:cNvSpPr>
            <a:spLocks noGrp="1"/>
          </p:cNvSpPr>
          <p:nvPr>
            <p:ph type="title"/>
          </p:nvPr>
        </p:nvSpPr>
        <p:spPr/>
        <p:txBody>
          <a:bodyPr/>
          <a:lstStyle/>
          <a:p>
            <a:r>
              <a:rPr lang="en-US" dirty="0"/>
              <a:t>Electricity “dispatch” problem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130F7-B3E9-9C5B-D290-D334815839AB}"/>
                  </a:ext>
                </a:extLst>
              </p:cNvPr>
              <p:cNvSpPr>
                <a:spLocks noGrp="1"/>
              </p:cNvSpPr>
              <p:nvPr>
                <p:ph idx="1"/>
              </p:nvPr>
            </p:nvSpPr>
            <p:spPr>
              <a:xfrm>
                <a:off x="838199" y="1825625"/>
                <a:ext cx="11108377" cy="4351338"/>
              </a:xfrm>
            </p:spPr>
            <p:txBody>
              <a:bodyPr>
                <a:normAutofit lnSpcReduction="10000"/>
              </a:bodyPr>
              <a:lstStyle/>
              <a:p>
                <a:r>
                  <a:rPr lang="en-US" dirty="0"/>
                  <a:t>Indices:</a:t>
                </a:r>
              </a:p>
              <a:p>
                <a:pPr marL="0" indent="0">
                  <a:buNone/>
                </a:pPr>
                <a:r>
                  <a:rPr lang="en-US" b="0" dirty="0"/>
                  <a:t>	</a:t>
                </a:r>
                <a14:m>
                  <m:oMath xmlns:m="http://schemas.openxmlformats.org/officeDocument/2006/math">
                    <m:r>
                      <a:rPr lang="en-US" b="0" i="1" smtClean="0">
                        <a:latin typeface="Cambria Math" panose="02040503050406030204" pitchFamily="18" charset="0"/>
                      </a:rPr>
                      <m:t>𝑠</m:t>
                    </m:r>
                  </m:oMath>
                </a14:m>
                <a:r>
                  <a:rPr lang="en-US" dirty="0"/>
                  <a:t>: State</a:t>
                </a:r>
              </a:p>
              <a:p>
                <a:pPr marL="0" indent="0">
                  <a:buNone/>
                </a:pPr>
                <a:r>
                  <a:rPr lang="en-US" b="0" dirty="0"/>
                  <a:t>	</a:t>
                </a:r>
                <a14:m>
                  <m:oMath xmlns:m="http://schemas.openxmlformats.org/officeDocument/2006/math">
                    <m:r>
                      <a:rPr lang="en-US" b="0" i="1" smtClean="0">
                        <a:latin typeface="Cambria Math" panose="02040503050406030204" pitchFamily="18" charset="0"/>
                      </a:rPr>
                      <m:t>𝑖</m:t>
                    </m:r>
                  </m:oMath>
                </a14:m>
                <a:r>
                  <a:rPr lang="en-US" dirty="0"/>
                  <a:t>: Generation technology</a:t>
                </a:r>
              </a:p>
              <a:p>
                <a:pPr marL="0" indent="0">
                  <a:buNone/>
                </a:pPr>
                <a:r>
                  <a:rPr lang="en-US" dirty="0"/>
                  <a:t>	</a:t>
                </a:r>
                <a14:m>
                  <m:oMath xmlns:m="http://schemas.openxmlformats.org/officeDocument/2006/math">
                    <m:r>
                      <a:rPr lang="en-US" b="0" i="1" smtClean="0">
                        <a:latin typeface="Cambria Math" panose="02040503050406030204" pitchFamily="18" charset="0"/>
                      </a:rPr>
                      <m:t>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oMath>
                </a14:m>
                <a:r>
                  <a:rPr lang="en-US" dirty="0"/>
                  <a:t>: thermal techs subject to ramping constraints</a:t>
                </a:r>
              </a:p>
              <a:p>
                <a:pPr marL="0" indent="0">
                  <a:buNone/>
                </a:pPr>
                <a:r>
                  <a:rPr lang="en-US" b="0" dirty="0"/>
                  <a:t>	</a:t>
                </a:r>
                <a14:m>
                  <m:oMath xmlns:m="http://schemas.openxmlformats.org/officeDocument/2006/math">
                    <m:r>
                      <a:rPr lang="en-US" b="0" i="1" smtClean="0">
                        <a:latin typeface="Cambria Math" panose="02040503050406030204" pitchFamily="18" charset="0"/>
                      </a:rPr>
                      <m:t>𝑝</m:t>
                    </m:r>
                  </m:oMath>
                </a14:m>
                <a:r>
                  <a:rPr lang="en-US" dirty="0"/>
                  <a:t>: Unique plant ID</a:t>
                </a:r>
              </a:p>
              <a:p>
                <a:pPr marL="0" indent="0">
                  <a:buNone/>
                </a:pPr>
                <a:r>
                  <a:rPr lang="en-US" b="0" dirty="0"/>
                  <a:t>	</a:t>
                </a:r>
                <a14:m>
                  <m:oMath xmlns:m="http://schemas.openxmlformats.org/officeDocument/2006/math">
                    <m:r>
                      <a:rPr lang="en-US" b="0" i="1" smtClean="0">
                        <a:latin typeface="Cambria Math" panose="02040503050406030204" pitchFamily="18" charset="0"/>
                      </a:rPr>
                      <m:t>h</m:t>
                    </m:r>
                  </m:oMath>
                </a14:m>
                <a:r>
                  <a:rPr lang="en-US" dirty="0"/>
                  <a:t>: Hour of day</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valid combination of </a:t>
                </a:r>
                <a14:m>
                  <m:oMath xmlns:m="http://schemas.openxmlformats.org/officeDocument/2006/math">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m:t>
                    </m:r>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h</m:t>
                    </m:r>
                  </m:oMath>
                </a14:m>
                <a:endParaRPr lang="en-US" dirty="0"/>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𝑠</m:t>
                        </m:r>
                      </m:sub>
                    </m:sSub>
                  </m:oMath>
                </a14:m>
                <a:r>
                  <a:rPr lang="en-US" dirty="0"/>
                  <a:t>: states facing an emissions limit</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𝑠</m:t>
                        </m:r>
                      </m:sub>
                    </m:sSub>
                  </m:oMath>
                </a14:m>
                <a:r>
                  <a:rPr lang="en-US" dirty="0"/>
                  <a:t>: states facing an emissions rate limit</a:t>
                </a:r>
              </a:p>
            </p:txBody>
          </p:sp>
        </mc:Choice>
        <mc:Fallback xmlns="">
          <p:sp>
            <p:nvSpPr>
              <p:cNvPr id="3" name="Content Placeholder 2">
                <a:extLst>
                  <a:ext uri="{FF2B5EF4-FFF2-40B4-BE49-F238E27FC236}">
                    <a16:creationId xmlns:a16="http://schemas.microsoft.com/office/drawing/2014/main" id="{8B3130F7-B3E9-9C5B-D290-D334815839AB}"/>
                  </a:ext>
                </a:extLst>
              </p:cNvPr>
              <p:cNvSpPr>
                <a:spLocks noGrp="1" noRot="1" noChangeAspect="1" noMove="1" noResize="1" noEditPoints="1" noAdjustHandles="1" noChangeArrowheads="1" noChangeShapeType="1" noTextEdit="1"/>
              </p:cNvSpPr>
              <p:nvPr>
                <p:ph idx="1"/>
              </p:nvPr>
            </p:nvSpPr>
            <p:spPr>
              <a:xfrm>
                <a:off x="838199" y="1825625"/>
                <a:ext cx="11108377" cy="4351338"/>
              </a:xfrm>
              <a:blipFill>
                <a:blip r:embed="rId2"/>
                <a:stretch>
                  <a:fillRect l="-913" t="-3198" b="-872"/>
                </a:stretch>
              </a:blipFill>
            </p:spPr>
            <p:txBody>
              <a:bodyPr/>
              <a:lstStyle/>
              <a:p>
                <a:r>
                  <a:rPr lang="en-US">
                    <a:noFill/>
                  </a:rPr>
                  <a:t> </a:t>
                </a:r>
              </a:p>
            </p:txBody>
          </p:sp>
        </mc:Fallback>
      </mc:AlternateContent>
    </p:spTree>
    <p:extLst>
      <p:ext uri="{BB962C8B-B14F-4D97-AF65-F5344CB8AC3E}">
        <p14:creationId xmlns:p14="http://schemas.microsoft.com/office/powerpoint/2010/main" val="1016126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36FE-5CE0-57E6-1DEF-B710C8FB6A1F}"/>
              </a:ext>
            </a:extLst>
          </p:cNvPr>
          <p:cNvSpPr>
            <a:spLocks noGrp="1"/>
          </p:cNvSpPr>
          <p:nvPr>
            <p:ph type="title"/>
          </p:nvPr>
        </p:nvSpPr>
        <p:spPr/>
        <p:txBody>
          <a:bodyPr/>
          <a:lstStyle/>
          <a:p>
            <a:r>
              <a:rPr lang="en-US" dirty="0"/>
              <a:t>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905C67-6C1C-E178-0A26-8BB448CF7A65}"/>
                  </a:ext>
                </a:extLst>
              </p:cNvPr>
              <p:cNvSpPr>
                <a:spLocks noGrp="1"/>
              </p:cNvSpPr>
              <p:nvPr>
                <p:ph idx="1"/>
              </p:nvPr>
            </p:nvSpPr>
            <p:spPr/>
            <p:txBody>
              <a:bodyPr>
                <a:normAutofit fontScale="77500" lnSpcReduction="20000"/>
              </a:bodyPr>
              <a:lstStyle/>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𝑣</m:t>
                        </m:r>
                      </m:sup>
                    </m:sSubSup>
                  </m:oMath>
                </a14:m>
                <a:r>
                  <a:rPr lang="en-US" dirty="0"/>
                  <a:t>: ONM costs ($/</a:t>
                </a:r>
                <a:r>
                  <a:rPr lang="en-US" dirty="0" err="1"/>
                  <a:t>mwh</a:t>
                </a:r>
                <a:r>
                  <a:rPr lang="en-US" dirty="0"/>
                  <a:t>)</a:t>
                </a:r>
              </a:p>
              <a:p>
                <a:pPr marL="0" indent="0">
                  <a:buNone/>
                </a:pPr>
                <a14:m>
                  <m:oMath xmlns:m="http://schemas.openxmlformats.org/officeDocument/2006/math">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unit heat rate (</a:t>
                </a:r>
                <a:r>
                  <a:rPr lang="en-US" dirty="0" err="1"/>
                  <a:t>mmbtu</a:t>
                </a:r>
                <a:r>
                  <a:rPr lang="en-US" dirty="0"/>
                  <a:t> / </a:t>
                </a:r>
                <a:r>
                  <a:rPr lang="en-US" dirty="0" err="1"/>
                  <a:t>mwh</a:t>
                </a:r>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capacity factor (% of nameplate capacity)</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oMath>
                </a14:m>
                <a:r>
                  <a:rPr lang="en-US" dirty="0"/>
                  <a:t>: fuel cost ($/</a:t>
                </a:r>
                <a:r>
                  <a:rPr lang="en-US" dirty="0" err="1"/>
                  <a:t>mmbtu</a:t>
                </a:r>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Capacity (MW)</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Demand per hour (MWh)</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emissions rate (</a:t>
                </a:r>
                <a:r>
                  <a:rPr lang="en-US" dirty="0" err="1"/>
                  <a:t>tonnes</a:t>
                </a:r>
                <a:r>
                  <a:rPr lang="en-US" dirty="0"/>
                  <a:t> </a:t>
                </a:r>
                <a14:m>
                  <m:oMath xmlns:m="http://schemas.openxmlformats.org/officeDocument/2006/math">
                    <m:r>
                      <a:rPr lang="en-US" i="1">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2</m:t>
                        </m:r>
                      </m:sub>
                    </m:sSub>
                  </m:oMath>
                </a14:m>
                <a:r>
                  <a:rPr lang="en-US" dirty="0"/>
                  <a:t>per MWh)</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𝑠</m:t>
                        </m:r>
                      </m:sub>
                    </m:sSub>
                  </m:oMath>
                </a14:m>
                <a:r>
                  <a:rPr lang="en-US" dirty="0"/>
                  <a:t>: state-level emissions cap (</a:t>
                </a:r>
                <a:r>
                  <a:rPr lang="en-US" dirty="0" err="1"/>
                  <a:t>tonnes</a:t>
                </a:r>
                <a:r>
                  <a:rPr lang="en-US" dirty="0"/>
                  <a:t> </a:t>
                </a:r>
                <a14:m>
                  <m:oMath xmlns:m="http://schemas.openxmlformats.org/officeDocument/2006/math">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a14:m>
                <a:r>
                  <a:rPr lang="en-US" dirty="0"/>
                  <a:t>)</a:t>
                </a:r>
              </a:p>
              <a:p>
                <a:pPr marL="0" indent="0">
                  <a:buNone/>
                </a:pPr>
                <a14:m>
                  <m:oMath xmlns:m="http://schemas.openxmlformats.org/officeDocument/2006/math">
                    <m:r>
                      <m:rPr>
                        <m:sty m:val="p"/>
                      </m:rPr>
                      <a:rPr lang="en-US" b="0" i="0" smtClean="0">
                        <a:latin typeface="Cambria Math" panose="02040503050406030204" pitchFamily="18" charset="0"/>
                      </a:rPr>
                      <m:t>Ψ</m:t>
                    </m:r>
                  </m:oMath>
                </a14:m>
                <a:r>
                  <a:rPr lang="en-US" dirty="0"/>
                  <a:t>: combined state emissions cap (</a:t>
                </a:r>
                <a:r>
                  <a:rPr lang="en-US" dirty="0" err="1"/>
                  <a:t>tonnes</a:t>
                </a:r>
                <a:r>
                  <a:rPr lang="en-US" dirty="0"/>
                  <a:t> </a:t>
                </a:r>
                <a14:m>
                  <m:oMath xmlns:m="http://schemas.openxmlformats.org/officeDocument/2006/math">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a14:m>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𝑠</m:t>
                        </m:r>
                      </m:sub>
                    </m:sSub>
                  </m:oMath>
                </a14:m>
                <a:r>
                  <a:rPr lang="en-US" dirty="0"/>
                  <a:t>: state-level emissions standard (</a:t>
                </a:r>
                <a:r>
                  <a:rPr lang="en-US" dirty="0" err="1"/>
                  <a:t>tonnes</a:t>
                </a:r>
                <a:r>
                  <a:rPr lang="en-US" dirty="0"/>
                  <a:t> </a:t>
                </a:r>
                <a14:m>
                  <m:oMath xmlns:m="http://schemas.openxmlformats.org/officeDocument/2006/math">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a14:m>
                <a:r>
                  <a:rPr lang="en-US" dirty="0"/>
                  <a:t>per MWh)</a:t>
                </a:r>
              </a:p>
              <a:p>
                <a:pPr marL="0" indent="0">
                  <a:buNone/>
                </a:pPr>
                <a14:m>
                  <m:oMath xmlns:m="http://schemas.openxmlformats.org/officeDocument/2006/math">
                    <m:r>
                      <m:rPr>
                        <m:sty m:val="p"/>
                      </m:rPr>
                      <a:rPr lang="en-US" b="0" i="0" smtClean="0">
                        <a:latin typeface="Cambria Math" panose="02040503050406030204" pitchFamily="18" charset="0"/>
                      </a:rPr>
                      <m:t>Φ</m:t>
                    </m:r>
                  </m:oMath>
                </a14:m>
                <a:r>
                  <a:rPr lang="en-US" dirty="0"/>
                  <a:t>: combined state emissions standard (tonnes </a:t>
                </a:r>
                <a14:m>
                  <m:oMath xmlns:m="http://schemas.openxmlformats.org/officeDocument/2006/math">
                    <m:r>
                      <a:rPr lang="en-US" i="1">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2</m:t>
                        </m:r>
                      </m:sub>
                    </m:sSub>
                  </m:oMath>
                </a14:m>
                <a:r>
                  <a:rPr lang="en-US" dirty="0"/>
                  <a:t>per MWh)</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3905C67-6C1C-E178-0A26-8BB448CF7A65}"/>
                  </a:ext>
                </a:extLst>
              </p:cNvPr>
              <p:cNvSpPr>
                <a:spLocks noGrp="1" noRot="1" noChangeAspect="1" noMove="1" noResize="1" noEditPoints="1" noAdjustHandles="1" noChangeArrowheads="1" noChangeShapeType="1" noTextEdit="1"/>
              </p:cNvSpPr>
              <p:nvPr>
                <p:ph idx="1"/>
              </p:nvPr>
            </p:nvSpPr>
            <p:spPr>
              <a:blipFill>
                <a:blip r:embed="rId2"/>
                <a:stretch>
                  <a:fillRect l="-483" t="-2616"/>
                </a:stretch>
              </a:blipFill>
            </p:spPr>
            <p:txBody>
              <a:bodyPr/>
              <a:lstStyle/>
              <a:p>
                <a:r>
                  <a:rPr lang="en-US">
                    <a:noFill/>
                  </a:rPr>
                  <a:t> </a:t>
                </a:r>
              </a:p>
            </p:txBody>
          </p:sp>
        </mc:Fallback>
      </mc:AlternateContent>
    </p:spTree>
    <p:extLst>
      <p:ext uri="{BB962C8B-B14F-4D97-AF65-F5344CB8AC3E}">
        <p14:creationId xmlns:p14="http://schemas.microsoft.com/office/powerpoint/2010/main" val="3705840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8FA9-CC0A-FAA6-F115-1F9598E246CB}"/>
              </a:ext>
            </a:extLst>
          </p:cNvPr>
          <p:cNvSpPr>
            <a:spLocks noGrp="1"/>
          </p:cNvSpPr>
          <p:nvPr>
            <p:ph type="title"/>
          </p:nvPr>
        </p:nvSpPr>
        <p:spPr/>
        <p:txBody>
          <a:bodyPr/>
          <a:lstStyle/>
          <a:p>
            <a:r>
              <a:rPr lang="en-US" dirty="0"/>
              <a:t>Variables, Objective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941D3F-E657-8BE5-E267-BF89B92051D7}"/>
                  </a:ext>
                </a:extLst>
              </p:cNvPr>
              <p:cNvSpPr>
                <a:spLocks noGrp="1"/>
              </p:cNvSpPr>
              <p:nvPr>
                <p:ph idx="1"/>
              </p:nvPr>
            </p:nvSpPr>
            <p:spPr/>
            <p:txBody>
              <a:bodyPr/>
              <a:lstStyle/>
              <a:p>
                <a:pPr marL="0" indent="0">
                  <a:buNone/>
                </a:pPr>
                <a:r>
                  <a:rPr lang="en-US" dirty="0"/>
                  <a:t>Variables:</a:t>
                </a:r>
              </a:p>
              <a:p>
                <a:pPr marL="0" indent="0">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Generation (MWh)</a:t>
                </a:r>
              </a:p>
              <a:p>
                <a:pPr marL="0" indent="0">
                  <a:buNone/>
                </a:pPr>
                <a:r>
                  <a:rPr lang="en-US" b="0" dirty="0"/>
                  <a:t>	</a:t>
                </a:r>
                <a14:m>
                  <m:oMath xmlns:m="http://schemas.openxmlformats.org/officeDocument/2006/math">
                    <m:r>
                      <a:rPr lang="en-US" b="0" i="1" smtClean="0">
                        <a:latin typeface="Cambria Math" panose="02040503050406030204" pitchFamily="18" charset="0"/>
                      </a:rPr>
                      <m:t>𝑍</m:t>
                    </m:r>
                  </m:oMath>
                </a14:m>
                <a:r>
                  <a:rPr lang="en-US" dirty="0"/>
                  <a:t>: cost ($s)</a:t>
                </a:r>
              </a:p>
              <a:p>
                <a:pPr marL="0" indent="0">
                  <a:buNone/>
                </a:pPr>
                <a:endParaRPr lang="en-US" dirty="0"/>
              </a:p>
              <a:p>
                <a:pPr marL="0" indent="0">
                  <a:buNone/>
                </a:pPr>
                <a:r>
                  <a:rPr lang="en-US" dirty="0"/>
                  <a:t>Objective: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mr>
                      </m:m>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d>
                    </m:oMath>
                  </m:oMathPara>
                </a14:m>
                <a:endParaRPr lang="en-US" dirty="0"/>
              </a:p>
            </p:txBody>
          </p:sp>
        </mc:Choice>
        <mc:Fallback xmlns="">
          <p:sp>
            <p:nvSpPr>
              <p:cNvPr id="3" name="Content Placeholder 2">
                <a:extLst>
                  <a:ext uri="{FF2B5EF4-FFF2-40B4-BE49-F238E27FC236}">
                    <a16:creationId xmlns:a16="http://schemas.microsoft.com/office/drawing/2014/main" id="{7A941D3F-E657-8BE5-E267-BF89B92051D7}"/>
                  </a:ext>
                </a:extLst>
              </p:cNvPr>
              <p:cNvSpPr>
                <a:spLocks noGrp="1" noRot="1" noChangeAspect="1" noMove="1" noResize="1" noEditPoints="1" noAdjustHandles="1" noChangeArrowheads="1" noChangeShapeType="1" noTextEdit="1"/>
              </p:cNvSpPr>
              <p:nvPr>
                <p:ph idx="1"/>
              </p:nvPr>
            </p:nvSpPr>
            <p:spPr>
              <a:blipFill>
                <a:blip r:embed="rId2"/>
                <a:stretch>
                  <a:fillRect l="-1206" t="-2326" b="-40116"/>
                </a:stretch>
              </a:blipFill>
            </p:spPr>
            <p:txBody>
              <a:bodyPr/>
              <a:lstStyle/>
              <a:p>
                <a:r>
                  <a:rPr lang="en-US">
                    <a:noFill/>
                  </a:rPr>
                  <a:t> </a:t>
                </a:r>
              </a:p>
            </p:txBody>
          </p:sp>
        </mc:Fallback>
      </mc:AlternateContent>
    </p:spTree>
    <p:extLst>
      <p:ext uri="{BB962C8B-B14F-4D97-AF65-F5344CB8AC3E}">
        <p14:creationId xmlns:p14="http://schemas.microsoft.com/office/powerpoint/2010/main" val="457059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67518-C5A1-F93C-87B8-7A8C1C19C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95E25-8E29-D209-5DB3-CDF9C680BB4C}"/>
              </a:ext>
            </a:extLst>
          </p:cNvPr>
          <p:cNvSpPr>
            <a:spLocks noGrp="1"/>
          </p:cNvSpPr>
          <p:nvPr>
            <p:ph type="title"/>
          </p:nvPr>
        </p:nvSpPr>
        <p:spPr/>
        <p:txBody>
          <a:bodyPr/>
          <a:lstStyle/>
          <a:p>
            <a:r>
              <a:rPr lang="en-US" dirty="0"/>
              <a:t>Constraints - basics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44D688-5C3C-3284-7AC6-9D92C9FBD0AB}"/>
                  </a:ext>
                </a:extLst>
              </p:cNvPr>
              <p:cNvSpPr>
                <a:spLocks noGrp="1"/>
              </p:cNvSpPr>
              <p:nvPr>
                <p:ph idx="1"/>
              </p:nvPr>
            </p:nvSpPr>
            <p:spPr/>
            <p:txBody>
              <a:bodyPr/>
              <a:lstStyle/>
              <a:p>
                <a:pPr marL="0" indent="0">
                  <a:buNone/>
                </a:pPr>
                <a:r>
                  <a:rPr lang="en-US" dirty="0"/>
                  <a:t>Generation capacity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endParaRPr lang="en-US" dirty="0"/>
              </a:p>
              <a:p>
                <a:pPr marL="0" indent="0">
                  <a:buNone/>
                </a:pPr>
                <a:r>
                  <a:rPr lang="en-US" dirty="0"/>
                  <a:t>Demand must be met:</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h</m:t>
                      </m:r>
                    </m:oMath>
                  </m:oMathPara>
                </a14:m>
                <a:endParaRPr lang="en-US" dirty="0"/>
              </a:p>
            </p:txBody>
          </p:sp>
        </mc:Choice>
        <mc:Fallback xmlns="">
          <p:sp>
            <p:nvSpPr>
              <p:cNvPr id="3" name="Content Placeholder 2">
                <a:extLst>
                  <a:ext uri="{FF2B5EF4-FFF2-40B4-BE49-F238E27FC236}">
                    <a16:creationId xmlns:a16="http://schemas.microsoft.com/office/drawing/2014/main" id="{0D44D688-5C3C-3284-7AC6-9D92C9FBD0AB}"/>
                  </a:ext>
                </a:extLst>
              </p:cNvPr>
              <p:cNvSpPr>
                <a:spLocks noGrp="1" noRot="1" noChangeAspect="1" noMove="1" noResize="1" noEditPoints="1" noAdjustHandles="1" noChangeArrowheads="1" noChangeShapeType="1" noTextEdit="1"/>
              </p:cNvSpPr>
              <p:nvPr>
                <p:ph idx="1"/>
              </p:nvPr>
            </p:nvSpPr>
            <p:spPr>
              <a:blipFill>
                <a:blip r:embed="rId2"/>
                <a:stretch>
                  <a:fillRect l="-1206" t="-2326" b="-25581"/>
                </a:stretch>
              </a:blipFill>
            </p:spPr>
            <p:txBody>
              <a:bodyPr/>
              <a:lstStyle/>
              <a:p>
                <a:r>
                  <a:rPr lang="en-US">
                    <a:noFill/>
                  </a:rPr>
                  <a:t> </a:t>
                </a:r>
              </a:p>
            </p:txBody>
          </p:sp>
        </mc:Fallback>
      </mc:AlternateContent>
    </p:spTree>
    <p:extLst>
      <p:ext uri="{BB962C8B-B14F-4D97-AF65-F5344CB8AC3E}">
        <p14:creationId xmlns:p14="http://schemas.microsoft.com/office/powerpoint/2010/main" val="2884562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48A9F-CE94-05DF-600C-080BB584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EF253-2E5E-5F7C-9C19-9022ACB9DD30}"/>
              </a:ext>
            </a:extLst>
          </p:cNvPr>
          <p:cNvSpPr>
            <a:spLocks noGrp="1"/>
          </p:cNvSpPr>
          <p:nvPr>
            <p:ph type="title"/>
          </p:nvPr>
        </p:nvSpPr>
        <p:spPr/>
        <p:txBody>
          <a:bodyPr/>
          <a:lstStyle/>
          <a:p>
            <a:r>
              <a:rPr lang="en-US" dirty="0"/>
              <a:t>Constraints – Mass-based Policies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EAFE8DB-4038-F6B1-7B6F-BC33BEAEBDFA}"/>
                  </a:ext>
                </a:extLst>
              </p:cNvPr>
              <p:cNvSpPr>
                <a:spLocks noGrp="1"/>
              </p:cNvSpPr>
              <p:nvPr>
                <p:ph idx="1"/>
              </p:nvPr>
            </p:nvSpPr>
            <p:spPr/>
            <p:txBody>
              <a:bodyPr>
                <a:normAutofit/>
              </a:bodyPr>
              <a:lstStyle/>
              <a:p>
                <a:pPr marL="0" indent="0">
                  <a:buNone/>
                </a:pPr>
                <a:r>
                  <a:rPr lang="en-US" dirty="0"/>
                  <a:t>State-level emissions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𝑠</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sub>
                        <m:sup>
                          <m:r>
                            <a:rPr lang="en-US" b="0" i="1" smtClean="0">
                              <a:latin typeface="Cambria Math" panose="02040503050406030204" pitchFamily="18" charset="0"/>
                            </a:rPr>
                            <m:t>𝜙</m:t>
                          </m:r>
                        </m:sup>
                      </m:sSubSup>
                      <m:r>
                        <a:rPr lang="en-US" b="0" i="1" smtClean="0">
                          <a:latin typeface="Cambria Math" panose="02040503050406030204" pitchFamily="18" charset="0"/>
                        </a:rPr>
                        <m:t>  </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𝑠</m:t>
                          </m:r>
                        </m:sub>
                      </m:sSub>
                    </m:oMath>
                  </m:oMathPara>
                </a14:m>
                <a:endParaRPr lang="en-US" dirty="0"/>
              </a:p>
              <a:p>
                <a:pPr marL="0" indent="0">
                  <a:buNone/>
                </a:pPr>
                <a:endParaRPr lang="en-US" dirty="0"/>
              </a:p>
              <a:p>
                <a:pPr marL="0" indent="0">
                  <a:buNone/>
                </a:pPr>
                <a:r>
                  <a:rPr lang="en-US" dirty="0"/>
                  <a:t>Combined state emissions limit:</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Ψ</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  </m:t>
                      </m:r>
                    </m:oMath>
                  </m:oMathPara>
                </a14:m>
                <a:endParaRPr lang="en-US" dirty="0"/>
              </a:p>
            </p:txBody>
          </p:sp>
        </mc:Choice>
        <mc:Fallback>
          <p:sp>
            <p:nvSpPr>
              <p:cNvPr id="3" name="Content Placeholder 2">
                <a:extLst>
                  <a:ext uri="{FF2B5EF4-FFF2-40B4-BE49-F238E27FC236}">
                    <a16:creationId xmlns:a16="http://schemas.microsoft.com/office/drawing/2014/main" id="{5EAFE8DB-4038-F6B1-7B6F-BC33BEAEBDFA}"/>
                  </a:ext>
                </a:extLst>
              </p:cNvPr>
              <p:cNvSpPr>
                <a:spLocks noGrp="1" noRot="1" noChangeAspect="1" noMove="1" noResize="1" noEditPoints="1" noAdjustHandles="1" noChangeArrowheads="1" noChangeShapeType="1" noTextEdit="1"/>
              </p:cNvSpPr>
              <p:nvPr>
                <p:ph idx="1"/>
              </p:nvPr>
            </p:nvSpPr>
            <p:spPr>
              <a:blipFill>
                <a:blip r:embed="rId2"/>
                <a:stretch>
                  <a:fillRect l="-1206" t="-27326" b="-26744"/>
                </a:stretch>
              </a:blipFill>
            </p:spPr>
            <p:txBody>
              <a:bodyPr/>
              <a:lstStyle/>
              <a:p>
                <a:r>
                  <a:rPr lang="en-US">
                    <a:noFill/>
                  </a:rPr>
                  <a:t> </a:t>
                </a:r>
              </a:p>
            </p:txBody>
          </p:sp>
        </mc:Fallback>
      </mc:AlternateContent>
    </p:spTree>
    <p:extLst>
      <p:ext uri="{BB962C8B-B14F-4D97-AF65-F5344CB8AC3E}">
        <p14:creationId xmlns:p14="http://schemas.microsoft.com/office/powerpoint/2010/main" val="3846219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43EAE-4910-3793-9B1A-80A88A993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52D61-DFBF-964A-ECE5-64E6EF885C28}"/>
              </a:ext>
            </a:extLst>
          </p:cNvPr>
          <p:cNvSpPr>
            <a:spLocks noGrp="1"/>
          </p:cNvSpPr>
          <p:nvPr>
            <p:ph type="title"/>
          </p:nvPr>
        </p:nvSpPr>
        <p:spPr/>
        <p:txBody>
          <a:bodyPr/>
          <a:lstStyle/>
          <a:p>
            <a:r>
              <a:rPr lang="en-US" dirty="0"/>
              <a:t>Constraints – Rate-based Policies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DD6F45-A134-337D-29F2-742DED58A9C1}"/>
                  </a:ext>
                </a:extLst>
              </p:cNvPr>
              <p:cNvSpPr>
                <a:spLocks noGrp="1"/>
              </p:cNvSpPr>
              <p:nvPr>
                <p:ph idx="1"/>
              </p:nvPr>
            </p:nvSpPr>
            <p:spPr/>
            <p:txBody>
              <a:bodyPr>
                <a:normAutofit/>
              </a:bodyPr>
              <a:lstStyle/>
              <a:p>
                <a:pPr marL="0" indent="0">
                  <a:buNone/>
                </a:pPr>
                <a:r>
                  <a:rPr lang="en-US" dirty="0"/>
                  <a:t>State-level emissions rate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den>
                      </m:f>
                      <m:r>
                        <a:rPr lang="en-US" b="0" i="1" smtClean="0">
                          <a:latin typeface="Cambria Math" panose="02040503050406030204" pitchFamily="18" charset="0"/>
                        </a:rPr>
                        <m:t>  </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sub>
                        <m:sup>
                          <m:r>
                            <a:rPr lang="en-US" b="0" i="1" smtClean="0">
                              <a:latin typeface="Cambria Math" panose="02040503050406030204" pitchFamily="18" charset="0"/>
                            </a:rPr>
                            <m:t>𝜙</m:t>
                          </m:r>
                        </m:sup>
                      </m:sSubSup>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𝑠</m:t>
                          </m:r>
                        </m:sub>
                      </m:sSub>
                    </m:oMath>
                  </m:oMathPara>
                </a14:m>
                <a:endParaRPr lang="en-US" dirty="0"/>
              </a:p>
              <a:p>
                <a:pPr marL="0" indent="0">
                  <a:buNone/>
                </a:pPr>
                <a:endParaRPr lang="en-US" dirty="0"/>
              </a:p>
              <a:p>
                <a:pPr marL="0" indent="0">
                  <a:buNone/>
                </a:pPr>
                <a:r>
                  <a:rPr lang="en-US" dirty="0"/>
                  <a:t>Combined state emissions rate limit:</a:t>
                </a:r>
              </a:p>
              <a:p>
                <a:pPr marL="0" indent="0">
                  <a:buNone/>
                </a:pPr>
                <a14:m>
                  <m:oMathPara xmlns:m="http://schemas.openxmlformats.org/officeDocument/2006/math">
                    <m:oMathParaPr>
                      <m:jc m:val="centerGroup"/>
                    </m:oMathParaPr>
                    <m:oMath xmlns:m="http://schemas.openxmlformats.org/officeDocument/2006/math">
                      <m:r>
                        <m:rPr>
                          <m:sty m:val="p"/>
                        </m:rPr>
                        <a:rPr lang="en-US" i="0" smtClean="0">
                          <a:latin typeface="Cambria Math" panose="02040503050406030204" pitchFamily="18" charset="0"/>
                        </a:rPr>
                        <m:t>Φ</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𝑣</m:t>
                              </m:r>
                            </m:sub>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sub>
                              </m:sSub>
                            </m:e>
                          </m:nary>
                        </m:den>
                      </m:f>
                      <m:r>
                        <a:rPr lang="en-US" b="0" i="1" smtClean="0">
                          <a:latin typeface="Cambria Math" panose="02040503050406030204" pitchFamily="18" charset="0"/>
                        </a:rPr>
                        <m:t>  </m:t>
                      </m:r>
                    </m:oMath>
                  </m:oMathPara>
                </a14:m>
                <a:endParaRPr lang="en-US" dirty="0"/>
              </a:p>
            </p:txBody>
          </p:sp>
        </mc:Choice>
        <mc:Fallback>
          <p:sp>
            <p:nvSpPr>
              <p:cNvPr id="3" name="Content Placeholder 2">
                <a:extLst>
                  <a:ext uri="{FF2B5EF4-FFF2-40B4-BE49-F238E27FC236}">
                    <a16:creationId xmlns:a16="http://schemas.microsoft.com/office/drawing/2014/main" id="{B0DD6F45-A134-337D-29F2-742DED58A9C1}"/>
                  </a:ext>
                </a:extLst>
              </p:cNvPr>
              <p:cNvSpPr>
                <a:spLocks noGrp="1" noRot="1" noChangeAspect="1" noMove="1" noResize="1" noEditPoints="1" noAdjustHandles="1" noChangeArrowheads="1" noChangeShapeType="1" noTextEdit="1"/>
              </p:cNvSpPr>
              <p:nvPr>
                <p:ph idx="1"/>
              </p:nvPr>
            </p:nvSpPr>
            <p:spPr>
              <a:blipFill>
                <a:blip r:embed="rId2"/>
                <a:stretch>
                  <a:fillRect l="-1206" t="-9012"/>
                </a:stretch>
              </a:blipFill>
            </p:spPr>
            <p:txBody>
              <a:bodyPr/>
              <a:lstStyle/>
              <a:p>
                <a:r>
                  <a:rPr lang="en-US">
                    <a:noFill/>
                  </a:rPr>
                  <a:t> </a:t>
                </a:r>
              </a:p>
            </p:txBody>
          </p:sp>
        </mc:Fallback>
      </mc:AlternateContent>
    </p:spTree>
    <p:extLst>
      <p:ext uri="{BB962C8B-B14F-4D97-AF65-F5344CB8AC3E}">
        <p14:creationId xmlns:p14="http://schemas.microsoft.com/office/powerpoint/2010/main" val="474062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2F09C-B6C9-D10E-63C0-74D58A0C7428}"/>
              </a:ext>
            </a:extLst>
          </p:cNvPr>
          <p:cNvSpPr>
            <a:spLocks noGrp="1"/>
          </p:cNvSpPr>
          <p:nvPr>
            <p:ph type="title"/>
          </p:nvPr>
        </p:nvSpPr>
        <p:spPr/>
        <p:txBody>
          <a:bodyPr/>
          <a:lstStyle/>
          <a:p>
            <a:r>
              <a:rPr lang="en-US" dirty="0"/>
              <a:t>Constraints – “unit commitment”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CBE7F2-AAC4-6866-0F55-31A660397599}"/>
                  </a:ext>
                </a:extLst>
              </p:cNvPr>
              <p:cNvSpPr>
                <a:spLocks noGrp="1"/>
              </p:cNvSpPr>
              <p:nvPr>
                <p:ph idx="1"/>
              </p:nvPr>
            </p:nvSpPr>
            <p:spPr/>
            <p:txBody>
              <a:bodyPr/>
              <a:lstStyle/>
              <a:p>
                <a:pPr marL="0" indent="0">
                  <a:buNone/>
                </a:pPr>
                <a:r>
                  <a:rPr lang="en-US" dirty="0"/>
                  <a:t>Similar to before…</a:t>
                </a:r>
              </a:p>
              <a:p>
                <a:pPr marL="0" indent="0">
                  <a:buNone/>
                </a:pPr>
                <a:endParaRPr lang="en-US" dirty="0"/>
              </a:p>
              <a:p>
                <a:pPr marL="0" indent="0">
                  <a:buNone/>
                </a:pPr>
                <a:r>
                  <a:rPr lang="en-US" dirty="0"/>
                  <a:t>Lower bound:</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r>
                  <a:rPr lang="en-US" dirty="0"/>
                  <a:t>Upper bound:</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7CBE7F2-AAC4-6866-0F55-31A660397599}"/>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231147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6461-4589-A2A0-F951-A1B9206BAEB9}"/>
              </a:ext>
            </a:extLst>
          </p:cNvPr>
          <p:cNvSpPr>
            <a:spLocks noGrp="1"/>
          </p:cNvSpPr>
          <p:nvPr>
            <p:ph type="title"/>
          </p:nvPr>
        </p:nvSpPr>
        <p:spPr/>
        <p:txBody>
          <a:bodyPr/>
          <a:lstStyle/>
          <a:p>
            <a:r>
              <a:rPr lang="en-US" dirty="0"/>
              <a:t>Let’s code this up in GAMS…</a:t>
            </a:r>
          </a:p>
        </p:txBody>
      </p:sp>
      <p:sp>
        <p:nvSpPr>
          <p:cNvPr id="3" name="Content Placeholder 2">
            <a:extLst>
              <a:ext uri="{FF2B5EF4-FFF2-40B4-BE49-F238E27FC236}">
                <a16:creationId xmlns:a16="http://schemas.microsoft.com/office/drawing/2014/main" id="{6EC74159-90AC-72A3-7AE8-C454D1F45030}"/>
              </a:ext>
            </a:extLst>
          </p:cNvPr>
          <p:cNvSpPr>
            <a:spLocks noGrp="1"/>
          </p:cNvSpPr>
          <p:nvPr>
            <p:ph idx="1"/>
          </p:nvPr>
        </p:nvSpPr>
        <p:spPr/>
        <p:txBody>
          <a:bodyPr>
            <a:normAutofit lnSpcReduction="10000"/>
          </a:bodyPr>
          <a:lstStyle/>
          <a:p>
            <a:r>
              <a:rPr lang="en-US" dirty="0"/>
              <a:t>Notes to self…</a:t>
            </a:r>
          </a:p>
          <a:p>
            <a:r>
              <a:rPr lang="en-US" dirty="0"/>
              <a:t>Add on linear demand based on reference/endogenous price</a:t>
            </a:r>
          </a:p>
          <a:p>
            <a:r>
              <a:rPr lang="en-US" dirty="0"/>
              <a:t>Sparse matrix construction:</a:t>
            </a:r>
          </a:p>
          <a:p>
            <a:pPr lvl="1"/>
            <a:r>
              <a:rPr lang="en-US" dirty="0"/>
              <a:t>Intentionally miss a conditional</a:t>
            </a:r>
          </a:p>
          <a:p>
            <a:r>
              <a:rPr lang="en-US" dirty="0"/>
              <a:t>Running policies for:</a:t>
            </a:r>
          </a:p>
          <a:p>
            <a:pPr lvl="1"/>
            <a:r>
              <a:rPr lang="en-US" dirty="0"/>
              <a:t>Mass-based limit</a:t>
            </a:r>
          </a:p>
          <a:p>
            <a:pPr lvl="1"/>
            <a:r>
              <a:rPr lang="en-US" dirty="0"/>
              <a:t>Rate-based limit</a:t>
            </a:r>
          </a:p>
          <a:p>
            <a:pPr lvl="1"/>
            <a:r>
              <a:rPr lang="en-US" dirty="0"/>
              <a:t>Traded mass-based limit</a:t>
            </a:r>
          </a:p>
          <a:p>
            <a:pPr lvl="1"/>
            <a:r>
              <a:rPr lang="en-US" dirty="0"/>
              <a:t>Traded rate-based limit</a:t>
            </a:r>
          </a:p>
          <a:p>
            <a:pPr lvl="1"/>
            <a:r>
              <a:rPr lang="en-US" dirty="0"/>
              <a:t>… with and w/o endogenous demand</a:t>
            </a:r>
          </a:p>
        </p:txBody>
      </p:sp>
    </p:spTree>
    <p:extLst>
      <p:ext uri="{BB962C8B-B14F-4D97-AF65-F5344CB8AC3E}">
        <p14:creationId xmlns:p14="http://schemas.microsoft.com/office/powerpoint/2010/main" val="2966331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8B4F-1707-20DA-27F7-7E10F984E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108F1-34B8-3E5A-DC8C-6FAAC9F144BD}"/>
              </a:ext>
            </a:extLst>
          </p:cNvPr>
          <p:cNvSpPr>
            <a:spLocks noGrp="1"/>
          </p:cNvSpPr>
          <p:nvPr>
            <p:ph type="title"/>
          </p:nvPr>
        </p:nvSpPr>
        <p:spPr/>
        <p:txBody>
          <a:bodyPr/>
          <a:lstStyle/>
          <a:p>
            <a:r>
              <a:rPr lang="en-US" dirty="0"/>
              <a:t>Meme [III]</a:t>
            </a:r>
          </a:p>
        </p:txBody>
      </p:sp>
      <p:pic>
        <p:nvPicPr>
          <p:cNvPr id="4" name="Picture 3" descr="A person wearing sunglasses and a white jacket&#10;&#10;Description automatically generated">
            <a:extLst>
              <a:ext uri="{FF2B5EF4-FFF2-40B4-BE49-F238E27FC236}">
                <a16:creationId xmlns:a16="http://schemas.microsoft.com/office/drawing/2014/main" id="{5342A450-687C-104F-8AC9-4C4B382EAAC7}"/>
              </a:ext>
            </a:extLst>
          </p:cNvPr>
          <p:cNvPicPr>
            <a:picLocks noChangeAspect="1"/>
          </p:cNvPicPr>
          <p:nvPr/>
        </p:nvPicPr>
        <p:blipFill>
          <a:blip r:embed="rId2"/>
          <a:stretch>
            <a:fillRect/>
          </a:stretch>
        </p:blipFill>
        <p:spPr>
          <a:xfrm>
            <a:off x="4469632" y="0"/>
            <a:ext cx="5797153" cy="6858000"/>
          </a:xfrm>
          <a:prstGeom prst="rect">
            <a:avLst/>
          </a:prstGeom>
        </p:spPr>
      </p:pic>
    </p:spTree>
    <p:extLst>
      <p:ext uri="{BB962C8B-B14F-4D97-AF65-F5344CB8AC3E}">
        <p14:creationId xmlns:p14="http://schemas.microsoft.com/office/powerpoint/2010/main" val="2694019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E6A3A-8123-D376-24CB-780A38ED3D89}"/>
              </a:ext>
            </a:extLst>
          </p:cNvPr>
          <p:cNvSpPr>
            <a:spLocks noGrp="1"/>
          </p:cNvSpPr>
          <p:nvPr>
            <p:ph type="title"/>
          </p:nvPr>
        </p:nvSpPr>
        <p:spPr/>
        <p:txBody>
          <a:bodyPr/>
          <a:lstStyle/>
          <a:p>
            <a:r>
              <a:rPr lang="en-US" dirty="0"/>
              <a:t>Investment – overview/ramblings</a:t>
            </a:r>
          </a:p>
        </p:txBody>
      </p:sp>
      <p:sp>
        <p:nvSpPr>
          <p:cNvPr id="3" name="Content Placeholder 2">
            <a:extLst>
              <a:ext uri="{FF2B5EF4-FFF2-40B4-BE49-F238E27FC236}">
                <a16:creationId xmlns:a16="http://schemas.microsoft.com/office/drawing/2014/main" id="{2E5D3C7D-ECC3-2A85-048D-FDBA27042ECF}"/>
              </a:ext>
            </a:extLst>
          </p:cNvPr>
          <p:cNvSpPr>
            <a:spLocks noGrp="1"/>
          </p:cNvSpPr>
          <p:nvPr>
            <p:ph idx="1"/>
          </p:nvPr>
        </p:nvSpPr>
        <p:spPr>
          <a:xfrm>
            <a:off x="838200" y="1825625"/>
            <a:ext cx="10515600" cy="4819724"/>
          </a:xfrm>
        </p:spPr>
        <p:txBody>
          <a:bodyPr>
            <a:normAutofit/>
          </a:bodyPr>
          <a:lstStyle/>
          <a:p>
            <a:r>
              <a:rPr lang="en-US" dirty="0"/>
              <a:t>Big decision: myopic vs intertemporal</a:t>
            </a:r>
          </a:p>
          <a:p>
            <a:pPr lvl="1"/>
            <a:r>
              <a:rPr lang="en-US" dirty="0"/>
              <a:t>Myopic: no foresight</a:t>
            </a:r>
          </a:p>
          <a:p>
            <a:pPr lvl="1"/>
            <a:r>
              <a:rPr lang="en-US" dirty="0"/>
              <a:t>‘Window’ : limited foresight</a:t>
            </a:r>
          </a:p>
          <a:p>
            <a:pPr lvl="1"/>
            <a:r>
              <a:rPr lang="en-US" dirty="0"/>
              <a:t>Intertemporal: full foresight</a:t>
            </a:r>
          </a:p>
          <a:p>
            <a:r>
              <a:rPr lang="en-US" dirty="0"/>
              <a:t>Can write as a general setup that allows for all three</a:t>
            </a:r>
          </a:p>
          <a:p>
            <a:r>
              <a:rPr lang="en-US" dirty="0"/>
              <a:t>Choice will determine how you calculate the discount/present value factor (PVF) and distinguishing between capital (k) and operations (v)</a:t>
            </a:r>
          </a:p>
          <a:p>
            <a:r>
              <a:rPr lang="en-US" dirty="0"/>
              <a:t>Alternatively, can represent as annualized cash flow/balance</a:t>
            </a:r>
          </a:p>
        </p:txBody>
      </p:sp>
    </p:spTree>
    <p:extLst>
      <p:ext uri="{BB962C8B-B14F-4D97-AF65-F5344CB8AC3E}">
        <p14:creationId xmlns:p14="http://schemas.microsoft.com/office/powerpoint/2010/main" val="4128087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EE66-A0F6-2F2F-E285-8C6CBA5D3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E5B9D-C4C4-93C9-7E6F-8F13E5248607}"/>
              </a:ext>
            </a:extLst>
          </p:cNvPr>
          <p:cNvSpPr>
            <a:spLocks noGrp="1"/>
          </p:cNvSpPr>
          <p:nvPr>
            <p:ph type="title"/>
          </p:nvPr>
        </p:nvSpPr>
        <p:spPr/>
        <p:txBody>
          <a:bodyPr/>
          <a:lstStyle/>
          <a:p>
            <a:r>
              <a:rPr lang="en-US" dirty="0"/>
              <a:t>Investment – terminal conditions</a:t>
            </a:r>
          </a:p>
        </p:txBody>
      </p:sp>
      <p:sp>
        <p:nvSpPr>
          <p:cNvPr id="3" name="Content Placeholder 2">
            <a:extLst>
              <a:ext uri="{FF2B5EF4-FFF2-40B4-BE49-F238E27FC236}">
                <a16:creationId xmlns:a16="http://schemas.microsoft.com/office/drawing/2014/main" id="{AE36B7B0-E6FC-ACD0-6B05-7B7D1CED7293}"/>
              </a:ext>
            </a:extLst>
          </p:cNvPr>
          <p:cNvSpPr>
            <a:spLocks noGrp="1"/>
          </p:cNvSpPr>
          <p:nvPr>
            <p:ph idx="1"/>
          </p:nvPr>
        </p:nvSpPr>
        <p:spPr>
          <a:xfrm>
            <a:off x="838200" y="1335506"/>
            <a:ext cx="10515600" cy="5305926"/>
          </a:xfrm>
        </p:spPr>
        <p:txBody>
          <a:bodyPr>
            <a:normAutofit/>
          </a:bodyPr>
          <a:lstStyle/>
          <a:p>
            <a:r>
              <a:rPr lang="en-US" b="1" i="1" dirty="0"/>
              <a:t>Terminal conditions</a:t>
            </a:r>
            <a:r>
              <a:rPr lang="en-US" dirty="0"/>
              <a:t>: what happens when time ends</a:t>
            </a:r>
          </a:p>
          <a:p>
            <a:r>
              <a:rPr lang="en-US" dirty="0"/>
              <a:t>For myopic, need to weight by a certain number of years. For example, I’m choosing investment now and looking for a payback in the next X years</a:t>
            </a:r>
          </a:p>
          <a:p>
            <a:r>
              <a:rPr lang="en-US" dirty="0"/>
              <a:t>For intertemporal/window, four options:</a:t>
            </a:r>
          </a:p>
          <a:p>
            <a:pPr lvl="1"/>
            <a:r>
              <a:rPr lang="en-US" dirty="0"/>
              <a:t>Do nothing – a lot of models do this (but it is wrong)</a:t>
            </a:r>
          </a:p>
          <a:p>
            <a:pPr lvl="1"/>
            <a:r>
              <a:rPr lang="en-US" dirty="0"/>
              <a:t>Weight the last year(s) similar to a myopic solve - easy</a:t>
            </a:r>
          </a:p>
          <a:p>
            <a:pPr lvl="1"/>
            <a:r>
              <a:rPr lang="en-US" dirty="0"/>
              <a:t>Solve to T+X years, cut solution to T – also wrong, but convenient</a:t>
            </a:r>
          </a:p>
          <a:p>
            <a:pPr lvl="1"/>
            <a:r>
              <a:rPr lang="en-US" dirty="0"/>
              <a:t>Salvage value of investment – complicated (sometimes)</a:t>
            </a:r>
          </a:p>
          <a:p>
            <a:pPr lvl="1"/>
            <a:r>
              <a:rPr lang="en-US" dirty="0"/>
              <a:t>Barr-Manne terminal investment condition..</a:t>
            </a:r>
          </a:p>
          <a:p>
            <a:pPr lvl="2"/>
            <a:r>
              <a:rPr lang="en-US" dirty="0"/>
              <a:t>Basically: make enough investment in the terminal period to sustain the near future</a:t>
            </a:r>
          </a:p>
          <a:p>
            <a:pPr lvl="2"/>
            <a:r>
              <a:rPr lang="en-US" dirty="0"/>
              <a:t>Difficult when you have many technologies</a:t>
            </a:r>
          </a:p>
          <a:p>
            <a:pPr lvl="2"/>
            <a:r>
              <a:rPr lang="en-US" dirty="0"/>
              <a:t>Covered more in the Ramsey model</a:t>
            </a:r>
          </a:p>
        </p:txBody>
      </p:sp>
    </p:spTree>
    <p:extLst>
      <p:ext uri="{BB962C8B-B14F-4D97-AF65-F5344CB8AC3E}">
        <p14:creationId xmlns:p14="http://schemas.microsoft.com/office/powerpoint/2010/main" val="837359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76B7-6AD7-5C98-8FA9-95C0EF910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ACE8B-FE03-F704-461B-A3D9BE81E895}"/>
              </a:ext>
            </a:extLst>
          </p:cNvPr>
          <p:cNvSpPr>
            <a:spLocks noGrp="1"/>
          </p:cNvSpPr>
          <p:nvPr>
            <p:ph type="title"/>
          </p:nvPr>
        </p:nvSpPr>
        <p:spPr/>
        <p:txBody>
          <a:bodyPr/>
          <a:lstStyle/>
          <a:p>
            <a:r>
              <a:rPr lang="en-US" dirty="0"/>
              <a:t>General investment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1E778C-07AE-7E5D-A493-370B834A65D2}"/>
                  </a:ext>
                </a:extLst>
              </p:cNvPr>
              <p:cNvSpPr>
                <a:spLocks noGrp="1"/>
              </p:cNvSpPr>
              <p:nvPr>
                <p:ph idx="1"/>
              </p:nvPr>
            </p:nvSpPr>
            <p:spPr>
              <a:xfrm>
                <a:off x="838200" y="1371600"/>
                <a:ext cx="9881937" cy="5329990"/>
              </a:xfrm>
            </p:spPr>
            <p:txBody>
              <a:bodyPr>
                <a:normAutofit fontScale="77500" lnSpcReduction="20000"/>
              </a:bodyPr>
              <a:lstStyle/>
              <a:p>
                <a:r>
                  <a:rPr lang="en-US" dirty="0"/>
                  <a:t>Indices:</a:t>
                </a:r>
              </a:p>
              <a:p>
                <a:pPr lvl="1"/>
                <a14:m>
                  <m:oMath xmlns:m="http://schemas.openxmlformats.org/officeDocument/2006/math">
                    <m:r>
                      <a:rPr lang="en-US" b="0" i="1" smtClean="0">
                        <a:latin typeface="Cambria Math" panose="02040503050406030204" pitchFamily="18" charset="0"/>
                      </a:rPr>
                      <m:t>𝑖</m:t>
                    </m:r>
                  </m:oMath>
                </a14:m>
                <a:r>
                  <a:rPr lang="en-US" dirty="0"/>
                  <a:t>: technology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3,…</m:t>
                        </m:r>
                      </m:e>
                    </m:d>
                  </m:oMath>
                </a14:m>
                <a:endParaRPr lang="en-US" b="0" dirty="0"/>
              </a:p>
              <a:p>
                <a:pPr lvl="1"/>
                <a14:m>
                  <m:oMath xmlns:m="http://schemas.openxmlformats.org/officeDocument/2006/math">
                    <m:r>
                      <a:rPr lang="en-US" b="0" i="1" smtClean="0">
                        <a:latin typeface="Cambria Math" panose="02040503050406030204" pitchFamily="18" charset="0"/>
                      </a:rPr>
                      <m:t>𝑡</m:t>
                    </m:r>
                  </m:oMath>
                </a14:m>
                <a:r>
                  <a:rPr lang="en-US" dirty="0"/>
                  <a:t>: time/year </a:t>
                </a:r>
                <a14:m>
                  <m:oMath xmlns:m="http://schemas.openxmlformats.org/officeDocument/2006/math">
                    <m:r>
                      <a:rPr lang="en-US" b="0" i="1" smtClean="0">
                        <a:latin typeface="Cambria Math" panose="02040503050406030204" pitchFamily="18" charset="0"/>
                      </a:rPr>
                      <m:t>∈{2024, 2025, …}</m:t>
                    </m:r>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a14:m>
                <a:r>
                  <a:rPr lang="en-US" dirty="0"/>
                  <a:t>: modeled year(s)</a:t>
                </a:r>
              </a:p>
              <a:p>
                <a:endParaRPr lang="en-US" dirty="0"/>
              </a:p>
              <a:p>
                <a:r>
                  <a:rPr lang="en-US" dirty="0"/>
                  <a:t>Parameters: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discount factor for capital</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discount factor for operations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oMath>
                </a14:m>
                <a:r>
                  <a:rPr lang="en-US" dirty="0"/>
                  <a:t>: cost of operations  ($ / output unit)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oMath>
                </a14:m>
                <a:r>
                  <a:rPr lang="en-US" dirty="0"/>
                  <a:t>: fixed cost of capacity ($ / unit of capacity-</a:t>
                </a:r>
                <a:r>
                  <a:rPr lang="en-US" dirty="0" err="1"/>
                  <a:t>yr</a:t>
                </a:r>
                <a:r>
                  <a:rPr lang="en-US" dirty="0"/>
                  <a: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b="0" i="1" smtClean="0">
                            <a:latin typeface="Cambria Math" panose="02040503050406030204" pitchFamily="18" charset="0"/>
                          </a:rPr>
                          <m:t>𝐼</m:t>
                        </m:r>
                      </m:sup>
                    </m:sSubSup>
                  </m:oMath>
                </a14:m>
                <a:r>
                  <a:rPr lang="en-US" dirty="0"/>
                  <a:t>: cost of investment ($ / unit of installed capacity)</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oMath>
                </a14:m>
                <a:r>
                  <a:rPr lang="en-US" dirty="0"/>
                  <a:t>: initial/exogenous capacity (output units-</a:t>
                </a:r>
                <a:r>
                  <a:rPr lang="en-US" dirty="0" err="1"/>
                  <a:t>yr</a:t>
                </a:r>
                <a:r>
                  <a:rPr lang="en-US" dirty="0"/>
                  <a:t>)</a:t>
                </a:r>
              </a:p>
              <a:p>
                <a:endParaRPr lang="en-US" dirty="0"/>
              </a:p>
              <a:p>
                <a:r>
                  <a:rPr lang="en-US" dirty="0"/>
                  <a:t>Variables: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operations (output units)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capacity (output units / year)</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investment (output units / year)</a:t>
                </a:r>
              </a:p>
            </p:txBody>
          </p:sp>
        </mc:Choice>
        <mc:Fallback xmlns="">
          <p:sp>
            <p:nvSpPr>
              <p:cNvPr id="3" name="Content Placeholder 2">
                <a:extLst>
                  <a:ext uri="{FF2B5EF4-FFF2-40B4-BE49-F238E27FC236}">
                    <a16:creationId xmlns:a16="http://schemas.microsoft.com/office/drawing/2014/main" id="{F21E778C-07AE-7E5D-A493-370B834A65D2}"/>
                  </a:ext>
                </a:extLst>
              </p:cNvPr>
              <p:cNvSpPr>
                <a:spLocks noGrp="1" noRot="1" noChangeAspect="1" noMove="1" noResize="1" noEditPoints="1" noAdjustHandles="1" noChangeArrowheads="1" noChangeShapeType="1" noTextEdit="1"/>
              </p:cNvSpPr>
              <p:nvPr>
                <p:ph idx="1"/>
              </p:nvPr>
            </p:nvSpPr>
            <p:spPr>
              <a:xfrm>
                <a:off x="838200" y="1371600"/>
                <a:ext cx="9881937" cy="5329990"/>
              </a:xfrm>
              <a:blipFill>
                <a:blip r:embed="rId2"/>
                <a:stretch>
                  <a:fillRect l="-770" t="-2381"/>
                </a:stretch>
              </a:blipFill>
            </p:spPr>
            <p:txBody>
              <a:bodyPr/>
              <a:lstStyle/>
              <a:p>
                <a:r>
                  <a:rPr lang="en-US">
                    <a:noFill/>
                  </a:rPr>
                  <a:t> </a:t>
                </a:r>
              </a:p>
            </p:txBody>
          </p:sp>
        </mc:Fallback>
      </mc:AlternateContent>
    </p:spTree>
    <p:extLst>
      <p:ext uri="{BB962C8B-B14F-4D97-AF65-F5344CB8AC3E}">
        <p14:creationId xmlns:p14="http://schemas.microsoft.com/office/powerpoint/2010/main" val="3165748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6286-C0FB-1599-95AF-90CA250CD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BB733-5DFE-56CF-6571-384BBE2BA3C5}"/>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1E43F82-8C7E-5605-9A22-7ACDBD3671A5}"/>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p:txBody>
          </p:sp>
        </mc:Choice>
        <mc:Fallback xmlns="">
          <p:sp>
            <p:nvSpPr>
              <p:cNvPr id="7" name="Content Placeholder 2">
                <a:extLst>
                  <a:ext uri="{FF2B5EF4-FFF2-40B4-BE49-F238E27FC236}">
                    <a16:creationId xmlns:a16="http://schemas.microsoft.com/office/drawing/2014/main" id="{A1E43F82-8C7E-5605-9A22-7ACDBD3671A5}"/>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1336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EE38367-7778-5ABE-7F12-80F519DEB901}"/>
              </a:ext>
            </a:extLst>
          </p:cNvPr>
          <p:cNvSpPr txBox="1"/>
          <p:nvPr/>
        </p:nvSpPr>
        <p:spPr>
          <a:xfrm>
            <a:off x="4688181" y="3967066"/>
            <a:ext cx="1931363" cy="369332"/>
          </a:xfrm>
          <a:prstGeom prst="rect">
            <a:avLst/>
          </a:prstGeom>
          <a:noFill/>
        </p:spPr>
        <p:txBody>
          <a:bodyPr wrap="none" rtlCol="0">
            <a:spAutoFit/>
          </a:bodyPr>
          <a:lstStyle/>
          <a:p>
            <a:r>
              <a:rPr lang="en-US" dirty="0"/>
              <a:t>Investment Costs</a:t>
            </a:r>
          </a:p>
        </p:txBody>
      </p:sp>
      <p:sp>
        <p:nvSpPr>
          <p:cNvPr id="9" name="TextBox 8">
            <a:extLst>
              <a:ext uri="{FF2B5EF4-FFF2-40B4-BE49-F238E27FC236}">
                <a16:creationId xmlns:a16="http://schemas.microsoft.com/office/drawing/2014/main" id="{4CBCFA3B-5A87-62FE-58F7-18F1EBEC96D2}"/>
              </a:ext>
            </a:extLst>
          </p:cNvPr>
          <p:cNvSpPr txBox="1"/>
          <p:nvPr/>
        </p:nvSpPr>
        <p:spPr>
          <a:xfrm>
            <a:off x="7158704" y="3967066"/>
            <a:ext cx="1992918" cy="369332"/>
          </a:xfrm>
          <a:prstGeom prst="rect">
            <a:avLst/>
          </a:prstGeom>
          <a:noFill/>
        </p:spPr>
        <p:txBody>
          <a:bodyPr wrap="none" rtlCol="0">
            <a:spAutoFit/>
          </a:bodyPr>
          <a:lstStyle/>
          <a:p>
            <a:r>
              <a:rPr lang="en-US" dirty="0"/>
              <a:t>Operational Costs</a:t>
            </a:r>
          </a:p>
        </p:txBody>
      </p:sp>
      <p:sp>
        <p:nvSpPr>
          <p:cNvPr id="10" name="Left Brace 9">
            <a:extLst>
              <a:ext uri="{FF2B5EF4-FFF2-40B4-BE49-F238E27FC236}">
                <a16:creationId xmlns:a16="http://schemas.microsoft.com/office/drawing/2014/main" id="{BD6A50EA-6FBD-0050-AB80-ED92DFB29324}"/>
              </a:ext>
            </a:extLst>
          </p:cNvPr>
          <p:cNvSpPr/>
          <p:nvPr/>
        </p:nvSpPr>
        <p:spPr>
          <a:xfrm rot="16200000">
            <a:off x="5515640" y="2811462"/>
            <a:ext cx="276446" cy="111110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4655671E-8F3D-96C1-85BB-ADCFF12E9951}"/>
              </a:ext>
            </a:extLst>
          </p:cNvPr>
          <p:cNvSpPr/>
          <p:nvPr/>
        </p:nvSpPr>
        <p:spPr>
          <a:xfrm rot="16200000">
            <a:off x="8016940" y="1875543"/>
            <a:ext cx="276446" cy="29633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7C1AB28-8682-8421-DA55-A998C6739D32}"/>
              </a:ext>
            </a:extLst>
          </p:cNvPr>
          <p:cNvCxnSpPr>
            <a:stCxn id="8" idx="0"/>
            <a:endCxn id="10" idx="1"/>
          </p:cNvCxnSpPr>
          <p:nvPr/>
        </p:nvCxnSpPr>
        <p:spPr>
          <a:xfrm flipV="1">
            <a:off x="5653863" y="3505236"/>
            <a:ext cx="0" cy="461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378F0E9-07FB-00AC-DFEA-0E93DDB207D4}"/>
              </a:ext>
            </a:extLst>
          </p:cNvPr>
          <p:cNvCxnSpPr/>
          <p:nvPr/>
        </p:nvCxnSpPr>
        <p:spPr>
          <a:xfrm flipV="1">
            <a:off x="8155163" y="3474179"/>
            <a:ext cx="0" cy="461830"/>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703B3F2-771E-CC2F-58D4-28D8E5CC7FFC}"/>
              </a:ext>
            </a:extLst>
          </p:cNvPr>
          <p:cNvSpPr txBox="1"/>
          <p:nvPr/>
        </p:nvSpPr>
        <p:spPr>
          <a:xfrm>
            <a:off x="2154313" y="4544768"/>
            <a:ext cx="1992918" cy="1200329"/>
          </a:xfrm>
          <a:prstGeom prst="rect">
            <a:avLst/>
          </a:prstGeom>
          <a:noFill/>
        </p:spPr>
        <p:txBody>
          <a:bodyPr wrap="square" rtlCol="0">
            <a:spAutoFit/>
          </a:bodyPr>
          <a:lstStyle/>
          <a:p>
            <a:pPr algn="ctr"/>
            <a:r>
              <a:rPr lang="en-US" dirty="0"/>
              <a:t>Modeled years – makes it easy to change temporal resolution!</a:t>
            </a:r>
          </a:p>
        </p:txBody>
      </p:sp>
      <p:cxnSp>
        <p:nvCxnSpPr>
          <p:cNvPr id="16" name="Straight Connector 15">
            <a:extLst>
              <a:ext uri="{FF2B5EF4-FFF2-40B4-BE49-F238E27FC236}">
                <a16:creationId xmlns:a16="http://schemas.microsoft.com/office/drawing/2014/main" id="{A8F41503-7B8E-391A-2958-EF759639B32B}"/>
              </a:ext>
            </a:extLst>
          </p:cNvPr>
          <p:cNvCxnSpPr>
            <a:cxnSpLocks/>
          </p:cNvCxnSpPr>
          <p:nvPr/>
        </p:nvCxnSpPr>
        <p:spPr>
          <a:xfrm flipV="1">
            <a:off x="3150772" y="3505236"/>
            <a:ext cx="1537409" cy="100847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4775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FA8C-427F-87D3-4762-FD0723117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AD313-C8ED-2A84-88A4-A290063EAD2B}"/>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E28EC6B9-1224-6463-EC62-7BAF7E6C3B5C}"/>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a:p>
                <a:pPr marL="0" indent="0">
                  <a:buFont typeface="Arial" panose="020B0604020202020204" pitchFamily="34" charset="0"/>
                  <a:buNone/>
                </a:pPr>
                <a:endParaRPr lang="en-US" dirty="0"/>
              </a:p>
              <a:p>
                <a:r>
                  <a:rPr lang="en-US" dirty="0"/>
                  <a:t>Cannot produce more than you have capacity for:</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r>
                  <a:rPr lang="en-US" dirty="0"/>
                  <a:t>Capacity is the accumulation of investment plus starting capacity:</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sub>
                          </m:sSub>
                        </m:e>
                      </m:nary>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p:txBody>
          </p:sp>
        </mc:Choice>
        <mc:Fallback xmlns="">
          <p:sp>
            <p:nvSpPr>
              <p:cNvPr id="7" name="Content Placeholder 2">
                <a:extLst>
                  <a:ext uri="{FF2B5EF4-FFF2-40B4-BE49-F238E27FC236}">
                    <a16:creationId xmlns:a16="http://schemas.microsoft.com/office/drawing/2014/main" id="{E28EC6B9-1224-6463-EC62-7BAF7E6C3B5C}"/>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23267" r="-965" b="-35396"/>
                </a:stretch>
              </a:blipFill>
            </p:spPr>
            <p:txBody>
              <a:bodyPr/>
              <a:lstStyle/>
              <a:p>
                <a:r>
                  <a:rPr lang="en-US">
                    <a:noFill/>
                  </a:rPr>
                  <a:t> </a:t>
                </a:r>
              </a:p>
            </p:txBody>
          </p:sp>
        </mc:Fallback>
      </mc:AlternateContent>
    </p:spTree>
    <p:extLst>
      <p:ext uri="{BB962C8B-B14F-4D97-AF65-F5344CB8AC3E}">
        <p14:creationId xmlns:p14="http://schemas.microsoft.com/office/powerpoint/2010/main" val="1558333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F4CAAF1-1A8E-7347-1485-6DDEBF50C657}"/>
                  </a:ext>
                </a:extLst>
              </p:cNvPr>
              <p:cNvSpPr>
                <a:spLocks noGrp="1"/>
              </p:cNvSpPr>
              <p:nvPr>
                <p:ph type="title"/>
              </p:nvPr>
            </p:nvSpPr>
            <p:spPr/>
            <p:txBody>
              <a:bodyPr/>
              <a:lstStyle/>
              <a:p>
                <a:r>
                  <a:rPr lang="en-US" dirty="0"/>
                  <a:t>Setting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p:txBody>
          </p:sp>
        </mc:Choice>
        <mc:Fallback xmlns="">
          <p:sp>
            <p:nvSpPr>
              <p:cNvPr id="2" name="Title 1">
                <a:extLst>
                  <a:ext uri="{FF2B5EF4-FFF2-40B4-BE49-F238E27FC236}">
                    <a16:creationId xmlns:a16="http://schemas.microsoft.com/office/drawing/2014/main" id="{0F4CAAF1-1A8E-7347-1485-6DDEBF50C657}"/>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263D4C-99FC-DDC2-6890-39E4C1E2EE48}"/>
                  </a:ext>
                </a:extLst>
              </p:cNvPr>
              <p:cNvSpPr>
                <a:spLocks noGrp="1"/>
              </p:cNvSpPr>
              <p:nvPr>
                <p:ph idx="1"/>
              </p:nvPr>
            </p:nvSpPr>
            <p:spPr>
              <a:xfrm>
                <a:off x="838200" y="1503947"/>
                <a:ext cx="10515600" cy="5221706"/>
              </a:xfrm>
            </p:spPr>
            <p:txBody>
              <a:bodyPr>
                <a:normAutofit fontScale="85000" lnSpcReduction="20000"/>
              </a:bodyPr>
              <a:lstStyle/>
              <a:p>
                <a:r>
                  <a:rPr lang="en-US" dirty="0"/>
                  <a:t>For intertemporal, easy:</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oMath>
                  </m:oMathPara>
                </a14:m>
                <a:endParaRPr lang="en-US" dirty="0"/>
              </a:p>
              <a:p>
                <a:pPr marL="0" indent="0">
                  <a:buNone/>
                </a:pPr>
                <a:endParaRPr lang="en-US" dirty="0"/>
              </a:p>
              <a:p>
                <a:r>
                  <a:rPr lang="en-US" dirty="0"/>
                  <a:t>However – no value in end-year investments.. Why would I buy a factory if I can only use it for a single year? few options:</a:t>
                </a:r>
              </a:p>
              <a:p>
                <a:pPr lvl="1"/>
                <a:r>
                  <a:rPr lang="en-US" dirty="0"/>
                  <a:t>Weigh operations more heavily – e.g. the last year accounts for 20 years of operating costs</a:t>
                </a:r>
              </a:p>
              <a:p>
                <a:pPr lvl="1"/>
                <a:r>
                  <a:rPr lang="en-US" dirty="0"/>
                  <a:t>Reduce costs of investment – e.g. you only need to pay for ‘T-t’ years worth of capacity</a:t>
                </a:r>
              </a:p>
              <a:p>
                <a:pPr lvl="1"/>
                <a:r>
                  <a:rPr lang="en-US" dirty="0"/>
                  <a:t>Terminal investment conditions (as explained in Ramsey model)</a:t>
                </a:r>
              </a:p>
              <a:p>
                <a:pPr marL="0" indent="0">
                  <a:buNone/>
                </a:pPr>
                <a:endParaRPr lang="en-US" dirty="0"/>
              </a:p>
              <a:p>
                <a:r>
                  <a:rPr lang="en-US" dirty="0"/>
                  <a:t>For myopic, need to adjust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to reflect the future </a:t>
                </a:r>
                <a14:m>
                  <m:oMath xmlns:m="http://schemas.openxmlformats.org/officeDocument/2006/math">
                    <m:r>
                      <a:rPr lang="en-US" b="0" i="1" smtClean="0">
                        <a:latin typeface="Cambria Math" panose="02040503050406030204" pitchFamily="18" charset="0"/>
                      </a:rPr>
                      <m:t>𝑦</m:t>
                    </m:r>
                  </m:oMath>
                </a14:m>
                <a:r>
                  <a:rPr lang="en-US" dirty="0"/>
                  <a:t> years:</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𝑦</m:t>
                          </m: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e>
                      </m:nary>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7F263D4C-99FC-DDC2-6890-39E4C1E2EE48}"/>
                  </a:ext>
                </a:extLst>
              </p:cNvPr>
              <p:cNvSpPr>
                <a:spLocks noGrp="1" noRot="1" noChangeAspect="1" noMove="1" noResize="1" noEditPoints="1" noAdjustHandles="1" noChangeArrowheads="1" noChangeShapeType="1" noTextEdit="1"/>
              </p:cNvSpPr>
              <p:nvPr>
                <p:ph idx="1"/>
              </p:nvPr>
            </p:nvSpPr>
            <p:spPr>
              <a:xfrm>
                <a:off x="838200" y="1503947"/>
                <a:ext cx="10515600" cy="5221706"/>
              </a:xfrm>
              <a:blipFill>
                <a:blip r:embed="rId3"/>
                <a:stretch>
                  <a:fillRect l="-844" t="-2670" b="-31311"/>
                </a:stretch>
              </a:blipFill>
            </p:spPr>
            <p:txBody>
              <a:bodyPr/>
              <a:lstStyle/>
              <a:p>
                <a:r>
                  <a:rPr lang="en-US">
                    <a:noFill/>
                  </a:rPr>
                  <a:t> </a:t>
                </a:r>
              </a:p>
            </p:txBody>
          </p:sp>
        </mc:Fallback>
      </mc:AlternateContent>
    </p:spTree>
    <p:extLst>
      <p:ext uri="{BB962C8B-B14F-4D97-AF65-F5344CB8AC3E}">
        <p14:creationId xmlns:p14="http://schemas.microsoft.com/office/powerpoint/2010/main" val="3920221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0B95-B222-60B3-937F-E89A67368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F3A60-1A69-028F-7FDD-671408D8F505}"/>
              </a:ext>
            </a:extLst>
          </p:cNvPr>
          <p:cNvSpPr>
            <a:spLocks noGrp="1"/>
          </p:cNvSpPr>
          <p:nvPr>
            <p:ph type="title"/>
          </p:nvPr>
        </p:nvSpPr>
        <p:spPr/>
        <p:txBody>
          <a:bodyPr/>
          <a:lstStyle/>
          <a:p>
            <a:r>
              <a:rPr lang="en-US" dirty="0"/>
              <a:t>Ramblings on endogenous retirements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AAE4D5-390E-9969-355E-770805A04951}"/>
                  </a:ext>
                </a:extLst>
              </p:cNvPr>
              <p:cNvSpPr>
                <a:spLocks noGrp="1"/>
              </p:cNvSpPr>
              <p:nvPr>
                <p:ph idx="1"/>
              </p:nvPr>
            </p:nvSpPr>
            <p:spPr>
              <a:xfrm>
                <a:off x="340242" y="1825625"/>
                <a:ext cx="11557591" cy="4351338"/>
              </a:xfrm>
            </p:spPr>
            <p:txBody>
              <a:bodyPr>
                <a:normAutofit fontScale="92500" lnSpcReduction="20000"/>
              </a:bodyPr>
              <a:lstStyle/>
              <a:p>
                <a:r>
                  <a:rPr lang="en-US" dirty="0"/>
                  <a:t>Normally, models will not include endogenous retirements, that is:</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endParaRPr lang="en-US" dirty="0"/>
              </a:p>
              <a:p>
                <a:r>
                  <a:rPr lang="en-US" dirty="0"/>
                  <a:t>Easy to give the model the ability to reduce capacity </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sup>
                          </m:sSup>
                          <m:r>
                            <a:rPr lang="en-US" i="1">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r>
                            <a:rPr lang="en-US" b="0" i="1" smtClean="0">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r>
                            <a:rPr lang="en-US" b="0" i="1" smtClean="0">
                              <a:highlight>
                                <a:srgbClr val="FFFF00"/>
                              </a:highlight>
                              <a:latin typeface="Cambria Math" panose="02040503050406030204" pitchFamily="18" charset="0"/>
                            </a:rPr>
                            <m:t>−1</m:t>
                          </m:r>
                        </m:sub>
                        <m:sup/>
                        <m:e>
                          <m:sSub>
                            <m:sSubPr>
                              <m:ctrlPr>
                                <a:rPr lang="en-US" i="1">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3AAE4D5-390E-9969-355E-770805A04951}"/>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768" t="-27616" b="-4244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5605172-9522-1B05-FFD5-4F8599A5666A}"/>
              </a:ext>
            </a:extLst>
          </p:cNvPr>
          <p:cNvSpPr txBox="1"/>
          <p:nvPr/>
        </p:nvSpPr>
        <p:spPr>
          <a:xfrm>
            <a:off x="4886571" y="6158803"/>
            <a:ext cx="2101658" cy="646331"/>
          </a:xfrm>
          <a:prstGeom prst="rect">
            <a:avLst/>
          </a:prstGeom>
          <a:noFill/>
        </p:spPr>
        <p:txBody>
          <a:bodyPr wrap="square" rtlCol="0">
            <a:spAutoFit/>
          </a:bodyPr>
          <a:lstStyle/>
          <a:p>
            <a:pPr algn="ctr"/>
            <a:r>
              <a:rPr lang="en-US" dirty="0"/>
              <a:t>Contemporaneous </a:t>
            </a:r>
          </a:p>
          <a:p>
            <a:pPr algn="ctr"/>
            <a:r>
              <a:rPr lang="en-US" dirty="0"/>
              <a:t>Investment!</a:t>
            </a:r>
          </a:p>
        </p:txBody>
      </p:sp>
      <p:sp>
        <p:nvSpPr>
          <p:cNvPr id="5" name="Left Brace 4">
            <a:extLst>
              <a:ext uri="{FF2B5EF4-FFF2-40B4-BE49-F238E27FC236}">
                <a16:creationId xmlns:a16="http://schemas.microsoft.com/office/drawing/2014/main" id="{1AB6FA44-2196-7A08-4E71-C8905B24069F}"/>
              </a:ext>
            </a:extLst>
          </p:cNvPr>
          <p:cNvSpPr/>
          <p:nvPr/>
        </p:nvSpPr>
        <p:spPr>
          <a:xfrm rot="16200000">
            <a:off x="5799380" y="5730215"/>
            <a:ext cx="276040" cy="3172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0F85C52-5E0F-DBE0-E44D-1EFCB3F8B867}"/>
              </a:ext>
            </a:extLst>
          </p:cNvPr>
          <p:cNvCxnSpPr>
            <a:cxnSpLocks/>
            <a:stCxn id="4" idx="0"/>
            <a:endCxn id="5" idx="1"/>
          </p:cNvCxnSpPr>
          <p:nvPr/>
        </p:nvCxnSpPr>
        <p:spPr>
          <a:xfrm flipV="1">
            <a:off x="5937400" y="6026838"/>
            <a:ext cx="1" cy="13196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17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5A98-6095-CC4D-C36B-5EAAD53E91B8}"/>
              </a:ext>
            </a:extLst>
          </p:cNvPr>
          <p:cNvSpPr>
            <a:spLocks noGrp="1"/>
          </p:cNvSpPr>
          <p:nvPr>
            <p:ph type="title"/>
          </p:nvPr>
        </p:nvSpPr>
        <p:spPr/>
        <p:txBody>
          <a:bodyPr/>
          <a:lstStyle/>
          <a:p>
            <a:r>
              <a:rPr lang="en-US" dirty="0"/>
              <a:t>Ramblings on investment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DAA80F-7358-7392-9103-DA635F4267A4}"/>
                  </a:ext>
                </a:extLst>
              </p:cNvPr>
              <p:cNvSpPr>
                <a:spLocks noGrp="1"/>
              </p:cNvSpPr>
              <p:nvPr>
                <p:ph idx="1"/>
              </p:nvPr>
            </p:nvSpPr>
            <p:spPr>
              <a:xfrm>
                <a:off x="340242" y="1825625"/>
                <a:ext cx="11557591" cy="4351338"/>
              </a:xfrm>
            </p:spPr>
            <p:txBody>
              <a:bodyPr>
                <a:normAutofit/>
              </a:bodyPr>
              <a:lstStyle/>
              <a:p>
                <a:r>
                  <a:rPr lang="en-US" dirty="0"/>
                  <a:t>‘Investment’ here is from a cost-minimization and societal perspective</a:t>
                </a:r>
              </a:p>
              <a:p>
                <a:endParaRPr lang="en-US" dirty="0"/>
              </a:p>
              <a:p>
                <a:r>
                  <a:rPr lang="en-US" dirty="0"/>
                  <a:t>From a business/personal perspective, need to consider:</a:t>
                </a:r>
              </a:p>
              <a:p>
                <a:pPr lvl="1"/>
                <a:r>
                  <a:rPr lang="en-US" dirty="0"/>
                  <a:t>Capital recovery factors – similar to the ratio of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a:p>
                <a:pPr lvl="1"/>
                <a:r>
                  <a:rPr lang="en-US" dirty="0"/>
                  <a:t>Market dynamics, strategy, ‘gaming’ &lt;- later in the course</a:t>
                </a:r>
              </a:p>
              <a:p>
                <a:pPr lvl="1"/>
                <a:r>
                  <a:rPr lang="en-US" dirty="0"/>
                  <a:t>Expected returns, risk appetite, …</a:t>
                </a:r>
              </a:p>
              <a:p>
                <a:pPr lvl="1"/>
                <a:endParaRPr lang="en-US" dirty="0"/>
              </a:p>
              <a:p>
                <a:r>
                  <a:rPr lang="en-US" dirty="0"/>
                  <a:t>See: Anwar et al. (2023) which does this from </a:t>
                </a:r>
              </a:p>
              <a:p>
                <a:pPr marL="0" indent="0">
                  <a:buNone/>
                </a:pPr>
                <a:r>
                  <a:rPr lang="en-US" dirty="0"/>
                  <a:t>	 an agent-based perspective</a:t>
                </a:r>
              </a:p>
            </p:txBody>
          </p:sp>
        </mc:Choice>
        <mc:Fallback xmlns="">
          <p:sp>
            <p:nvSpPr>
              <p:cNvPr id="3" name="Content Placeholder 2">
                <a:extLst>
                  <a:ext uri="{FF2B5EF4-FFF2-40B4-BE49-F238E27FC236}">
                    <a16:creationId xmlns:a16="http://schemas.microsoft.com/office/drawing/2014/main" id="{58DAA80F-7358-7392-9103-DA635F4267A4}"/>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878" t="-2326"/>
                </a:stretch>
              </a:blipFill>
            </p:spPr>
            <p:txBody>
              <a:bodyPr/>
              <a:lstStyle/>
              <a:p>
                <a:r>
                  <a:rPr lang="en-US">
                    <a:noFill/>
                  </a:rPr>
                  <a:t> </a:t>
                </a:r>
              </a:p>
            </p:txBody>
          </p:sp>
        </mc:Fallback>
      </mc:AlternateContent>
    </p:spTree>
    <p:extLst>
      <p:ext uri="{BB962C8B-B14F-4D97-AF65-F5344CB8AC3E}">
        <p14:creationId xmlns:p14="http://schemas.microsoft.com/office/powerpoint/2010/main" val="2967270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5F4F-7208-42B4-9B99-21FB432AEF53}"/>
              </a:ext>
            </a:extLst>
          </p:cNvPr>
          <p:cNvSpPr>
            <a:spLocks noGrp="1"/>
          </p:cNvSpPr>
          <p:nvPr>
            <p:ph type="title"/>
          </p:nvPr>
        </p:nvSpPr>
        <p:spPr/>
        <p:txBody>
          <a:bodyPr/>
          <a:lstStyle/>
          <a:p>
            <a:r>
              <a:rPr lang="en-US" dirty="0"/>
              <a:t>Agenda - NLPs</a:t>
            </a:r>
          </a:p>
        </p:txBody>
      </p:sp>
      <p:sp>
        <p:nvSpPr>
          <p:cNvPr id="3" name="Content Placeholder 2">
            <a:extLst>
              <a:ext uri="{FF2B5EF4-FFF2-40B4-BE49-F238E27FC236}">
                <a16:creationId xmlns:a16="http://schemas.microsoft.com/office/drawing/2014/main" id="{660B76C7-9B77-A9A8-AF9C-4E29DAC09939}"/>
              </a:ext>
            </a:extLst>
          </p:cNvPr>
          <p:cNvSpPr>
            <a:spLocks noGrp="1"/>
          </p:cNvSpPr>
          <p:nvPr>
            <p:ph idx="1"/>
          </p:nvPr>
        </p:nvSpPr>
        <p:spPr/>
        <p:txBody>
          <a:bodyPr/>
          <a:lstStyle/>
          <a:p>
            <a:r>
              <a:rPr lang="en-US" dirty="0"/>
              <a:t>Reviewing NLPs</a:t>
            </a:r>
          </a:p>
          <a:p>
            <a:r>
              <a:rPr lang="en-US" dirty="0"/>
              <a:t>Review of why we need NLPs</a:t>
            </a:r>
          </a:p>
          <a:p>
            <a:pPr lvl="1"/>
            <a:r>
              <a:rPr lang="en-US" dirty="0"/>
              <a:t>Multiple variables</a:t>
            </a:r>
          </a:p>
          <a:p>
            <a:pPr lvl="1"/>
            <a:r>
              <a:rPr lang="en-US" dirty="0"/>
              <a:t>Non-monotonic relationships (economies of scale)</a:t>
            </a:r>
          </a:p>
          <a:p>
            <a:r>
              <a:rPr lang="en-US" dirty="0"/>
              <a:t>Examples:</a:t>
            </a:r>
          </a:p>
          <a:p>
            <a:pPr lvl="1"/>
            <a:r>
              <a:rPr lang="en-US" dirty="0"/>
              <a:t>Calibrated market models of social surplus maximization</a:t>
            </a:r>
          </a:p>
          <a:p>
            <a:pPr lvl="1"/>
            <a:r>
              <a:rPr lang="en-US" dirty="0"/>
              <a:t>Utility maximization of multiple goods</a:t>
            </a:r>
          </a:p>
          <a:p>
            <a:pPr lvl="1"/>
            <a:r>
              <a:rPr lang="en-US" dirty="0"/>
              <a:t>Ramsey model</a:t>
            </a:r>
          </a:p>
          <a:p>
            <a:pPr lvl="1"/>
            <a:endParaRPr lang="en-US" dirty="0"/>
          </a:p>
        </p:txBody>
      </p:sp>
    </p:spTree>
    <p:extLst>
      <p:ext uri="{BB962C8B-B14F-4D97-AF65-F5344CB8AC3E}">
        <p14:creationId xmlns:p14="http://schemas.microsoft.com/office/powerpoint/2010/main" val="2861083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62C4-AA4C-2818-99B5-A29799BDD5BF}"/>
              </a:ext>
            </a:extLst>
          </p:cNvPr>
          <p:cNvSpPr>
            <a:spLocks noGrp="1"/>
          </p:cNvSpPr>
          <p:nvPr>
            <p:ph type="title"/>
          </p:nvPr>
        </p:nvSpPr>
        <p:spPr/>
        <p:txBody>
          <a:bodyPr/>
          <a:lstStyle/>
          <a:p>
            <a:r>
              <a:rPr lang="en-US" dirty="0"/>
              <a:t>Market models</a:t>
            </a:r>
          </a:p>
        </p:txBody>
      </p:sp>
      <p:sp>
        <p:nvSpPr>
          <p:cNvPr id="3" name="Content Placeholder 2">
            <a:extLst>
              <a:ext uri="{FF2B5EF4-FFF2-40B4-BE49-F238E27FC236}">
                <a16:creationId xmlns:a16="http://schemas.microsoft.com/office/drawing/2014/main" id="{8ECC5EB0-B94E-6656-1ABC-11980E3C6994}"/>
              </a:ext>
            </a:extLst>
          </p:cNvPr>
          <p:cNvSpPr>
            <a:spLocks noGrp="1"/>
          </p:cNvSpPr>
          <p:nvPr>
            <p:ph idx="1"/>
          </p:nvPr>
        </p:nvSpPr>
        <p:spPr/>
        <p:txBody>
          <a:bodyPr/>
          <a:lstStyle/>
          <a:p>
            <a:pPr marL="0" indent="0">
              <a:buNone/>
            </a:pPr>
            <a:r>
              <a:rPr lang="en-US" dirty="0"/>
              <a:t>Going to ramble on my experiences here…</a:t>
            </a:r>
          </a:p>
          <a:p>
            <a:r>
              <a:rPr lang="en-US" dirty="0"/>
              <a:t>University of Maine – first real research project</a:t>
            </a:r>
          </a:p>
          <a:p>
            <a:r>
              <a:rPr lang="en-US" dirty="0"/>
              <a:t>Oak Ridge National Laboratory</a:t>
            </a:r>
          </a:p>
          <a:p>
            <a:r>
              <a:rPr lang="en-US" dirty="0"/>
              <a:t>Rare earth market model</a:t>
            </a:r>
          </a:p>
          <a:p>
            <a:r>
              <a:rPr lang="en-US" dirty="0"/>
              <a:t>FINITO – fossil fuel supply curves</a:t>
            </a:r>
          </a:p>
          <a:p>
            <a:endParaRPr lang="en-US" dirty="0"/>
          </a:p>
          <a:p>
            <a:pPr marL="0" indent="0">
              <a:buNone/>
            </a:pPr>
            <a:r>
              <a:rPr lang="en-US" dirty="0"/>
              <a:t>All of these used calibrated functions from market data</a:t>
            </a:r>
          </a:p>
          <a:p>
            <a:pPr marL="0" indent="0">
              <a:buNone/>
            </a:pPr>
            <a:endParaRPr lang="en-US" dirty="0"/>
          </a:p>
        </p:txBody>
      </p:sp>
    </p:spTree>
    <p:extLst>
      <p:ext uri="{BB962C8B-B14F-4D97-AF65-F5344CB8AC3E}">
        <p14:creationId xmlns:p14="http://schemas.microsoft.com/office/powerpoint/2010/main" val="801032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A0E0-F69D-81F6-DEF7-6D68A7B78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700BF-D3B3-4498-474C-41E2F89928CE}"/>
              </a:ext>
            </a:extLst>
          </p:cNvPr>
          <p:cNvSpPr>
            <a:spLocks noGrp="1"/>
          </p:cNvSpPr>
          <p:nvPr>
            <p:ph type="title"/>
          </p:nvPr>
        </p:nvSpPr>
        <p:spPr>
          <a:xfrm>
            <a:off x="838199" y="365125"/>
            <a:ext cx="11134725" cy="1325563"/>
          </a:xfrm>
        </p:spPr>
        <p:txBody>
          <a:bodyPr/>
          <a:lstStyle/>
          <a:p>
            <a:r>
              <a:rPr lang="en-US" dirty="0"/>
              <a:t>Partial equilibrium - social surplus maximization</a:t>
            </a:r>
          </a:p>
        </p:txBody>
      </p:sp>
      <p:sp>
        <p:nvSpPr>
          <p:cNvPr id="4" name="AutoShape 2" descr="Total Surplus">
            <a:extLst>
              <a:ext uri="{FF2B5EF4-FFF2-40B4-BE49-F238E27FC236}">
                <a16:creationId xmlns:a16="http://schemas.microsoft.com/office/drawing/2014/main" id="{D1A6EB22-3F2E-6FD8-35F5-F4EFB60F6007}"/>
              </a:ext>
            </a:extLst>
          </p:cNvPr>
          <p:cNvSpPr>
            <a:spLocks noChangeAspect="1" noChangeArrowheads="1"/>
          </p:cNvSpPr>
          <p:nvPr/>
        </p:nvSpPr>
        <p:spPr bwMode="auto">
          <a:xfrm>
            <a:off x="5943599" y="3276599"/>
            <a:ext cx="2843213" cy="2843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DE218466-D8E8-E9A3-EF48-16E888142FB5}"/>
              </a:ext>
            </a:extLst>
          </p:cNvPr>
          <p:cNvPicPr>
            <a:picLocks noChangeAspect="1"/>
          </p:cNvPicPr>
          <p:nvPr/>
        </p:nvPicPr>
        <p:blipFill>
          <a:blip r:embed="rId2"/>
          <a:stretch>
            <a:fillRect/>
          </a:stretch>
        </p:blipFill>
        <p:spPr>
          <a:xfrm>
            <a:off x="2057399" y="1386386"/>
            <a:ext cx="7772400" cy="5471614"/>
          </a:xfrm>
          <a:prstGeom prst="rect">
            <a:avLst/>
          </a:prstGeom>
        </p:spPr>
      </p:pic>
    </p:spTree>
    <p:extLst>
      <p:ext uri="{BB962C8B-B14F-4D97-AF65-F5344CB8AC3E}">
        <p14:creationId xmlns:p14="http://schemas.microsoft.com/office/powerpoint/2010/main" val="363327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C0C546-FF5E-36A1-3E09-4813EA2E3D71}"/>
              </a:ext>
            </a:extLst>
          </p:cNvPr>
          <p:cNvSpPr>
            <a:spLocks noGrp="1"/>
          </p:cNvSpPr>
          <p:nvPr>
            <p:ph type="title"/>
          </p:nvPr>
        </p:nvSpPr>
        <p:spPr>
          <a:xfrm>
            <a:off x="645064" y="525982"/>
            <a:ext cx="4282983" cy="1200361"/>
          </a:xfrm>
        </p:spPr>
        <p:txBody>
          <a:bodyPr anchor="b">
            <a:normAutofit/>
          </a:bodyPr>
          <a:lstStyle/>
          <a:p>
            <a:r>
              <a:rPr lang="en-US" sz="3600"/>
              <a:t>Market models</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A88279-F858-F705-7621-1B86B39AF509}"/>
                  </a:ext>
                </a:extLst>
              </p:cNvPr>
              <p:cNvSpPr>
                <a:spLocks noGrp="1"/>
              </p:cNvSpPr>
              <p:nvPr>
                <p:ph idx="1"/>
              </p:nvPr>
            </p:nvSpPr>
            <p:spPr>
              <a:xfrm>
                <a:off x="645066" y="2031101"/>
                <a:ext cx="4282984" cy="3511943"/>
              </a:xfrm>
            </p:spPr>
            <p:txBody>
              <a:bodyPr anchor="ctr">
                <a:normAutofit/>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r>
                        <a:rPr lang="en-US" b="0" i="1">
                          <a:latin typeface="Cambria Math" panose="02040503050406030204" pitchFamily="18" charset="0"/>
                        </a:rPr>
                        <m:t>𝑎</m:t>
                      </m:r>
                      <m:r>
                        <a:rPr lang="en-US" b="0" i="1">
                          <a:latin typeface="Cambria Math" panose="02040503050406030204" pitchFamily="18" charset="0"/>
                        </a:rPr>
                        <m:t>−</m:t>
                      </m:r>
                      <m:r>
                        <a:rPr lang="en-US" b="0" i="1">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r>
                        <a:rPr lang="en-US" b="0" i="1">
                          <a:latin typeface="Cambria Math" panose="02040503050406030204" pitchFamily="18" charset="0"/>
                        </a:rPr>
                        <m:t>=</m:t>
                      </m:r>
                      <m:r>
                        <a:rPr lang="en-US" b="0" i="1">
                          <a:latin typeface="Cambria Math" panose="02040503050406030204" pitchFamily="18" charset="0"/>
                        </a:rPr>
                        <m:t>𝑐</m:t>
                      </m:r>
                      <m:r>
                        <a:rPr lang="en-US" b="0" i="1">
                          <a:latin typeface="Cambria Math" panose="02040503050406030204" pitchFamily="18" charset="0"/>
                        </a:rPr>
                        <m:t>+</m:t>
                      </m:r>
                      <m:r>
                        <a:rPr lang="en-US" b="0" i="1">
                          <a:latin typeface="Cambria Math" panose="02040503050406030204" pitchFamily="18" charset="0"/>
                        </a:rPr>
                        <m:t>𝑑𝑃</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59A88279-F858-F705-7621-1B86B39AF509}"/>
                  </a:ext>
                </a:extLst>
              </p:cNvPr>
              <p:cNvSpPr>
                <a:spLocks noGrp="1" noRot="1" noChangeAspect="1" noMove="1" noResize="1" noEditPoints="1" noAdjustHandles="1" noChangeArrowheads="1" noChangeShapeType="1" noTextEdit="1"/>
              </p:cNvSpPr>
              <p:nvPr>
                <p:ph idx="1"/>
              </p:nvPr>
            </p:nvSpPr>
            <p:spPr>
              <a:xfrm>
                <a:off x="645066" y="2031101"/>
                <a:ext cx="4282984" cy="3511943"/>
              </a:xfrm>
              <a:blipFill>
                <a:blip r:embed="rId2"/>
                <a:stretch>
                  <a:fillRect l="-2959"/>
                </a:stretch>
              </a:blipFill>
            </p:spPr>
            <p:txBody>
              <a:bodyPr/>
              <a:lstStyle/>
              <a:p>
                <a:r>
                  <a:rPr lang="en-US">
                    <a:noFill/>
                  </a:rPr>
                  <a:t> </a:t>
                </a:r>
              </a:p>
            </p:txBody>
          </p:sp>
        </mc:Fallback>
      </mc:AlternateContent>
      <p:sp>
        <p:nvSpPr>
          <p:cNvPr id="2065" name="Rectangle 206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Economic Memes and Things – Econ Chris Clarke">
            <a:extLst>
              <a:ext uri="{FF2B5EF4-FFF2-40B4-BE49-F238E27FC236}">
                <a16:creationId xmlns:a16="http://schemas.microsoft.com/office/drawing/2014/main" id="{CAEC2D8F-85DD-F2C9-FCD0-9FF2E442716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7738" y="737747"/>
            <a:ext cx="5628018" cy="514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976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4F77A9-4276-76E3-833B-B39DFECAA84C}"/>
            </a:ext>
          </a:extLst>
        </p:cNvPr>
        <p:cNvGrpSpPr/>
        <p:nvPr/>
      </p:nvGrpSpPr>
      <p:grpSpPr>
        <a:xfrm>
          <a:off x="0" y="0"/>
          <a:ext cx="0" cy="0"/>
          <a:chOff x="0" y="0"/>
          <a:chExt cx="0" cy="0"/>
        </a:xfrm>
      </p:grpSpPr>
      <p:sp useBgFill="1">
        <p:nvSpPr>
          <p:cNvPr id="2072" name="Rectangle 207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Freeform: Shape 207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FB7951D-C46D-608B-B423-A08B7FB73086}"/>
              </a:ext>
            </a:extLst>
          </p:cNvPr>
          <p:cNvSpPr>
            <a:spLocks noGrp="1"/>
          </p:cNvSpPr>
          <p:nvPr>
            <p:ph type="title"/>
          </p:nvPr>
        </p:nvSpPr>
        <p:spPr>
          <a:xfrm>
            <a:off x="1137034" y="609597"/>
            <a:ext cx="9392421" cy="1330841"/>
          </a:xfrm>
        </p:spPr>
        <p:txBody>
          <a:bodyPr>
            <a:normAutofit/>
          </a:bodyPr>
          <a:lstStyle/>
          <a:p>
            <a:r>
              <a:rPr lang="en-US"/>
              <a:t>Market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5888670-78AD-BAB3-94BA-CA2A0E89C047}"/>
                  </a:ext>
                </a:extLst>
              </p:cNvPr>
              <p:cNvSpPr>
                <a:spLocks noGrp="1"/>
              </p:cNvSpPr>
              <p:nvPr>
                <p:ph idx="1"/>
              </p:nvPr>
            </p:nvSpPr>
            <p:spPr>
              <a:xfrm>
                <a:off x="1137034" y="2198362"/>
                <a:ext cx="4958966" cy="3917773"/>
              </a:xfrm>
            </p:spPr>
            <p:txBody>
              <a:bodyPr>
                <a:normAutofit/>
              </a:bodyPr>
              <a:lstStyle/>
              <a:p>
                <a:pPr marL="0" indent="0">
                  <a:buNone/>
                </a:pPr>
                <a:r>
                  <a:rPr lang="en-US" sz="2000"/>
                  <a:t>Let’s set up a simple supply/demand model:</a:t>
                </a:r>
              </a:p>
              <a:p>
                <a:pPr marL="0" indent="0">
                  <a:buNone/>
                </a:pPr>
                <a:endParaRPr lang="en-US" sz="200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r>
                        <a:rPr lang="en-US" sz="2000" b="0" i="1">
                          <a:latin typeface="Cambria Math" panose="02040503050406030204" pitchFamily="18" charset="0"/>
                        </a:rPr>
                        <m:t>𝑎</m:t>
                      </m:r>
                      <m:r>
                        <a:rPr lang="en-US" sz="2000" b="0" i="1">
                          <a:latin typeface="Cambria Math" panose="02040503050406030204" pitchFamily="18" charset="0"/>
                        </a:rPr>
                        <m:t>−</m:t>
                      </m:r>
                      <m:r>
                        <a:rPr lang="en-US" sz="2000" b="0" i="1">
                          <a:latin typeface="Cambria Math" panose="02040503050406030204" pitchFamily="18" charset="0"/>
                        </a:rPr>
                        <m:t>𝑏𝑃</m:t>
                      </m:r>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r>
                        <a:rPr lang="en-US" sz="2000" b="0" i="1">
                          <a:latin typeface="Cambria Math" panose="02040503050406030204" pitchFamily="18" charset="0"/>
                        </a:rPr>
                        <m:t>=</m:t>
                      </m:r>
                      <m:r>
                        <a:rPr lang="en-US" sz="2000" b="0" i="1">
                          <a:latin typeface="Cambria Math" panose="02040503050406030204" pitchFamily="18" charset="0"/>
                        </a:rPr>
                        <m:t>𝑐</m:t>
                      </m:r>
                      <m:r>
                        <a:rPr lang="en-US" sz="2000" b="0" i="1">
                          <a:latin typeface="Cambria Math" panose="02040503050406030204" pitchFamily="18" charset="0"/>
                        </a:rPr>
                        <m:t>+</m:t>
                      </m:r>
                      <m:r>
                        <a:rPr lang="en-US" sz="2000" b="0" i="1">
                          <a:latin typeface="Cambria Math" panose="02040503050406030204" pitchFamily="18" charset="0"/>
                        </a:rPr>
                        <m:t>𝑑𝑃</m:t>
                      </m:r>
                    </m:oMath>
                  </m:oMathPara>
                </a14:m>
                <a:endParaRPr lang="en-US" sz="2000"/>
              </a:p>
              <a:p>
                <a:pPr marL="0" indent="0">
                  <a:buNone/>
                </a:pPr>
                <a:endParaRPr lang="en-US" sz="2000"/>
              </a:p>
            </p:txBody>
          </p:sp>
        </mc:Choice>
        <mc:Fallback>
          <p:sp>
            <p:nvSpPr>
              <p:cNvPr id="3" name="Content Placeholder 2">
                <a:extLst>
                  <a:ext uri="{FF2B5EF4-FFF2-40B4-BE49-F238E27FC236}">
                    <a16:creationId xmlns:a16="http://schemas.microsoft.com/office/drawing/2014/main" id="{C5888670-78AD-BAB3-94BA-CA2A0E89C047}"/>
                  </a:ext>
                </a:extLst>
              </p:cNvPr>
              <p:cNvSpPr>
                <a:spLocks noGrp="1" noRot="1" noChangeAspect="1" noMove="1" noResize="1" noEditPoints="1" noAdjustHandles="1" noChangeArrowheads="1" noChangeShapeType="1" noTextEdit="1"/>
              </p:cNvSpPr>
              <p:nvPr>
                <p:ph idx="1"/>
              </p:nvPr>
            </p:nvSpPr>
            <p:spPr>
              <a:xfrm>
                <a:off x="1137034" y="2198362"/>
                <a:ext cx="4958966" cy="3917773"/>
              </a:xfrm>
              <a:blipFill>
                <a:blip r:embed="rId2"/>
                <a:stretch>
                  <a:fillRect l="-1276" t="-161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A878F8B-F624-0B22-2FA2-DC9B5B3F5AEC}"/>
              </a:ext>
            </a:extLst>
          </p:cNvPr>
          <p:cNvPicPr>
            <a:picLocks noChangeAspect="1"/>
          </p:cNvPicPr>
          <p:nvPr/>
        </p:nvPicPr>
        <p:blipFill>
          <a:blip r:embed="rId3"/>
          <a:stretch>
            <a:fillRect/>
          </a:stretch>
        </p:blipFill>
        <p:spPr>
          <a:xfrm>
            <a:off x="5573329" y="2550035"/>
            <a:ext cx="6192847" cy="2755816"/>
          </a:xfrm>
          <a:prstGeom prst="rect">
            <a:avLst/>
          </a:prstGeom>
        </p:spPr>
      </p:pic>
      <p:sp>
        <p:nvSpPr>
          <p:cNvPr id="2076" name="Freeform: Shape 207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34028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5737B-82AA-6ADA-EF61-078D1EDCD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1072C-E09F-B639-F7D8-B0E4B78349E4}"/>
              </a:ext>
            </a:extLst>
          </p:cNvPr>
          <p:cNvSpPr>
            <a:spLocks noGrp="1"/>
          </p:cNvSpPr>
          <p:nvPr>
            <p:ph type="title"/>
          </p:nvPr>
        </p:nvSpPr>
        <p:spPr/>
        <p:txBody>
          <a:bodyPr/>
          <a:lstStyle/>
          <a:p>
            <a:r>
              <a:rPr lang="en-US" dirty="0"/>
              <a:t>Calibrated market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4CDFD9-6CDC-AFC4-857F-380F83A0B7AC}"/>
                  </a:ext>
                </a:extLst>
              </p:cNvPr>
              <p:cNvSpPr>
                <a:spLocks noGrp="1"/>
              </p:cNvSpPr>
              <p:nvPr>
                <p:ph idx="1"/>
              </p:nvPr>
            </p:nvSpPr>
            <p:spPr>
              <a:xfrm>
                <a:off x="838200" y="1366092"/>
                <a:ext cx="10515600" cy="4810871"/>
              </a:xfrm>
            </p:spPr>
            <p:txBody>
              <a:bodyPr>
                <a:normAutofit lnSpcReduction="10000"/>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a:p>
                <a:pPr marL="0" indent="0">
                  <a:buNone/>
                </a:pPr>
                <a:r>
                  <a:rPr lang="en-US" dirty="0"/>
                  <a:t>(all parameters/variables are positive)</a:t>
                </a:r>
              </a:p>
              <a:p>
                <a:pPr marL="0" indent="0">
                  <a:buNone/>
                </a:pPr>
                <a:endParaRPr lang="en-US" dirty="0"/>
              </a:p>
              <a:p>
                <a:pPr marL="0" indent="0">
                  <a:buNone/>
                </a:pPr>
                <a:r>
                  <a:rPr lang="en-US" dirty="0"/>
                  <a:t>These are demand/supply functions.. Need inverse demand/supply functions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B44CDFD9-6CDC-AFC4-857F-380F83A0B7AC}"/>
                  </a:ext>
                </a:extLst>
              </p:cNvPr>
              <p:cNvSpPr>
                <a:spLocks noGrp="1" noRot="1" noChangeAspect="1" noMove="1" noResize="1" noEditPoints="1" noAdjustHandles="1" noChangeArrowheads="1" noChangeShapeType="1" noTextEdit="1"/>
              </p:cNvSpPr>
              <p:nvPr>
                <p:ph idx="1"/>
              </p:nvPr>
            </p:nvSpPr>
            <p:spPr>
              <a:xfrm>
                <a:off x="838200" y="1366092"/>
                <a:ext cx="10515600" cy="4810871"/>
              </a:xfrm>
              <a:blipFill>
                <a:blip r:embed="rId2"/>
                <a:stretch>
                  <a:fillRect l="-1206" t="-2895" r="-724"/>
                </a:stretch>
              </a:blipFill>
            </p:spPr>
            <p:txBody>
              <a:bodyPr/>
              <a:lstStyle/>
              <a:p>
                <a:r>
                  <a:rPr lang="en-US">
                    <a:noFill/>
                  </a:rPr>
                  <a:t> </a:t>
                </a:r>
              </a:p>
            </p:txBody>
          </p:sp>
        </mc:Fallback>
      </mc:AlternateContent>
    </p:spTree>
    <p:extLst>
      <p:ext uri="{BB962C8B-B14F-4D97-AF65-F5344CB8AC3E}">
        <p14:creationId xmlns:p14="http://schemas.microsoft.com/office/powerpoint/2010/main" val="3606574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B36EA-E3B8-8C9C-9087-2C99C7BE1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B06B3-0857-9986-8B27-198D7163C102}"/>
              </a:ext>
            </a:extLst>
          </p:cNvPr>
          <p:cNvSpPr>
            <a:spLocks noGrp="1"/>
          </p:cNvSpPr>
          <p:nvPr>
            <p:ph type="title"/>
          </p:nvPr>
        </p:nvSpPr>
        <p:spPr/>
        <p:txBody>
          <a:bodyPr/>
          <a:lstStyle/>
          <a:p>
            <a:r>
              <a:rPr lang="en-US" dirty="0"/>
              <a:t>Calibrated 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D68625-F0AF-4980-F7B8-87B179D60764}"/>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r>
                  <a:rPr lang="en-US" dirty="0"/>
                  <a:t>Let’s label…</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r>
                            <a:rPr lang="en-US" b="0" i="1" smtClean="0">
                              <a:latin typeface="Cambria Math" panose="02040503050406030204" pitchFamily="18" charset="0"/>
                            </a:rPr>
                            <m:t>𝑏</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num>
                        <m:den>
                          <m:r>
                            <a:rPr lang="en-US" b="0" i="1" smtClean="0">
                              <a:latin typeface="Cambria Math" panose="02040503050406030204" pitchFamily="18" charset="0"/>
                            </a:rPr>
                            <m:t>𝑑</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𝑑</m:t>
                              </m:r>
                            </m:den>
                          </m:f>
                        </m:e>
                      </m:d>
                    </m:oMath>
                  </m:oMathPara>
                </a14:m>
                <a:endParaRPr lang="en-US" dirty="0"/>
              </a:p>
              <a:p>
                <a:pPr marL="0" indent="0">
                  <a:buNone/>
                </a:pPr>
                <a:endParaRPr lang="en-US" dirty="0"/>
              </a:p>
              <a:p>
                <a:pPr marL="0" indent="0">
                  <a:buNone/>
                </a:pPr>
                <a:r>
                  <a:rPr lang="en-US" dirty="0"/>
                  <a:t>Can rewrite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xmlns="">
          <p:sp>
            <p:nvSpPr>
              <p:cNvPr id="3" name="Content Placeholder 2">
                <a:extLst>
                  <a:ext uri="{FF2B5EF4-FFF2-40B4-BE49-F238E27FC236}">
                    <a16:creationId xmlns:a16="http://schemas.microsoft.com/office/drawing/2014/main" id="{98D68625-F0AF-4980-F7B8-87B179D60764}"/>
                  </a:ext>
                </a:extLst>
              </p:cNvPr>
              <p:cNvSpPr>
                <a:spLocks noGrp="1" noRot="1" noChangeAspect="1" noMove="1" noResize="1" noEditPoints="1" noAdjustHandles="1" noChangeArrowheads="1" noChangeShapeType="1" noTextEdit="1"/>
              </p:cNvSpPr>
              <p:nvPr>
                <p:ph idx="1"/>
              </p:nvPr>
            </p:nvSpPr>
            <p:spPr>
              <a:blipFill>
                <a:blip r:embed="rId2"/>
                <a:stretch>
                  <a:fillRect l="-1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1FAA6-9CBA-239B-932E-AE263EA609BE}"/>
                  </a:ext>
                </a:extLst>
              </p:cNvPr>
              <p:cNvSpPr txBox="1"/>
              <p:nvPr/>
            </p:nvSpPr>
            <p:spPr>
              <a:xfrm>
                <a:off x="7441531" y="566241"/>
                <a:ext cx="6100010" cy="92333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p:txBody>
          </p:sp>
        </mc:Choice>
        <mc:Fallback xmlns="">
          <p:sp>
            <p:nvSpPr>
              <p:cNvPr id="5" name="TextBox 4">
                <a:extLst>
                  <a:ext uri="{FF2B5EF4-FFF2-40B4-BE49-F238E27FC236}">
                    <a16:creationId xmlns:a16="http://schemas.microsoft.com/office/drawing/2014/main" id="{8511FAA6-9CBA-239B-932E-AE263EA609BE}"/>
                  </a:ext>
                </a:extLst>
              </p:cNvPr>
              <p:cNvSpPr txBox="1">
                <a:spLocks noRot="1" noChangeAspect="1" noMove="1" noResize="1" noEditPoints="1" noAdjustHandles="1" noChangeArrowheads="1" noChangeShapeType="1" noTextEdit="1"/>
              </p:cNvSpPr>
              <p:nvPr/>
            </p:nvSpPr>
            <p:spPr>
              <a:xfrm>
                <a:off x="7441531" y="566241"/>
                <a:ext cx="6100010" cy="923330"/>
              </a:xfrm>
              <a:prstGeom prst="rect">
                <a:avLst/>
              </a:prstGeom>
              <a:blipFill>
                <a:blip r:embed="rId3"/>
                <a:stretch>
                  <a:fillRect b="-2703"/>
                </a:stretch>
              </a:blipFill>
            </p:spPr>
            <p:txBody>
              <a:bodyPr/>
              <a:lstStyle/>
              <a:p>
                <a:r>
                  <a:rPr lang="en-US">
                    <a:noFill/>
                  </a:rPr>
                  <a:t> </a:t>
                </a:r>
              </a:p>
            </p:txBody>
          </p:sp>
        </mc:Fallback>
      </mc:AlternateContent>
    </p:spTree>
    <p:extLst>
      <p:ext uri="{BB962C8B-B14F-4D97-AF65-F5344CB8AC3E}">
        <p14:creationId xmlns:p14="http://schemas.microsoft.com/office/powerpoint/2010/main" val="3575793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CBFF-F863-6FD6-8597-219402BA1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FC6D1-4AED-F7C5-085E-45D88AC7921F}"/>
              </a:ext>
            </a:extLst>
          </p:cNvPr>
          <p:cNvSpPr>
            <a:spLocks noGrp="1"/>
          </p:cNvSpPr>
          <p:nvPr>
            <p:ph type="title"/>
          </p:nvPr>
        </p:nvSpPr>
        <p:spPr/>
        <p:txBody>
          <a:bodyPr/>
          <a:lstStyle/>
          <a:p>
            <a:r>
              <a:rPr lang="en-US" dirty="0"/>
              <a:t>Model – indices (none), parameters,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3CF15-4540-BF40-0A1E-9A50A6EA9C3A}"/>
                  </a:ext>
                </a:extLst>
              </p:cNvPr>
              <p:cNvSpPr>
                <a:spLocks noGrp="1"/>
              </p:cNvSpPr>
              <p:nvPr>
                <p:ph idx="1"/>
              </p:nvPr>
            </p:nvSpPr>
            <p:spPr/>
            <p:txBody>
              <a:bodyPr/>
              <a:lstStyle/>
              <a:p>
                <a:pPr marL="0" indent="0">
                  <a:buNone/>
                </a:pPr>
                <a:r>
                  <a:rPr lang="en-US" dirty="0"/>
                  <a:t>Parameters:</a:t>
                </a:r>
              </a:p>
              <a:p>
                <a:pPr marL="0" indent="0">
                  <a:buNone/>
                </a:pP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dirty="0"/>
                  <a:t>: supply/demand characteristics</a:t>
                </a:r>
              </a:p>
              <a:p>
                <a:pPr marL="0" indent="0">
                  <a:buNone/>
                </a:pPr>
                <a:endParaRPr lang="en-US" dirty="0"/>
              </a:p>
              <a:p>
                <a:pPr marL="0" indent="0">
                  <a:buNone/>
                </a:pPr>
                <a:r>
                  <a:rPr lang="en-US" dirty="0"/>
                  <a:t>Variables: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a14:m>
                <a:r>
                  <a:rPr lang="en-US" dirty="0"/>
                  <a:t>: quantity demanded</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a14:m>
                <a:r>
                  <a:rPr lang="en-US" dirty="0"/>
                  <a:t>: quantity supplied</a:t>
                </a:r>
              </a:p>
            </p:txBody>
          </p:sp>
        </mc:Choice>
        <mc:Fallback xmlns="">
          <p:sp>
            <p:nvSpPr>
              <p:cNvPr id="3" name="Content Placeholder 2">
                <a:extLst>
                  <a:ext uri="{FF2B5EF4-FFF2-40B4-BE49-F238E27FC236}">
                    <a16:creationId xmlns:a16="http://schemas.microsoft.com/office/drawing/2014/main" id="{C463CF15-4540-BF40-0A1E-9A50A6EA9C3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674073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DB76-9859-A314-E29C-9DAE6D1B2600}"/>
              </a:ext>
            </a:extLst>
          </p:cNvPr>
          <p:cNvSpPr>
            <a:spLocks noGrp="1"/>
          </p:cNvSpPr>
          <p:nvPr>
            <p:ph type="title"/>
          </p:nvPr>
        </p:nvSpPr>
        <p:spPr/>
        <p:txBody>
          <a:bodyPr/>
          <a:lstStyle/>
          <a:p>
            <a:r>
              <a:rPr lang="en-US" dirty="0"/>
              <a:t>Model –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EF8AE4-4177-91BD-F0A8-97DE489D57F0}"/>
                  </a:ext>
                </a:extLst>
              </p:cNvPr>
              <p:cNvSpPr>
                <a:spLocks noGrp="1"/>
              </p:cNvSpPr>
              <p:nvPr>
                <p:ph idx="1"/>
              </p:nvPr>
            </p:nvSpPr>
            <p:spPr>
              <a:xfrm>
                <a:off x="838200" y="1382233"/>
                <a:ext cx="10515600" cy="4794730"/>
              </a:xfrm>
            </p:spPr>
            <p:txBody>
              <a:bodyPr>
                <a:normAutofit lnSpcReduction="10000"/>
              </a:bodyPr>
              <a:lstStyle/>
              <a:p>
                <a:pPr marL="0" indent="0">
                  <a:buNone/>
                </a:pPr>
                <a:r>
                  <a:rPr lang="en-US" dirty="0"/>
                  <a:t>Want to maximize area under the demand curve [less] area under the supply curve:</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sup>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𝑑</m:t>
                              </m:r>
                            </m:sub>
                          </m:sSub>
                        </m:e>
                      </m:nary>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𝑠</m:t>
                              </m:r>
                            </m:sub>
                          </m:s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𝑑</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𝑑</m:t>
                              </m:r>
                            </m:sub>
                          </m:sSub>
                        </m:e>
                      </m:nary>
                    </m:oMath>
                  </m:oMathPara>
                </a14:m>
                <a:endParaRPr lang="en-US" dirty="0"/>
              </a:p>
              <a:p>
                <a:pPr marL="0" indent="0">
                  <a:buNone/>
                </a:pPr>
                <a:endParaRPr lang="en-US" dirty="0"/>
              </a:p>
              <a:p>
                <a:pPr marL="0" indent="0">
                  <a:buNone/>
                </a:pPr>
                <a:r>
                  <a:rPr lang="en-US" dirty="0"/>
                  <a:t>Knowing f(0)=0, can write as: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𝑑</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𝑠</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oMath>
                  </m:oMathPara>
                </a14:m>
                <a:endParaRPr lang="en-US" dirty="0"/>
              </a:p>
              <a:p>
                <a:pPr marL="0" indent="0">
                  <a:buNone/>
                </a:pPr>
                <a:endParaRPr lang="en-US" dirty="0"/>
              </a:p>
              <a:p>
                <a:pPr marL="0" indent="0">
                  <a:buNone/>
                </a:pPr>
                <a:r>
                  <a:rPr lang="en-US" dirty="0"/>
                  <a:t>Equilibrium implies: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xmlns="">
          <p:sp>
            <p:nvSpPr>
              <p:cNvPr id="3" name="Content Placeholder 2">
                <a:extLst>
                  <a:ext uri="{FF2B5EF4-FFF2-40B4-BE49-F238E27FC236}">
                    <a16:creationId xmlns:a16="http://schemas.microsoft.com/office/drawing/2014/main" id="{53EF8AE4-4177-91BD-F0A8-97DE489D57F0}"/>
                  </a:ext>
                </a:extLst>
              </p:cNvPr>
              <p:cNvSpPr>
                <a:spLocks noGrp="1" noRot="1" noChangeAspect="1" noMove="1" noResize="1" noEditPoints="1" noAdjustHandles="1" noChangeArrowheads="1" noChangeShapeType="1" noTextEdit="1"/>
              </p:cNvSpPr>
              <p:nvPr>
                <p:ph idx="1"/>
              </p:nvPr>
            </p:nvSpPr>
            <p:spPr>
              <a:xfrm>
                <a:off x="838200" y="1382233"/>
                <a:ext cx="10515600" cy="4794730"/>
              </a:xfrm>
              <a:blipFill>
                <a:blip r:embed="rId2"/>
                <a:stretch>
                  <a:fillRect l="-1206" t="-22955" b="-1055"/>
                </a:stretch>
              </a:blipFill>
            </p:spPr>
            <p:txBody>
              <a:bodyPr/>
              <a:lstStyle/>
              <a:p>
                <a:r>
                  <a:rPr lang="en-US">
                    <a:noFill/>
                  </a:rPr>
                  <a:t> </a:t>
                </a:r>
              </a:p>
            </p:txBody>
          </p:sp>
        </mc:Fallback>
      </mc:AlternateContent>
    </p:spTree>
    <p:extLst>
      <p:ext uri="{BB962C8B-B14F-4D97-AF65-F5344CB8AC3E}">
        <p14:creationId xmlns:p14="http://schemas.microsoft.com/office/powerpoint/2010/main" val="3793925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0179-4E7D-3AEC-58BF-13155714A25A}"/>
              </a:ext>
            </a:extLst>
          </p:cNvPr>
          <p:cNvSpPr>
            <a:spLocks noGrp="1"/>
          </p:cNvSpPr>
          <p:nvPr>
            <p:ph type="title"/>
          </p:nvPr>
        </p:nvSpPr>
        <p:spPr/>
        <p:txBody>
          <a:bodyPr/>
          <a:lstStyle/>
          <a:p>
            <a:r>
              <a:rPr lang="en-US" dirty="0"/>
              <a:t>Let’s put this simple model in GAMS…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B8034A-8529-C4DA-5DA5-147AE426043F}"/>
                  </a:ext>
                </a:extLst>
              </p:cNvPr>
              <p:cNvSpPr>
                <a:spLocks noGrp="1"/>
              </p:cNvSpPr>
              <p:nvPr>
                <p:ph idx="1"/>
              </p:nvPr>
            </p:nvSpPr>
            <p:spPr/>
            <p:txBody>
              <a:bodyPr/>
              <a:lstStyle/>
              <a:p>
                <a:r>
                  <a:rPr lang="en-US" b="0" dirty="0"/>
                  <a:t>Assuming: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𝑞</m:t>
                        </m:r>
                      </m:e>
                    </m:acc>
                    <m:r>
                      <a:rPr lang="en-US" b="0" i="1" dirty="0" smtClean="0">
                        <a:latin typeface="Cambria Math" panose="02040503050406030204" pitchFamily="18" charset="0"/>
                      </a:rPr>
                      <m:t>=1</m:t>
                    </m:r>
                  </m:oMath>
                </a14:m>
                <a:endParaRPr lang="en-US" b="0" dirty="0"/>
              </a:p>
              <a:p>
                <a:r>
                  <a:rPr lang="en-US" dirty="0"/>
                  <a:t>Assuming: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=0.5</m:t>
                    </m:r>
                  </m:oMath>
                </a14:m>
                <a:endParaRPr lang="en-US" dirty="0"/>
              </a:p>
            </p:txBody>
          </p:sp>
        </mc:Choice>
        <mc:Fallback xmlns="">
          <p:sp>
            <p:nvSpPr>
              <p:cNvPr id="3" name="Content Placeholder 2">
                <a:extLst>
                  <a:ext uri="{FF2B5EF4-FFF2-40B4-BE49-F238E27FC236}">
                    <a16:creationId xmlns:a16="http://schemas.microsoft.com/office/drawing/2014/main" id="{75B8034A-8529-C4DA-5DA5-147AE426043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987137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F0AE9-2129-55D6-F7CF-9A8FC248D7CB}"/>
              </a:ext>
            </a:extLst>
          </p:cNvPr>
          <p:cNvSpPr>
            <a:spLocks noGrp="1"/>
          </p:cNvSpPr>
          <p:nvPr>
            <p:ph type="title"/>
          </p:nvPr>
        </p:nvSpPr>
        <p:spPr/>
        <p:txBody>
          <a:bodyPr/>
          <a:lstStyle/>
          <a:p>
            <a:r>
              <a:rPr lang="en-US" dirty="0"/>
              <a:t>Why could we linearize demand before?</a:t>
            </a:r>
          </a:p>
        </p:txBody>
      </p:sp>
      <p:sp>
        <p:nvSpPr>
          <p:cNvPr id="3" name="Content Placeholder 2">
            <a:extLst>
              <a:ext uri="{FF2B5EF4-FFF2-40B4-BE49-F238E27FC236}">
                <a16:creationId xmlns:a16="http://schemas.microsoft.com/office/drawing/2014/main" id="{7A066C8A-DAA4-EF1B-EDA1-F0FA25ABD4F1}"/>
              </a:ext>
            </a:extLst>
          </p:cNvPr>
          <p:cNvSpPr>
            <a:spLocks noGrp="1"/>
          </p:cNvSpPr>
          <p:nvPr>
            <p:ph idx="1"/>
          </p:nvPr>
        </p:nvSpPr>
        <p:spPr>
          <a:xfrm>
            <a:off x="838200" y="1594884"/>
            <a:ext cx="10515600" cy="4897991"/>
          </a:xfrm>
        </p:spPr>
        <p:txBody>
          <a:bodyPr>
            <a:normAutofit fontScale="85000" lnSpcReduction="20000"/>
          </a:bodyPr>
          <a:lstStyle/>
          <a:p>
            <a:r>
              <a:rPr lang="en-US" dirty="0"/>
              <a:t>Biggest takeaway: we only had one variable that was providing value (cost) to in our model</a:t>
            </a:r>
          </a:p>
          <a:p>
            <a:endParaRPr lang="en-US" dirty="0"/>
          </a:p>
          <a:p>
            <a:r>
              <a:rPr lang="en-US" dirty="0"/>
              <a:t>That is, we were </a:t>
            </a:r>
            <a:r>
              <a:rPr lang="en-US" i="1" dirty="0"/>
              <a:t>only </a:t>
            </a:r>
            <a:r>
              <a:rPr lang="en-US" dirty="0"/>
              <a:t>consuming electricity, it was the only thing providing value/benefit to consumption, and it did not compete with other goods</a:t>
            </a:r>
          </a:p>
          <a:p>
            <a:endParaRPr lang="en-US" dirty="0"/>
          </a:p>
          <a:p>
            <a:r>
              <a:rPr lang="en-US" dirty="0"/>
              <a:t>No (easy) way to stay linear if two variables are interacting and providing value or cost to the model, examples:</a:t>
            </a:r>
          </a:p>
          <a:p>
            <a:pPr lvl="1"/>
            <a:r>
              <a:rPr lang="en-US" dirty="0"/>
              <a:t>Pizza and beer</a:t>
            </a:r>
          </a:p>
          <a:p>
            <a:pPr lvl="1"/>
            <a:r>
              <a:rPr lang="en-US" dirty="0"/>
              <a:t>Capital and labor</a:t>
            </a:r>
          </a:p>
          <a:p>
            <a:pPr lvl="1"/>
            <a:r>
              <a:rPr lang="en-US" dirty="0"/>
              <a:t>Shifting of demand across time</a:t>
            </a:r>
          </a:p>
          <a:p>
            <a:endParaRPr lang="en-US" dirty="0"/>
          </a:p>
          <a:p>
            <a:r>
              <a:rPr lang="en-US" dirty="0"/>
              <a:t>When there are tradeoffs or benefits to the </a:t>
            </a:r>
            <a:r>
              <a:rPr lang="en-US" i="1" dirty="0"/>
              <a:t>interaction</a:t>
            </a:r>
            <a:r>
              <a:rPr lang="en-US" dirty="0"/>
              <a:t> of different variables in the model, cannot stay linear</a:t>
            </a:r>
          </a:p>
        </p:txBody>
      </p:sp>
    </p:spTree>
    <p:extLst>
      <p:ext uri="{BB962C8B-B14F-4D97-AF65-F5344CB8AC3E}">
        <p14:creationId xmlns:p14="http://schemas.microsoft.com/office/powerpoint/2010/main" val="3572221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166E5-3E64-43E5-D83C-A8B20E600568}"/>
              </a:ext>
            </a:extLst>
          </p:cNvPr>
          <p:cNvSpPr>
            <a:spLocks noGrp="1"/>
          </p:cNvSpPr>
          <p:nvPr>
            <p:ph type="title"/>
          </p:nvPr>
        </p:nvSpPr>
        <p:spPr/>
        <p:txBody>
          <a:bodyPr/>
          <a:lstStyle/>
          <a:p>
            <a:r>
              <a:rPr lang="en-US" dirty="0"/>
              <a:t>Easy enough… let’s expand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E50B2-D222-F55C-A838-8599DA8BDE8F}"/>
                  </a:ext>
                </a:extLst>
              </p:cNvPr>
              <p:cNvSpPr>
                <a:spLocks noGrp="1"/>
              </p:cNvSpPr>
              <p:nvPr>
                <p:ph idx="1"/>
              </p:nvPr>
            </p:nvSpPr>
            <p:spPr/>
            <p:txBody>
              <a:bodyPr/>
              <a:lstStyle/>
              <a:p>
                <a:r>
                  <a:rPr lang="en-US" dirty="0"/>
                  <a:t>We could’ve done that in a linear model with binning!</a:t>
                </a:r>
              </a:p>
              <a:p>
                <a:endParaRPr lang="en-US" dirty="0"/>
              </a:p>
              <a:p>
                <a:r>
                  <a:rPr lang="en-US" dirty="0"/>
                  <a:t>Let’s add a level of complexity..</a:t>
                </a:r>
              </a:p>
              <a:p>
                <a:endParaRPr lang="en-US" dirty="0"/>
              </a:p>
              <a:p>
                <a:r>
                  <a:rPr lang="en-US" dirty="0"/>
                  <a:t>Now say there are two goods produced and consumed, indexed by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 </m:t>
                    </m:r>
                  </m:oMath>
                </a14:m>
                <a:endParaRPr lang="en-US" dirty="0"/>
              </a:p>
              <a:p>
                <a:endParaRPr lang="en-US" dirty="0"/>
              </a:p>
              <a:p>
                <a:r>
                  <a:rPr lang="en-US" dirty="0"/>
                  <a:t>Additionally, our agent prefers these in some proportions, we’ll say 1 beer for every 3 slices of pizza.. But there is some flexibility</a:t>
                </a:r>
              </a:p>
            </p:txBody>
          </p:sp>
        </mc:Choice>
        <mc:Fallback xmlns="">
          <p:sp>
            <p:nvSpPr>
              <p:cNvPr id="3" name="Content Placeholder 2">
                <a:extLst>
                  <a:ext uri="{FF2B5EF4-FFF2-40B4-BE49-F238E27FC236}">
                    <a16:creationId xmlns:a16="http://schemas.microsoft.com/office/drawing/2014/main" id="{8EEE50B2-D222-F55C-A838-8599DA8BDE8F}"/>
                  </a:ext>
                </a:extLst>
              </p:cNvPr>
              <p:cNvSpPr>
                <a:spLocks noGrp="1" noRot="1" noChangeAspect="1" noMove="1" noResize="1" noEditPoints="1" noAdjustHandles="1" noChangeArrowheads="1" noChangeShapeType="1" noTextEdit="1"/>
              </p:cNvSpPr>
              <p:nvPr>
                <p:ph idx="1"/>
              </p:nvPr>
            </p:nvSpPr>
            <p:spPr>
              <a:blipFill>
                <a:blip r:embed="rId2"/>
                <a:stretch>
                  <a:fillRect l="-1086" t="-2326" b="-3198"/>
                </a:stretch>
              </a:blipFill>
            </p:spPr>
            <p:txBody>
              <a:bodyPr/>
              <a:lstStyle/>
              <a:p>
                <a:r>
                  <a:rPr lang="en-US">
                    <a:noFill/>
                  </a:rPr>
                  <a:t> </a:t>
                </a:r>
              </a:p>
            </p:txBody>
          </p:sp>
        </mc:Fallback>
      </mc:AlternateContent>
    </p:spTree>
    <p:extLst>
      <p:ext uri="{BB962C8B-B14F-4D97-AF65-F5344CB8AC3E}">
        <p14:creationId xmlns:p14="http://schemas.microsoft.com/office/powerpoint/2010/main" val="2457798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4950-48EB-8CBA-A43D-6946C4CDD430}"/>
              </a:ext>
            </a:extLst>
          </p:cNvPr>
          <p:cNvSpPr>
            <a:spLocks noGrp="1"/>
          </p:cNvSpPr>
          <p:nvPr>
            <p:ph type="title"/>
          </p:nvPr>
        </p:nvSpPr>
        <p:spPr/>
        <p:txBody>
          <a:bodyPr/>
          <a:lstStyle/>
          <a:p>
            <a:r>
              <a:rPr lang="en-US" dirty="0"/>
              <a:t>New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9C9BB4-D5FE-8727-A3DB-C80E627B1DCF}"/>
                  </a:ext>
                </a:extLst>
              </p:cNvPr>
              <p:cNvSpPr>
                <a:spLocks noGrp="1"/>
              </p:cNvSpPr>
              <p:nvPr>
                <p:ph idx="1"/>
              </p:nvPr>
            </p:nvSpPr>
            <p:spPr/>
            <p:txBody>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goods consumed,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Parameters: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r>
                  <a:rPr lang="en-US" dirty="0"/>
                  <a:t>: reference share of consumption for consumer </a:t>
                </a:r>
                <a14:m>
                  <m:oMath xmlns:m="http://schemas.openxmlformats.org/officeDocument/2006/math">
                    <m:r>
                      <a:rPr lang="en-US" b="0" i="1" smtClean="0">
                        <a:latin typeface="Cambria Math" panose="02040503050406030204" pitchFamily="18" charset="0"/>
                      </a:rPr>
                      <m:t>𝑖</m:t>
                    </m:r>
                  </m:oMath>
                </a14:m>
                <a:r>
                  <a:rPr lang="en-US" b="0" dirty="0"/>
                  <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a14:m>
                <a:endParaRPr lang="en-US" b="0" dirty="0"/>
              </a:p>
              <a:p>
                <a:pPr marL="0" indent="0">
                  <a:buNone/>
                </a:pPr>
                <a14:m>
                  <m:oMath xmlns:m="http://schemas.openxmlformats.org/officeDocument/2006/math">
                    <m:r>
                      <a:rPr lang="en-US" b="0" i="1" smtClean="0">
                        <a:latin typeface="Cambria Math" panose="02040503050406030204" pitchFamily="18" charset="0"/>
                      </a:rPr>
                      <m:t>𝛽</m:t>
                    </m:r>
                  </m:oMath>
                </a14:m>
                <a:r>
                  <a:rPr lang="en-US" b="0" dirty="0"/>
                  <a:t>: scaling parameter for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oMath>
                </a14:m>
                <a:r>
                  <a:rPr lang="en-US" dirty="0"/>
                  <a:t>: parameters for supply curves for goods </a:t>
                </a:r>
                <a14:m>
                  <m:oMath xmlns:m="http://schemas.openxmlformats.org/officeDocument/2006/math">
                    <m:r>
                      <a:rPr lang="en-US" b="0" i="1" smtClean="0">
                        <a:latin typeface="Cambria Math" panose="02040503050406030204" pitchFamily="18" charset="0"/>
                      </a:rPr>
                      <m:t>𝑖</m:t>
                    </m:r>
                  </m:oMath>
                </a14:m>
                <a:endParaRPr lang="en-US" dirty="0"/>
              </a:p>
            </p:txBody>
          </p:sp>
        </mc:Choice>
        <mc:Fallback xmlns="">
          <p:sp>
            <p:nvSpPr>
              <p:cNvPr id="3" name="Content Placeholder 2">
                <a:extLst>
                  <a:ext uri="{FF2B5EF4-FFF2-40B4-BE49-F238E27FC236}">
                    <a16:creationId xmlns:a16="http://schemas.microsoft.com/office/drawing/2014/main" id="{8E9C9BB4-D5FE-8727-A3DB-C80E627B1DC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36586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66F9-1673-C95A-BA25-899EAF427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67F27-340A-1DDE-4FAD-B33A18BD3CBE}"/>
              </a:ext>
            </a:extLst>
          </p:cNvPr>
          <p:cNvSpPr>
            <a:spLocks noGrp="1"/>
          </p:cNvSpPr>
          <p:nvPr>
            <p:ph type="title"/>
          </p:nvPr>
        </p:nvSpPr>
        <p:spPr/>
        <p:txBody>
          <a:bodyPr/>
          <a:lstStyle/>
          <a:p>
            <a:r>
              <a:rPr lang="en-US" dirty="0"/>
              <a:t>New model: Simple 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4B0B19-97F9-8BF9-03CE-70DF1547DF7C}"/>
                  </a:ext>
                </a:extLst>
              </p:cNvPr>
              <p:cNvSpPr>
                <a:spLocks noGrp="1"/>
              </p:cNvSpPr>
              <p:nvPr>
                <p:ph idx="1"/>
              </p:nvPr>
            </p:nvSpPr>
            <p:spPr/>
            <p:txBody>
              <a:bodyPr>
                <a:normAutofit fontScale="925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Objective is to maximize utility: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xmlns="">
          <p:sp>
            <p:nvSpPr>
              <p:cNvPr id="3" name="Content Placeholder 2">
                <a:extLst>
                  <a:ext uri="{FF2B5EF4-FFF2-40B4-BE49-F238E27FC236}">
                    <a16:creationId xmlns:a16="http://schemas.microsoft.com/office/drawing/2014/main" id="{134B0B19-97F9-8BF9-03CE-70DF1547DF7C}"/>
                  </a:ext>
                </a:extLst>
              </p:cNvPr>
              <p:cNvSpPr>
                <a:spLocks noGrp="1" noRot="1" noChangeAspect="1" noMove="1" noResize="1" noEditPoints="1" noAdjustHandles="1" noChangeArrowheads="1" noChangeShapeType="1" noTextEdit="1"/>
              </p:cNvSpPr>
              <p:nvPr>
                <p:ph idx="1"/>
              </p:nvPr>
            </p:nvSpPr>
            <p:spPr>
              <a:blipFill>
                <a:blip r:embed="rId2"/>
                <a:stretch>
                  <a:fillRect l="-1086" t="-3488" b="-4127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549FDE9-8B2D-3A20-70AC-E61458EDA35F}"/>
              </a:ext>
            </a:extLst>
          </p:cNvPr>
          <p:cNvSpPr txBox="1"/>
          <p:nvPr/>
        </p:nvSpPr>
        <p:spPr>
          <a:xfrm>
            <a:off x="7928811" y="5269881"/>
            <a:ext cx="3347391" cy="369332"/>
          </a:xfrm>
          <a:prstGeom prst="rect">
            <a:avLst/>
          </a:prstGeom>
          <a:noFill/>
        </p:spPr>
        <p:txBody>
          <a:bodyPr wrap="none" rtlCol="0">
            <a:spAutoFit/>
          </a:bodyPr>
          <a:lstStyle/>
          <a:p>
            <a:r>
              <a:rPr lang="en-US" dirty="0"/>
              <a:t>Can add simple taxes/subsidies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2E4D04-E2D6-85DB-635A-67DD37905213}"/>
                  </a:ext>
                </a:extLst>
              </p:cNvPr>
              <p:cNvSpPr txBox="1"/>
              <p:nvPr/>
            </p:nvSpPr>
            <p:spPr>
              <a:xfrm>
                <a:off x="8557518" y="3232488"/>
                <a:ext cx="2515432" cy="690638"/>
              </a:xfrm>
              <a:prstGeom prst="rect">
                <a:avLst/>
              </a:prstGeom>
              <a:noFill/>
            </p:spPr>
            <p:txBody>
              <a:bodyPr wrap="none" rtlCol="0">
                <a:spAutoFit/>
              </a:bodyPr>
              <a:lstStyle/>
              <a:p>
                <a:r>
                  <a:rPr lang="en-US" dirty="0"/>
                  <a:t>Think of Cobb-Douglas:</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𝑝𝑖𝑧𝑧𝑎</m:t>
                          </m:r>
                        </m:sub>
                        <m:sup>
                          <m:r>
                            <a:rPr lang="en-US" b="0" i="1" smtClean="0">
                              <a:latin typeface="Cambria Math" panose="02040503050406030204" pitchFamily="18" charset="0"/>
                            </a:rPr>
                            <m:t>𝛼</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𝑏𝑒𝑒𝑟</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oMath>
                  </m:oMathPara>
                </a14:m>
                <a:endParaRPr lang="en-US" dirty="0"/>
              </a:p>
            </p:txBody>
          </p:sp>
        </mc:Choice>
        <mc:Fallback xmlns="">
          <p:sp>
            <p:nvSpPr>
              <p:cNvPr id="5" name="TextBox 4">
                <a:extLst>
                  <a:ext uri="{FF2B5EF4-FFF2-40B4-BE49-F238E27FC236}">
                    <a16:creationId xmlns:a16="http://schemas.microsoft.com/office/drawing/2014/main" id="{AA2E4D04-E2D6-85DB-635A-67DD37905213}"/>
                  </a:ext>
                </a:extLst>
              </p:cNvPr>
              <p:cNvSpPr txBox="1">
                <a:spLocks noRot="1" noChangeAspect="1" noMove="1" noResize="1" noEditPoints="1" noAdjustHandles="1" noChangeArrowheads="1" noChangeShapeType="1" noTextEdit="1"/>
              </p:cNvSpPr>
              <p:nvPr/>
            </p:nvSpPr>
            <p:spPr>
              <a:xfrm>
                <a:off x="8557518" y="3232488"/>
                <a:ext cx="2515432" cy="690638"/>
              </a:xfrm>
              <a:prstGeom prst="rect">
                <a:avLst/>
              </a:prstGeom>
              <a:blipFill>
                <a:blip r:embed="rId3"/>
                <a:stretch>
                  <a:fillRect l="-2010" t="-3571" r="-1508" b="-357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DB4E36B9-912E-E7BD-91A4-33C4BD31C491}"/>
              </a:ext>
            </a:extLst>
          </p:cNvPr>
          <p:cNvCxnSpPr>
            <a:stCxn id="5" idx="1"/>
          </p:cNvCxnSpPr>
          <p:nvPr/>
        </p:nvCxnSpPr>
        <p:spPr>
          <a:xfrm flipH="1">
            <a:off x="7603958" y="3577807"/>
            <a:ext cx="953560" cy="423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72E01A2-6EDF-17A5-3C74-27413D750760}"/>
              </a:ext>
            </a:extLst>
          </p:cNvPr>
          <p:cNvCxnSpPr>
            <a:cxnSpLocks/>
            <a:stCxn id="4" idx="1"/>
          </p:cNvCxnSpPr>
          <p:nvPr/>
        </p:nvCxnSpPr>
        <p:spPr>
          <a:xfrm flipH="1">
            <a:off x="7002379" y="5454547"/>
            <a:ext cx="9264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0528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73DD-CF49-C95E-12E1-1611D93F3547}"/>
              </a:ext>
            </a:extLst>
          </p:cNvPr>
          <p:cNvSpPr>
            <a:spLocks noGrp="1"/>
          </p:cNvSpPr>
          <p:nvPr>
            <p:ph type="title"/>
          </p:nvPr>
        </p:nvSpPr>
        <p:spPr/>
        <p:txBody>
          <a:bodyPr/>
          <a:lstStyle/>
          <a:p>
            <a:r>
              <a:rPr lang="en-US" dirty="0"/>
              <a:t>Simple counterfactuals</a:t>
            </a:r>
          </a:p>
        </p:txBody>
      </p:sp>
      <p:sp>
        <p:nvSpPr>
          <p:cNvPr id="3" name="Content Placeholder 2">
            <a:extLst>
              <a:ext uri="{FF2B5EF4-FFF2-40B4-BE49-F238E27FC236}">
                <a16:creationId xmlns:a16="http://schemas.microsoft.com/office/drawing/2014/main" id="{6AB4A9E4-FC21-EF39-AD31-5974AC9C3076}"/>
              </a:ext>
            </a:extLst>
          </p:cNvPr>
          <p:cNvSpPr>
            <a:spLocks noGrp="1"/>
          </p:cNvSpPr>
          <p:nvPr>
            <p:ph idx="1"/>
          </p:nvPr>
        </p:nvSpPr>
        <p:spPr/>
        <p:txBody>
          <a:bodyPr/>
          <a:lstStyle/>
          <a:p>
            <a:r>
              <a:rPr lang="en-US" dirty="0"/>
              <a:t>What if Woody’s raises it’s pizza price by 10%?</a:t>
            </a:r>
          </a:p>
          <a:p>
            <a:r>
              <a:rPr lang="en-US" dirty="0"/>
              <a:t>What if our agent makes 50% more money?</a:t>
            </a:r>
          </a:p>
        </p:txBody>
      </p:sp>
    </p:spTree>
    <p:extLst>
      <p:ext uri="{BB962C8B-B14F-4D97-AF65-F5344CB8AC3E}">
        <p14:creationId xmlns:p14="http://schemas.microsoft.com/office/powerpoint/2010/main" val="377765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DBB4-6F1D-4427-6AF8-3C6108636337}"/>
              </a:ext>
            </a:extLst>
          </p:cNvPr>
          <p:cNvSpPr>
            <a:spLocks noGrp="1"/>
          </p:cNvSpPr>
          <p:nvPr>
            <p:ph type="title"/>
          </p:nvPr>
        </p:nvSpPr>
        <p:spPr/>
        <p:txBody>
          <a:bodyPr/>
          <a:lstStyle/>
          <a:p>
            <a:r>
              <a:rPr lang="en-US" dirty="0"/>
              <a:t>New model: Variables, Objective, 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FB3AA9-648B-6318-FDB9-0E996557C0F6}"/>
                  </a:ext>
                </a:extLst>
              </p:cNvPr>
              <p:cNvSpPr>
                <a:spLocks noGrp="1"/>
              </p:cNvSpPr>
              <p:nvPr>
                <p:ph idx="1"/>
              </p:nvPr>
            </p:nvSpPr>
            <p:spPr/>
            <p:txBody>
              <a:bodyPr>
                <a:normAutofit lnSpcReduction="1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less supply costs: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r>
                        <a:rPr lang="en-US" b="0" i="1" smtClean="0">
                          <a:latin typeface="Cambria Math" panose="02040503050406030204" pitchFamily="18" charset="0"/>
                        </a:rPr>
                        <m:t>𝛽</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𝑠</m:t>
                                  </m:r>
                                </m:sub>
                              </m:sSub>
                            </m:sup>
                            <m:e>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e>
                          </m:nary>
                        </m:e>
                      </m:nary>
                    </m:oMath>
                  </m:oMathPara>
                </a14:m>
                <a:endParaRPr lang="en-US" dirty="0"/>
              </a:p>
              <a:p>
                <a:pPr marL="0" indent="0">
                  <a:buNone/>
                </a:pPr>
                <a:r>
                  <a:rPr lang="en-US" dirty="0" err="1"/>
                  <a:t>s.t.</a:t>
                </a:r>
                <a:r>
                  <a:rPr lang="en-US" dirty="0"/>
                  <a:t>:</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BDFB3AA9-648B-6318-FDB9-0E996557C0F6}"/>
                  </a:ext>
                </a:extLst>
              </p:cNvPr>
              <p:cNvSpPr>
                <a:spLocks noGrp="1" noRot="1" noChangeAspect="1" noMove="1" noResize="1" noEditPoints="1" noAdjustHandles="1" noChangeArrowheads="1" noChangeShapeType="1" noTextEdit="1"/>
              </p:cNvSpPr>
              <p:nvPr>
                <p:ph idx="1"/>
              </p:nvPr>
            </p:nvSpPr>
            <p:spPr>
              <a:blipFill>
                <a:blip r:embed="rId2"/>
                <a:stretch>
                  <a:fillRect l="-1206" t="-3198" b="-32558"/>
                </a:stretch>
              </a:blipFill>
            </p:spPr>
            <p:txBody>
              <a:bodyPr/>
              <a:lstStyle/>
              <a:p>
                <a:r>
                  <a:rPr lang="en-US">
                    <a:noFill/>
                  </a:rPr>
                  <a:t> </a:t>
                </a:r>
              </a:p>
            </p:txBody>
          </p:sp>
        </mc:Fallback>
      </mc:AlternateContent>
    </p:spTree>
    <p:extLst>
      <p:ext uri="{BB962C8B-B14F-4D97-AF65-F5344CB8AC3E}">
        <p14:creationId xmlns:p14="http://schemas.microsoft.com/office/powerpoint/2010/main" val="24299980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0D0D-B818-0E9A-C282-A24BCF2A3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5F365-9432-C716-FC44-AB99232592AD}"/>
              </a:ext>
            </a:extLst>
          </p:cNvPr>
          <p:cNvSpPr>
            <a:spLocks noGrp="1"/>
          </p:cNvSpPr>
          <p:nvPr>
            <p:ph type="title"/>
          </p:nvPr>
        </p:nvSpPr>
        <p:spPr/>
        <p:txBody>
          <a:bodyPr/>
          <a:lstStyle/>
          <a:p>
            <a:r>
              <a:rPr lang="en-US" dirty="0"/>
              <a:t>Another functional form.. Calibrated constant elasticity of substitution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7A1EAB-0E30-40E3-FF1A-6D37080F7389}"/>
                  </a:ext>
                </a:extLst>
              </p:cNvPr>
              <p:cNvSpPr>
                <a:spLocks noGrp="1"/>
              </p:cNvSpPr>
              <p:nvPr>
                <p:ph idx="1"/>
              </p:nvPr>
            </p:nvSpPr>
            <p:spPr/>
            <p:txBody>
              <a:bodyPr>
                <a:normAutofit fontScale="700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using a constant elasticity of substitution function: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𝑈</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num>
                                            <m:den>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den>
                                          </m:f>
                                        </m:e>
                                      </m:d>
                                    </m:e>
                                    <m:sup>
                                      <m:r>
                                        <a:rPr lang="en-US" b="0" i="1" smtClean="0">
                                          <a:latin typeface="Cambria Math" panose="02040503050406030204" pitchFamily="18" charset="0"/>
                                        </a:rPr>
                                        <m:t>𝜌</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𝜌</m:t>
                              </m:r>
                            </m:den>
                          </m:f>
                        </m:sup>
                      </m:sSup>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xmlns="">
          <p:sp>
            <p:nvSpPr>
              <p:cNvPr id="3" name="Content Placeholder 2">
                <a:extLst>
                  <a:ext uri="{FF2B5EF4-FFF2-40B4-BE49-F238E27FC236}">
                    <a16:creationId xmlns:a16="http://schemas.microsoft.com/office/drawing/2014/main" id="{947A1EAB-0E30-40E3-FF1A-6D37080F7389}"/>
                  </a:ext>
                </a:extLst>
              </p:cNvPr>
              <p:cNvSpPr>
                <a:spLocks noGrp="1" noRot="1" noChangeAspect="1" noMove="1" noResize="1" noEditPoints="1" noAdjustHandles="1" noChangeArrowheads="1" noChangeShapeType="1" noTextEdit="1"/>
              </p:cNvSpPr>
              <p:nvPr>
                <p:ph idx="1"/>
              </p:nvPr>
            </p:nvSpPr>
            <p:spPr>
              <a:blipFill>
                <a:blip r:embed="rId2"/>
                <a:stretch>
                  <a:fillRect l="-724" t="-2035" b="-29360"/>
                </a:stretch>
              </a:blipFill>
            </p:spPr>
            <p:txBody>
              <a:bodyPr/>
              <a:lstStyle/>
              <a:p>
                <a:r>
                  <a:rPr lang="en-US">
                    <a:noFill/>
                  </a:rPr>
                  <a:t> </a:t>
                </a:r>
              </a:p>
            </p:txBody>
          </p:sp>
        </mc:Fallback>
      </mc:AlternateContent>
    </p:spTree>
    <p:extLst>
      <p:ext uri="{BB962C8B-B14F-4D97-AF65-F5344CB8AC3E}">
        <p14:creationId xmlns:p14="http://schemas.microsoft.com/office/powerpoint/2010/main" val="20952384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E300-1045-BDA0-4D4F-E9970C58460C}"/>
              </a:ext>
            </a:extLst>
          </p:cNvPr>
          <p:cNvSpPr>
            <a:spLocks noGrp="1"/>
          </p:cNvSpPr>
          <p:nvPr>
            <p:ph type="title"/>
          </p:nvPr>
        </p:nvSpPr>
        <p:spPr/>
        <p:txBody>
          <a:bodyPr/>
          <a:lstStyle/>
          <a:p>
            <a:r>
              <a:rPr lang="en-US" dirty="0"/>
              <a:t>Calibration in the alternative setup…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E946A9-7442-BFCB-F6AC-C9AF0A174E54}"/>
                  </a:ext>
                </a:extLst>
              </p:cNvPr>
              <p:cNvSpPr>
                <a:spLocks noGrp="1"/>
              </p:cNvSpPr>
              <p:nvPr>
                <p:ph idx="1"/>
              </p:nvPr>
            </p:nvSpPr>
            <p:spPr/>
            <p:txBody>
              <a:bodyPr/>
              <a:lstStyle/>
              <a:p>
                <a:r>
                  <a:rPr lang="en-US" dirty="0"/>
                  <a:t>Need to only 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endParaRPr lang="en-US" dirty="0"/>
              </a:p>
              <a:p>
                <a:endParaRPr lang="en-US" dirty="0"/>
              </a:p>
              <a:p>
                <a:r>
                  <a:rPr lang="en-US" dirty="0"/>
                  <a:t>Can determine relative weighting such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𝑖</m:t>
                              </m:r>
                            </m:sub>
                          </m:sSub>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m:rPr>
                                  <m:nor/>
                                </m:rPr>
                                <a:rPr lang="en-US" dirty="0"/>
                                <m:t> </m:t>
                              </m:r>
                            </m:e>
                          </m:nary>
                        </m:den>
                      </m:f>
                    </m:oMath>
                  </m:oMathPara>
                </a14:m>
                <a:endParaRPr lang="en-US" dirty="0"/>
              </a:p>
            </p:txBody>
          </p:sp>
        </mc:Choice>
        <mc:Fallback xmlns="">
          <p:sp>
            <p:nvSpPr>
              <p:cNvPr id="3" name="Content Placeholder 2">
                <a:extLst>
                  <a:ext uri="{FF2B5EF4-FFF2-40B4-BE49-F238E27FC236}">
                    <a16:creationId xmlns:a16="http://schemas.microsoft.com/office/drawing/2014/main" id="{1FE946A9-7442-BFCB-F6AC-C9AF0A174E54}"/>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403437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DD29D-6A98-35CE-376F-43BE093E10EB}"/>
              </a:ext>
            </a:extLst>
          </p:cNvPr>
          <p:cNvSpPr>
            <a:spLocks noGrp="1"/>
          </p:cNvSpPr>
          <p:nvPr>
            <p:ph type="title"/>
          </p:nvPr>
        </p:nvSpPr>
        <p:spPr/>
        <p:txBody>
          <a:bodyPr/>
          <a:lstStyle/>
          <a:p>
            <a:r>
              <a:rPr lang="en-US" dirty="0"/>
              <a:t>Let’s do a real-world example..</a:t>
            </a:r>
          </a:p>
        </p:txBody>
      </p:sp>
      <p:sp>
        <p:nvSpPr>
          <p:cNvPr id="3" name="Content Placeholder 2">
            <a:extLst>
              <a:ext uri="{FF2B5EF4-FFF2-40B4-BE49-F238E27FC236}">
                <a16:creationId xmlns:a16="http://schemas.microsoft.com/office/drawing/2014/main" id="{B378199F-0563-3683-E40A-E0B2EF4D72B7}"/>
              </a:ext>
            </a:extLst>
          </p:cNvPr>
          <p:cNvSpPr>
            <a:spLocks noGrp="1"/>
          </p:cNvSpPr>
          <p:nvPr>
            <p:ph idx="1"/>
          </p:nvPr>
        </p:nvSpPr>
        <p:spPr/>
        <p:txBody>
          <a:bodyPr/>
          <a:lstStyle/>
          <a:p>
            <a:r>
              <a:rPr lang="en-US" dirty="0"/>
              <a:t>Comparison of electricity versus petroleum demands in the US light duty transport sector</a:t>
            </a:r>
          </a:p>
          <a:p>
            <a:r>
              <a:rPr lang="en-US" dirty="0"/>
              <a:t>Not doing supply (yet) – will add on exports </a:t>
            </a:r>
            <a:r>
              <a:rPr lang="en-US" dirty="0" err="1"/>
              <a:t>etc</a:t>
            </a:r>
            <a:endParaRPr lang="en-US" dirty="0"/>
          </a:p>
          <a:p>
            <a:endParaRPr lang="en-US" dirty="0"/>
          </a:p>
        </p:txBody>
      </p:sp>
    </p:spTree>
    <p:extLst>
      <p:ext uri="{BB962C8B-B14F-4D97-AF65-F5344CB8AC3E}">
        <p14:creationId xmlns:p14="http://schemas.microsoft.com/office/powerpoint/2010/main" val="3087771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4A49-0478-E41A-084E-6DB3D128A68F}"/>
              </a:ext>
            </a:extLst>
          </p:cNvPr>
          <p:cNvSpPr>
            <a:spLocks noGrp="1"/>
          </p:cNvSpPr>
          <p:nvPr>
            <p:ph type="title"/>
          </p:nvPr>
        </p:nvSpPr>
        <p:spPr/>
        <p:txBody>
          <a:bodyPr/>
          <a:lstStyle/>
          <a:p>
            <a:r>
              <a:rPr lang="en-US" dirty="0"/>
              <a:t>Points of these exercises..</a:t>
            </a:r>
          </a:p>
        </p:txBody>
      </p:sp>
      <p:sp>
        <p:nvSpPr>
          <p:cNvPr id="3" name="Content Placeholder 2">
            <a:extLst>
              <a:ext uri="{FF2B5EF4-FFF2-40B4-BE49-F238E27FC236}">
                <a16:creationId xmlns:a16="http://schemas.microsoft.com/office/drawing/2014/main" id="{5C285840-B294-C163-3B01-A48912D9EBB6}"/>
              </a:ext>
            </a:extLst>
          </p:cNvPr>
          <p:cNvSpPr>
            <a:spLocks noGrp="1"/>
          </p:cNvSpPr>
          <p:nvPr>
            <p:ph idx="1"/>
          </p:nvPr>
        </p:nvSpPr>
        <p:spPr>
          <a:xfrm>
            <a:off x="838200" y="1825625"/>
            <a:ext cx="10515600" cy="4117975"/>
          </a:xfrm>
        </p:spPr>
        <p:txBody>
          <a:bodyPr/>
          <a:lstStyle/>
          <a:p>
            <a:r>
              <a:rPr lang="en-US" dirty="0"/>
              <a:t>You can flexibly represent the consumption and production of goods in simplified setups</a:t>
            </a:r>
          </a:p>
          <a:p>
            <a:endParaRPr lang="en-US" dirty="0"/>
          </a:p>
          <a:p>
            <a:r>
              <a:rPr lang="en-US" dirty="0"/>
              <a:t>Ties it back to all our econ models – utility maximization, profit maximization, …</a:t>
            </a:r>
          </a:p>
          <a:p>
            <a:endParaRPr lang="en-US" dirty="0"/>
          </a:p>
          <a:p>
            <a:r>
              <a:rPr lang="en-US" dirty="0"/>
              <a:t>Presents a strong need for calibration and calibrated functional forms</a:t>
            </a:r>
          </a:p>
        </p:txBody>
      </p:sp>
    </p:spTree>
    <p:extLst>
      <p:ext uri="{BB962C8B-B14F-4D97-AF65-F5344CB8AC3E}">
        <p14:creationId xmlns:p14="http://schemas.microsoft.com/office/powerpoint/2010/main" val="454986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BB6A-C2F9-8477-B2A5-A7AD47C75C36}"/>
              </a:ext>
            </a:extLst>
          </p:cNvPr>
          <p:cNvSpPr>
            <a:spLocks noGrp="1"/>
          </p:cNvSpPr>
          <p:nvPr>
            <p:ph type="title"/>
          </p:nvPr>
        </p:nvSpPr>
        <p:spPr>
          <a:xfrm>
            <a:off x="0" y="18255"/>
            <a:ext cx="10515600" cy="1325563"/>
          </a:xfrm>
        </p:spPr>
        <p:txBody>
          <a:bodyPr/>
          <a:lstStyle/>
          <a:p>
            <a:r>
              <a:rPr lang="en-US" dirty="0"/>
              <a:t>Choosing parameters and functional forms</a:t>
            </a:r>
          </a:p>
        </p:txBody>
      </p:sp>
      <p:sp>
        <p:nvSpPr>
          <p:cNvPr id="3" name="Content Placeholder 2">
            <a:extLst>
              <a:ext uri="{FF2B5EF4-FFF2-40B4-BE49-F238E27FC236}">
                <a16:creationId xmlns:a16="http://schemas.microsoft.com/office/drawing/2014/main" id="{F7A56098-00E9-5C6E-8549-2DF6592C000B}"/>
              </a:ext>
            </a:extLst>
          </p:cNvPr>
          <p:cNvSpPr>
            <a:spLocks noGrp="1"/>
          </p:cNvSpPr>
          <p:nvPr>
            <p:ph idx="1"/>
          </p:nvPr>
        </p:nvSpPr>
        <p:spPr>
          <a:xfrm>
            <a:off x="838200" y="1299411"/>
            <a:ext cx="10515600" cy="4877552"/>
          </a:xfrm>
        </p:spPr>
        <p:txBody>
          <a:bodyPr>
            <a:normAutofit lnSpcReduction="10000"/>
          </a:bodyPr>
          <a:lstStyle/>
          <a:p>
            <a:r>
              <a:rPr lang="en-US" dirty="0"/>
              <a:t>Easy to find P/Q pairs, search literature for elasticity values</a:t>
            </a:r>
          </a:p>
          <a:p>
            <a:r>
              <a:rPr lang="en-US" dirty="0"/>
              <a:t>Examples with TRACT, </a:t>
            </a:r>
            <a:r>
              <a:rPr lang="en-US" dirty="0" err="1"/>
              <a:t>BioTrans</a:t>
            </a:r>
            <a:r>
              <a:rPr lang="en-US" dirty="0"/>
              <a:t>, REE model, FINITO, …</a:t>
            </a:r>
          </a:p>
          <a:p>
            <a:r>
              <a:rPr lang="en-US" dirty="0"/>
              <a:t>Need for the final/calibrated P to match up to sum of costs</a:t>
            </a:r>
          </a:p>
          <a:p>
            <a:pPr lvl="1"/>
            <a:r>
              <a:rPr lang="en-US" dirty="0"/>
              <a:t>Especially true for supply chain and engineering models</a:t>
            </a:r>
          </a:p>
          <a:p>
            <a:pPr lvl="1"/>
            <a:r>
              <a:rPr lang="en-US" dirty="0"/>
              <a:t>Can solve with inelastic demand to disentangle price</a:t>
            </a:r>
          </a:p>
          <a:p>
            <a:r>
              <a:rPr lang="en-US" dirty="0"/>
              <a:t>Usually pulling values through a system</a:t>
            </a:r>
          </a:p>
          <a:p>
            <a:r>
              <a:rPr lang="en-US" dirty="0"/>
              <a:t>Note – we still do not have explicit and simultaneous price/quantity control </a:t>
            </a:r>
          </a:p>
          <a:p>
            <a:r>
              <a:rPr lang="en-US" dirty="0"/>
              <a:t>For econ proofs/theories – you will need to spend time justifying assumptions implied in form choice</a:t>
            </a:r>
          </a:p>
          <a:p>
            <a:pPr lvl="1"/>
            <a:r>
              <a:rPr lang="en-US" dirty="0"/>
              <a:t>E.g. homogeneity, homotheticity, substitutability, … </a:t>
            </a:r>
          </a:p>
        </p:txBody>
      </p:sp>
      <p:sp>
        <p:nvSpPr>
          <p:cNvPr id="5" name="TextBox 4">
            <a:extLst>
              <a:ext uri="{FF2B5EF4-FFF2-40B4-BE49-F238E27FC236}">
                <a16:creationId xmlns:a16="http://schemas.microsoft.com/office/drawing/2014/main" id="{3CDF7C15-6536-06EC-05DA-FE8125533A9A}"/>
              </a:ext>
            </a:extLst>
          </p:cNvPr>
          <p:cNvSpPr txBox="1"/>
          <p:nvPr/>
        </p:nvSpPr>
        <p:spPr>
          <a:xfrm>
            <a:off x="1340518" y="5934670"/>
            <a:ext cx="9510963" cy="923330"/>
          </a:xfrm>
          <a:prstGeom prst="rect">
            <a:avLst/>
          </a:prstGeom>
          <a:noFill/>
        </p:spPr>
        <p:txBody>
          <a:bodyPr wrap="square">
            <a:spAutoFit/>
          </a:bodyPr>
          <a:lstStyle/>
          <a:p>
            <a:r>
              <a:rPr lang="en-US" dirty="0">
                <a:hlinkClick r:id="rId2"/>
              </a:rPr>
              <a:t>https://windc.wisc.edu/downloads/summercourse_2021/thursday/ces.pdf</a:t>
            </a:r>
            <a:endParaRPr lang="en-US" dirty="0"/>
          </a:p>
          <a:p>
            <a:r>
              <a:rPr lang="en-US" dirty="0">
                <a:hlinkClick r:id="rId3"/>
              </a:rPr>
              <a:t>https://www2.econ.iastate.edu/classes/econ501/Hallam/documents/FunctionalForms.pdf</a:t>
            </a:r>
            <a:endParaRPr lang="en-US" dirty="0"/>
          </a:p>
          <a:p>
            <a:r>
              <a:rPr lang="en-US" dirty="0"/>
              <a:t> </a:t>
            </a:r>
          </a:p>
        </p:txBody>
      </p:sp>
    </p:spTree>
    <p:extLst>
      <p:ext uri="{BB962C8B-B14F-4D97-AF65-F5344CB8AC3E}">
        <p14:creationId xmlns:p14="http://schemas.microsoft.com/office/powerpoint/2010/main" val="3096419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4" name="Rectangle 3093">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7E2BC-6373-E2E3-2067-2FBA3C360A14}"/>
              </a:ext>
            </a:extLst>
          </p:cNvPr>
          <p:cNvSpPr>
            <a:spLocks noGrp="1"/>
          </p:cNvSpPr>
          <p:nvPr>
            <p:ph type="title"/>
          </p:nvPr>
        </p:nvSpPr>
        <p:spPr>
          <a:xfrm>
            <a:off x="645064" y="525982"/>
            <a:ext cx="4282983" cy="1200361"/>
          </a:xfrm>
        </p:spPr>
        <p:txBody>
          <a:bodyPr anchor="b">
            <a:normAutofit/>
          </a:bodyPr>
          <a:lstStyle/>
          <a:p>
            <a:r>
              <a:rPr lang="en-US" sz="3600"/>
              <a:t>Ramsey model – main points</a:t>
            </a:r>
          </a:p>
        </p:txBody>
      </p:sp>
      <p:sp>
        <p:nvSpPr>
          <p:cNvPr id="3096" name="Rectangle 309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0CBF7C-688F-D01D-A986-33AF86AB4992}"/>
              </a:ext>
            </a:extLst>
          </p:cNvPr>
          <p:cNvSpPr>
            <a:spLocks noGrp="1"/>
          </p:cNvSpPr>
          <p:nvPr>
            <p:ph idx="1"/>
          </p:nvPr>
        </p:nvSpPr>
        <p:spPr>
          <a:xfrm>
            <a:off x="645066" y="2031101"/>
            <a:ext cx="4282984" cy="3511943"/>
          </a:xfrm>
        </p:spPr>
        <p:txBody>
          <a:bodyPr anchor="ctr">
            <a:normAutofit/>
          </a:bodyPr>
          <a:lstStyle/>
          <a:p>
            <a:r>
              <a:rPr lang="en-US" sz="1800"/>
              <a:t>(simple) economic growth model based on labor growth, capital accumulation, investment</a:t>
            </a:r>
          </a:p>
          <a:p>
            <a:r>
              <a:rPr lang="en-US" sz="1800"/>
              <a:t>Target of optimization is intertemporal utility</a:t>
            </a:r>
          </a:p>
          <a:p>
            <a:r>
              <a:rPr lang="en-US" sz="1800"/>
              <a:t>Two variables define output: capital and labor</a:t>
            </a:r>
          </a:p>
          <a:p>
            <a:r>
              <a:rPr lang="en-US" sz="1800"/>
              <a:t>Concept of the steady state</a:t>
            </a:r>
          </a:p>
          <a:p>
            <a:r>
              <a:rPr lang="en-US" sz="1800"/>
              <a:t>Barr-Manne terminal investment condition</a:t>
            </a:r>
          </a:p>
        </p:txBody>
      </p:sp>
      <p:sp>
        <p:nvSpPr>
          <p:cNvPr id="3098" name="Rectangle 309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Rectangle 309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60E6E1D-D982-1A69-4C20-B3C442BABB33}"/>
              </a:ext>
            </a:extLst>
          </p:cNvPr>
          <p:cNvPicPr>
            <a:picLocks noChangeAspect="1"/>
          </p:cNvPicPr>
          <p:nvPr/>
        </p:nvPicPr>
        <p:blipFill>
          <a:blip r:embed="rId2"/>
          <a:stretch>
            <a:fillRect/>
          </a:stretch>
        </p:blipFill>
        <p:spPr>
          <a:xfrm>
            <a:off x="5987738" y="709607"/>
            <a:ext cx="5628018" cy="5205916"/>
          </a:xfrm>
          <a:prstGeom prst="rect">
            <a:avLst/>
          </a:prstGeom>
        </p:spPr>
      </p:pic>
    </p:spTree>
    <p:extLst>
      <p:ext uri="{BB962C8B-B14F-4D97-AF65-F5344CB8AC3E}">
        <p14:creationId xmlns:p14="http://schemas.microsoft.com/office/powerpoint/2010/main" val="1011209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E098-14E0-5DA5-F1DE-AC22D87636D1}"/>
              </a:ext>
            </a:extLst>
          </p:cNvPr>
          <p:cNvSpPr>
            <a:spLocks noGrp="1"/>
          </p:cNvSpPr>
          <p:nvPr>
            <p:ph type="title"/>
          </p:nvPr>
        </p:nvSpPr>
        <p:spPr/>
        <p:txBody>
          <a:bodyPr/>
          <a:lstStyle/>
          <a:p>
            <a:r>
              <a:rPr lang="en-US" dirty="0"/>
              <a:t>The Ramsey model – indices,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57024C-AC75-343E-4D26-B9FD26FD111C}"/>
                  </a:ext>
                </a:extLst>
              </p:cNvPr>
              <p:cNvSpPr>
                <a:spLocks noGrp="1"/>
              </p:cNvSpPr>
              <p:nvPr>
                <p:ph idx="1"/>
              </p:nvPr>
            </p:nvSpPr>
            <p:spPr/>
            <p:txBody>
              <a:bodyPr>
                <a:normAutofit fontScale="92500" lnSpcReduction="10000"/>
              </a:bodyPr>
              <a:lstStyle/>
              <a:p>
                <a:pPr marL="0" indent="0">
                  <a:buNone/>
                </a:pPr>
                <a:r>
                  <a:rPr lang="en-US" sz="1800" dirty="0"/>
                  <a:t>Indices</a:t>
                </a:r>
              </a:p>
              <a:p>
                <a:pPr marL="0" indent="0">
                  <a:buNone/>
                </a:pPr>
                <a14:m>
                  <m:oMath xmlns:m="http://schemas.openxmlformats.org/officeDocument/2006/math">
                    <m:r>
                      <a:rPr lang="en-US" sz="1800" b="0" i="1" smtClean="0">
                        <a:latin typeface="Cambria Math" panose="02040503050406030204" pitchFamily="18" charset="0"/>
                      </a:rPr>
                      <m:t>𝑡</m:t>
                    </m:r>
                  </m:oMath>
                </a14:m>
                <a:r>
                  <a:rPr lang="en-US" sz="1800" dirty="0"/>
                  <a:t>: time</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0</m:t>
                        </m:r>
                      </m:sub>
                    </m:sSub>
                  </m:oMath>
                </a14:m>
                <a:r>
                  <a:rPr lang="en-US" sz="1800" dirty="0"/>
                  <a:t>: initial period</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𝑇</m:t>
                        </m:r>
                      </m:sub>
                    </m:sSub>
                  </m:oMath>
                </a14:m>
                <a:r>
                  <a:rPr lang="en-US" sz="1800" dirty="0"/>
                  <a:t>: final period</a:t>
                </a:r>
              </a:p>
              <a:p>
                <a:pPr marL="0" indent="0">
                  <a:buNone/>
                </a:pPr>
                <a:endParaRPr lang="en-US" sz="1800" dirty="0"/>
              </a:p>
              <a:p>
                <a:pPr marL="0" indent="0">
                  <a:buNone/>
                </a:pPr>
                <a:r>
                  <a:rPr lang="en-US" sz="1800" dirty="0"/>
                  <a:t>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i="1" dirty="0" smtClean="0">
                        <a:effectLst/>
                        <a:latin typeface="Cambria Math" panose="02040503050406030204" pitchFamily="18" charset="0"/>
                      </a:rPr>
                      <m:t>𝑔</m:t>
                    </m:r>
                  </m:oMath>
                </a14:m>
                <a:r>
                  <a:rPr lang="en-US" sz="1800" dirty="0">
                    <a:effectLst/>
                  </a:rPr>
                  <a:t> Labor growth rate in efficiency units (% / </a:t>
                </a:r>
                <a:r>
                  <a:rPr lang="en-US" sz="1800" dirty="0" err="1">
                    <a:effectLst/>
                  </a:rPr>
                  <a:t>yr</a:t>
                </a:r>
                <a:r>
                  <a:rPr lang="en-US" sz="1800" dirty="0">
                    <a:effectLst/>
                  </a:rPr>
                  <a:t>) </a:t>
                </a:r>
                <a:endParaRPr lang="en-US" sz="1800" dirty="0"/>
              </a:p>
              <a:p>
                <a14:m>
                  <m:oMath xmlns:m="http://schemas.openxmlformats.org/officeDocument/2006/math">
                    <m:r>
                      <a:rPr lang="en-US" sz="1800" b="0" i="1" smtClean="0">
                        <a:effectLst/>
                        <a:latin typeface="Cambria Math" panose="02040503050406030204" pitchFamily="18" charset="0"/>
                      </a:rPr>
                      <m:t>𝛿</m:t>
                    </m:r>
                  </m:oMath>
                </a14:m>
                <a:r>
                  <a:rPr lang="en-US" sz="1800" dirty="0">
                    <a:effectLst/>
                  </a:rPr>
                  <a:t> Capital depreciation rate (% / </a:t>
                </a:r>
                <a:r>
                  <a:rPr lang="en-US" sz="1800" dirty="0" err="1">
                    <a:effectLst/>
                  </a:rPr>
                  <a:t>yr</a:t>
                </a:r>
                <a:r>
                  <a:rPr lang="en-US" sz="1800" dirty="0">
                    <a:effectLst/>
                  </a:rPr>
                  <a:t>)</a:t>
                </a:r>
              </a:p>
              <a:p>
                <a14:m>
                  <m:oMath xmlns:m="http://schemas.openxmlformats.org/officeDocument/2006/math">
                    <m:r>
                      <a:rPr lang="en-US" sz="1800" b="0" i="1" smtClean="0">
                        <a:effectLst/>
                        <a:latin typeface="Cambria Math" panose="02040503050406030204" pitchFamily="18" charset="0"/>
                      </a:rPr>
                      <m:t>𝛼</m:t>
                    </m:r>
                  </m:oMath>
                </a14:m>
                <a:r>
                  <a:rPr lang="en-US" sz="1800" dirty="0">
                    <a:effectLst/>
                  </a:rPr>
                  <a:t> Capital value share </a:t>
                </a:r>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a:p>
                <a14:m>
                  <m:oMath xmlns:m="http://schemas.openxmlformats.org/officeDocument/2006/math">
                    <m:r>
                      <a:rPr lang="en-US" sz="1800" b="0" i="1" dirty="0" smtClean="0">
                        <a:effectLst/>
                        <a:latin typeface="Cambria Math" panose="02040503050406030204" pitchFamily="18" charset="0"/>
                      </a:rPr>
                      <m:t>𝜌</m:t>
                    </m:r>
                  </m:oMath>
                </a14:m>
                <a:r>
                  <a:rPr lang="en-US" sz="1800" dirty="0">
                    <a:effectLst/>
                  </a:rPr>
                  <a:t> Calibrated marginal product of capital </a:t>
                </a:r>
              </a:p>
              <a:p>
                <a14:m>
                  <m:oMath xmlns:m="http://schemas.openxmlformats.org/officeDocument/2006/math">
                    <m:r>
                      <a:rPr lang="en-US" sz="1800" b="0" i="1" smtClean="0">
                        <a:effectLst/>
                        <a:latin typeface="Cambria Math" panose="02040503050406030204" pitchFamily="18" charset="0"/>
                      </a:rPr>
                      <m:t>𝑎</m:t>
                    </m:r>
                  </m:oMath>
                </a14:m>
                <a:r>
                  <a:rPr lang="en-US" sz="1800" dirty="0">
                    <a:effectLst/>
                  </a:rPr>
                  <a:t> Cobb Douglas scale parameter; </a:t>
                </a: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EB57024C-AC75-343E-4D26-B9FD26FD111C}"/>
                  </a:ext>
                </a:extLst>
              </p:cNvPr>
              <p:cNvSpPr>
                <a:spLocks noGrp="1" noRot="1" noChangeAspect="1" noMove="1" noResize="1" noEditPoints="1" noAdjustHandles="1" noChangeArrowheads="1" noChangeShapeType="1" noTextEdit="1"/>
              </p:cNvSpPr>
              <p:nvPr>
                <p:ph idx="1"/>
              </p:nvPr>
            </p:nvSpPr>
            <p:spPr>
              <a:blipFill>
                <a:blip r:embed="rId2"/>
                <a:stretch>
                  <a:fillRect l="-483" t="-1453"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D05AA4-18EF-B750-D998-BBD17FC09CFE}"/>
                  </a:ext>
                </a:extLst>
              </p:cNvPr>
              <p:cNvSpPr txBox="1"/>
              <p:nvPr/>
            </p:nvSpPr>
            <p:spPr>
              <a:xfrm>
                <a:off x="6344979" y="3514061"/>
                <a:ext cx="6097772" cy="1477328"/>
              </a:xfrm>
              <a:prstGeom prst="rect">
                <a:avLst/>
              </a:prstGeom>
              <a:noFill/>
            </p:spPr>
            <p:txBody>
              <a:bodyPr wrap="square">
                <a:spAutoFit/>
              </a:bodyPr>
              <a:lstStyle/>
              <a:p>
                <a:r>
                  <a:rPr lang="en-US" sz="1800" b="0" dirty="0">
                    <a:effectLst/>
                  </a:rPr>
                  <a:t>Initial setup 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𝑘</m:t>
                        </m:r>
                      </m:e>
                      <m:sub>
                        <m:r>
                          <a:rPr lang="en-US" sz="1800" b="0" i="1" smtClean="0">
                            <a:effectLst/>
                            <a:latin typeface="Cambria Math" panose="02040503050406030204" pitchFamily="18" charset="0"/>
                          </a:rPr>
                          <m:t>0</m:t>
                        </m:r>
                      </m:sub>
                    </m:sSub>
                  </m:oMath>
                </a14:m>
                <a:r>
                  <a:rPr lang="en-US" sz="1800" dirty="0">
                    <a:effectLst/>
                  </a:rPr>
                  <a:t> Initial capital </a:t>
                </a:r>
                <a:r>
                  <a:rPr lang="en-US" dirty="0"/>
                  <a:t>(units of capital)</a:t>
                </a:r>
                <a:endParaRPr lang="en-US" sz="1800" dirty="0">
                  <a:effectLst/>
                </a:endParaRP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𝑙</m:t>
                        </m:r>
                      </m:e>
                      <m:sub>
                        <m:r>
                          <a:rPr lang="en-US" sz="1800" b="0" i="1" smtClean="0">
                            <a:effectLst/>
                            <a:latin typeface="Cambria Math" panose="02040503050406030204" pitchFamily="18" charset="0"/>
                          </a:rPr>
                          <m:t>0</m:t>
                        </m:r>
                      </m:sub>
                    </m:sSub>
                  </m:oMath>
                </a14:m>
                <a:r>
                  <a:rPr lang="en-US" sz="1800" dirty="0">
                    <a:effectLst/>
                  </a:rPr>
                  <a:t> Initial labor (units of labor)</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𝑐</m:t>
                        </m:r>
                      </m:e>
                      <m:sub>
                        <m:r>
                          <a:rPr lang="en-US" sz="1800" b="0" i="1" dirty="0" smtClean="0">
                            <a:effectLst/>
                            <a:latin typeface="Cambria Math" panose="02040503050406030204" pitchFamily="18" charset="0"/>
                          </a:rPr>
                          <m:t>0</m:t>
                        </m:r>
                      </m:sub>
                    </m:sSub>
                  </m:oMath>
                </a14:m>
                <a:r>
                  <a:rPr lang="en-US" sz="1800" dirty="0">
                    <a:effectLst/>
                  </a:rPr>
                  <a:t> Base year consumption (units)</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b="0" i="1" dirty="0" smtClean="0">
                            <a:effectLst/>
                            <a:latin typeface="Cambria Math" panose="02040503050406030204" pitchFamily="18" charset="0"/>
                          </a:rPr>
                          <m:t>𝑖</m:t>
                        </m:r>
                      </m:e>
                      <m:sub>
                        <m:r>
                          <a:rPr lang="en-US" sz="1800" b="0" i="1" dirty="0" smtClean="0">
                            <a:effectLst/>
                            <a:latin typeface="Cambria Math" panose="02040503050406030204" pitchFamily="18" charset="0"/>
                          </a:rPr>
                          <m:t>0</m:t>
                        </m:r>
                      </m:sub>
                    </m:sSub>
                  </m:oMath>
                </a14:m>
                <a:r>
                  <a:rPr lang="en-US" sz="1800" dirty="0">
                    <a:effectLst/>
                  </a:rPr>
                  <a:t> Base year investment (units)</a:t>
                </a:r>
              </a:p>
            </p:txBody>
          </p:sp>
        </mc:Choice>
        <mc:Fallback xmlns="">
          <p:sp>
            <p:nvSpPr>
              <p:cNvPr id="5" name="TextBox 4">
                <a:extLst>
                  <a:ext uri="{FF2B5EF4-FFF2-40B4-BE49-F238E27FC236}">
                    <a16:creationId xmlns:a16="http://schemas.microsoft.com/office/drawing/2014/main" id="{D5D05AA4-18EF-B750-D998-BBD17FC09CFE}"/>
                  </a:ext>
                </a:extLst>
              </p:cNvPr>
              <p:cNvSpPr txBox="1">
                <a:spLocks noRot="1" noChangeAspect="1" noMove="1" noResize="1" noEditPoints="1" noAdjustHandles="1" noChangeArrowheads="1" noChangeShapeType="1" noTextEdit="1"/>
              </p:cNvSpPr>
              <p:nvPr/>
            </p:nvSpPr>
            <p:spPr>
              <a:xfrm>
                <a:off x="6344979" y="3514061"/>
                <a:ext cx="6097772" cy="1477328"/>
              </a:xfrm>
              <a:prstGeom prst="rect">
                <a:avLst/>
              </a:prstGeom>
              <a:blipFill>
                <a:blip r:embed="rId3"/>
                <a:stretch>
                  <a:fillRect l="-832" t="-1695" b="-5085"/>
                </a:stretch>
              </a:blipFill>
            </p:spPr>
            <p:txBody>
              <a:bodyPr/>
              <a:lstStyle/>
              <a:p>
                <a:r>
                  <a:rPr lang="en-US">
                    <a:noFill/>
                  </a:rPr>
                  <a:t> </a:t>
                </a:r>
              </a:p>
            </p:txBody>
          </p:sp>
        </mc:Fallback>
      </mc:AlternateContent>
    </p:spTree>
    <p:extLst>
      <p:ext uri="{BB962C8B-B14F-4D97-AF65-F5344CB8AC3E}">
        <p14:creationId xmlns:p14="http://schemas.microsoft.com/office/powerpoint/2010/main" val="1935447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97E8-9C9D-F484-4ECE-AB018A7AB81C}"/>
              </a:ext>
            </a:extLst>
          </p:cNvPr>
          <p:cNvSpPr>
            <a:spLocks noGrp="1"/>
          </p:cNvSpPr>
          <p:nvPr>
            <p:ph type="title"/>
          </p:nvPr>
        </p:nvSpPr>
        <p:spPr/>
        <p:txBody>
          <a:bodyPr>
            <a:normAutofit/>
          </a:bodyPr>
          <a:lstStyle/>
          <a:p>
            <a:r>
              <a:rPr lang="en-US" sz="4000" dirty="0"/>
              <a:t>The Ramsey Model – Variables,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1EAF28-9DA3-56BD-2A5A-ECF20749D3E0}"/>
                  </a:ext>
                </a:extLst>
              </p:cNvPr>
              <p:cNvSpPr>
                <a:spLocks noGrp="1"/>
              </p:cNvSpPr>
              <p:nvPr>
                <p:ph idx="1"/>
              </p:nvPr>
            </p:nvSpPr>
            <p:spPr/>
            <p:txBody>
              <a:bodyPr>
                <a:normAutofit fontScale="85000" lnSpcReduction="20000"/>
              </a:bodyPr>
              <a:lstStyle/>
              <a:p>
                <a:pPr marL="0" indent="0">
                  <a:buNone/>
                </a:pPr>
                <a:r>
                  <a:rPr lang="en-US" dirty="0"/>
                  <a:t>Variables:</a:t>
                </a:r>
              </a:p>
              <a:p>
                <a:pPr marL="0" indent="0">
                  <a:buNone/>
                </a:pPr>
                <a14:m>
                  <m:oMath xmlns:m="http://schemas.openxmlformats.org/officeDocument/2006/math">
                    <m:r>
                      <a:rPr lang="en-US" b="0" i="1" smtClean="0">
                        <a:latin typeface="Cambria Math" panose="02040503050406030204" pitchFamily="18" charset="0"/>
                      </a:rPr>
                      <m:t>𝑈</m:t>
                    </m:r>
                  </m:oMath>
                </a14:m>
                <a:r>
                  <a:rPr lang="en-US" b="0" dirty="0">
                    <a:latin typeface="Cambria Math" panose="02040503050406030204" pitchFamily="18" charset="0"/>
                  </a:rPr>
                  <a:t>:</a:t>
                </a:r>
                <a:r>
                  <a:rPr lang="en-US" b="0" i="1" dirty="0">
                    <a:latin typeface="Cambria Math" panose="02040503050406030204" pitchFamily="18" charset="0"/>
                  </a:rPr>
                  <a:t> </a:t>
                </a:r>
                <a:r>
                  <a:rPr lang="en-US" b="0" dirty="0">
                    <a:latin typeface="Cambria Math" panose="02040503050406030204" pitchFamily="18" charset="0"/>
                  </a:rPr>
                  <a:t>intertemporal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oMath>
                </a14:m>
                <a:r>
                  <a:rPr lang="en-US" dirty="0"/>
                  <a:t>: consumption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oMath>
                </a14:m>
                <a:r>
                  <a:rPr lang="en-US" dirty="0"/>
                  <a:t>: capital stock</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US" dirty="0"/>
                  <a:t>: production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a14:m>
                <a:r>
                  <a:rPr lang="en-US" dirty="0"/>
                  <a:t>: investment</a:t>
                </a:r>
              </a:p>
              <a:p>
                <a:pPr marL="0" indent="0">
                  <a:buNone/>
                </a:pPr>
                <a:endParaRPr lang="en-US" dirty="0"/>
              </a:p>
              <a:p>
                <a:pPr marL="0" indent="0">
                  <a:buNone/>
                </a:pPr>
                <a:r>
                  <a:rPr lang="en-US" dirty="0"/>
                  <a:t>Objective is to maximize utility across an infinite time horizon: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𝑋</m:t>
                            </m:r>
                          </m:e>
                        </m:mr>
                      </m:m>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𝑡</m:t>
                              </m:r>
                            </m:sub>
                            <m:sup>
                              <m:r>
                                <a:rPr lang="en-US" b="0" i="1" smtClean="0">
                                  <a:latin typeface="Cambria Math" panose="02040503050406030204" pitchFamily="18" charset="0"/>
                                </a:rPr>
                                <m:t>1−</m:t>
                              </m:r>
                              <m:r>
                                <a:rPr lang="en-US" b="0" i="1" smtClean="0">
                                  <a:latin typeface="Cambria Math" panose="02040503050406030204" pitchFamily="18" charset="0"/>
                                </a:rPr>
                                <m:t>𝜂</m:t>
                              </m:r>
                            </m:sup>
                          </m:sSubSup>
                          <m:r>
                            <a:rPr lang="en-US" b="0" i="1" smtClean="0">
                              <a:latin typeface="Cambria Math" panose="02040503050406030204" pitchFamily="18" charset="0"/>
                            </a:rPr>
                            <m:t>/(1−</m:t>
                          </m:r>
                          <m:r>
                            <a:rPr lang="en-US" b="0" i="1" smtClean="0">
                              <a:latin typeface="Cambria Math" panose="02040503050406030204" pitchFamily="18" charset="0"/>
                            </a:rPr>
                            <m:t>𝜂</m:t>
                          </m:r>
                          <m:r>
                            <a:rPr lang="en-US" b="0" i="1" smtClean="0">
                              <a:latin typeface="Cambria Math" panose="02040503050406030204" pitchFamily="18" charset="0"/>
                            </a:rPr>
                            <m:t>)</m:t>
                          </m:r>
                        </m:e>
                      </m:nary>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B1EAF28-9DA3-56BD-2A5A-ECF20749D3E0}"/>
                  </a:ext>
                </a:extLst>
              </p:cNvPr>
              <p:cNvSpPr>
                <a:spLocks noGrp="1" noRot="1" noChangeAspect="1" noMove="1" noResize="1" noEditPoints="1" noAdjustHandles="1" noChangeArrowheads="1" noChangeShapeType="1" noTextEdit="1"/>
              </p:cNvSpPr>
              <p:nvPr>
                <p:ph idx="1"/>
              </p:nvPr>
            </p:nvSpPr>
            <p:spPr>
              <a:blipFill>
                <a:blip r:embed="rId2"/>
                <a:stretch>
                  <a:fillRect l="-965" t="-3198" b="-41279"/>
                </a:stretch>
              </a:blipFill>
            </p:spPr>
            <p:txBody>
              <a:bodyPr/>
              <a:lstStyle/>
              <a:p>
                <a:r>
                  <a:rPr lang="en-US">
                    <a:noFill/>
                  </a:rPr>
                  <a:t> </a:t>
                </a:r>
              </a:p>
            </p:txBody>
          </p:sp>
        </mc:Fallback>
      </mc:AlternateContent>
    </p:spTree>
    <p:extLst>
      <p:ext uri="{BB962C8B-B14F-4D97-AF65-F5344CB8AC3E}">
        <p14:creationId xmlns:p14="http://schemas.microsoft.com/office/powerpoint/2010/main" val="76897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90510-D166-5FB8-00ED-4C857F9327E3}"/>
              </a:ext>
            </a:extLst>
          </p:cNvPr>
          <p:cNvSpPr>
            <a:spLocks noGrp="1"/>
          </p:cNvSpPr>
          <p:nvPr>
            <p:ph type="title"/>
          </p:nvPr>
        </p:nvSpPr>
        <p:spPr/>
        <p:txBody>
          <a:bodyPr/>
          <a:lstStyle/>
          <a:p>
            <a:r>
              <a:rPr lang="en-US" dirty="0"/>
              <a:t>Setting the utility discount factor…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78861E-3A1A-0F65-F94A-483FFA389332}"/>
                  </a:ext>
                </a:extLst>
              </p:cNvPr>
              <p:cNvSpPr>
                <a:spLocks noGrp="1"/>
              </p:cNvSpPr>
              <p:nvPr>
                <p:ph idx="1"/>
              </p:nvPr>
            </p:nvSpPr>
            <p:spPr/>
            <p:txBody>
              <a:bodyPr/>
              <a:lstStyle/>
              <a:p>
                <a:pPr marL="0" indent="0">
                  <a:buNone/>
                </a:pPr>
                <a:r>
                  <a:rPr lang="en-US" dirty="0"/>
                  <a:t>Need to weight utility to…</a:t>
                </a:r>
              </a:p>
              <a:p>
                <a:pPr marL="0" indent="0">
                  <a:buNone/>
                </a:pPr>
                <a:r>
                  <a:rPr lang="en-US" dirty="0"/>
                  <a:t>- Account for time preference</a:t>
                </a:r>
              </a:p>
              <a:p>
                <a:pPr marL="0" indent="0">
                  <a:buNone/>
                </a:pPr>
                <a:r>
                  <a:rPr lang="en-US" dirty="0"/>
                  <a:t>- Account for population growth</a:t>
                </a:r>
              </a:p>
              <a:p>
                <a:pPr>
                  <a:buFontTx/>
                  <a:buChar char="-"/>
                </a:pPr>
                <a:r>
                  <a:rPr lang="en-US" dirty="0"/>
                  <a:t>Account for productivity of capital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𝜂</m:t>
                                      </m:r>
                                    </m:sup>
                                  </m:sSup>
                                </m:num>
                                <m:den>
                                  <m:r>
                                    <a:rPr lang="en-US" b="0" i="1" smtClean="0">
                                      <a:latin typeface="Cambria Math" panose="02040503050406030204" pitchFamily="18" charset="0"/>
                                    </a:rPr>
                                    <m:t>1+</m:t>
                                  </m:r>
                                  <m:r>
                                    <a:rPr lang="en-US" b="0" i="1" smtClean="0">
                                      <a:latin typeface="Cambria Math" panose="02040503050406030204" pitchFamily="18" charset="0"/>
                                    </a:rPr>
                                    <m:t>𝜌</m:t>
                                  </m:r>
                                </m:den>
                              </m:f>
                            </m:e>
                          </m:d>
                        </m:e>
                        <m:sup>
                          <m:r>
                            <a:rPr lang="en-US" b="0" i="1" smtClean="0">
                              <a:latin typeface="Cambria Math" panose="02040503050406030204" pitchFamily="18" charset="0"/>
                            </a:rPr>
                            <m:t>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D78861E-3A1A-0F65-F94A-483FFA38933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583541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7A56-BA38-F11D-C16D-9AC1AA960F9A}"/>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9ABC0B-2389-28DE-9551-20AB08E217D2}"/>
                  </a:ext>
                </a:extLst>
              </p:cNvPr>
              <p:cNvSpPr>
                <a:spLocks noGrp="1"/>
              </p:cNvSpPr>
              <p:nvPr>
                <p:ph idx="1"/>
              </p:nvPr>
            </p:nvSpPr>
            <p:spPr/>
            <p:txBody>
              <a:bodyPr/>
              <a:lstStyle/>
              <a:p>
                <a:pPr marL="0" indent="0">
                  <a:buNone/>
                </a:pPr>
                <a:r>
                  <a:rPr lang="en-US" dirty="0"/>
                  <a:t>Cobb-Douglas production function: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𝛼</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𝛼</m:t>
                          </m:r>
                        </m:sup>
                      </m:sSup>
                    </m:oMath>
                  </m:oMathPara>
                </a14:m>
                <a:endParaRPr lang="en-US" dirty="0"/>
              </a:p>
              <a:p>
                <a:pPr marL="0" indent="0">
                  <a:buNone/>
                </a:pPr>
                <a:endParaRPr lang="en-US" dirty="0"/>
              </a:p>
              <a:p>
                <a:pPr marL="0" indent="0">
                  <a:buNone/>
                </a:pPr>
                <a:r>
                  <a:rPr lang="en-US" dirty="0"/>
                  <a:t>Production is split between consumption and investment: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Tracking of capital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C9ABC0B-2389-28DE-9551-20AB08E217D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9546745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B2F1-1F97-F771-117D-D16955B24444}"/>
              </a:ext>
            </a:extLst>
          </p:cNvPr>
          <p:cNvSpPr>
            <a:spLocks noGrp="1"/>
          </p:cNvSpPr>
          <p:nvPr>
            <p:ph type="title"/>
          </p:nvPr>
        </p:nvSpPr>
        <p:spPr/>
        <p:txBody>
          <a:bodyPr/>
          <a:lstStyle/>
          <a:p>
            <a:r>
              <a:rPr lang="en-US" dirty="0"/>
              <a:t>Calibration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CF2FAA-010D-F01F-B09A-6E1304DF85C8}"/>
                  </a:ext>
                </a:extLst>
              </p:cNvPr>
              <p:cNvSpPr>
                <a:spLocks noGrp="1"/>
              </p:cNvSpPr>
              <p:nvPr>
                <p:ph idx="1"/>
              </p:nvPr>
            </p:nvSpPr>
            <p:spPr/>
            <p:txBody>
              <a:bodyPr>
                <a:normAutofit lnSpcReduction="10000"/>
              </a:bodyPr>
              <a:lstStyle/>
              <a:p>
                <a:r>
                  <a:rPr lang="en-US" dirty="0"/>
                  <a:t>Here, we’re going to make several assumptions…</a:t>
                </a:r>
              </a:p>
              <a:p>
                <a:pPr marL="0" indent="0">
                  <a:buNone/>
                </a:pPr>
                <a:r>
                  <a:rPr lang="en-US" dirty="0"/>
                  <a:t>g= 0.023</a:t>
                </a:r>
              </a:p>
              <a:p>
                <a:pPr marL="0" indent="0">
                  <a:buNone/>
                </a:pPr>
                <a14:m>
                  <m:oMath xmlns:m="http://schemas.openxmlformats.org/officeDocument/2006/math">
                    <m:r>
                      <a:rPr lang="en-US" b="0" i="1" smtClean="0">
                        <a:latin typeface="Cambria Math" panose="02040503050406030204" pitchFamily="18" charset="0"/>
                      </a:rPr>
                      <m:t>𝛿</m:t>
                    </m:r>
                  </m:oMath>
                </a14:m>
                <a:r>
                  <a:rPr lang="en-US" dirty="0"/>
                  <a:t>=0.04</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oMath>
                </a14:m>
                <a:r>
                  <a:rPr lang="en-US" dirty="0"/>
                  <a:t>=0.3</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oMath>
                </a14:m>
                <a:r>
                  <a:rPr lang="en-US" dirty="0"/>
                  <a:t>=0.27</a:t>
                </a:r>
              </a:p>
              <a:p>
                <a:pPr marL="0" indent="0">
                  <a:buNone/>
                </a:pPr>
                <a14:m>
                  <m:oMath xmlns:m="http://schemas.openxmlformats.org/officeDocument/2006/math">
                    <m:r>
                      <a:rPr lang="en-US" b="0" i="1" smtClean="0">
                        <a:latin typeface="Cambria Math" panose="02040503050406030204" pitchFamily="18" charset="0"/>
                      </a:rPr>
                      <m:t>𝛽</m:t>
                    </m:r>
                  </m:oMath>
                </a14:m>
                <a:r>
                  <a:rPr lang="en-US" dirty="0"/>
                  <a:t>=0.65</a:t>
                </a:r>
              </a:p>
              <a:p>
                <a:pPr marL="0" indent="0">
                  <a:buNone/>
                </a:pPr>
                <a14:m>
                  <m:oMath xmlns:m="http://schemas.openxmlformats.org/officeDocument/2006/math">
                    <m:r>
                      <a:rPr lang="en-US" b="0" i="1" smtClean="0">
                        <a:latin typeface="Cambria Math" panose="02040503050406030204" pitchFamily="18" charset="0"/>
                      </a:rPr>
                      <m:t>𝜂</m:t>
                    </m:r>
                  </m:oMath>
                </a14:m>
                <a:r>
                  <a:rPr lang="en-US" dirty="0"/>
                  <a:t>=2</a:t>
                </a:r>
              </a:p>
              <a:p>
                <a:pPr marL="0" indent="0">
                  <a:buNone/>
                </a:pPr>
                <a:endParaRPr lang="en-US" dirty="0"/>
              </a:p>
              <a:p>
                <a:pPr marL="0" indent="0">
                  <a:buNone/>
                </a:pPr>
                <a:r>
                  <a:rPr lang="en-US" dirty="0"/>
                  <a:t>… but need to make sure we’re in equilibrium in the first period..</a:t>
                </a:r>
              </a:p>
            </p:txBody>
          </p:sp>
        </mc:Choice>
        <mc:Fallback xmlns="">
          <p:sp>
            <p:nvSpPr>
              <p:cNvPr id="3" name="Content Placeholder 2">
                <a:extLst>
                  <a:ext uri="{FF2B5EF4-FFF2-40B4-BE49-F238E27FC236}">
                    <a16:creationId xmlns:a16="http://schemas.microsoft.com/office/drawing/2014/main" id="{1ACF2FAA-010D-F01F-B09A-6E1304DF85C8}"/>
                  </a:ext>
                </a:extLst>
              </p:cNvPr>
              <p:cNvSpPr>
                <a:spLocks noGrp="1" noRot="1" noChangeAspect="1" noMove="1" noResize="1" noEditPoints="1" noAdjustHandles="1" noChangeArrowheads="1" noChangeShapeType="1" noTextEdit="1"/>
              </p:cNvSpPr>
              <p:nvPr>
                <p:ph idx="1"/>
              </p:nvPr>
            </p:nvSpPr>
            <p:spPr>
              <a:blipFill>
                <a:blip r:embed="rId2"/>
                <a:stretch>
                  <a:fillRect l="-1206" t="-3198" b="-291"/>
                </a:stretch>
              </a:blipFill>
            </p:spPr>
            <p:txBody>
              <a:bodyPr/>
              <a:lstStyle/>
              <a:p>
                <a:r>
                  <a:rPr lang="en-US">
                    <a:noFill/>
                  </a:rPr>
                  <a:t> </a:t>
                </a:r>
              </a:p>
            </p:txBody>
          </p:sp>
        </mc:Fallback>
      </mc:AlternateContent>
    </p:spTree>
    <p:extLst>
      <p:ext uri="{BB962C8B-B14F-4D97-AF65-F5344CB8AC3E}">
        <p14:creationId xmlns:p14="http://schemas.microsoft.com/office/powerpoint/2010/main" val="3971157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BD80-3749-A6CB-7E32-9B22D4B1AA51}"/>
              </a:ext>
            </a:extLst>
          </p:cNvPr>
          <p:cNvSpPr>
            <a:spLocks noGrp="1"/>
          </p:cNvSpPr>
          <p:nvPr>
            <p:ph type="title"/>
          </p:nvPr>
        </p:nvSpPr>
        <p:spPr>
          <a:xfrm>
            <a:off x="838200" y="-41204"/>
            <a:ext cx="10515600" cy="1325563"/>
          </a:xfrm>
        </p:spPr>
        <p:txBody>
          <a:bodyPr/>
          <a:lstStyle/>
          <a:p>
            <a:r>
              <a:rPr lang="en-US" dirty="0"/>
              <a:t>Initial capital/labor calibration</a:t>
            </a:r>
          </a:p>
        </p:txBody>
      </p:sp>
      <p:sp>
        <p:nvSpPr>
          <p:cNvPr id="3" name="Content Placeholder 2">
            <a:extLst>
              <a:ext uri="{FF2B5EF4-FFF2-40B4-BE49-F238E27FC236}">
                <a16:creationId xmlns:a16="http://schemas.microsoft.com/office/drawing/2014/main" id="{0287F755-6E8F-F9DA-95AC-27D3559F9AA5}"/>
              </a:ext>
            </a:extLst>
          </p:cNvPr>
          <p:cNvSpPr>
            <a:spLocks noGrp="1"/>
          </p:cNvSpPr>
          <p:nvPr>
            <p:ph idx="1"/>
          </p:nvPr>
        </p:nvSpPr>
        <p:spPr/>
        <p:txBody>
          <a:bodyPr/>
          <a:lstStyle/>
          <a:p>
            <a:endParaRPr lang="en-US" sz="2800" dirty="0">
              <a:effectLst/>
            </a:endParaRPr>
          </a:p>
          <a:p>
            <a:endParaRPr lang="en-US" sz="2800" dirty="0">
              <a:effectLst/>
            </a:endParaRPr>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69A65B-97D3-2F65-5B77-8D26982BD698}"/>
                  </a:ext>
                </a:extLst>
              </p:cNvPr>
              <p:cNvSpPr txBox="1"/>
              <p:nvPr/>
            </p:nvSpPr>
            <p:spPr>
              <a:xfrm>
                <a:off x="754912" y="1121475"/>
                <a:ext cx="10598888" cy="6016647"/>
              </a:xfrm>
              <a:prstGeom prst="rect">
                <a:avLst/>
              </a:prstGeom>
              <a:noFill/>
            </p:spPr>
            <p:txBody>
              <a:bodyPr wrap="square" rtlCol="0">
                <a:spAutoFit/>
              </a:bodyPr>
              <a:lstStyle/>
              <a:p>
                <a:r>
                  <a:rPr lang="en-US" sz="2400" dirty="0">
                    <a:effectLst/>
                    <a:latin typeface="SFBMR10"/>
                  </a:rPr>
                  <a:t>Investment must cover depreciation plus population growth. Given the investment rate, we can back out the initial capital stock level. Knowing investment must cover initial capital stock’s expected growth rate and depreciation in the first period: </a:t>
                </a:r>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oMath>
                  </m:oMathPara>
                </a14:m>
                <a:endParaRPr lang="en-US" sz="2400" dirty="0"/>
              </a:p>
              <a:p>
                <a:endParaRPr lang="en-US" sz="2400" dirty="0"/>
              </a:p>
              <a:p>
                <a:r>
                  <a:rPr lang="en-US" sz="2400" dirty="0"/>
                  <a:t>Can thus back out calibrated initial capital level:</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den>
                      </m:f>
                    </m:oMath>
                  </m:oMathPara>
                </a14:m>
                <a:endParaRPr lang="en-US" sz="2400" dirty="0"/>
              </a:p>
              <a:p>
                <a:endParaRPr lang="en-US" sz="2400" dirty="0"/>
              </a:p>
              <a:p>
                <a:pPr marL="0" indent="0">
                  <a:buNone/>
                </a:pPr>
                <a:r>
                  <a:rPr lang="en-US" sz="2400" dirty="0"/>
                  <a:t>Labor supply is it’s share in production [times] initial production: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m:oMathPara>
                </a14:m>
                <a:endParaRPr lang="en-US" sz="2400" dirty="0"/>
              </a:p>
              <a:p>
                <a:endParaRPr lang="en-US" sz="2400" dirty="0"/>
              </a:p>
              <a:p>
                <a:r>
                  <a:rPr lang="en-US" sz="2400" dirty="0"/>
                  <a:t>(exogenously-defined) labor grows at the labor growth rate:</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𝑔</m:t>
                              </m:r>
                            </m:e>
                          </m:d>
                        </m:e>
                        <m:sup>
                          <m:r>
                            <a:rPr lang="en-US" sz="2400" b="0" i="1" smtClean="0">
                              <a:latin typeface="Cambria Math" panose="02040503050406030204" pitchFamily="18" charset="0"/>
                            </a:rPr>
                            <m:t>𝑡</m:t>
                          </m:r>
                        </m:sup>
                      </m:sSup>
                    </m:oMath>
                  </m:oMathPara>
                </a14:m>
                <a:endParaRPr lang="en-US" sz="2400" dirty="0"/>
              </a:p>
              <a:p>
                <a:endParaRPr lang="en-US" sz="2400" dirty="0"/>
              </a:p>
            </p:txBody>
          </p:sp>
        </mc:Choice>
        <mc:Fallback xmlns="">
          <p:sp>
            <p:nvSpPr>
              <p:cNvPr id="4" name="TextBox 3">
                <a:extLst>
                  <a:ext uri="{FF2B5EF4-FFF2-40B4-BE49-F238E27FC236}">
                    <a16:creationId xmlns:a16="http://schemas.microsoft.com/office/drawing/2014/main" id="{C469A65B-97D3-2F65-5B77-8D26982BD698}"/>
                  </a:ext>
                </a:extLst>
              </p:cNvPr>
              <p:cNvSpPr txBox="1">
                <a:spLocks noRot="1" noChangeAspect="1" noMove="1" noResize="1" noEditPoints="1" noAdjustHandles="1" noChangeArrowheads="1" noChangeShapeType="1" noTextEdit="1"/>
              </p:cNvSpPr>
              <p:nvPr/>
            </p:nvSpPr>
            <p:spPr>
              <a:xfrm>
                <a:off x="754912" y="1121475"/>
                <a:ext cx="10598888" cy="6016647"/>
              </a:xfrm>
              <a:prstGeom prst="rect">
                <a:avLst/>
              </a:prstGeom>
              <a:blipFill>
                <a:blip r:embed="rId2"/>
                <a:stretch>
                  <a:fillRect l="-957" t="-842"/>
                </a:stretch>
              </a:blipFill>
            </p:spPr>
            <p:txBody>
              <a:bodyPr/>
              <a:lstStyle/>
              <a:p>
                <a:r>
                  <a:rPr lang="en-US">
                    <a:noFill/>
                  </a:rPr>
                  <a:t> </a:t>
                </a:r>
              </a:p>
            </p:txBody>
          </p:sp>
        </mc:Fallback>
      </mc:AlternateContent>
    </p:spTree>
    <p:extLst>
      <p:ext uri="{BB962C8B-B14F-4D97-AF65-F5344CB8AC3E}">
        <p14:creationId xmlns:p14="http://schemas.microsoft.com/office/powerpoint/2010/main" val="33993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C55B-D386-A9BB-9C31-940F07A31D80}"/>
              </a:ext>
            </a:extLst>
          </p:cNvPr>
          <p:cNvSpPr>
            <a:spLocks noGrp="1"/>
          </p:cNvSpPr>
          <p:nvPr>
            <p:ph type="title"/>
          </p:nvPr>
        </p:nvSpPr>
        <p:spPr/>
        <p:txBody>
          <a:bodyPr/>
          <a:lstStyle/>
          <a:p>
            <a:r>
              <a:rPr lang="en-US" dirty="0"/>
              <a:t>Calibrating the production scale parameter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8EF755-1236-E840-59E6-32A46E62A2E3}"/>
                  </a:ext>
                </a:extLst>
              </p:cNvPr>
              <p:cNvSpPr>
                <a:spLocks noGrp="1"/>
              </p:cNvSpPr>
              <p:nvPr>
                <p:ph idx="1"/>
              </p:nvPr>
            </p:nvSpPr>
            <p:spPr/>
            <p:txBody>
              <a:bodyPr>
                <a:normAutofit/>
              </a:bodyPr>
              <a:lstStyle/>
              <a:p>
                <a:r>
                  <a:rPr lang="en-US" dirty="0"/>
                  <a:t>In the initial period – production is scaled to the reference output 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sub>
                    </m:sSub>
                  </m:oMath>
                </a14:m>
                <a:r>
                  <a:rPr lang="en-US" dirty="0"/>
                  <a:t> (the last two we just calculated)</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0</m:t>
                              </m:r>
                            </m:sub>
                            <m:sup>
                              <m:r>
                                <a:rPr lang="en-US" b="0" i="1" smtClean="0">
                                  <a:latin typeface="Cambria Math" panose="02040503050406030204" pitchFamily="18" charset="0"/>
                                </a:rPr>
                                <m:t>𝛼</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𝑙</m:t>
                              </m:r>
                            </m:e>
                            <m:sub>
                              <m:r>
                                <a:rPr lang="en-US" b="0" i="1" smtClean="0">
                                  <a:latin typeface="Cambria Math" panose="02040503050406030204" pitchFamily="18" charset="0"/>
                                </a:rPr>
                                <m:t>0</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den>
                      </m:f>
                    </m:oMath>
                  </m:oMathPara>
                </a14:m>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28EF755-1236-E840-59E6-32A46E62A2E3}"/>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059736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9E1C-4416-D33A-48E6-612526D16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AED2-7D49-470B-D029-B5782127604C}"/>
              </a:ext>
            </a:extLst>
          </p:cNvPr>
          <p:cNvSpPr>
            <a:spLocks noGrp="1"/>
          </p:cNvSpPr>
          <p:nvPr>
            <p:ph type="title"/>
          </p:nvPr>
        </p:nvSpPr>
        <p:spPr/>
        <p:txBody>
          <a:bodyPr/>
          <a:lstStyle/>
          <a:p>
            <a:r>
              <a:rPr lang="en-US" dirty="0"/>
              <a:t>Calibrating the capital productivity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B8930C-C02D-3DA0-81BF-08BBC1140CE9}"/>
                  </a:ext>
                </a:extLst>
              </p:cNvPr>
              <p:cNvSpPr>
                <a:spLocks noGrp="1"/>
              </p:cNvSpPr>
              <p:nvPr>
                <p:ph idx="1"/>
              </p:nvPr>
            </p:nvSpPr>
            <p:spPr/>
            <p:txBody>
              <a:bodyPr>
                <a:normAutofit/>
              </a:bodyPr>
              <a:lstStyle/>
              <a:p>
                <a:r>
                  <a:rPr lang="en-US" dirty="0"/>
                  <a:t>Need to determine the reference marginal productivity of capital. </a:t>
                </a:r>
              </a:p>
              <a:p>
                <a:r>
                  <a:rPr lang="en-US" dirty="0"/>
                  <a:t>In equilibrium, the real interest rate is the marginal product of capital minus depreciation. </a:t>
                </a:r>
              </a:p>
              <a:p>
                <a:r>
                  <a:rPr lang="en-US" dirty="0"/>
                  <a:t>The interest rate must equal the pure rate of time preference, </a:t>
                </a:r>
                <a:r>
                  <a:rPr lang="el-GR" dirty="0"/>
                  <a:t>ρ. </a:t>
                </a:r>
                <a:endParaRPr lang="en-US" dirty="0"/>
              </a:p>
              <a:p>
                <a:r>
                  <a:rPr lang="en-US" dirty="0"/>
                  <a:t>Therefore, we can calibrate </a:t>
                </a:r>
                <a:r>
                  <a:rPr lang="el-GR" dirty="0"/>
                  <a:t>ρ </a:t>
                </a:r>
                <a:r>
                  <a:rPr lang="en-US" dirty="0"/>
                  <a:t>by taking the derivative of the production function with respect to k in the initial period and substituting in the expression for a: </a:t>
                </a:r>
              </a:p>
              <a:p>
                <a:endParaRPr lang="en-US" sz="11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r>
                        <a:rPr lang="en-US" b="0" i="1" smtClean="0">
                          <a:latin typeface="Cambria Math" panose="02040503050406030204" pitchFamily="18" charset="0"/>
                        </a:rPr>
                        <m:t>𝛿</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CB8930C-C02D-3DA0-81BF-08BBC1140CE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644718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5A33-6DEF-2CA3-FE24-A5F0CE4219F1}"/>
              </a:ext>
            </a:extLst>
          </p:cNvPr>
          <p:cNvSpPr>
            <a:spLocks noGrp="1"/>
          </p:cNvSpPr>
          <p:nvPr>
            <p:ph type="title"/>
          </p:nvPr>
        </p:nvSpPr>
        <p:spPr/>
        <p:txBody>
          <a:bodyPr/>
          <a:lstStyle/>
          <a:p>
            <a:r>
              <a:rPr lang="en-US" dirty="0"/>
              <a:t>Some more notes…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D61365-948A-80BD-F742-FA8D1A8EFB02}"/>
                  </a:ext>
                </a:extLst>
              </p:cNvPr>
              <p:cNvSpPr>
                <a:spLocks noGrp="1"/>
              </p:cNvSpPr>
              <p:nvPr>
                <p:ph idx="1"/>
              </p:nvPr>
            </p:nvSpPr>
            <p:spPr/>
            <p:txBody>
              <a:bodyPr/>
              <a:lstStyle/>
              <a:p>
                <a:r>
                  <a:rPr lang="en-US" dirty="0"/>
                  <a:t>Starting values and variable bounds help </a:t>
                </a:r>
                <a:r>
                  <a:rPr lang="en-US" i="1" dirty="0"/>
                  <a:t>a lot</a:t>
                </a:r>
                <a:r>
                  <a:rPr lang="en-US" dirty="0"/>
                  <a:t> in NLPs</a:t>
                </a:r>
              </a:p>
              <a:p>
                <a:endParaRPr lang="en-US" dirty="0"/>
              </a:p>
              <a:p>
                <a:r>
                  <a:rPr lang="en-US" dirty="0"/>
                  <a:t>Can determine that consumption and capital will grow at the growth rate of the population:</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sup>
                      </m:sSup>
                    </m:oMath>
                  </m:oMathPara>
                </a14:m>
                <a:endParaRPr lang="en-US" b="0" dirty="0"/>
              </a:p>
              <a:p>
                <a:pPr marL="0" indent="0">
                  <a:buNone/>
                </a:pPr>
                <a:endParaRPr lang="en-US" dirty="0">
                  <a:effectLst/>
                  <a:latin typeface="SFBTL10"/>
                </a:endParaRPr>
              </a:p>
              <a:p>
                <a:pPr marL="0" indent="0">
                  <a:buNone/>
                </a:pPr>
                <a:r>
                  <a:rPr lang="en-US" dirty="0">
                    <a:effectLst/>
                    <a:latin typeface="SFBTL10"/>
                  </a:rPr>
                  <a:t>So we’ll set our starting values </a:t>
                </a:r>
                <a:r>
                  <a:rPr lang="en-US" dirty="0">
                    <a:latin typeface="SFBTL10"/>
                  </a:rPr>
                  <a:t>via</a:t>
                </a:r>
                <a:r>
                  <a:rPr lang="en-US" dirty="0">
                    <a:effectLst/>
                    <a:latin typeface="SFBTL10"/>
                  </a:rPr>
                  <a:t>:</a:t>
                </a:r>
              </a:p>
              <a:p>
                <a:pPr marL="0" indent="0">
                  <a:buNone/>
                </a:pPr>
                <a:r>
                  <a:rPr lang="en-US" dirty="0">
                    <a:effectLst/>
                    <a:latin typeface="SFBTL10"/>
                  </a:rPr>
                  <a:t>	</a:t>
                </a:r>
                <a:r>
                  <a:rPr lang="en-US" dirty="0" err="1">
                    <a:effectLst/>
                    <a:latin typeface="SFBTL10"/>
                  </a:rPr>
                  <a:t>C.l</a:t>
                </a:r>
                <a:r>
                  <a:rPr lang="en-US" dirty="0">
                    <a:effectLst/>
                    <a:latin typeface="SFBTL10"/>
                  </a:rPr>
                  <a:t>(t) = c0 * (1+g)**t ; </a:t>
                </a:r>
              </a:p>
              <a:p>
                <a:pPr marL="0" indent="0">
                  <a:buNone/>
                </a:pPr>
                <a:r>
                  <a:rPr lang="en-US" dirty="0">
                    <a:effectLst/>
                    <a:latin typeface="SFBTL10"/>
                  </a:rPr>
                  <a:t>	</a:t>
                </a:r>
                <a:r>
                  <a:rPr lang="en-US" dirty="0" err="1">
                    <a:effectLst/>
                    <a:latin typeface="SFBTL10"/>
                  </a:rPr>
                  <a:t>K.l</a:t>
                </a:r>
                <a:r>
                  <a:rPr lang="en-US" dirty="0">
                    <a:effectLst/>
                    <a:latin typeface="SFBTL10"/>
                  </a:rPr>
                  <a:t>(t) = k0 * (1+g)**t ; </a:t>
                </a:r>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56D61365-948A-80BD-F742-FA8D1A8EFB02}"/>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26167514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1485-176A-4B05-270A-32EE2D0EBE88}"/>
              </a:ext>
            </a:extLst>
          </p:cNvPr>
          <p:cNvSpPr>
            <a:spLocks noGrp="1"/>
          </p:cNvSpPr>
          <p:nvPr>
            <p:ph type="title"/>
          </p:nvPr>
        </p:nvSpPr>
        <p:spPr/>
        <p:txBody>
          <a:bodyPr/>
          <a:lstStyle/>
          <a:p>
            <a:r>
              <a:rPr lang="en-US" dirty="0"/>
              <a:t>Some more notes..</a:t>
            </a:r>
          </a:p>
        </p:txBody>
      </p:sp>
      <p:sp>
        <p:nvSpPr>
          <p:cNvPr id="3" name="Content Placeholder 2">
            <a:extLst>
              <a:ext uri="{FF2B5EF4-FFF2-40B4-BE49-F238E27FC236}">
                <a16:creationId xmlns:a16="http://schemas.microsoft.com/office/drawing/2014/main" id="{4252A58F-9326-AB49-28BC-89FC66DAB968}"/>
              </a:ext>
            </a:extLst>
          </p:cNvPr>
          <p:cNvSpPr>
            <a:spLocks noGrp="1"/>
          </p:cNvSpPr>
          <p:nvPr>
            <p:ph idx="1"/>
          </p:nvPr>
        </p:nvSpPr>
        <p:spPr/>
        <p:txBody>
          <a:bodyPr/>
          <a:lstStyle/>
          <a:p>
            <a:r>
              <a:rPr lang="en-US" dirty="0"/>
              <a:t>Bounds on variables are needed to avoid mathematical problems</a:t>
            </a:r>
          </a:p>
          <a:p>
            <a:r>
              <a:rPr lang="en-US" dirty="0"/>
              <a:t>e.g. We don’t want consumption to be zero</a:t>
            </a:r>
          </a:p>
          <a:p>
            <a:endParaRPr lang="en-US" dirty="0"/>
          </a:p>
          <a:p>
            <a:pPr marL="0" indent="0">
              <a:buNone/>
            </a:pPr>
            <a:r>
              <a:rPr lang="en-US" dirty="0" err="1"/>
              <a:t>C.lo</a:t>
            </a:r>
            <a:r>
              <a:rPr lang="en-US" dirty="0"/>
              <a:t>(t) = 0.01 * </a:t>
            </a:r>
            <a:r>
              <a:rPr lang="en-US" dirty="0" err="1"/>
              <a:t>C.l</a:t>
            </a:r>
            <a:r>
              <a:rPr lang="en-US" dirty="0"/>
              <a:t>(t) ; </a:t>
            </a:r>
          </a:p>
          <a:p>
            <a:pPr marL="0" indent="0">
              <a:buNone/>
            </a:pPr>
            <a:r>
              <a:rPr lang="en-US" dirty="0" err="1"/>
              <a:t>K.lo</a:t>
            </a:r>
            <a:r>
              <a:rPr lang="en-US" dirty="0"/>
              <a:t>(t) = 0.01 * </a:t>
            </a:r>
            <a:r>
              <a:rPr lang="en-US" dirty="0" err="1"/>
              <a:t>K.l</a:t>
            </a:r>
            <a:r>
              <a:rPr lang="en-US" dirty="0"/>
              <a:t>(t) ; </a:t>
            </a:r>
          </a:p>
          <a:p>
            <a:pPr marL="0" indent="0">
              <a:buNone/>
            </a:pPr>
            <a:endParaRPr lang="en-US" dirty="0"/>
          </a:p>
          <a:p>
            <a:r>
              <a:rPr lang="en-US" dirty="0"/>
              <a:t>Fix first period capital</a:t>
            </a:r>
          </a:p>
          <a:p>
            <a:pPr marL="0" indent="0">
              <a:buNone/>
            </a:pPr>
            <a:r>
              <a:rPr lang="en-US" dirty="0" err="1"/>
              <a:t>K.fx</a:t>
            </a:r>
            <a:r>
              <a:rPr lang="en-US" dirty="0"/>
              <a:t>(t)$</a:t>
            </a:r>
            <a:r>
              <a:rPr lang="en-US" dirty="0" err="1"/>
              <a:t>tfirst</a:t>
            </a:r>
            <a:r>
              <a:rPr lang="en-US" dirty="0"/>
              <a:t>(t) = k0 ; </a:t>
            </a:r>
          </a:p>
        </p:txBody>
      </p:sp>
    </p:spTree>
    <p:extLst>
      <p:ext uri="{BB962C8B-B14F-4D97-AF65-F5344CB8AC3E}">
        <p14:creationId xmlns:p14="http://schemas.microsoft.com/office/powerpoint/2010/main" val="8498004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9DD7-1641-6E4F-0933-F1D1B966312A}"/>
              </a:ext>
            </a:extLst>
          </p:cNvPr>
          <p:cNvSpPr>
            <a:spLocks noGrp="1"/>
          </p:cNvSpPr>
          <p:nvPr>
            <p:ph type="title"/>
          </p:nvPr>
        </p:nvSpPr>
        <p:spPr/>
        <p:txBody>
          <a:bodyPr/>
          <a:lstStyle/>
          <a:p>
            <a:r>
              <a:rPr lang="en-US" dirty="0"/>
              <a:t>Let’s build the base model…</a:t>
            </a:r>
          </a:p>
        </p:txBody>
      </p:sp>
      <p:sp>
        <p:nvSpPr>
          <p:cNvPr id="3" name="Content Placeholder 2">
            <a:extLst>
              <a:ext uri="{FF2B5EF4-FFF2-40B4-BE49-F238E27FC236}">
                <a16:creationId xmlns:a16="http://schemas.microsoft.com/office/drawing/2014/main" id="{8F44A47D-F2E3-86A9-8A18-14335BE7FB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96131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F6F3-3E1C-5579-DE5F-CFD98E0F0942}"/>
              </a:ext>
            </a:extLst>
          </p:cNvPr>
          <p:cNvSpPr>
            <a:spLocks noGrp="1"/>
          </p:cNvSpPr>
          <p:nvPr>
            <p:ph type="title"/>
          </p:nvPr>
        </p:nvSpPr>
        <p:spPr/>
        <p:txBody>
          <a:bodyPr/>
          <a:lstStyle/>
          <a:p>
            <a:r>
              <a:rPr lang="en-US" dirty="0"/>
              <a:t>That’s weird…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77A167-D5D7-0E90-6AFD-F3108A5856EB}"/>
                  </a:ext>
                </a:extLst>
              </p:cNvPr>
              <p:cNvSpPr>
                <a:spLocks noGrp="1"/>
              </p:cNvSpPr>
              <p:nvPr>
                <p:ph idx="1"/>
              </p:nvPr>
            </p:nvSpPr>
            <p:spPr/>
            <p:txBody>
              <a:bodyPr/>
              <a:lstStyle/>
              <a:p>
                <a:r>
                  <a:rPr lang="en-US" dirty="0"/>
                  <a:t>Demonstrates importance of terminal conditions</a:t>
                </a:r>
              </a:p>
              <a:p>
                <a:endParaRPr lang="en-US" dirty="0"/>
              </a:p>
              <a:p>
                <a:r>
                  <a:rPr lang="en-US" dirty="0"/>
                  <a:t>Here: need to make sure there is some value to consumption, investment, and remaining capital in the final period</a:t>
                </a:r>
              </a:p>
              <a:p>
                <a:endParaRPr lang="en-US" dirty="0"/>
              </a:p>
              <a:p>
                <a:pPr marL="0" indent="0">
                  <a:buNone/>
                </a:pPr>
                <a:r>
                  <a:rPr lang="en-US" dirty="0"/>
                  <a:t>What if we just did something naïve and say investment in the last period must equal the decay and growth of last-period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𝑇</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𝑇</m:t>
                          </m:r>
                        </m:sub>
                      </m:sSub>
                    </m:oMath>
                  </m:oMathPara>
                </a14:m>
                <a:endParaRPr lang="en-US" dirty="0"/>
              </a:p>
            </p:txBody>
          </p:sp>
        </mc:Choice>
        <mc:Fallback xmlns="">
          <p:sp>
            <p:nvSpPr>
              <p:cNvPr id="3" name="Content Placeholder 2">
                <a:extLst>
                  <a:ext uri="{FF2B5EF4-FFF2-40B4-BE49-F238E27FC236}">
                    <a16:creationId xmlns:a16="http://schemas.microsoft.com/office/drawing/2014/main" id="{1277A167-D5D7-0E90-6AFD-F3108A5856E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670828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DC18-559D-1260-4CBE-90A2F6BEFA94}"/>
              </a:ext>
            </a:extLst>
          </p:cNvPr>
          <p:cNvSpPr>
            <a:spLocks noGrp="1"/>
          </p:cNvSpPr>
          <p:nvPr>
            <p:ph type="title"/>
          </p:nvPr>
        </p:nvSpPr>
        <p:spPr/>
        <p:txBody>
          <a:bodyPr/>
          <a:lstStyle/>
          <a:p>
            <a:r>
              <a:rPr lang="en-US" dirty="0"/>
              <a:t>Plotting investment over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2C17F6-8FD7-C700-37F3-2A6B4836441F}"/>
                  </a:ext>
                </a:extLst>
              </p:cNvPr>
              <p:cNvSpPr>
                <a:spLocks noGrp="1"/>
              </p:cNvSpPr>
              <p:nvPr>
                <p:ph idx="1"/>
              </p:nvPr>
            </p:nvSpPr>
            <p:spPr>
              <a:xfrm>
                <a:off x="314325" y="2032794"/>
                <a:ext cx="5375275" cy="3562350"/>
              </a:xfrm>
            </p:spPr>
            <p:txBody>
              <a:bodyPr/>
              <a:lstStyle/>
              <a:p>
                <a:r>
                  <a:rPr lang="en-US" dirty="0"/>
                  <a:t>Demonstrates need for a terminal weighting</a:t>
                </a:r>
              </a:p>
              <a:p>
                <a:r>
                  <a:rPr lang="en-US" dirty="0"/>
                  <a:t>What about the consumption beyond period </a:t>
                </a:r>
                <a14:m>
                  <m:oMath xmlns:m="http://schemas.openxmlformats.org/officeDocument/2006/math">
                    <m:r>
                      <a:rPr lang="en-US" b="0" i="1" smtClean="0">
                        <a:latin typeface="Cambria Math" panose="02040503050406030204" pitchFamily="18" charset="0"/>
                      </a:rPr>
                      <m:t>𝑇</m:t>
                    </m:r>
                  </m:oMath>
                </a14:m>
                <a:r>
                  <a:rPr lang="en-US" dirty="0"/>
                  <a:t>? i.e.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𝑇</m:t>
                        </m:r>
                      </m:sub>
                    </m:sSub>
                  </m:oMath>
                </a14:m>
                <a:r>
                  <a:rPr lang="en-US" dirty="0"/>
                  <a:t> weights the final period based on discounted future value of infinite horizon</a:t>
                </a:r>
              </a:p>
              <a:p>
                <a:pPr marL="0" indent="0">
                  <a:buNone/>
                </a:pPr>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2C17F6-8FD7-C700-37F3-2A6B4836441F}"/>
                  </a:ext>
                </a:extLst>
              </p:cNvPr>
              <p:cNvSpPr>
                <a:spLocks noGrp="1" noRot="1" noChangeAspect="1" noMove="1" noResize="1" noEditPoints="1" noAdjustHandles="1" noChangeArrowheads="1" noChangeShapeType="1" noTextEdit="1"/>
              </p:cNvSpPr>
              <p:nvPr>
                <p:ph idx="1"/>
              </p:nvPr>
            </p:nvSpPr>
            <p:spPr>
              <a:xfrm>
                <a:off x="314325" y="2032794"/>
                <a:ext cx="5375275" cy="3562350"/>
              </a:xfrm>
              <a:blipFill>
                <a:blip r:embed="rId2"/>
                <a:stretch>
                  <a:fillRect l="-1887" t="-2482" r="-472" b="-106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4C67A69-D226-505D-61C3-AC89326E4BE6}"/>
              </a:ext>
            </a:extLst>
          </p:cNvPr>
          <p:cNvPicPr>
            <a:picLocks noChangeAspect="1"/>
          </p:cNvPicPr>
          <p:nvPr/>
        </p:nvPicPr>
        <p:blipFill>
          <a:blip r:embed="rId3"/>
          <a:stretch>
            <a:fillRect/>
          </a:stretch>
        </p:blipFill>
        <p:spPr>
          <a:xfrm>
            <a:off x="5259942" y="1690688"/>
            <a:ext cx="6712355" cy="4665538"/>
          </a:xfrm>
          <a:prstGeom prst="rect">
            <a:avLst/>
          </a:prstGeom>
        </p:spPr>
      </p:pic>
    </p:spTree>
    <p:extLst>
      <p:ext uri="{BB962C8B-B14F-4D97-AF65-F5344CB8AC3E}">
        <p14:creationId xmlns:p14="http://schemas.microsoft.com/office/powerpoint/2010/main" val="2386849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1982</TotalTime>
  <Words>3262</Words>
  <Application>Microsoft Macintosh PowerPoint</Application>
  <PresentationFormat>Widescreen</PresentationFormat>
  <Paragraphs>515</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Aptos</vt:lpstr>
      <vt:lpstr>Aptos Display</vt:lpstr>
      <vt:lpstr>Arial</vt:lpstr>
      <vt:lpstr>Cambria Math</vt:lpstr>
      <vt:lpstr>SFBMR10</vt:lpstr>
      <vt:lpstr>SFBTL10</vt:lpstr>
      <vt:lpstr>Office Theme</vt:lpstr>
      <vt:lpstr>EBGN645: Day 14</vt:lpstr>
      <vt:lpstr>Notes</vt:lpstr>
      <vt:lpstr>Discussion time</vt:lpstr>
      <vt:lpstr>Bigger picture</vt:lpstr>
      <vt:lpstr>Agenda – next few classes (aka this slide deck)</vt:lpstr>
      <vt:lpstr>Meme [I]</vt:lpstr>
      <vt:lpstr>Now: Electricity ’dispatch’</vt:lpstr>
      <vt:lpstr>Why conditionals?</vt:lpstr>
      <vt:lpstr>More specifically: sparse matrix construction</vt:lpstr>
      <vt:lpstr>Electricity “dispatch” problem </vt:lpstr>
      <vt:lpstr>Parameters</vt:lpstr>
      <vt:lpstr>Variables, Objective</vt:lpstr>
      <vt:lpstr>Constraints - basics</vt:lpstr>
      <vt:lpstr>Constraints – Mass-based Policies</vt:lpstr>
      <vt:lpstr>Constraints – Rate-based Policies</vt:lpstr>
      <vt:lpstr>Constraints – “unit commitment”</vt:lpstr>
      <vt:lpstr>Let’s code this up in GAMS…</vt:lpstr>
      <vt:lpstr>Meme [III]</vt:lpstr>
      <vt:lpstr>Investment – overview/ramblings</vt:lpstr>
      <vt:lpstr>Investment – terminal conditions</vt:lpstr>
      <vt:lpstr>General investment model </vt:lpstr>
      <vt:lpstr>General investment concept</vt:lpstr>
      <vt:lpstr>General investment concept</vt:lpstr>
      <vt:lpstr>Setting δ_t^k and δ_t^v</vt:lpstr>
      <vt:lpstr>Ramblings on endogenous retirements</vt:lpstr>
      <vt:lpstr>Ramblings on investment</vt:lpstr>
      <vt:lpstr>Agenda - NLPs</vt:lpstr>
      <vt:lpstr>Market models</vt:lpstr>
      <vt:lpstr>Partial equilibrium - social surplus maximization</vt:lpstr>
      <vt:lpstr>Market models</vt:lpstr>
      <vt:lpstr>Market models</vt:lpstr>
      <vt:lpstr>Calibrated market models</vt:lpstr>
      <vt:lpstr>Calibrated market models</vt:lpstr>
      <vt:lpstr>Model – indices (none), parameters, variables</vt:lpstr>
      <vt:lpstr>Model – objective function</vt:lpstr>
      <vt:lpstr>Let’s put this simple model in GAMS…</vt:lpstr>
      <vt:lpstr>Why could we linearize demand before?</vt:lpstr>
      <vt:lpstr>Easy enough… let’s expand</vt:lpstr>
      <vt:lpstr>New model…</vt:lpstr>
      <vt:lpstr>New model: Simple version</vt:lpstr>
      <vt:lpstr>Simple counterfactuals</vt:lpstr>
      <vt:lpstr>New model: Variables, Objective, Constraints</vt:lpstr>
      <vt:lpstr>Another functional form.. Calibrated constant elasticity of substitution</vt:lpstr>
      <vt:lpstr>Calibration in the alternative setup…</vt:lpstr>
      <vt:lpstr>Let’s do a real-world example..</vt:lpstr>
      <vt:lpstr>Points of these exercises..</vt:lpstr>
      <vt:lpstr>Choosing parameters and functional forms</vt:lpstr>
      <vt:lpstr>Ramsey model – main points</vt:lpstr>
      <vt:lpstr>The Ramsey model – indices, parameters</vt:lpstr>
      <vt:lpstr>The Ramsey Model – Variables, Objective function</vt:lpstr>
      <vt:lpstr>Setting the utility discount factor…</vt:lpstr>
      <vt:lpstr>Constraints</vt:lpstr>
      <vt:lpstr>Calibration</vt:lpstr>
      <vt:lpstr>Initial capital/labor calibration</vt:lpstr>
      <vt:lpstr>Calibrating the production scale parameter</vt:lpstr>
      <vt:lpstr>Calibrating the capital productivity</vt:lpstr>
      <vt:lpstr>Some more notes…</vt:lpstr>
      <vt:lpstr>Some more notes..</vt:lpstr>
      <vt:lpstr>Let’s build the base model…</vt:lpstr>
      <vt:lpstr>That’s weird… </vt:lpstr>
      <vt:lpstr>Plotting investment over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Brown</dc:creator>
  <cp:lastModifiedBy>Maxwell Brown</cp:lastModifiedBy>
  <cp:revision>63</cp:revision>
  <dcterms:created xsi:type="dcterms:W3CDTF">2024-08-23T18:45:09Z</dcterms:created>
  <dcterms:modified xsi:type="dcterms:W3CDTF">2025-10-22T18:27:03Z</dcterms:modified>
</cp:coreProperties>
</file>