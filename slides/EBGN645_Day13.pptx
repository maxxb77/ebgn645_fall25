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5"/>
  </p:notesMasterIdLst>
  <p:sldIdLst>
    <p:sldId id="256" r:id="rId2"/>
    <p:sldId id="2147378245" r:id="rId3"/>
    <p:sldId id="2147377682" r:id="rId4"/>
    <p:sldId id="257" r:id="rId5"/>
    <p:sldId id="2147378246" r:id="rId6"/>
    <p:sldId id="2147378159" r:id="rId7"/>
    <p:sldId id="2147378172" r:id="rId8"/>
    <p:sldId id="2147378196" r:id="rId9"/>
    <p:sldId id="2147378197" r:id="rId10"/>
    <p:sldId id="2147378205" r:id="rId11"/>
    <p:sldId id="2147378218" r:id="rId12"/>
    <p:sldId id="2147378219" r:id="rId13"/>
    <p:sldId id="2147378220" r:id="rId14"/>
    <p:sldId id="2147378211" r:id="rId15"/>
    <p:sldId id="2147378209" r:id="rId16"/>
    <p:sldId id="2147378217" r:id="rId17"/>
    <p:sldId id="2147378204" r:id="rId18"/>
    <p:sldId id="2147378208" r:id="rId19"/>
    <p:sldId id="2147378214" r:id="rId20"/>
    <p:sldId id="2147378215" r:id="rId21"/>
    <p:sldId id="2147378216" r:id="rId22"/>
    <p:sldId id="2147377670" r:id="rId23"/>
    <p:sldId id="2147378247" r:id="rId24"/>
    <p:sldId id="277" r:id="rId25"/>
    <p:sldId id="278" r:id="rId26"/>
    <p:sldId id="281" r:id="rId27"/>
    <p:sldId id="285" r:id="rId28"/>
    <p:sldId id="286" r:id="rId29"/>
    <p:sldId id="287" r:id="rId30"/>
    <p:sldId id="288" r:id="rId31"/>
    <p:sldId id="289" r:id="rId32"/>
    <p:sldId id="293" r:id="rId33"/>
    <p:sldId id="2147377671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632"/>
    <p:restoredTop sz="94651"/>
  </p:normalViewPr>
  <p:slideViewPr>
    <p:cSldViewPr snapToGrid="0">
      <p:cViewPr varScale="1">
        <p:scale>
          <a:sx n="106" d="100"/>
          <a:sy n="106" d="100"/>
        </p:scale>
        <p:origin x="136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67AEF6-7701-A448-8306-967C4ED74540}" type="datetimeFigureOut">
              <a:rPr lang="en-US" smtClean="0"/>
              <a:t>10/15/25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0181CC-B7D7-204E-8212-B1D5B8EC04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50463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youtu.be</a:t>
            </a:r>
            <a:r>
              <a:rPr lang="en-US" dirty="0"/>
              <a:t>/7jY_ZP6gQiQ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0181CC-B7D7-204E-8212-B1D5B8EC04A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7951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DD8685-BF39-1495-CF24-4F1B0307D8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570D9A-C5D2-FF7C-3644-A4DF8E89E9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B66580-4BD6-903B-24E8-248EE1848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0BA02-0F25-D340-918E-D8EE852131BC}" type="datetimeFigureOut">
              <a:rPr lang="en-US" smtClean="0"/>
              <a:t>10/15/25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8C833E-E817-74EA-AF0F-7BE77F457A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ACE881-D5F7-4DFC-EDD7-5B4CB7056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529D2-2E2C-C047-A7F6-02E756C414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88540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47DADB-B80F-4DBE-2089-E463BF701D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949650-58FD-6F35-5CFE-A6132BD1F6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009DA3-C902-45CF-1E5A-AF70F62422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0BA02-0F25-D340-918E-D8EE852131BC}" type="datetimeFigureOut">
              <a:rPr lang="en-US" smtClean="0"/>
              <a:t>10/15/25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48F805-C836-5139-139D-9E094B8DF9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85012B-7603-ED21-D784-A0D7ED1D7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529D2-2E2C-C047-A7F6-02E756C414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9051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DF3600-9272-D9D7-798D-8D73A0BB23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6C3236-7D2D-CF0A-7AD8-975A408D2A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AA09E9-C946-D66F-DB27-46E004F607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0BA02-0F25-D340-918E-D8EE852131BC}" type="datetimeFigureOut">
              <a:rPr lang="en-US" smtClean="0"/>
              <a:t>10/15/25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B57067-F01C-1BFC-D433-5910030F78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5947D-1648-B7E2-CD4F-9458A0EE9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529D2-2E2C-C047-A7F6-02E756C414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6167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1B5E61-F812-1423-34EE-6FEC7757EF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AA3AAA-69FB-12A5-6737-C7F5373CAC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0847A6-5FEF-46A4-12D6-EF4C61A7EB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BFC1ED-BF91-EA9D-6BFC-EDCD4CBC6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0BA02-0F25-D340-918E-D8EE852131BC}" type="datetimeFigureOut">
              <a:rPr lang="en-US" smtClean="0"/>
              <a:t>10/15/25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B997AC-3D60-39F1-8974-DD22A3938D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D0B4E5-D22A-4CA8-6CA7-84AB229AD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529D2-2E2C-C047-A7F6-02E756C414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60839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03BA90-0A1F-DA9D-19F2-88E1DED180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334331-C7A8-1A51-2C79-AE089269D4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231F30-3CF7-A0AC-BBD8-5E10E34EC9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F5D109-61E9-D8F1-E494-6BF5ADD753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21BE70D-79AB-B43B-DB6D-C147C09017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949B1AB-0C7E-450B-370C-332C3CEF0D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0BA02-0F25-D340-918E-D8EE852131BC}" type="datetimeFigureOut">
              <a:rPr lang="en-US" smtClean="0"/>
              <a:t>10/15/25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975CFB9-9629-CD38-647F-DEC7E33153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D298033-3117-7EB5-AF93-43DD7EA74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529D2-2E2C-C047-A7F6-02E756C414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0520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EFFBD4-AECC-E8C5-699F-0C0903C7ED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F549BC2-4D8F-48F9-AD49-909ED7E228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0BA02-0F25-D340-918E-D8EE852131BC}" type="datetimeFigureOut">
              <a:rPr lang="en-US" smtClean="0"/>
              <a:t>10/15/25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52770D-597A-F527-A555-5F513FBD16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FCECB0-C3A8-A297-ED7D-3A216E473D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529D2-2E2C-C047-A7F6-02E756C414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7411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7918144-F63D-4592-FB39-3F0FC0B0D0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0BA02-0F25-D340-918E-D8EE852131BC}" type="datetimeFigureOut">
              <a:rPr lang="en-US" smtClean="0"/>
              <a:t>10/15/25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619F033-E09A-ED79-82B5-84084274DD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5CD2E4-7CFD-80DD-AC76-B4678D1BF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529D2-2E2C-C047-A7F6-02E756C414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17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04EC68-9E8A-1C4E-3870-837460FB0F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0A7183-3209-1E66-2BF7-1E1A4929C8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6AE320-2885-02E9-B408-B65255068F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8DE966-F088-C19B-82CC-03B3041D30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0BA02-0F25-D340-918E-D8EE852131BC}" type="datetimeFigureOut">
              <a:rPr lang="en-US" smtClean="0"/>
              <a:t>10/15/25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208DAD-768A-4C0A-F45B-F3FB43354A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00889F-7F15-E862-45CC-BE877A533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529D2-2E2C-C047-A7F6-02E756C414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5998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090D12-6DAD-171E-5C44-1C933DBAA3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3F5210E-6C87-CE34-5144-9869CA0A86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210B58-298A-786B-6B20-C8620C51A7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012C1E-0CC0-0198-4AAC-338809C6E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0BA02-0F25-D340-918E-D8EE852131BC}" type="datetimeFigureOut">
              <a:rPr lang="en-US" smtClean="0"/>
              <a:t>10/15/25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083992-6824-C0C3-BD44-70007CBE38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6427E1-DE32-B61D-721C-F6029E9A4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529D2-2E2C-C047-A7F6-02E756C414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21512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9CA54F-0914-1D5E-53DA-546EE30E90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5933A5-10B3-8922-AFE2-FA3A0D2318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CA5B6B-E662-D7EE-403C-422DA0DF94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0BA02-0F25-D340-918E-D8EE852131BC}" type="datetimeFigureOut">
              <a:rPr lang="en-US" smtClean="0"/>
              <a:t>10/15/25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C06DC3-D311-881F-12C0-2FE33C0AE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012770-8D29-70D7-240E-A5D28D8B1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529D2-2E2C-C047-A7F6-02E756C414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52959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C264A2C-5C3D-7618-54D9-236EE375EC8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2CC421-D912-2B56-4407-EB582E3C37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02B872-E8F9-D888-62B2-24851297FE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0BA02-0F25-D340-918E-D8EE852131BC}" type="datetimeFigureOut">
              <a:rPr lang="en-US" smtClean="0"/>
              <a:t>10/15/25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6F562E-3003-3833-0DFA-C3E2ED5A9A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05A6C1-A554-A489-BF47-674D944FAC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529D2-2E2C-C047-A7F6-02E756C414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67968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36F00F-E4B5-6449-3F27-7F7400DF6D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B53526-985E-710C-A6C0-ABF1E758FB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CCAF5F-ECEE-FE4F-325D-5A7DE3A869E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AF0BA02-0F25-D340-918E-D8EE852131BC}" type="datetimeFigureOut">
              <a:rPr lang="en-US" smtClean="0"/>
              <a:t>10/15/25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BACCA8-3B4C-02C5-3971-C6C37AC0EF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8537C8-E258-F0CF-E7E9-564B96C59D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E529D2-2E2C-C047-A7F6-02E756C414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34289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0.png"/><Relationship Id="rId2" Type="http://schemas.openxmlformats.org/officeDocument/2006/relationships/image" Target="../media/image3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360B5F-040E-C296-9511-14682DFA96C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EBGN645: Day 13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CBC080-9AF2-CAEA-F90D-6A0698128FB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60063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F6097A-DED3-3CD6-B544-E79915CFA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F5D46A-FD99-3951-10ED-20F71F0F4D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My phone volume is on today</a:t>
            </a:r>
          </a:p>
          <a:p>
            <a:endParaRPr lang="en-US" dirty="0"/>
          </a:p>
          <a:p>
            <a:r>
              <a:rPr lang="en-US" dirty="0"/>
              <a:t>No class 10/20 – Fall Break</a:t>
            </a:r>
          </a:p>
          <a:p>
            <a:r>
              <a:rPr lang="en-US" dirty="0"/>
              <a:t>No class 10/27-29</a:t>
            </a:r>
          </a:p>
          <a:p>
            <a:pPr lvl="1"/>
            <a:r>
              <a:rPr lang="en-US" dirty="0"/>
              <a:t>Will record at least one lecture (or two shorter ones)</a:t>
            </a:r>
          </a:p>
          <a:p>
            <a:endParaRPr lang="en-US" dirty="0"/>
          </a:p>
          <a:p>
            <a:r>
              <a:rPr lang="en-US" dirty="0"/>
              <a:t>Potentially cancelled: 11/10-12 (will email Sunday PM)</a:t>
            </a:r>
          </a:p>
          <a:p>
            <a:endParaRPr lang="en-US" dirty="0"/>
          </a:p>
          <a:p>
            <a:r>
              <a:rPr lang="en-US" dirty="0"/>
              <a:t>Good luck on your time series midterm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69256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457D93-A979-6176-13ED-B8BE8793BF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Meme [I]</a:t>
            </a:r>
          </a:p>
        </p:txBody>
      </p:sp>
      <p:pic>
        <p:nvPicPr>
          <p:cNvPr id="5" name="Picture 4" descr="A collage of a person sitting in water&#10;&#10;Description automatically generated">
            <a:extLst>
              <a:ext uri="{FF2B5EF4-FFF2-40B4-BE49-F238E27FC236}">
                <a16:creationId xmlns:a16="http://schemas.microsoft.com/office/drawing/2014/main" id="{086537A0-088F-4A88-DC16-E12D1C5C12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5800" y="235839"/>
            <a:ext cx="6858000" cy="62357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FE951C5-3B61-84BE-CFD5-BB2DF341A28C}"/>
              </a:ext>
            </a:extLst>
          </p:cNvPr>
          <p:cNvSpPr txBox="1"/>
          <p:nvPr/>
        </p:nvSpPr>
        <p:spPr>
          <a:xfrm>
            <a:off x="397042" y="3353689"/>
            <a:ext cx="36881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eq_forcex</a:t>
            </a:r>
            <a:r>
              <a:rPr lang="en-US" dirty="0"/>
              <a:t>(</a:t>
            </a:r>
            <a:r>
              <a:rPr lang="en-US" dirty="0" err="1"/>
              <a:t>i</a:t>
            </a:r>
            <a:r>
              <a:rPr lang="en-US" dirty="0"/>
              <a:t>)$[not </a:t>
            </a:r>
            <a:r>
              <a:rPr lang="en-US" dirty="0" err="1"/>
              <a:t>val</a:t>
            </a:r>
            <a:r>
              <a:rPr lang="en-US" dirty="0"/>
              <a:t>(</a:t>
            </a:r>
            <a:r>
              <a:rPr lang="en-US" dirty="0" err="1"/>
              <a:t>i</a:t>
            </a:r>
            <a:r>
              <a:rPr lang="en-US" dirty="0"/>
              <a:t>)].. X(</a:t>
            </a:r>
            <a:r>
              <a:rPr lang="en-US" dirty="0" err="1"/>
              <a:t>i</a:t>
            </a:r>
            <a:r>
              <a:rPr lang="en-US" dirty="0"/>
              <a:t>) =e= 0 ; </a:t>
            </a:r>
          </a:p>
        </p:txBody>
      </p:sp>
    </p:spTree>
    <p:extLst>
      <p:ext uri="{BB962C8B-B14F-4D97-AF65-F5344CB8AC3E}">
        <p14:creationId xmlns:p14="http://schemas.microsoft.com/office/powerpoint/2010/main" val="9034920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B31195-D227-5636-C8D7-5F31DCAD5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 dirty="0">
                <a:solidFill>
                  <a:srgbClr val="FFFFFF"/>
                </a:solidFill>
              </a:rPr>
              <a:t>Bigger picture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22AEFF-1D30-A839-FCF7-0BA8016D41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07232" y="329784"/>
            <a:ext cx="5358373" cy="6325849"/>
          </a:xfrm>
        </p:spPr>
        <p:txBody>
          <a:bodyPr anchor="ctr">
            <a:normAutofit/>
          </a:bodyPr>
          <a:lstStyle/>
          <a:p>
            <a:r>
              <a:rPr lang="en-US" sz="2400" strike="sngStrike" dirty="0"/>
              <a:t>Homework 1 together</a:t>
            </a:r>
          </a:p>
          <a:p>
            <a:r>
              <a:rPr lang="en-US" sz="2400" strike="sngStrike" dirty="0"/>
              <a:t>Resource models</a:t>
            </a:r>
          </a:p>
          <a:p>
            <a:pPr lvl="1"/>
            <a:r>
              <a:rPr lang="en-US" sz="1800" strike="sngStrike" dirty="0"/>
              <a:t>Hotelling (review)</a:t>
            </a:r>
          </a:p>
          <a:p>
            <a:pPr lvl="1"/>
            <a:r>
              <a:rPr lang="en-US" sz="1800" strike="sngStrike" dirty="0"/>
              <a:t>Fisheries management (Gordon-Schaeffer)</a:t>
            </a:r>
          </a:p>
          <a:p>
            <a:pPr lvl="1"/>
            <a:r>
              <a:rPr lang="en-US" sz="1800" strike="sngStrike" dirty="0"/>
              <a:t>Forestry management (Faustmann)</a:t>
            </a:r>
          </a:p>
          <a:p>
            <a:r>
              <a:rPr lang="en-US" sz="2200" dirty="0"/>
              <a:t>CO-WY electricity ‘dispatch’</a:t>
            </a:r>
          </a:p>
          <a:p>
            <a:r>
              <a:rPr lang="en-US" sz="2200" dirty="0"/>
              <a:t>Non-linear, calibrated market models</a:t>
            </a:r>
          </a:p>
          <a:p>
            <a:pPr lvl="1"/>
            <a:r>
              <a:rPr lang="en-US" sz="1800" dirty="0"/>
              <a:t>US petroleum, backstop techs</a:t>
            </a:r>
          </a:p>
          <a:p>
            <a:r>
              <a:rPr lang="en-US" sz="2200" dirty="0"/>
              <a:t>Review of duality -&gt; MCP models</a:t>
            </a:r>
          </a:p>
          <a:p>
            <a:r>
              <a:rPr lang="en-US" sz="2200" dirty="0"/>
              <a:t>Game theory models</a:t>
            </a:r>
          </a:p>
          <a:p>
            <a:pPr lvl="1"/>
            <a:r>
              <a:rPr lang="en-US" sz="1800" dirty="0"/>
              <a:t>Stackelberg</a:t>
            </a:r>
          </a:p>
          <a:p>
            <a:pPr lvl="1"/>
            <a:r>
              <a:rPr lang="en-US" sz="1800" dirty="0"/>
              <a:t>Cournot</a:t>
            </a:r>
          </a:p>
          <a:p>
            <a:r>
              <a:rPr lang="en-US" sz="2200" dirty="0"/>
              <a:t>Ramsey model</a:t>
            </a:r>
          </a:p>
          <a:p>
            <a:r>
              <a:rPr lang="en-US" sz="2200" dirty="0"/>
              <a:t>CGE models</a:t>
            </a:r>
          </a:p>
          <a:p>
            <a:r>
              <a:rPr lang="en-US" sz="2200" dirty="0"/>
              <a:t>MPECs/EPECs</a:t>
            </a:r>
          </a:p>
          <a:p>
            <a:r>
              <a:rPr lang="en-US" sz="2200" dirty="0"/>
              <a:t>Presentations</a:t>
            </a:r>
          </a:p>
          <a:p>
            <a:pPr lvl="1"/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5570907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A6D830-5544-D7D8-8467-1688BA05CE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 today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09427B-EA54-88B6-ED71-B3F03115B8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3212" y="2048255"/>
            <a:ext cx="11085576" cy="3982403"/>
          </a:xfrm>
        </p:spPr>
        <p:txBody>
          <a:bodyPr/>
          <a:lstStyle/>
          <a:p>
            <a:r>
              <a:rPr lang="en-US" dirty="0"/>
              <a:t>Shorter class – know you’re all excited for your time series midterm</a:t>
            </a:r>
          </a:p>
          <a:p>
            <a:endParaRPr lang="en-US" dirty="0"/>
          </a:p>
          <a:p>
            <a:r>
              <a:rPr lang="en-US" dirty="0"/>
              <a:t>Brief review of resource models and then managed forests</a:t>
            </a:r>
          </a:p>
          <a:p>
            <a:endParaRPr lang="en-US" dirty="0"/>
          </a:p>
          <a:p>
            <a:r>
              <a:rPr lang="en-US" dirty="0"/>
              <a:t>On to electricity ‘dispatch’</a:t>
            </a:r>
          </a:p>
        </p:txBody>
      </p:sp>
    </p:spTree>
    <p:extLst>
      <p:ext uri="{BB962C8B-B14F-4D97-AF65-F5344CB8AC3E}">
        <p14:creationId xmlns:p14="http://schemas.microsoft.com/office/powerpoint/2010/main" val="7660034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922350-6D33-DF5D-B64D-8BA0D2FFB0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Takeaways from fisheries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C216CB-0C6B-8B7E-917E-F0808C256D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Classic example of over-exploitation (tragedy of the commons) of a </a:t>
            </a:r>
            <a:r>
              <a:rPr lang="en-US" i="1" dirty="0"/>
              <a:t>common pool resource </a:t>
            </a:r>
          </a:p>
          <a:p>
            <a:pPr lvl="1"/>
            <a:r>
              <a:rPr lang="en-US" dirty="0"/>
              <a:t>Free entry leads to overharvesting</a:t>
            </a:r>
          </a:p>
          <a:p>
            <a:pPr lvl="1"/>
            <a:r>
              <a:rPr lang="en-US" dirty="0"/>
              <a:t>Profit maximization results in…</a:t>
            </a:r>
          </a:p>
          <a:p>
            <a:pPr lvl="2"/>
            <a:r>
              <a:rPr lang="en-US" dirty="0"/>
              <a:t>a greater stock being kept</a:t>
            </a:r>
          </a:p>
          <a:p>
            <a:pPr lvl="2"/>
            <a:r>
              <a:rPr lang="en-US" dirty="0"/>
              <a:t>thus a greater replenishment rate</a:t>
            </a:r>
          </a:p>
          <a:p>
            <a:pPr lvl="1"/>
            <a:endParaRPr lang="en-US" dirty="0"/>
          </a:p>
          <a:p>
            <a:r>
              <a:rPr lang="en-US" dirty="0"/>
              <a:t>Policies instruments helpful in management</a:t>
            </a:r>
          </a:p>
          <a:p>
            <a:pPr lvl="1"/>
            <a:r>
              <a:rPr lang="en-US" dirty="0"/>
              <a:t>Need heavy fines, local involvement/participation</a:t>
            </a:r>
          </a:p>
          <a:p>
            <a:pPr lvl="1"/>
            <a:r>
              <a:rPr lang="en-US" dirty="0"/>
              <a:t>Demonstrably beneficial to fishers in the long run</a:t>
            </a:r>
          </a:p>
        </p:txBody>
      </p:sp>
    </p:spTree>
    <p:extLst>
      <p:ext uri="{BB962C8B-B14F-4D97-AF65-F5344CB8AC3E}">
        <p14:creationId xmlns:p14="http://schemas.microsoft.com/office/powerpoint/2010/main" val="33673215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09B38-D65E-F834-517B-8112E06A89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Forestry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931809-E194-9BC5-BC79-2F19E72EFD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Now not talking about </a:t>
            </a:r>
            <a:r>
              <a:rPr lang="en-US" i="1" dirty="0"/>
              <a:t>stock </a:t>
            </a:r>
            <a:r>
              <a:rPr lang="en-US" dirty="0"/>
              <a:t>we’re talking about </a:t>
            </a:r>
            <a:r>
              <a:rPr lang="en-US" i="1" dirty="0"/>
              <a:t>rotation</a:t>
            </a:r>
          </a:p>
          <a:p>
            <a:r>
              <a:rPr lang="en-US" dirty="0"/>
              <a:t>Still harvesting but once we do, the ‘stock’ resets (for now)</a:t>
            </a:r>
          </a:p>
          <a:p>
            <a:endParaRPr lang="en-US" dirty="0"/>
          </a:p>
          <a:p>
            <a:r>
              <a:rPr lang="en-US" dirty="0"/>
              <a:t>Intuition:</a:t>
            </a:r>
          </a:p>
          <a:p>
            <a:pPr lvl="1"/>
            <a:r>
              <a:rPr lang="en-US" dirty="0"/>
              <a:t>Trees grow in volume/value over time, but also tie up resources (land)</a:t>
            </a:r>
          </a:p>
          <a:p>
            <a:pPr lvl="1"/>
            <a:r>
              <a:rPr lang="en-US" dirty="0"/>
              <a:t>Harvesting too early: missed value from growth</a:t>
            </a:r>
          </a:p>
          <a:p>
            <a:pPr lvl="1"/>
            <a:r>
              <a:rPr lang="en-US" dirty="0"/>
              <a:t>Harvesting too late: delays profits (we want money </a:t>
            </a:r>
            <a:r>
              <a:rPr lang="en-US" i="1" dirty="0"/>
              <a:t>now</a:t>
            </a:r>
            <a:r>
              <a:rPr lang="en-US" dirty="0"/>
              <a:t>)</a:t>
            </a:r>
          </a:p>
          <a:p>
            <a:pPr lvl="1"/>
            <a:endParaRPr lang="en-US" dirty="0"/>
          </a:p>
          <a:p>
            <a:r>
              <a:rPr lang="en-US" dirty="0"/>
              <a:t>Enter the </a:t>
            </a:r>
            <a:r>
              <a:rPr lang="en-US" i="1" dirty="0"/>
              <a:t>Faustmann Model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49631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83AC2-C1F5-1286-91E3-4F3267538B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4296" y="329184"/>
            <a:ext cx="6894576" cy="1783080"/>
          </a:xfrm>
        </p:spPr>
        <p:txBody>
          <a:bodyPr anchor="b">
            <a:normAutofit/>
          </a:bodyPr>
          <a:lstStyle/>
          <a:p>
            <a:r>
              <a:rPr lang="en-US" sz="5400" dirty="0"/>
              <a:t>Martin Faustmann</a:t>
            </a:r>
          </a:p>
        </p:txBody>
      </p:sp>
      <p:pic>
        <p:nvPicPr>
          <p:cNvPr id="2050" name="Picture 2" descr="Faustmann, Martin">
            <a:extLst>
              <a:ext uri="{FF2B5EF4-FFF2-40B4-BE49-F238E27FC236}">
                <a16:creationId xmlns:a16="http://schemas.microsoft.com/office/drawing/2014/main" id="{99B836C0-CACC-88EF-72EA-913FF61AC1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512" b="-1"/>
          <a:stretch/>
        </p:blipFill>
        <p:spPr bwMode="auto">
          <a:xfrm>
            <a:off x="20" y="1"/>
            <a:ext cx="4052522" cy="6858000"/>
          </a:xfrm>
          <a:custGeom>
            <a:avLst/>
            <a:gdLst/>
            <a:ahLst/>
            <a:cxnLst/>
            <a:rect l="l" t="t" r="r" b="b"/>
            <a:pathLst>
              <a:path w="4052542" h="6858000">
                <a:moveTo>
                  <a:pt x="0" y="0"/>
                </a:moveTo>
                <a:lnTo>
                  <a:pt x="4020923" y="0"/>
                </a:lnTo>
                <a:lnTo>
                  <a:pt x="4022656" y="14697"/>
                </a:lnTo>
                <a:cubicBezTo>
                  <a:pt x="4037606" y="98462"/>
                  <a:pt x="4035072" y="183369"/>
                  <a:pt x="4039126" y="267642"/>
                </a:cubicBezTo>
                <a:cubicBezTo>
                  <a:pt x="4043941" y="370699"/>
                  <a:pt x="4037860" y="474136"/>
                  <a:pt x="4035579" y="577446"/>
                </a:cubicBezTo>
                <a:cubicBezTo>
                  <a:pt x="4033805" y="665399"/>
                  <a:pt x="4025063" y="753226"/>
                  <a:pt x="4027724" y="841306"/>
                </a:cubicBezTo>
                <a:cubicBezTo>
                  <a:pt x="4027914" y="844352"/>
                  <a:pt x="4027914" y="847398"/>
                  <a:pt x="4027724" y="850444"/>
                </a:cubicBezTo>
                <a:cubicBezTo>
                  <a:pt x="4019615" y="947281"/>
                  <a:pt x="4019615" y="1044626"/>
                  <a:pt x="4027724" y="1141464"/>
                </a:cubicBezTo>
                <a:cubicBezTo>
                  <a:pt x="4030296" y="1181772"/>
                  <a:pt x="4029574" y="1222221"/>
                  <a:pt x="4025570" y="1262415"/>
                </a:cubicBezTo>
                <a:cubicBezTo>
                  <a:pt x="4021769" y="1313563"/>
                  <a:pt x="4009606" y="1365472"/>
                  <a:pt x="4018348" y="1416238"/>
                </a:cubicBezTo>
                <a:cubicBezTo>
                  <a:pt x="4024037" y="1458058"/>
                  <a:pt x="4027166" y="1500194"/>
                  <a:pt x="4027724" y="1542394"/>
                </a:cubicBezTo>
                <a:cubicBezTo>
                  <a:pt x="4032158" y="1636820"/>
                  <a:pt x="4027977" y="1731753"/>
                  <a:pt x="4026330" y="1826433"/>
                </a:cubicBezTo>
                <a:cubicBezTo>
                  <a:pt x="4024556" y="1936724"/>
                  <a:pt x="4027344" y="2047015"/>
                  <a:pt x="4018475" y="2157432"/>
                </a:cubicBezTo>
                <a:cubicBezTo>
                  <a:pt x="4013597" y="2246629"/>
                  <a:pt x="4013597" y="2336029"/>
                  <a:pt x="4018475" y="2425226"/>
                </a:cubicBezTo>
                <a:cubicBezTo>
                  <a:pt x="4020882" y="2506961"/>
                  <a:pt x="4033172" y="2587934"/>
                  <a:pt x="4031145" y="2670557"/>
                </a:cubicBezTo>
                <a:cubicBezTo>
                  <a:pt x="4028737" y="2766886"/>
                  <a:pt x="4017335" y="2862962"/>
                  <a:pt x="4020882" y="2959546"/>
                </a:cubicBezTo>
                <a:cubicBezTo>
                  <a:pt x="4022529" y="3005617"/>
                  <a:pt x="4022656" y="3051688"/>
                  <a:pt x="4023543" y="3097758"/>
                </a:cubicBezTo>
                <a:cubicBezTo>
                  <a:pt x="4024683" y="3153221"/>
                  <a:pt x="4034692" y="3208556"/>
                  <a:pt x="4029117" y="3263892"/>
                </a:cubicBezTo>
                <a:cubicBezTo>
                  <a:pt x="4019869" y="3356161"/>
                  <a:pt x="3995923" y="3446906"/>
                  <a:pt x="4010873" y="3541459"/>
                </a:cubicBezTo>
                <a:cubicBezTo>
                  <a:pt x="4019108" y="3593495"/>
                  <a:pt x="4028357" y="3645658"/>
                  <a:pt x="4033172" y="3698201"/>
                </a:cubicBezTo>
                <a:cubicBezTo>
                  <a:pt x="4037353" y="3745160"/>
                  <a:pt x="4047868" y="3792881"/>
                  <a:pt x="4039886" y="3839586"/>
                </a:cubicBezTo>
                <a:cubicBezTo>
                  <a:pt x="4033045" y="3879565"/>
                  <a:pt x="4036592" y="3919544"/>
                  <a:pt x="4031271" y="3959523"/>
                </a:cubicBezTo>
                <a:cubicBezTo>
                  <a:pt x="4024303" y="4011939"/>
                  <a:pt x="4020629" y="4065244"/>
                  <a:pt x="4015308" y="4118042"/>
                </a:cubicBezTo>
                <a:cubicBezTo>
                  <a:pt x="4010620" y="4165889"/>
                  <a:pt x="4006946" y="4213610"/>
                  <a:pt x="4019615" y="4258539"/>
                </a:cubicBezTo>
                <a:cubicBezTo>
                  <a:pt x="4050656" y="4371622"/>
                  <a:pt x="4033679" y="4484070"/>
                  <a:pt x="4022023" y="4596391"/>
                </a:cubicBezTo>
                <a:cubicBezTo>
                  <a:pt x="4016321" y="4650965"/>
                  <a:pt x="4007959" y="4708712"/>
                  <a:pt x="4020629" y="4758718"/>
                </a:cubicBezTo>
                <a:cubicBezTo>
                  <a:pt x="4043941" y="4847432"/>
                  <a:pt x="4025697" y="4931705"/>
                  <a:pt x="4015561" y="5016866"/>
                </a:cubicBezTo>
                <a:cubicBezTo>
                  <a:pt x="4003335" y="5100174"/>
                  <a:pt x="4005096" y="5184929"/>
                  <a:pt x="4020756" y="5267654"/>
                </a:cubicBezTo>
                <a:cubicBezTo>
                  <a:pt x="4033172" y="5326035"/>
                  <a:pt x="4033172" y="5385432"/>
                  <a:pt x="4034692" y="5444194"/>
                </a:cubicBezTo>
                <a:cubicBezTo>
                  <a:pt x="4035579" y="5481001"/>
                  <a:pt x="4022023" y="5518441"/>
                  <a:pt x="4013027" y="5555120"/>
                </a:cubicBezTo>
                <a:cubicBezTo>
                  <a:pt x="3996937" y="5621371"/>
                  <a:pt x="3991109" y="5688636"/>
                  <a:pt x="4013027" y="5753237"/>
                </a:cubicBezTo>
                <a:cubicBezTo>
                  <a:pt x="4043561" y="5842713"/>
                  <a:pt x="4061045" y="5932189"/>
                  <a:pt x="4048375" y="6026870"/>
                </a:cubicBezTo>
                <a:cubicBezTo>
                  <a:pt x="4041027" y="6085251"/>
                  <a:pt x="4039380" y="6144902"/>
                  <a:pt x="4028357" y="6202522"/>
                </a:cubicBezTo>
                <a:cubicBezTo>
                  <a:pt x="4010240" y="6298091"/>
                  <a:pt x="4016701" y="6393024"/>
                  <a:pt x="4031145" y="6487196"/>
                </a:cubicBezTo>
                <a:cubicBezTo>
                  <a:pt x="4041293" y="6565885"/>
                  <a:pt x="4042395" y="6645474"/>
                  <a:pt x="4034439" y="6724403"/>
                </a:cubicBezTo>
                <a:lnTo>
                  <a:pt x="4025206" y="6858000"/>
                </a:lnTo>
                <a:lnTo>
                  <a:pt x="0" y="6858000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0DA6A0-49AE-63B7-0ED4-56FD3C2188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4296" y="2706624"/>
            <a:ext cx="4569217" cy="3483864"/>
          </a:xfrm>
        </p:spPr>
        <p:txBody>
          <a:bodyPr>
            <a:normAutofit fontScale="92500" lnSpcReduction="10000"/>
          </a:bodyPr>
          <a:lstStyle/>
          <a:p>
            <a:r>
              <a:rPr lang="en-US" sz="2200" dirty="0"/>
              <a:t>Born 1822, Died 1876</a:t>
            </a:r>
          </a:p>
          <a:p>
            <a:r>
              <a:rPr lang="en-US" sz="2200" dirty="0"/>
              <a:t>Spotty college record</a:t>
            </a:r>
          </a:p>
          <a:p>
            <a:r>
              <a:rPr lang="en-US" sz="2200" dirty="0"/>
              <a:t>Quickly became chief forester of </a:t>
            </a:r>
            <a:r>
              <a:rPr lang="en-US" sz="2200" dirty="0" err="1"/>
              <a:t>Dudenhofen</a:t>
            </a:r>
            <a:r>
              <a:rPr lang="en-US" sz="2200" dirty="0"/>
              <a:t> (Black Forest)</a:t>
            </a:r>
          </a:p>
          <a:p>
            <a:r>
              <a:rPr lang="en-US" sz="2200" dirty="0"/>
              <a:t>Known for incorporating time into the consideration of forest harvests:</a:t>
            </a:r>
          </a:p>
          <a:p>
            <a:pPr marL="236538" indent="-55563">
              <a:buNone/>
            </a:pPr>
            <a:r>
              <a:rPr lang="en-US" sz="2200" dirty="0"/>
              <a:t>“</a:t>
            </a:r>
            <a:r>
              <a:rPr lang="en-US" sz="1600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If a patient forester chooses to let their stand grow for an additional decade, they might receive a much larger timber sale revenue, but at the cost of delaying the next rotation: after harvesting, they are left with bare land, while their impatient colleague now has 10-year-old-trees.”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21570393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B826CD-1C4F-1BC0-054B-ACE1F4959B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7025" y="922644"/>
            <a:ext cx="5040285" cy="1169585"/>
          </a:xfrm>
        </p:spPr>
        <p:txBody>
          <a:bodyPr anchor="b">
            <a:normAutofit/>
          </a:bodyPr>
          <a:lstStyle/>
          <a:p>
            <a:r>
              <a:rPr lang="en-US" sz="4000" dirty="0"/>
              <a:t>The Faustmann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2B13E8-216B-5ADE-AC17-A2AACF2DDC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5715" y="2508105"/>
            <a:ext cx="5040285" cy="3632493"/>
          </a:xfrm>
        </p:spPr>
        <p:txBody>
          <a:bodyPr anchor="ctr">
            <a:normAutofit/>
          </a:bodyPr>
          <a:lstStyle/>
          <a:p>
            <a:r>
              <a:rPr lang="en-US" sz="2000" dirty="0"/>
              <a:t>Used widely in forestry and resource management</a:t>
            </a:r>
          </a:p>
          <a:p>
            <a:endParaRPr lang="en-US" sz="2000" dirty="0"/>
          </a:p>
          <a:p>
            <a:r>
              <a:rPr lang="en-US" sz="2000" dirty="0"/>
              <a:t>Actually used by companies and governments (more on this later)</a:t>
            </a:r>
          </a:p>
          <a:p>
            <a:endParaRPr lang="en-US" sz="2000" dirty="0"/>
          </a:p>
          <a:p>
            <a:r>
              <a:rPr lang="en-US" sz="2000" b="1" i="1" dirty="0"/>
              <a:t>Fundamentally: How do you choose a rotation period to maximize the value of land when it can be harvested, replanted, and used forever on a T-year cycle?</a:t>
            </a:r>
          </a:p>
          <a:p>
            <a:endParaRPr lang="en-US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32E6F46-0A05-89D7-4744-CCA7068A21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6667" y="1104752"/>
            <a:ext cx="4389120" cy="192023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FD37DF8-2EBD-B5FA-2FCB-BF06AE71E2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6667" y="4114024"/>
            <a:ext cx="4389120" cy="1503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20175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220D1C-1D8E-5214-E263-BA3292E4A8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EE9A7-D65D-F18E-684A-5AD505660D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Faustmann Equation [I]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ADA6E7B-452E-16B8-5AC6-B50D7A715DB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879975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𝑟𝑇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𝑟𝑇</m:t>
                          </m:r>
                        </m:sup>
                      </m:sSup>
                      <m:r>
                        <a:rPr lang="en-US" b="0" i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b="0" i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>
                  <a:solidFill>
                    <a:schemeClr val="bg1">
                      <a:lumMod val="50000"/>
                    </a:schemeClr>
                  </a:solidFill>
                </a:endParaRPr>
              </a:p>
              <a:p>
                <a:pPr marL="0" indent="0">
                  <a:buNone/>
                </a:pPr>
                <a:endParaRPr lang="en-US" dirty="0">
                  <a:solidFill>
                    <a:schemeClr val="bg1">
                      <a:lumMod val="50000"/>
                    </a:schemeClr>
                  </a:solidFill>
                </a:endParaRP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LHS implies: The gain from waiting</a:t>
                </a:r>
              </a:p>
              <a:p>
                <a:pPr>
                  <a:buFontTx/>
                  <a:buChar char="-"/>
                </a:pPr>
                <a:r>
                  <a:rPr lang="en-US" dirty="0"/>
                  <a:t>V’(T): how much money you’d make if you waited a tiny bit</a:t>
                </a:r>
              </a:p>
              <a:p>
                <a:pPr>
                  <a:buFontTx/>
                  <a:buChar char="-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𝑟𝑇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dirty="0"/>
                  <a:t>: perpetuity factor -&gt; the value lost in waiting</a:t>
                </a:r>
              </a:p>
              <a:p>
                <a:pPr lvl="3">
                  <a:buFontTx/>
                  <a:buChar char="-"/>
                </a:pPr>
                <a:r>
                  <a:rPr lang="en-US" sz="2400" dirty="0"/>
                  <a:t>It’s my money and I need it now! </a:t>
                </a:r>
              </a:p>
              <a:p>
                <a:pPr lvl="3">
                  <a:buFontTx/>
                  <a:buChar char="-"/>
                </a:pPr>
                <a:endParaRPr lang="en-US" sz="2400" dirty="0"/>
              </a:p>
              <a:p>
                <a:pPr>
                  <a:buFontTx/>
                  <a:buChar char="-"/>
                </a:pPr>
                <a:r>
                  <a:rPr lang="en-US" sz="3400" dirty="0"/>
                  <a:t>In short: this is the present value of growing trees just a tiny bit longer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ADA6E7B-452E-16B8-5AC6-B50D7A715DB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879975"/>
              </a:xfrm>
              <a:blipFill>
                <a:blip r:embed="rId3"/>
                <a:stretch>
                  <a:fillRect l="-1568" t="-260" r="-3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343AED66-4C7D-D89D-511A-78E17B8A2A5F}"/>
              </a:ext>
            </a:extLst>
          </p:cNvPr>
          <p:cNvCxnSpPr>
            <a:cxnSpLocks/>
          </p:cNvCxnSpPr>
          <p:nvPr/>
        </p:nvCxnSpPr>
        <p:spPr>
          <a:xfrm flipV="1">
            <a:off x="3104432" y="2497681"/>
            <a:ext cx="1551121" cy="5693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7CA2ED40-D77C-145E-B20F-AE7EEE6D4844}"/>
              </a:ext>
            </a:extLst>
          </p:cNvPr>
          <p:cNvSpPr txBox="1"/>
          <p:nvPr/>
        </p:nvSpPr>
        <p:spPr>
          <a:xfrm>
            <a:off x="250750" y="3244334"/>
            <a:ext cx="5224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Marginal increase in time value [x] Perpetuity factor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16F2BE0-EF21-B2A8-A422-2C4F05D3999A}"/>
              </a:ext>
            </a:extLst>
          </p:cNvPr>
          <p:cNvSpPr txBox="1"/>
          <p:nvPr/>
        </p:nvSpPr>
        <p:spPr>
          <a:xfrm>
            <a:off x="6177264" y="3063971"/>
            <a:ext cx="489005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Opportunity cost of capital tied up in the stand, 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including delayed profits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8CED823-F843-2640-2961-503B049ACA2A}"/>
              </a:ext>
            </a:extLst>
          </p:cNvPr>
          <p:cNvCxnSpPr>
            <a:cxnSpLocks/>
          </p:cNvCxnSpPr>
          <p:nvPr/>
        </p:nvCxnSpPr>
        <p:spPr>
          <a:xfrm flipH="1" flipV="1">
            <a:off x="7430596" y="2363287"/>
            <a:ext cx="718459" cy="5657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58998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A98CE7-53EF-A147-912B-FA6F62A5E7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01010-AE3B-C3F4-E99E-7E6B23940A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Faustmann Equation [II]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02926F3-DB0B-EA7D-79C5-A4B4CA9C4F9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879975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  <m:d>
                        <m:dPr>
                          <m:ctrlPr>
                            <a:rPr lang="en-US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 smtClean="0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b="0" i="1" smtClean="0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𝑟𝑇</m:t>
                              </m:r>
                            </m:sup>
                          </m:sSup>
                          <m:r>
                            <a:rPr lang="en-US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𝑟𝑇</m:t>
                          </m:r>
                        </m:sup>
                      </m:sSup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en-US" dirty="0">
                  <a:solidFill>
                    <a:schemeClr val="bg1">
                      <a:lumMod val="50000"/>
                    </a:schemeClr>
                  </a:solidFill>
                </a:endParaRP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RHS implies: The cost of waiting</a:t>
                </a:r>
              </a:p>
              <a:p>
                <a:pPr>
                  <a:buFontTx/>
                  <a:buChar char="-"/>
                </a:pPr>
                <a:r>
                  <a:rPr lang="en-US" dirty="0"/>
                  <a:t>(V(T)-c): Profit you’d take, right now</a:t>
                </a:r>
              </a:p>
              <a:p>
                <a:pPr>
                  <a:buFontTx/>
                  <a:buChar char="-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sz="2400" dirty="0"/>
                  <a:t>: the return you’d get if you put that money in the bank</a:t>
                </a:r>
              </a:p>
              <a:p>
                <a:pPr>
                  <a:buFontTx/>
                  <a:buChar char="-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𝑟𝑇</m:t>
                        </m:r>
                      </m:sup>
                    </m:sSup>
                  </m:oMath>
                </a14:m>
                <a:r>
                  <a:rPr lang="en-US" sz="2400" dirty="0"/>
                  <a:t>: value of getting that money sooner versus later</a:t>
                </a:r>
              </a:p>
              <a:p>
                <a:pPr>
                  <a:buFontTx/>
                  <a:buChar char="-"/>
                </a:pPr>
                <a:r>
                  <a:rPr lang="en-US" sz="3400" dirty="0"/>
                  <a:t>In short: opportunity cost of not harvesting and reinvesting that money right now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02926F3-DB0B-EA7D-79C5-A4B4CA9C4F9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879975"/>
              </a:xfrm>
              <a:blipFill>
                <a:blip r:embed="rId2"/>
                <a:stretch>
                  <a:fillRect l="-16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FFAD7E9F-282D-465B-65F2-379735D7B7B2}"/>
              </a:ext>
            </a:extLst>
          </p:cNvPr>
          <p:cNvCxnSpPr>
            <a:cxnSpLocks/>
          </p:cNvCxnSpPr>
          <p:nvPr/>
        </p:nvCxnSpPr>
        <p:spPr>
          <a:xfrm flipV="1">
            <a:off x="3104432" y="2497681"/>
            <a:ext cx="1551121" cy="5693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3044FF35-C1BD-74DB-C636-0406ADF0A3C6}"/>
              </a:ext>
            </a:extLst>
          </p:cNvPr>
          <p:cNvSpPr txBox="1"/>
          <p:nvPr/>
        </p:nvSpPr>
        <p:spPr>
          <a:xfrm>
            <a:off x="250750" y="3244334"/>
            <a:ext cx="5224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Marginal increase in time value [x] Perpetuity factor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46DA18-547A-C7FB-0B6D-4886CEF8130A}"/>
              </a:ext>
            </a:extLst>
          </p:cNvPr>
          <p:cNvSpPr txBox="1"/>
          <p:nvPr/>
        </p:nvSpPr>
        <p:spPr>
          <a:xfrm>
            <a:off x="6177264" y="3063971"/>
            <a:ext cx="489005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Opportunity cost of capital tied up in the stand, </a:t>
            </a:r>
          </a:p>
          <a:p>
            <a:r>
              <a:rPr lang="en-US" dirty="0"/>
              <a:t>including delayed profits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1E93FDE-F7CD-2530-880F-57D5F2882EA1}"/>
              </a:ext>
            </a:extLst>
          </p:cNvPr>
          <p:cNvCxnSpPr>
            <a:cxnSpLocks/>
          </p:cNvCxnSpPr>
          <p:nvPr/>
        </p:nvCxnSpPr>
        <p:spPr>
          <a:xfrm flipH="1" flipV="1">
            <a:off x="7430596" y="2363287"/>
            <a:ext cx="718459" cy="5657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24161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19595B-B45F-710B-AD11-03B6716491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47915C-8E97-9326-38EB-2E6B9BF101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Faustmann Equation [III]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A326010-58E4-C034-766C-537C63FC2D8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8799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  <m:d>
                        <m:d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𝑟𝑇</m:t>
                              </m:r>
                            </m:sup>
                          </m:s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𝑟𝑇</m:t>
                          </m:r>
                        </m:sup>
                      </m:sSup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en-US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en-US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en-US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>
                    <a:solidFill>
                      <a:schemeClr val="tx1"/>
                    </a:solidFill>
                  </a:rPr>
                  <a:t>“The forester should wait until the value of waiting equates to the opportunity cost of harvesting/reinvesting"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A326010-58E4-C034-766C-537C63FC2D8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879975"/>
              </a:xfrm>
              <a:blipFill>
                <a:blip r:embed="rId2"/>
                <a:stretch>
                  <a:fillRect l="-12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C912CFEC-2AB5-3F5B-BB76-E7F702B36934}"/>
              </a:ext>
            </a:extLst>
          </p:cNvPr>
          <p:cNvCxnSpPr>
            <a:cxnSpLocks/>
          </p:cNvCxnSpPr>
          <p:nvPr/>
        </p:nvCxnSpPr>
        <p:spPr>
          <a:xfrm flipV="1">
            <a:off x="3104432" y="2497681"/>
            <a:ext cx="1551121" cy="5693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1F56E61F-F653-FAE5-0D04-769072B0CC3B}"/>
              </a:ext>
            </a:extLst>
          </p:cNvPr>
          <p:cNvSpPr txBox="1"/>
          <p:nvPr/>
        </p:nvSpPr>
        <p:spPr>
          <a:xfrm>
            <a:off x="250750" y="3244334"/>
            <a:ext cx="49225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PV of growing trees just a tiny bit longer (waiting)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7AD2E20-9EBD-1BF5-2167-55B367C7BB8A}"/>
              </a:ext>
            </a:extLst>
          </p:cNvPr>
          <p:cNvSpPr txBox="1"/>
          <p:nvPr/>
        </p:nvSpPr>
        <p:spPr>
          <a:xfrm>
            <a:off x="6177264" y="3063971"/>
            <a:ext cx="436373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Value of harvesting (more appropriately opportunity cost of </a:t>
            </a:r>
            <a:r>
              <a:rPr lang="en-US" sz="1800" i="1" dirty="0">
                <a:solidFill>
                  <a:schemeClr val="tx1"/>
                </a:solidFill>
              </a:rPr>
              <a:t>not </a:t>
            </a:r>
            <a:r>
              <a:rPr lang="en-US" sz="1800" dirty="0">
                <a:solidFill>
                  <a:schemeClr val="tx1"/>
                </a:solidFill>
              </a:rPr>
              <a:t>harvesting) and reinvesting that money </a:t>
            </a:r>
            <a:r>
              <a:rPr lang="en-US" dirty="0"/>
              <a:t>- JG </a:t>
            </a:r>
            <a:r>
              <a:rPr lang="en-US" dirty="0" err="1"/>
              <a:t>Wentwroth</a:t>
            </a:r>
            <a:endParaRPr lang="en-US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D151087-9DA2-4F1D-7CDC-0F5165F8FF5C}"/>
              </a:ext>
            </a:extLst>
          </p:cNvPr>
          <p:cNvCxnSpPr>
            <a:cxnSpLocks/>
          </p:cNvCxnSpPr>
          <p:nvPr/>
        </p:nvCxnSpPr>
        <p:spPr>
          <a:xfrm flipH="1" flipV="1">
            <a:off x="7430596" y="2363287"/>
            <a:ext cx="718459" cy="5657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22685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73DD98-281E-A19B-5C90-F8E8C9E65A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550E89-4A31-1B15-3A07-EC77162A81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Faustmann Equation [III]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E3B9EAD-A379-5459-CBE7-957CE42220D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38150" y="1825624"/>
                <a:ext cx="11436350" cy="48799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  <m:d>
                        <m:d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𝑟𝑇</m:t>
                              </m:r>
                            </m:sup>
                          </m:s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𝑟𝑇</m:t>
                          </m:r>
                        </m:sup>
                      </m:sSup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en-US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en-US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en-US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>
                    <a:solidFill>
                      <a:schemeClr val="tx1"/>
                    </a:solidFill>
                  </a:rPr>
                  <a:t>An analogy – “forest” is $’s in a saving account</a:t>
                </a:r>
              </a:p>
              <a:p>
                <a:pPr>
                  <a:buFontTx/>
                  <a:buChar char="-"/>
                </a:pPr>
                <a:r>
                  <a:rPr lang="en-US" dirty="0"/>
                  <a:t>When growing quickly, you’re making good money and should let it sit</a:t>
                </a:r>
              </a:p>
              <a:p>
                <a:pPr>
                  <a:buFontTx/>
                  <a:buChar char="-"/>
                </a:pPr>
                <a:r>
                  <a:rPr lang="en-US" dirty="0"/>
                  <a:t>When growing slowly, relative to other opportunities, should take it out (harvest) and put the money somewhere else</a:t>
                </a:r>
              </a:p>
              <a:p>
                <a:pPr>
                  <a:buFontTx/>
                  <a:buChar char="-"/>
                </a:pPr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E3B9EAD-A379-5459-CBE7-957CE42220D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38150" y="1825624"/>
                <a:ext cx="11436350" cy="4879975"/>
              </a:xfrm>
              <a:blipFill>
                <a:blip r:embed="rId2"/>
                <a:stretch>
                  <a:fillRect l="-11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4B5B902A-446C-DA71-7720-408FF3084B22}"/>
              </a:ext>
            </a:extLst>
          </p:cNvPr>
          <p:cNvCxnSpPr>
            <a:cxnSpLocks/>
          </p:cNvCxnSpPr>
          <p:nvPr/>
        </p:nvCxnSpPr>
        <p:spPr>
          <a:xfrm flipV="1">
            <a:off x="3104432" y="2497681"/>
            <a:ext cx="1551121" cy="5693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762AD46F-D0F9-D1D4-BD9D-A9E0738C49D2}"/>
              </a:ext>
            </a:extLst>
          </p:cNvPr>
          <p:cNvSpPr txBox="1"/>
          <p:nvPr/>
        </p:nvSpPr>
        <p:spPr>
          <a:xfrm>
            <a:off x="250750" y="3244334"/>
            <a:ext cx="49225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PV of growing trees just a tiny bit longer (waiting)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2807B38-79D1-ADF6-E7D8-D4EE1D1B3804}"/>
              </a:ext>
            </a:extLst>
          </p:cNvPr>
          <p:cNvSpPr txBox="1"/>
          <p:nvPr/>
        </p:nvSpPr>
        <p:spPr>
          <a:xfrm>
            <a:off x="6177264" y="3063971"/>
            <a:ext cx="43637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chemeClr val="tx1"/>
                </a:solidFill>
              </a:rPr>
              <a:t>opportunity cost of not harvesting and reinvesting that money (right now)</a:t>
            </a:r>
            <a:endParaRPr lang="en-US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1897930-2171-1200-3428-50DBED680F0D}"/>
              </a:ext>
            </a:extLst>
          </p:cNvPr>
          <p:cNvCxnSpPr>
            <a:cxnSpLocks/>
          </p:cNvCxnSpPr>
          <p:nvPr/>
        </p:nvCxnSpPr>
        <p:spPr>
          <a:xfrm flipH="1" flipV="1">
            <a:off x="7430596" y="2363287"/>
            <a:ext cx="718459" cy="5657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18385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BA6117-7EF6-34B3-B28E-2F292DBC86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full Faustmann model…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54D76AC-5633-2A9F-B9D0-0B6B64EBFF6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Parameters</a:t>
                </a:r>
              </a:p>
              <a:p>
                <a:pPr marL="0" indent="0">
                  <a:buNone/>
                </a:pPr>
                <a:r>
                  <a:rPr lang="en-US" dirty="0"/>
                  <a:t>p: price = 1000</a:t>
                </a:r>
              </a:p>
              <a:p>
                <a:pPr marL="0" indent="0">
                  <a:buNone/>
                </a:pPr>
                <a:r>
                  <a:rPr lang="en-US" dirty="0"/>
                  <a:t>r: discount rate = 0.1</a:t>
                </a:r>
              </a:p>
              <a:p>
                <a:pPr marL="0" indent="0">
                  <a:buNone/>
                </a:pPr>
                <a:r>
                  <a:rPr lang="en-US" dirty="0"/>
                  <a:t>c: replanting cost = 500</a:t>
                </a:r>
              </a:p>
              <a:p>
                <a:pPr marL="0" indent="0">
                  <a:buNone/>
                </a:pPr>
                <a:r>
                  <a:rPr lang="en-US" dirty="0"/>
                  <a:t>f: growth rate = 0.08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acc>
                  </m:oMath>
                </a14:m>
                <a:r>
                  <a:rPr lang="en-US" dirty="0"/>
                  <a:t>: initial stand = 100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54D76AC-5633-2A9F-B9D0-0B6B64EBFF6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94EED4AB-BCC8-53B1-FC13-3B9E06104CD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096000" y="1690688"/>
                <a:ext cx="5049520" cy="435133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dirty="0"/>
                  <a:t>Variables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dirty="0"/>
                  <a:t>Z – present value of profit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dirty="0"/>
                  <a:t>T – rotation period (years)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dirty="0"/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dirty="0"/>
                  <a:t>Objective:</a:t>
                </a:r>
                <a:br>
                  <a:rPr lang="en-US" dirty="0"/>
                </a:b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𝑀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𝑎𝑥</m:t>
                            </m:r>
                          </m:e>
                        </m:mr>
                        <m:m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</m:mr>
                      </m:m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𝜋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  <m:acc>
                            <m:accPr>
                              <m:chr m:val="̅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acc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1+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num>
                        <m:den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𝑟𝑇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94EED4AB-BCC8-53B1-FC13-3B9E06104C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1690688"/>
                <a:ext cx="5049520" cy="4351338"/>
              </a:xfrm>
              <a:prstGeom prst="rect">
                <a:avLst/>
              </a:prstGeom>
              <a:blipFill>
                <a:blip r:embed="rId3"/>
                <a:stretch>
                  <a:fillRect l="-2764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192615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115757-B70D-90CB-5AFD-F0D4C86079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3845" y="2766218"/>
            <a:ext cx="11624310" cy="1325563"/>
          </a:xfrm>
        </p:spPr>
        <p:txBody>
          <a:bodyPr/>
          <a:lstStyle/>
          <a:p>
            <a:pPr algn="ctr"/>
            <a:r>
              <a:rPr lang="en-US" dirty="0"/>
              <a:t>Do we see any problems with Faustmann?</a:t>
            </a:r>
          </a:p>
        </p:txBody>
      </p:sp>
    </p:spTree>
    <p:extLst>
      <p:ext uri="{BB962C8B-B14F-4D97-AF65-F5344CB8AC3E}">
        <p14:creationId xmlns:p14="http://schemas.microsoft.com/office/powerpoint/2010/main" val="42559334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531F62-3EAC-7671-25E6-56C15D0637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Pros/cons of Faustmann</a:t>
            </a:r>
          </a:p>
        </p:txBody>
      </p:sp>
      <p:pic>
        <p:nvPicPr>
          <p:cNvPr id="1026" name="Picture 2" descr="The Debate Over the Clearcutting Method">
            <a:extLst>
              <a:ext uri="{FF2B5EF4-FFF2-40B4-BE49-F238E27FC236}">
                <a16:creationId xmlns:a16="http://schemas.microsoft.com/office/drawing/2014/main" id="{ACE2F7FE-6342-4F10-656B-74597720B90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9012" y="1815545"/>
            <a:ext cx="6540087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9D668AE-0637-FB1F-4D62-16A7BDFD1774}"/>
              </a:ext>
            </a:extLst>
          </p:cNvPr>
          <p:cNvSpPr txBox="1">
            <a:spLocks/>
          </p:cNvSpPr>
          <p:nvPr/>
        </p:nvSpPr>
        <p:spPr>
          <a:xfrm>
            <a:off x="269098" y="1521069"/>
            <a:ext cx="5038259" cy="48797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Pros:</a:t>
            </a:r>
          </a:p>
          <a:p>
            <a:pPr lvl="1"/>
            <a:r>
              <a:rPr lang="en-US" dirty="0"/>
              <a:t>Easy/intuitive</a:t>
            </a:r>
          </a:p>
          <a:p>
            <a:pPr lvl="1"/>
            <a:r>
              <a:rPr lang="en-US" dirty="0"/>
              <a:t>Focus on PV</a:t>
            </a:r>
          </a:p>
          <a:p>
            <a:pPr lvl="1"/>
            <a:r>
              <a:rPr lang="en-US" dirty="0"/>
              <a:t>Easily-expandable</a:t>
            </a:r>
          </a:p>
          <a:p>
            <a:pPr lvl="1"/>
            <a:endParaRPr lang="en-US" dirty="0"/>
          </a:p>
          <a:p>
            <a:r>
              <a:rPr lang="en-US" dirty="0"/>
              <a:t>Cons:</a:t>
            </a:r>
          </a:p>
          <a:p>
            <a:pPr lvl="1"/>
            <a:r>
              <a:rPr lang="en-US" dirty="0"/>
              <a:t>Even-aged, clear-cutting</a:t>
            </a:r>
          </a:p>
          <a:p>
            <a:pPr lvl="1"/>
            <a:r>
              <a:rPr lang="en-US" dirty="0"/>
              <a:t>Ignores ecological services</a:t>
            </a:r>
          </a:p>
          <a:p>
            <a:pPr lvl="1"/>
            <a:r>
              <a:rPr lang="en-US" dirty="0"/>
              <a:t>Perfect foresight</a:t>
            </a:r>
          </a:p>
          <a:p>
            <a:pPr lvl="1"/>
            <a:r>
              <a:rPr lang="en-US" dirty="0"/>
              <a:t>Super simple</a:t>
            </a:r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56070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EF7F56-D079-C1DE-149F-E40A453E43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dirty="0"/>
              <a:t>Enter a new challenger – Managed forests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EDB931-BB54-62AA-D55D-E8B5950C83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32025"/>
            <a:ext cx="10515600" cy="4351338"/>
          </a:xfrm>
        </p:spPr>
        <p:txBody>
          <a:bodyPr/>
          <a:lstStyle/>
          <a:p>
            <a:r>
              <a:rPr lang="en-US" dirty="0"/>
              <a:t>It doesn’t always make sense to just clear-cut a forest</a:t>
            </a:r>
          </a:p>
          <a:p>
            <a:endParaRPr lang="en-US" dirty="0"/>
          </a:p>
          <a:p>
            <a:r>
              <a:rPr lang="en-US" dirty="0"/>
              <a:t>Similar to fisheries – we can harvest some trees when the time is right but wait for others to mature and become more valuable</a:t>
            </a:r>
          </a:p>
          <a:p>
            <a:endParaRPr lang="en-US" dirty="0"/>
          </a:p>
          <a:p>
            <a:r>
              <a:rPr lang="en-US" dirty="0"/>
              <a:t>Thus, need to introduce the idea that we want to optimize via choosing a quantity to harvest, not a harvest period</a:t>
            </a:r>
          </a:p>
        </p:txBody>
      </p:sp>
    </p:spTree>
    <p:extLst>
      <p:ext uri="{BB962C8B-B14F-4D97-AF65-F5344CB8AC3E}">
        <p14:creationId xmlns:p14="http://schemas.microsoft.com/office/powerpoint/2010/main" val="911929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4F5105-B2BF-11DC-5DC0-127332CD48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Subtle difference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AB9ECEC-FEA9-95C8-878A-0D6863542F0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In our previous model: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𝑀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𝑎𝑥</m:t>
                            </m:r>
                          </m:e>
                        </m:mr>
                        <m:mr>
                          <m:e>
                            <m:r>
                              <a:rPr lang="en-US" b="1" i="1" smtClean="0"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  <m:t>𝑻</m:t>
                            </m:r>
                          </m:e>
                        </m:mr>
                      </m:m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𝐿𝐸𝑉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num>
                        <m:den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𝑟𝑇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Now: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𝑀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𝑎𝑥</m:t>
                            </m:r>
                          </m:e>
                        </m:mr>
                        <m:mr>
                          <m:e>
                            <m:sSub>
                              <m:sSubPr>
                                <m:ctrlPr>
                                  <a:rPr lang="en-US" b="0" i="1" smtClean="0">
                                    <a:highlight>
                                      <a:srgbClr val="FFFF00"/>
                                    </a:highlight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highlight>
                                      <a:srgbClr val="FFFF00"/>
                                    </a:highlight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lang="en-US" b="0" i="1" smtClean="0">
                                    <a:highlight>
                                      <a:srgbClr val="FFFF00"/>
                                    </a:highlight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mr>
                      </m:m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nary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𝑉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AB9ECEC-FEA9-95C8-878A-0D6863542F0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2326" b="-215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793543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2FA14-B1C1-2A01-EF4B-85B752C895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full managed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2AC9A54-A65F-497D-5505-C2E4DD58176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dirty="0"/>
                  <a:t>Index</a:t>
                </a:r>
              </a:p>
              <a:p>
                <a:pPr marL="0" indent="0">
                  <a:buNone/>
                </a:pPr>
                <a:r>
                  <a:rPr lang="en-US" dirty="0"/>
                  <a:t>y: year 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∈{1,..,100}</m:t>
                    </m:r>
                  </m:oMath>
                </a14:m>
                <a:r>
                  <a:rPr lang="en-US" dirty="0"/>
                  <a:t>)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Parameters</a:t>
                </a:r>
              </a:p>
              <a:p>
                <a:pPr marL="0" indent="0">
                  <a:buNone/>
                </a:pPr>
                <a:r>
                  <a:rPr lang="en-US" dirty="0"/>
                  <a:t>p: price = 1000</a:t>
                </a:r>
              </a:p>
              <a:p>
                <a:pPr marL="0" indent="0">
                  <a:buNone/>
                </a:pPr>
                <a:r>
                  <a:rPr lang="en-US" dirty="0"/>
                  <a:t>r: discount rate = 0.1</a:t>
                </a:r>
              </a:p>
              <a:p>
                <a:pPr marL="0" indent="0">
                  <a:buNone/>
                </a:pPr>
                <a:r>
                  <a:rPr lang="en-US" dirty="0"/>
                  <a:t>c: replanting cost = 500</a:t>
                </a:r>
              </a:p>
              <a:p>
                <a:pPr marL="0" indent="0">
                  <a:buNone/>
                </a:pPr>
                <a:r>
                  <a:rPr lang="en-US" dirty="0"/>
                  <a:t>f: growth rate = 0.08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acc>
                  </m:oMath>
                </a14:m>
                <a:r>
                  <a:rPr lang="en-US" dirty="0"/>
                  <a:t>: initial stand = 100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2AC9A54-A65F-497D-5505-C2E4DD58176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3198" b="-2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CC53A4A3-A144-9E8B-CC17-DBE82C540C8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096000" y="1690688"/>
                <a:ext cx="5403850" cy="435133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dirty="0"/>
                  <a:t>Variables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dirty="0"/>
                  <a:t>Z – present value of profit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</m:oMath>
                </a14:m>
                <a:r>
                  <a:rPr lang="en-US" dirty="0"/>
                  <a:t>– harvest (timber products / yr)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dirty="0"/>
                  <a:t>TV – terminal value of stock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dirty="0"/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dirty="0"/>
                  <a:t>Objective:</a:t>
                </a:r>
                <a:br>
                  <a:rPr lang="en-US" dirty="0"/>
                </a:b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𝑀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𝑎𝑥</m:t>
                            </m:r>
                          </m:e>
                        </m:mr>
                        <m:m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sub>
                            </m:sSub>
                          </m:e>
                        </m:mr>
                      </m:m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 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𝑇𝑉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CC53A4A3-A144-9E8B-CC17-DBE82C540C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1690688"/>
                <a:ext cx="5403850" cy="4351338"/>
              </a:xfrm>
              <a:prstGeom prst="rect">
                <a:avLst/>
              </a:prstGeom>
              <a:blipFill>
                <a:blip r:embed="rId3"/>
                <a:stretch>
                  <a:fillRect l="-2582" t="-3198" b="-424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804936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E7F75E-E427-EA35-2FD0-B512522CF7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2FAAD-BDB8-337D-550B-5D55B1672B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full managed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FDE7222F-D6B3-1CF0-1ACA-636F77DDDA8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84250" y="1690688"/>
                <a:ext cx="10515600" cy="435133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925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𝑀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𝑎𝑥</m:t>
                            </m:r>
                          </m:e>
                        </m:mr>
                        <m:m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sub>
                            </m:sSub>
                          </m:e>
                        </m:mr>
                      </m:m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 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𝑇𝑉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		S.T….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𝑇𝑉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den>
                          </m:f>
                        </m:e>
                      </m:d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∀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∈{100}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e>
                      </m:d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≥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FDE7222F-D6B3-1CF0-1ACA-636F77DDDA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4250" y="1690688"/>
                <a:ext cx="10515600" cy="4351338"/>
              </a:xfrm>
              <a:prstGeom prst="rect">
                <a:avLst/>
              </a:prstGeom>
              <a:blipFill>
                <a:blip r:embed="rId2"/>
                <a:stretch>
                  <a:fillRect t="-255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00C47D0B-A8EA-78A9-55BE-16462678991B}"/>
              </a:ext>
            </a:extLst>
          </p:cNvPr>
          <p:cNvSpPr txBox="1"/>
          <p:nvPr/>
        </p:nvSpPr>
        <p:spPr>
          <a:xfrm>
            <a:off x="8729472" y="3681691"/>
            <a:ext cx="21580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Source: I made it up</a:t>
            </a:r>
          </a:p>
        </p:txBody>
      </p:sp>
    </p:spTree>
    <p:extLst>
      <p:ext uri="{BB962C8B-B14F-4D97-AF65-F5344CB8AC3E}">
        <p14:creationId xmlns:p14="http://schemas.microsoft.com/office/powerpoint/2010/main" val="38890518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FA91C4-3482-FC3E-89E2-4621EB801E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 the GAMS model!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A84E3A-3708-CD78-410D-05ACAD89A0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And Tableau!</a:t>
            </a:r>
          </a:p>
        </p:txBody>
      </p:sp>
    </p:spTree>
    <p:extLst>
      <p:ext uri="{BB962C8B-B14F-4D97-AF65-F5344CB8AC3E}">
        <p14:creationId xmlns:p14="http://schemas.microsoft.com/office/powerpoint/2010/main" val="31106333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17AAED-0617-CFD7-EE7A-3A35F59537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Meme [II]</a:t>
            </a:r>
          </a:p>
        </p:txBody>
      </p:sp>
      <p:pic>
        <p:nvPicPr>
          <p:cNvPr id="5" name="Picture 4" descr="A cat looking out a window&#10;&#10;Description automatically generated">
            <a:extLst>
              <a:ext uri="{FF2B5EF4-FFF2-40B4-BE49-F238E27FC236}">
                <a16:creationId xmlns:a16="http://schemas.microsoft.com/office/drawing/2014/main" id="{46FF9E2A-0C28-D128-6677-6D3D5DF366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1422" y="722243"/>
            <a:ext cx="5608435" cy="5413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939373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7B367-B8BE-8D2F-DC2F-DCECD017A9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Now: Electricity ’dispatch’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32E32C-1D1D-2C8D-EB5B-E0CC20C0ED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Not so much a ‘dispatch’ model – ignoring </a:t>
            </a:r>
            <a:r>
              <a:rPr lang="en-US" i="1" dirty="0"/>
              <a:t>a lot</a:t>
            </a:r>
            <a:r>
              <a:rPr lang="en-US" dirty="0"/>
              <a:t> of electricity-related considerations</a:t>
            </a:r>
          </a:p>
          <a:p>
            <a:pPr lvl="1"/>
            <a:r>
              <a:rPr lang="en-US" dirty="0"/>
              <a:t>Transmission</a:t>
            </a:r>
          </a:p>
          <a:p>
            <a:pPr lvl="1"/>
            <a:r>
              <a:rPr lang="en-US" dirty="0"/>
              <a:t>Basic physics</a:t>
            </a:r>
          </a:p>
          <a:p>
            <a:pPr lvl="1"/>
            <a:r>
              <a:rPr lang="en-US" dirty="0"/>
              <a:t>Unit commitment</a:t>
            </a:r>
          </a:p>
          <a:p>
            <a:pPr lvl="1"/>
            <a:r>
              <a:rPr lang="en-US" dirty="0"/>
              <a:t>… so many other things</a:t>
            </a:r>
          </a:p>
          <a:p>
            <a:pPr lvl="1"/>
            <a:endParaRPr lang="en-US" dirty="0"/>
          </a:p>
          <a:p>
            <a:r>
              <a:rPr lang="en-US" dirty="0"/>
              <a:t>Purpose is to:</a:t>
            </a:r>
          </a:p>
          <a:p>
            <a:pPr lvl="1"/>
            <a:r>
              <a:rPr lang="en-US" dirty="0"/>
              <a:t>Reinforce sparse matrix construction</a:t>
            </a:r>
          </a:p>
          <a:p>
            <a:pPr lvl="1"/>
            <a:r>
              <a:rPr lang="en-US" dirty="0"/>
              <a:t>Evaluate policy design</a:t>
            </a:r>
          </a:p>
          <a:p>
            <a:pPr lvl="1"/>
            <a:r>
              <a:rPr lang="en-US" dirty="0"/>
              <a:t>Interpretation of shadow values</a:t>
            </a:r>
          </a:p>
          <a:p>
            <a:pPr lvl="1"/>
            <a:r>
              <a:rPr lang="en-US" dirty="0"/>
              <a:t>Provide a foundation for converting an LP into an MCP</a:t>
            </a:r>
          </a:p>
          <a:p>
            <a:pPr lvl="1"/>
            <a:r>
              <a:rPr lang="en-US" dirty="0"/>
              <a:t>Incorporate demand elasticity via both piecewise linear and MCP methods</a:t>
            </a:r>
          </a:p>
        </p:txBody>
      </p:sp>
    </p:spTree>
    <p:extLst>
      <p:ext uri="{BB962C8B-B14F-4D97-AF65-F5344CB8AC3E}">
        <p14:creationId xmlns:p14="http://schemas.microsoft.com/office/powerpoint/2010/main" val="72305556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340DF6-C6D4-AB1B-8C29-BC8FD29D4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conditionals?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BE81777-3857-04D1-E268-A89D3089190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41912"/>
                <a:ext cx="10515600" cy="5150963"/>
              </a:xfrm>
            </p:spPr>
            <p:txBody>
              <a:bodyPr>
                <a:normAutofit fontScale="85000" lnSpcReduction="20000"/>
              </a:bodyPr>
              <a:lstStyle/>
              <a:p>
                <a:r>
                  <a:rPr lang="en-US" dirty="0"/>
                  <a:t>Example, in ReEDS we have indices:</a:t>
                </a:r>
              </a:p>
              <a:p>
                <a:pPr marL="0" indent="0">
                  <a:buNone/>
                </a:pPr>
                <a:r>
                  <a:rPr lang="en-US" b="0" dirty="0"/>
                  <a:t>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: technology (~200)</a:t>
                </a:r>
              </a:p>
              <a:p>
                <a:pPr marL="0" indent="0">
                  <a:buNone/>
                </a:pPr>
                <a:r>
                  <a:rPr lang="en-US" b="0" dirty="0"/>
                  <a:t>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/>
                  <a:t>: vintage (~100-400)</a:t>
                </a:r>
              </a:p>
              <a:p>
                <a:pPr marL="0" indent="0">
                  <a:buNone/>
                </a:pPr>
                <a:r>
                  <a:rPr lang="en-US" b="0" dirty="0"/>
                  <a:t>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dirty="0"/>
                  <a:t>: region (50 or 134 or 1000s)</a:t>
                </a:r>
              </a:p>
              <a:p>
                <a:pPr marL="0" indent="0">
                  <a:buNone/>
                </a:pPr>
                <a:r>
                  <a:rPr lang="en-US" b="0" dirty="0"/>
                  <a:t>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dirty="0"/>
                  <a:t>: </a:t>
                </a:r>
                <a:r>
                  <a:rPr lang="en-US" dirty="0" err="1"/>
                  <a:t>timeslice</a:t>
                </a:r>
                <a:r>
                  <a:rPr lang="en-US" dirty="0"/>
                  <a:t> (330)</a:t>
                </a:r>
              </a:p>
              <a:p>
                <a:pPr marL="0" indent="0">
                  <a:buNone/>
                </a:pPr>
                <a:r>
                  <a:rPr lang="en-US" b="0" dirty="0"/>
                  <a:t>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: year/time (20-40)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Variable for generation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Max dimensions = 200*400*134*330*40 = 141,504,000,000</a:t>
                </a:r>
              </a:p>
              <a:p>
                <a:pPr marL="0" indent="0">
                  <a:buNone/>
                </a:pPr>
                <a:r>
                  <a:rPr lang="en-US" dirty="0"/>
                  <a:t>				                    	  ... of which &lt;1% are relevant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b="1" i="1" dirty="0"/>
                  <a:t>For big models, do not trust CPLEX/GUROBI to do the job for you…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BE81777-3857-04D1-E268-A89D3089190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41912"/>
                <a:ext cx="10515600" cy="5150963"/>
              </a:xfrm>
              <a:blipFill>
                <a:blip r:embed="rId2"/>
                <a:stretch>
                  <a:fillRect l="-965" t="-27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4499015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3F94D-B9EE-0835-6248-A0E39D124B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specifically: sparse matrix construction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BA9A79-8563-2C7A-501F-353234AFB8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63685" y="1605047"/>
            <a:ext cx="5464629" cy="4351338"/>
          </a:xfrm>
        </p:spPr>
        <p:txBody>
          <a:bodyPr/>
          <a:lstStyle/>
          <a:p>
            <a:pPr marL="0" indent="0" algn="ctr">
              <a:buNone/>
            </a:pPr>
            <a:r>
              <a:rPr lang="en-US" b="1" i="1" dirty="0"/>
              <a:t>Put simply: We do not want to burden the model with irrelevant constraints or decision variables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A57FA32-D4BE-CBA1-100D-EF772EC22BCD}"/>
              </a:ext>
            </a:extLst>
          </p:cNvPr>
          <p:cNvSpPr txBox="1">
            <a:spLocks/>
          </p:cNvSpPr>
          <p:nvPr/>
        </p:nvSpPr>
        <p:spPr>
          <a:xfrm>
            <a:off x="838199" y="3429000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In GAMS, reducing equation population via…</a:t>
            </a:r>
          </a:p>
          <a:p>
            <a:pPr marL="0" indent="0" algn="ctr">
              <a:buNone/>
            </a:pPr>
            <a:r>
              <a:rPr lang="en-US" i="1" dirty="0" err="1"/>
              <a:t>eq_caplim</a:t>
            </a:r>
            <a:r>
              <a:rPr lang="en-US" i="1" dirty="0"/>
              <a:t>(</a:t>
            </a:r>
            <a:r>
              <a:rPr lang="en-US" i="1" dirty="0" err="1"/>
              <a:t>i,v,r,h,t</a:t>
            </a:r>
            <a:r>
              <a:rPr lang="en-US" i="1" dirty="0"/>
              <a:t>)$</a:t>
            </a:r>
            <a:r>
              <a:rPr lang="en-US" i="1" dirty="0" err="1"/>
              <a:t>valid_generation</a:t>
            </a:r>
            <a:r>
              <a:rPr lang="en-US" i="1" dirty="0"/>
              <a:t>(</a:t>
            </a:r>
            <a:r>
              <a:rPr lang="en-US" i="1" dirty="0" err="1"/>
              <a:t>i,v,r,h,t</a:t>
            </a:r>
            <a:r>
              <a:rPr lang="en-US" i="1" dirty="0"/>
              <a:t>)..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and reducing variable consideration via: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i="1" dirty="0"/>
              <a:t>… + sum{(</a:t>
            </a:r>
            <a:r>
              <a:rPr lang="en-US" i="1" dirty="0" err="1"/>
              <a:t>i,v,r,h,t</a:t>
            </a:r>
            <a:r>
              <a:rPr lang="en-US" i="1" dirty="0"/>
              <a:t>)$</a:t>
            </a:r>
            <a:r>
              <a:rPr lang="en-US" i="1" dirty="0" err="1"/>
              <a:t>valid_generation</a:t>
            </a:r>
            <a:r>
              <a:rPr lang="en-US" i="1" dirty="0"/>
              <a:t>(</a:t>
            </a:r>
            <a:r>
              <a:rPr lang="en-US" i="1" dirty="0" err="1"/>
              <a:t>i,v,r,h,t</a:t>
            </a:r>
            <a:r>
              <a:rPr lang="en-US" i="1" dirty="0"/>
              <a:t>), GEN(</a:t>
            </a:r>
            <a:r>
              <a:rPr lang="en-US" i="1" dirty="0" err="1"/>
              <a:t>i,v,r,h,t</a:t>
            </a:r>
            <a:r>
              <a:rPr lang="en-US" i="1" dirty="0"/>
              <a:t>) }</a:t>
            </a:r>
          </a:p>
        </p:txBody>
      </p:sp>
    </p:spTree>
    <p:extLst>
      <p:ext uri="{BB962C8B-B14F-4D97-AF65-F5344CB8AC3E}">
        <p14:creationId xmlns:p14="http://schemas.microsoft.com/office/powerpoint/2010/main" val="223840178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0125CF-6601-60BE-7A32-B55F2048FC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52892-D170-8341-0BAB-21B6415F07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Electricity “dispatch” problem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3130F7-B3E9-9C5B-D290-D334815839A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5"/>
                <a:ext cx="11108377" cy="4351338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dirty="0"/>
                  <a:t>Indices:</a:t>
                </a:r>
              </a:p>
              <a:p>
                <a:pPr marL="0" indent="0">
                  <a:buNone/>
                </a:pPr>
                <a:r>
                  <a:rPr lang="en-US" b="0" dirty="0"/>
                  <a:t>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dirty="0"/>
                  <a:t>: State</a:t>
                </a:r>
              </a:p>
              <a:p>
                <a:pPr marL="0" indent="0">
                  <a:buNone/>
                </a:pPr>
                <a:r>
                  <a:rPr lang="en-US" b="0" dirty="0"/>
                  <a:t>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: Generation technology</a:t>
                </a:r>
              </a:p>
              <a:p>
                <a:pPr marL="0" indent="0">
                  <a:buNone/>
                </a:pPr>
                <a:r>
                  <a:rPr lang="en-US" dirty="0"/>
                  <a:t>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: thermal techs subject to ramping constraints</a:t>
                </a:r>
              </a:p>
              <a:p>
                <a:pPr marL="0" indent="0">
                  <a:buNone/>
                </a:pPr>
                <a:r>
                  <a:rPr lang="en-US" b="0" dirty="0"/>
                  <a:t>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/>
                  <a:t>: Unique plant ID</a:t>
                </a:r>
              </a:p>
              <a:p>
                <a:pPr marL="0" indent="0">
                  <a:buNone/>
                </a:pPr>
                <a:r>
                  <a:rPr lang="en-US" b="0" dirty="0"/>
                  <a:t>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dirty="0"/>
                  <a:t>: Hour of day</a:t>
                </a:r>
              </a:p>
              <a:p>
                <a:pPr marL="0" indent="0">
                  <a:buNone/>
                </a:pPr>
                <a:r>
                  <a:rPr lang="en-US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</m:oMath>
                </a14:m>
                <a:r>
                  <a:rPr lang="en-US" dirty="0"/>
                  <a:t>: valid combination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en-US" dirty="0"/>
                  <a:t>: states facing an emissions limit</a:t>
                </a:r>
              </a:p>
              <a:p>
                <a:pPr marL="0" indent="0">
                  <a:buNone/>
                </a:pPr>
                <a:r>
                  <a:rPr lang="en-US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en-US" dirty="0"/>
                  <a:t>: states facing an emissions rate limit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3130F7-B3E9-9C5B-D290-D334815839A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5"/>
                <a:ext cx="11108377" cy="4351338"/>
              </a:xfrm>
              <a:blipFill>
                <a:blip r:embed="rId2"/>
                <a:stretch>
                  <a:fillRect l="-913" t="-3198" b="-8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1612623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3936FE-5CE0-57E6-1DEF-B710C8FB6A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Parameters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3905C67-6C1C-E178-0A26-8BB448CF7A6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sup>
                    </m:sSubSup>
                  </m:oMath>
                </a14:m>
                <a:r>
                  <a:rPr lang="en-US" dirty="0"/>
                  <a:t>: ONM costs ($/</a:t>
                </a:r>
                <a:r>
                  <a:rPr lang="en-US" dirty="0" err="1"/>
                  <a:t>mwh</a:t>
                </a:r>
                <a:r>
                  <a:rPr lang="en-US" dirty="0"/>
                  <a:t>)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</m:oMath>
                </a14:m>
                <a:r>
                  <a:rPr lang="en-US" dirty="0"/>
                  <a:t>: unit heat rate (</a:t>
                </a:r>
                <a:r>
                  <a:rPr lang="en-US" dirty="0" err="1"/>
                  <a:t>mmbtu</a:t>
                </a:r>
                <a:r>
                  <a:rPr lang="en-US" dirty="0"/>
                  <a:t> / </a:t>
                </a:r>
                <a:r>
                  <a:rPr lang="en-US" dirty="0" err="1"/>
                  <a:t>mwh</a:t>
                </a:r>
                <a:r>
                  <a:rPr lang="en-US" dirty="0"/>
                  <a:t>)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</m:oMath>
                </a14:m>
                <a:r>
                  <a:rPr lang="en-US" dirty="0"/>
                  <a:t>: capacity factor (% of nameplate capacity)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sup>
                    </m:sSubSup>
                  </m:oMath>
                </a14:m>
                <a:r>
                  <a:rPr lang="en-US" dirty="0"/>
                  <a:t>: fuel cost ($/</a:t>
                </a:r>
                <a:r>
                  <a:rPr lang="en-US" dirty="0" err="1"/>
                  <a:t>mmbtu</a:t>
                </a:r>
                <a:r>
                  <a:rPr lang="en-US" dirty="0"/>
                  <a:t>)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</m:oMath>
                </a14:m>
                <a:r>
                  <a:rPr lang="en-US" dirty="0"/>
                  <a:t>: Capacity (MW)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</m:oMath>
                </a14:m>
                <a:r>
                  <a:rPr lang="en-US" dirty="0"/>
                  <a:t>: Demand per hour (MWh)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</m:oMath>
                </a14:m>
                <a:r>
                  <a:rPr lang="en-US" dirty="0"/>
                  <a:t>: emissions rate (</a:t>
                </a:r>
                <a:r>
                  <a:rPr lang="en-US" dirty="0" err="1"/>
                  <a:t>tonnes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𝑐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per MWh)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en-US" dirty="0"/>
                  <a:t>: state-level emissions cap (</a:t>
                </a:r>
                <a:r>
                  <a:rPr lang="en-US" dirty="0" err="1"/>
                  <a:t>tonnes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)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Ψ</m:t>
                    </m:r>
                  </m:oMath>
                </a14:m>
                <a:r>
                  <a:rPr lang="en-US" dirty="0"/>
                  <a:t>: combined state emissions cap (</a:t>
                </a:r>
                <a:r>
                  <a:rPr lang="en-US" dirty="0" err="1"/>
                  <a:t>tonnes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)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en-US" dirty="0"/>
                  <a:t>: state-level emissions standard (</a:t>
                </a:r>
                <a:r>
                  <a:rPr lang="en-US" dirty="0" err="1"/>
                  <a:t>tonnes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per MWh)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lang="en-US" dirty="0"/>
                  <a:t>: combined state emissions standard (tonnes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𝑐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per MWh)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3905C67-6C1C-E178-0A26-8BB448CF7A6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83" t="-26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0584028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888FA9-CC0A-FAA6-F115-1F9598E246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Variables, Objective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A941D3F-E657-8BE5-E267-BF89B92051D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Variables:</a:t>
                </a:r>
              </a:p>
              <a:p>
                <a:pPr marL="0" indent="0">
                  <a:buNone/>
                </a:pPr>
                <a:r>
                  <a:rPr lang="en-US" b="0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</m:oMath>
                </a14:m>
                <a:r>
                  <a:rPr lang="en-US" dirty="0"/>
                  <a:t>: Generation (MWh)</a:t>
                </a:r>
              </a:p>
              <a:p>
                <a:pPr marL="0" indent="0">
                  <a:buNone/>
                </a:pPr>
                <a:r>
                  <a:rPr lang="en-US" b="0" dirty="0"/>
                  <a:t>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en-US" dirty="0"/>
                  <a:t>: cost ($s)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Objective: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𝑀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𝑖𝑛</m:t>
                            </m:r>
                          </m:e>
                        </m:mr>
                        <m:m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sub>
                            </m:sSub>
                          </m:e>
                        </m:mr>
                      </m:m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 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sup>
                          </m:sSub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p>
                          </m:sSub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A941D3F-E657-8BE5-E267-BF89B92051D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2326" b="-401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5705975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D67518-C5A1-F93C-87B8-7A8C1C19C6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A95E25-8E29-D209-5DB3-CDF9C680BB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Constraints - basics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D44D688-5C3C-3284-7AC6-9D92C9FBD0A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Generation capacity limit: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≥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     ∀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Demand must be met: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  ∀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h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D44D688-5C3C-3284-7AC6-9D92C9FBD0A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2326" b="-255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8456261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248A9F-CE94-05DF-600C-080BB584E3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DEF253-2E5E-5F7C-9C19-9022ACB9DD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Constraints – Mass-based Policies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EAFE8DB-4038-F6B1-7B6F-BC33BEAEBDF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State-level emissions limit: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≥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∀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∈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Combined state emissions limit: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Ψ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≥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EAFE8DB-4038-F6B1-7B6F-BC33BEAEBDF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27326" b="-267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4621974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943EAE-4910-3793-9B1A-80A88A9931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452D61-DFBF-964A-ECE5-64E6EF885C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Constraints – Rate-based Policies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0DD6F45-A134-337D-29F2-742DED58A9C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State-level emissions rate limit: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≥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p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sub>
                              </m:sSub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sup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sub>
                              </m:sSub>
                            </m:e>
                          </m:nary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   ∀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∈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Combined state emissions rate limit: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0" smtClean="0">
                          <a:latin typeface="Cambria Math" panose="02040503050406030204" pitchFamily="18" charset="0"/>
                        </a:rPr>
                        <m:t>Φ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≥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p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sub>
                              </m:sSub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supHide m:val="on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sub>
                              </m:sSub>
                            </m:e>
                          </m:nary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0DD6F45-A134-337D-29F2-742DED58A9C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90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7406256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A2F09C-B6C9-D10E-63C0-74D58A0C74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Constraints – “unit commitment”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7CBE7F2-AAC4-6866-0F55-31A66039759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Similar to before…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Lower bound: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≥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∀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𝑡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Upper bound: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≤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∀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7CBE7F2-AAC4-6866-0F55-31A66039759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3114714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9F8B4F-1707-20DA-27F7-7E10F984ED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7108F1-34B8-3E5A-DC8C-6FAAC9F144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Meme [III]</a:t>
            </a:r>
          </a:p>
        </p:txBody>
      </p:sp>
      <p:pic>
        <p:nvPicPr>
          <p:cNvPr id="4" name="Picture 3" descr="A person wearing sunglasses and a white jacket&#10;&#10;Description automatically generated">
            <a:extLst>
              <a:ext uri="{FF2B5EF4-FFF2-40B4-BE49-F238E27FC236}">
                <a16:creationId xmlns:a16="http://schemas.microsoft.com/office/drawing/2014/main" id="{5342A450-687C-104F-8AC9-4C4B382EAA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9632" y="0"/>
            <a:ext cx="579715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40191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1767</TotalTime>
  <Words>1689</Words>
  <Application>Microsoft Macintosh PowerPoint</Application>
  <PresentationFormat>Widescreen</PresentationFormat>
  <Paragraphs>276</Paragraphs>
  <Slides>33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8" baseType="lpstr">
      <vt:lpstr>Aptos</vt:lpstr>
      <vt:lpstr>Aptos Display</vt:lpstr>
      <vt:lpstr>Arial</vt:lpstr>
      <vt:lpstr>Cambria Math</vt:lpstr>
      <vt:lpstr>Office Theme</vt:lpstr>
      <vt:lpstr>EBGN645: Day 13</vt:lpstr>
      <vt:lpstr>Notes</vt:lpstr>
      <vt:lpstr>Meme [I]</vt:lpstr>
      <vt:lpstr>Bigger picture</vt:lpstr>
      <vt:lpstr>Agenda today</vt:lpstr>
      <vt:lpstr>Takeaways from fisheries</vt:lpstr>
      <vt:lpstr>Forestry</vt:lpstr>
      <vt:lpstr>Martin Faustmann</vt:lpstr>
      <vt:lpstr>The Faustmann Model</vt:lpstr>
      <vt:lpstr>The Faustmann Equation [I]</vt:lpstr>
      <vt:lpstr>The Faustmann Equation [II]</vt:lpstr>
      <vt:lpstr>The Faustmann Equation [III]</vt:lpstr>
      <vt:lpstr>The Faustmann Equation [III]</vt:lpstr>
      <vt:lpstr>The full Faustmann model…</vt:lpstr>
      <vt:lpstr>Do we see any problems with Faustmann?</vt:lpstr>
      <vt:lpstr>Pros/cons of Faustmann</vt:lpstr>
      <vt:lpstr>Enter a new challenger – Managed forests</vt:lpstr>
      <vt:lpstr>Subtle difference</vt:lpstr>
      <vt:lpstr>The full managed model</vt:lpstr>
      <vt:lpstr>The full managed model</vt:lpstr>
      <vt:lpstr>To the GAMS model!</vt:lpstr>
      <vt:lpstr>Meme [II]</vt:lpstr>
      <vt:lpstr>Now: Electricity ’dispatch’</vt:lpstr>
      <vt:lpstr>Why conditionals?</vt:lpstr>
      <vt:lpstr>More specifically: sparse matrix construction</vt:lpstr>
      <vt:lpstr>Electricity “dispatch” problem </vt:lpstr>
      <vt:lpstr>Parameters</vt:lpstr>
      <vt:lpstr>Variables, Objective</vt:lpstr>
      <vt:lpstr>Constraints - basics</vt:lpstr>
      <vt:lpstr>Constraints – Mass-based Policies</vt:lpstr>
      <vt:lpstr>Constraints – Rate-based Policies</vt:lpstr>
      <vt:lpstr>Constraints – “unit commitment”</vt:lpstr>
      <vt:lpstr>Meme [III]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Maxwell Brown</dc:creator>
  <cp:lastModifiedBy>Maxwell Brown</cp:lastModifiedBy>
  <cp:revision>57</cp:revision>
  <dcterms:created xsi:type="dcterms:W3CDTF">2024-08-23T18:45:09Z</dcterms:created>
  <dcterms:modified xsi:type="dcterms:W3CDTF">2025-10-15T19:02:30Z</dcterms:modified>
</cp:coreProperties>
</file>